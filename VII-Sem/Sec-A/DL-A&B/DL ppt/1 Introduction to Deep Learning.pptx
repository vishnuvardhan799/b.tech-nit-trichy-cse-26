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89" r:id="rId4"/>
    <p:sldId id="273" r:id="rId5"/>
    <p:sldId id="263" r:id="rId6"/>
    <p:sldId id="299" r:id="rId7"/>
    <p:sldId id="290" r:id="rId8"/>
    <p:sldId id="291" r:id="rId9"/>
    <p:sldId id="292" r:id="rId10"/>
    <p:sldId id="293" r:id="rId11"/>
    <p:sldId id="294" r:id="rId12"/>
    <p:sldId id="296" r:id="rId13"/>
    <p:sldId id="297" r:id="rId14"/>
    <p:sldId id="298" r:id="rId15"/>
    <p:sldId id="268" r:id="rId16"/>
    <p:sldId id="269" r:id="rId17"/>
    <p:sldId id="270" r:id="rId18"/>
    <p:sldId id="271" r:id="rId19"/>
    <p:sldId id="272" r:id="rId20"/>
    <p:sldId id="300" r:id="rId21"/>
    <p:sldId id="274" r:id="rId22"/>
    <p:sldId id="275" r:id="rId23"/>
    <p:sldId id="277" r:id="rId24"/>
    <p:sldId id="279" r:id="rId25"/>
    <p:sldId id="280" r:id="rId26"/>
    <p:sldId id="281" r:id="rId27"/>
    <p:sldId id="282" r:id="rId28"/>
    <p:sldId id="278" r:id="rId29"/>
    <p:sldId id="30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92" autoAdjust="0"/>
    <p:restoredTop sz="94660"/>
  </p:normalViewPr>
  <p:slideViewPr>
    <p:cSldViewPr snapToGrid="0">
      <p:cViewPr varScale="1">
        <p:scale>
          <a:sx n="105" d="100"/>
          <a:sy n="105" d="100"/>
        </p:scale>
        <p:origin x="5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F294A-23AD-FFB0-28D3-ABF3C1B87D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BDC962C-0C5E-4BCC-8A35-39B26DE922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E7BB7F-614E-FF53-07F3-C8A9536544DB}"/>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5" name="Footer Placeholder 4">
            <a:extLst>
              <a:ext uri="{FF2B5EF4-FFF2-40B4-BE49-F238E27FC236}">
                <a16:creationId xmlns:a16="http://schemas.microsoft.com/office/drawing/2014/main" id="{B9850E58-6C5E-C1F1-D555-5842118761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1592F6-2F96-8B65-0C97-EA83D45AD894}"/>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2405267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8E5C1-A876-66E6-F6FE-C8CAB88DCF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65E277-F9EF-BAD3-3CF5-C30BFC1457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89150-C2ED-9C31-0D27-C42DFB2733FB}"/>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5" name="Footer Placeholder 4">
            <a:extLst>
              <a:ext uri="{FF2B5EF4-FFF2-40B4-BE49-F238E27FC236}">
                <a16:creationId xmlns:a16="http://schemas.microsoft.com/office/drawing/2014/main" id="{B7480E83-92D2-2ACD-D4C2-765A299274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085499-D1AB-05CC-E96E-0AABDDB919F3}"/>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3448398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1DE8B-55FC-94D6-FD34-92C6D9086E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7D5B57-61A8-A6C6-25B3-4FBEE9902D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BD8CDB-A983-7977-9853-0EF41026FE3A}"/>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5" name="Footer Placeholder 4">
            <a:extLst>
              <a:ext uri="{FF2B5EF4-FFF2-40B4-BE49-F238E27FC236}">
                <a16:creationId xmlns:a16="http://schemas.microsoft.com/office/drawing/2014/main" id="{72ADF848-5FA6-1E2F-DEFC-BB218AA629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97B657-8F6D-C30E-2CC6-374AEB14515C}"/>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3558315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A8537-1563-4E08-BC87-3582039C6A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C0C980-CFF5-22A9-A427-DFEF9EDE15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BBCF333-F59B-D291-60F1-689E695010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D0DE8E-0510-5E1A-C6CC-FF5B1F452591}"/>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6" name="Footer Placeholder 5">
            <a:extLst>
              <a:ext uri="{FF2B5EF4-FFF2-40B4-BE49-F238E27FC236}">
                <a16:creationId xmlns:a16="http://schemas.microsoft.com/office/drawing/2014/main" id="{63DE7664-3DA0-A88D-AED6-788BA1D829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224EB5-E4B6-07A2-EC4A-94F86B3E0454}"/>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4136548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7179D-8D30-F269-E189-47A214AC24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067E37-773C-07FD-B0EA-B6A5BC3FB0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5ACA16-83A8-47EB-6465-2B37AB52CD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93BC0EA-525F-90CB-7C98-AEA14AE9F1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F2C68C-0A6C-3168-FF45-F43A9EFE3C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8E98A6-2637-CD5C-5695-EC9534F67928}"/>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8" name="Footer Placeholder 7">
            <a:extLst>
              <a:ext uri="{FF2B5EF4-FFF2-40B4-BE49-F238E27FC236}">
                <a16:creationId xmlns:a16="http://schemas.microsoft.com/office/drawing/2014/main" id="{BE148EFD-A5FC-678B-216E-1B38FA91FB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6E6E0F-757B-A4A5-C07E-55CA7651A11C}"/>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3228466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017B3-52E2-FFCE-31F4-CA81BBC6F0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5491B5-AC73-E704-7236-17E09BC657D9}"/>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4" name="Footer Placeholder 3">
            <a:extLst>
              <a:ext uri="{FF2B5EF4-FFF2-40B4-BE49-F238E27FC236}">
                <a16:creationId xmlns:a16="http://schemas.microsoft.com/office/drawing/2014/main" id="{3FBC86CA-82E4-8982-4790-4964DD76C5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A8D743-AA97-F00F-7480-857E4F4E1FFF}"/>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3347281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1BA495-70D0-D392-0A5E-6CC620DDDA7E}"/>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3" name="Footer Placeholder 2">
            <a:extLst>
              <a:ext uri="{FF2B5EF4-FFF2-40B4-BE49-F238E27FC236}">
                <a16:creationId xmlns:a16="http://schemas.microsoft.com/office/drawing/2014/main" id="{9E801257-A164-76F3-CA4B-3D8BD1E7D68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A5A41B0-8392-441B-B74C-5E93B19BD8B6}"/>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175557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0BD8E-1C6C-E26F-8448-B01ECDD0D2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A9E9F5-686F-5415-FB2F-86D4B904A7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3E9873-0475-5ED4-AEB5-BFD6BB633C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F7721-1204-35C0-5A25-F235BE7EFFB1}"/>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6" name="Footer Placeholder 5">
            <a:extLst>
              <a:ext uri="{FF2B5EF4-FFF2-40B4-BE49-F238E27FC236}">
                <a16:creationId xmlns:a16="http://schemas.microsoft.com/office/drawing/2014/main" id="{607B5219-CB63-3105-A119-63E39C1F3A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C6EED4-2F4D-6BBE-536A-D77E1F3D33B1}"/>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4000821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ED99D-E4E1-93FE-E740-23115F350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68B05E-7196-9DDD-EE8B-FB1E6AB1C3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3F90AA-A891-7883-A630-E01B85EFE0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D5466F-C6BB-B18A-5E3B-197BA156488C}"/>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6" name="Footer Placeholder 5">
            <a:extLst>
              <a:ext uri="{FF2B5EF4-FFF2-40B4-BE49-F238E27FC236}">
                <a16:creationId xmlns:a16="http://schemas.microsoft.com/office/drawing/2014/main" id="{D49FBA44-E4D1-8AF7-5A78-70FFE0B0CA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323E39-93FA-8FD9-6476-6DBC83619873}"/>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1627914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D285F-F0F1-8C9D-5BFC-706EF776E83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3B0A74-927A-0EAE-F863-EF2258164C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6921B6-640B-4995-548D-B59E522D794F}"/>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5" name="Footer Placeholder 4">
            <a:extLst>
              <a:ext uri="{FF2B5EF4-FFF2-40B4-BE49-F238E27FC236}">
                <a16:creationId xmlns:a16="http://schemas.microsoft.com/office/drawing/2014/main" id="{1B1D468A-558E-F874-72EB-00FB914277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02682D-6100-CFC6-0A81-779EC76CAD7D}"/>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2808539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8101F3-CA49-319C-6EFD-72BDD129E2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0910EF-CBF5-2554-3F96-AA3DA27FAD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718562-0F8C-5FB5-A4AC-C4512FD67E6E}"/>
              </a:ext>
            </a:extLst>
          </p:cNvPr>
          <p:cNvSpPr>
            <a:spLocks noGrp="1"/>
          </p:cNvSpPr>
          <p:nvPr>
            <p:ph type="dt" sz="half" idx="10"/>
          </p:nvPr>
        </p:nvSpPr>
        <p:spPr/>
        <p:txBody>
          <a:bodyPr/>
          <a:lstStyle/>
          <a:p>
            <a:fld id="{CDDAA059-0E5E-4A84-B941-9B487555AFC2}" type="datetimeFigureOut">
              <a:rPr lang="en-IN" smtClean="0"/>
              <a:t>14-07-2025</a:t>
            </a:fld>
            <a:endParaRPr lang="en-IN"/>
          </a:p>
        </p:txBody>
      </p:sp>
      <p:sp>
        <p:nvSpPr>
          <p:cNvPr id="5" name="Footer Placeholder 4">
            <a:extLst>
              <a:ext uri="{FF2B5EF4-FFF2-40B4-BE49-F238E27FC236}">
                <a16:creationId xmlns:a16="http://schemas.microsoft.com/office/drawing/2014/main" id="{75A31AD7-ECDD-8EF1-4C8B-9779299153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861627-23F3-6342-8AE6-150D41F60EB9}"/>
              </a:ext>
            </a:extLst>
          </p:cNvPr>
          <p:cNvSpPr>
            <a:spLocks noGrp="1"/>
          </p:cNvSpPr>
          <p:nvPr>
            <p:ph type="sldNum" sz="quarter" idx="12"/>
          </p:nvPr>
        </p:nvSpPr>
        <p:spPr/>
        <p:txBody>
          <a:bodyPr/>
          <a:lstStyle/>
          <a:p>
            <a:fld id="{3599F0D1-00A8-46DF-B6B9-9D03C722844A}" type="slidenum">
              <a:rPr lang="en-IN" smtClean="0"/>
              <a:t>‹#›</a:t>
            </a:fld>
            <a:endParaRPr lang="en-IN"/>
          </a:p>
        </p:txBody>
      </p:sp>
    </p:spTree>
    <p:extLst>
      <p:ext uri="{BB962C8B-B14F-4D97-AF65-F5344CB8AC3E}">
        <p14:creationId xmlns:p14="http://schemas.microsoft.com/office/powerpoint/2010/main" val="488060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615EC7-27CF-5E67-756F-10B19BBAE2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E9601B-859E-D637-C3EB-B8CF03699B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CEB0B5-D21F-E9A5-FCAA-DCD12CA80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DAA059-0E5E-4A84-B941-9B487555AFC2}" type="datetimeFigureOut">
              <a:rPr lang="en-IN" smtClean="0"/>
              <a:t>14-07-2025</a:t>
            </a:fld>
            <a:endParaRPr lang="en-IN"/>
          </a:p>
        </p:txBody>
      </p:sp>
      <p:sp>
        <p:nvSpPr>
          <p:cNvPr id="5" name="Footer Placeholder 4">
            <a:extLst>
              <a:ext uri="{FF2B5EF4-FFF2-40B4-BE49-F238E27FC236}">
                <a16:creationId xmlns:a16="http://schemas.microsoft.com/office/drawing/2014/main" id="{E0C0E118-6C50-302C-0008-843C8C298D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366A402-6F44-42A0-9CDF-0AC5BEC32A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99F0D1-00A8-46DF-B6B9-9D03C722844A}" type="slidenum">
              <a:rPr lang="en-IN" smtClean="0"/>
              <a:t>‹#›</a:t>
            </a:fld>
            <a:endParaRPr lang="en-IN"/>
          </a:p>
        </p:txBody>
      </p:sp>
    </p:spTree>
    <p:extLst>
      <p:ext uri="{BB962C8B-B14F-4D97-AF65-F5344CB8AC3E}">
        <p14:creationId xmlns:p14="http://schemas.microsoft.com/office/powerpoint/2010/main" val="1315512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embedded-vision.com/industry-analysis/blog/artificial-intelligence-machine-learning-deep-learning-and-computer-visionwha"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E9961-9A26-36DF-D93B-73AF3011A996}"/>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Introduction to Deep Learning</a:t>
            </a:r>
          </a:p>
        </p:txBody>
      </p:sp>
      <p:sp>
        <p:nvSpPr>
          <p:cNvPr id="3" name="Subtitle 2">
            <a:extLst>
              <a:ext uri="{FF2B5EF4-FFF2-40B4-BE49-F238E27FC236}">
                <a16:creationId xmlns:a16="http://schemas.microsoft.com/office/drawing/2014/main" id="{BA0051A9-3EC6-D1BF-B4B0-D86A68147148}"/>
              </a:ext>
            </a:extLst>
          </p:cNvPr>
          <p:cNvSpPr>
            <a:spLocks noGrp="1"/>
          </p:cNvSpPr>
          <p:nvPr>
            <p:ph type="subTitle" idx="1"/>
          </p:nvPr>
        </p:nvSpPr>
        <p:spPr/>
        <p:txBody>
          <a:bodyPr/>
          <a:lstStyle/>
          <a:p>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7022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latin typeface="Times New Roman" panose="02020603050405020304" pitchFamily="18" charset="0"/>
                <a:cs typeface="Times New Roman" panose="02020603050405020304" pitchFamily="18" charset="0"/>
              </a:rPr>
              <a:t>Difference between Artificial Intelligence (AI), Machine Learning (ML) and Deep Learning (DL)</a:t>
            </a:r>
            <a:endParaRPr lang="en-IN" sz="3200" dirty="0">
              <a:latin typeface="Times New Roman" panose="02020603050405020304" pitchFamily="18" charset="0"/>
              <a:cs typeface="Times New Roman" panose="02020603050405020304" pitchFamily="18" charset="0"/>
            </a:endParaRPr>
          </a:p>
        </p:txBody>
      </p:sp>
      <p:pic>
        <p:nvPicPr>
          <p:cNvPr id="4" name="Content Placeholder 3" descr="https://miro.medium.com/max/720/1*Baz-jrGia6PMSdKlmygiaA.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7183" y="1825625"/>
            <a:ext cx="6637634" cy="4351338"/>
          </a:xfrm>
          <a:prstGeom prst="rect">
            <a:avLst/>
          </a:prstGeom>
          <a:noFill/>
          <a:ln>
            <a:noFill/>
          </a:ln>
        </p:spPr>
      </p:pic>
      <p:sp>
        <p:nvSpPr>
          <p:cNvPr id="5" name="Rectangle 4"/>
          <p:cNvSpPr/>
          <p:nvPr/>
        </p:nvSpPr>
        <p:spPr>
          <a:xfrm>
            <a:off x="5317083" y="6469304"/>
            <a:ext cx="6036717" cy="368755"/>
          </a:xfrm>
          <a:prstGeom prst="rect">
            <a:avLst/>
          </a:prstGeom>
        </p:spPr>
        <p:txBody>
          <a:bodyPr wrap="none">
            <a:spAutoFit/>
          </a:bodyPr>
          <a:lstStyle/>
          <a:p>
            <a:pPr>
              <a:lnSpc>
                <a:spcPct val="107000"/>
              </a:lnSpc>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Evolution of AI — Source: </a:t>
            </a:r>
            <a:r>
              <a:rPr lang="en-US" u="sng"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3"/>
              </a:rPr>
              <a:t>https://www.embedded-vision.com/</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5448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Where Deep Learning Lies</a:t>
            </a:r>
          </a:p>
        </p:txBody>
      </p:sp>
      <p:pic>
        <p:nvPicPr>
          <p:cNvPr id="4" name="Content Placeholder 3" descr="https://miro.medium.com/max/480/1*8JX_QnSm9zhK1TNaIYXqFQ.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7771" y="2090057"/>
            <a:ext cx="7498079" cy="4145280"/>
          </a:xfrm>
          <a:prstGeom prst="rect">
            <a:avLst/>
          </a:prstGeom>
          <a:noFill/>
          <a:ln>
            <a:noFill/>
          </a:ln>
        </p:spPr>
      </p:pic>
    </p:spTree>
    <p:extLst>
      <p:ext uri="{BB962C8B-B14F-4D97-AF65-F5344CB8AC3E}">
        <p14:creationId xmlns:p14="http://schemas.microsoft.com/office/powerpoint/2010/main" val="3490947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latin typeface="Times New Roman" panose="02020603050405020304" pitchFamily="18" charset="0"/>
              <a:cs typeface="Times New Roman" panose="02020603050405020304" pitchFamily="18" charset="0"/>
            </a:endParaRPr>
          </a:p>
        </p:txBody>
      </p:sp>
      <p:pic>
        <p:nvPicPr>
          <p:cNvPr id="4" name="Content Placeholder 3" descr="https://miro.medium.com/max/720/1*zLJnMjuGdamCpN4yJMTR5g.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7000" y="2305844"/>
            <a:ext cx="6858000" cy="3390900"/>
          </a:xfrm>
          <a:prstGeom prst="rect">
            <a:avLst/>
          </a:prstGeom>
          <a:noFill/>
          <a:ln>
            <a:noFill/>
          </a:ln>
        </p:spPr>
      </p:pic>
    </p:spTree>
    <p:extLst>
      <p:ext uri="{BB962C8B-B14F-4D97-AF65-F5344CB8AC3E}">
        <p14:creationId xmlns:p14="http://schemas.microsoft.com/office/powerpoint/2010/main" val="563676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29E7-62E4-4851-9079-FD7E0BCC7597}"/>
              </a:ext>
            </a:extLst>
          </p:cNvPr>
          <p:cNvSpPr>
            <a:spLocks noGrp="1"/>
          </p:cNvSpPr>
          <p:nvPr>
            <p:ph type="title"/>
          </p:nvPr>
        </p:nvSpPr>
        <p:spPr/>
        <p:txBody>
          <a:bodyPr/>
          <a:lstStyle/>
          <a:p>
            <a:r>
              <a:rPr lang="en-US" sz="4400" b="0" i="0" u="none" strike="noStrike" baseline="0" dirty="0">
                <a:latin typeface="Times New Roman" panose="02020603050405020304" pitchFamily="18" charset="0"/>
                <a:cs typeface="Times New Roman" panose="02020603050405020304" pitchFamily="18" charset="0"/>
              </a:rPr>
              <a:t>Deep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11A1A7-C809-4EE2-821B-EDFE937335E0}"/>
              </a:ext>
            </a:extLst>
          </p:cNvPr>
          <p:cNvSpPr>
            <a:spLocks noGrp="1"/>
          </p:cNvSpPr>
          <p:nvPr>
            <p:ph idx="1"/>
          </p:nvPr>
        </p:nvSpPr>
        <p:spPr/>
        <p:txBody>
          <a:bodyPr>
            <a:normAutofit/>
          </a:bodyPr>
          <a:lstStyle/>
          <a:p>
            <a:pPr algn="l"/>
            <a:r>
              <a:rPr lang="en-US" sz="2400" b="0" i="0" u="none" strike="noStrike" baseline="0" dirty="0">
                <a:latin typeface="Times New Roman" panose="02020603050405020304" pitchFamily="18" charset="0"/>
                <a:cs typeface="Times New Roman" panose="02020603050405020304" pitchFamily="18" charset="0"/>
              </a:rPr>
              <a:t>Deep learning is a set of learning methods attempting to model data with complex architectures combining different non-linear transformations. The elementary bricks of deep learning are the neural networks, that are combined to form the deep neural networks.</a:t>
            </a:r>
          </a:p>
          <a:p>
            <a:pPr algn="l"/>
            <a:endParaRPr lang="en-US" sz="2400" dirty="0">
              <a:latin typeface="Times New Roman" panose="02020603050405020304" pitchFamily="18" charset="0"/>
              <a:cs typeface="Times New Roman" panose="02020603050405020304" pitchFamily="18" charset="0"/>
            </a:endParaRP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There exist several types of architectures for neural networks :</a:t>
            </a:r>
          </a:p>
          <a:p>
            <a:pPr algn="l"/>
            <a:r>
              <a:rPr lang="en-US" sz="2400" b="0" i="0" u="none" strike="noStrike" baseline="0" dirty="0">
                <a:latin typeface="Times New Roman" panose="02020603050405020304" pitchFamily="18" charset="0"/>
                <a:cs typeface="Times New Roman" panose="02020603050405020304" pitchFamily="18" charset="0"/>
              </a:rPr>
              <a:t> The multilayer perceptrons, that are the oldest and simplest ones</a:t>
            </a:r>
          </a:p>
          <a:p>
            <a:pPr algn="l"/>
            <a:r>
              <a:rPr lang="en-US" sz="2400" b="0" i="0" u="none" strike="noStrike" baseline="0" dirty="0">
                <a:latin typeface="Times New Roman" panose="02020603050405020304" pitchFamily="18" charset="0"/>
                <a:cs typeface="Times New Roman" panose="02020603050405020304" pitchFamily="18" charset="0"/>
              </a:rPr>
              <a:t> The Convolutional Neural Networks (CNN), particularly adapted for image </a:t>
            </a:r>
            <a:r>
              <a:rPr lang="en-IN" sz="2400" b="0" i="0" u="none" strike="noStrike" baseline="0" dirty="0">
                <a:latin typeface="Times New Roman" panose="02020603050405020304" pitchFamily="18" charset="0"/>
                <a:cs typeface="Times New Roman" panose="02020603050405020304" pitchFamily="18" charset="0"/>
              </a:rPr>
              <a:t>processing</a:t>
            </a:r>
          </a:p>
          <a:p>
            <a:pPr algn="l"/>
            <a:r>
              <a:rPr lang="en-US" sz="2400" b="0" i="0" u="none" strike="noStrike" baseline="0" dirty="0">
                <a:latin typeface="Times New Roman" panose="02020603050405020304" pitchFamily="18" charset="0"/>
                <a:cs typeface="Times New Roman" panose="02020603050405020304" pitchFamily="18" charset="0"/>
              </a:rPr>
              <a:t> The recurrent neural networks, used for sequential data such as text or </a:t>
            </a:r>
            <a:r>
              <a:rPr lang="en-IN" sz="2400" b="0" i="0" u="none" strike="noStrike" baseline="0" dirty="0">
                <a:latin typeface="Times New Roman" panose="02020603050405020304" pitchFamily="18" charset="0"/>
                <a:cs typeface="Times New Roman" panose="02020603050405020304" pitchFamily="18" charset="0"/>
              </a:rPr>
              <a:t>times series.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7860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087D44-4B7D-53EC-5EC0-3ABA0004A186}"/>
              </a:ext>
            </a:extLst>
          </p:cNvPr>
          <p:cNvPicPr>
            <a:picLocks noChangeAspect="1"/>
          </p:cNvPicPr>
          <p:nvPr/>
        </p:nvPicPr>
        <p:blipFill>
          <a:blip r:embed="rId2"/>
          <a:stretch>
            <a:fillRect/>
          </a:stretch>
        </p:blipFill>
        <p:spPr>
          <a:xfrm>
            <a:off x="1402822" y="0"/>
            <a:ext cx="9386355" cy="6858000"/>
          </a:xfrm>
          <a:prstGeom prst="rect">
            <a:avLst/>
          </a:prstGeom>
        </p:spPr>
      </p:pic>
    </p:spTree>
    <p:extLst>
      <p:ext uri="{BB962C8B-B14F-4D97-AF65-F5344CB8AC3E}">
        <p14:creationId xmlns:p14="http://schemas.microsoft.com/office/powerpoint/2010/main" val="1682543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DEEP FEEDFORWARD NETWORK</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213225"/>
          </a:xfrm>
        </p:spPr>
        <p:txBody>
          <a:bodyPr>
            <a:normAutofit/>
          </a:bodyPr>
          <a:lstStyle/>
          <a:p>
            <a:r>
              <a:rPr lang="en-IN" b="1" dirty="0">
                <a:latin typeface="Times New Roman" panose="02020603050405020304" pitchFamily="18" charset="0"/>
                <a:cs typeface="Times New Roman" panose="02020603050405020304" pitchFamily="18" charset="0"/>
              </a:rPr>
              <a:t>Deep feedforward networks</a:t>
            </a:r>
            <a:r>
              <a:rPr lang="en-IN" dirty="0">
                <a:latin typeface="Times New Roman" panose="02020603050405020304" pitchFamily="18" charset="0"/>
                <a:cs typeface="Times New Roman" panose="02020603050405020304" pitchFamily="18" charset="0"/>
              </a:rPr>
              <a:t>, also often called </a:t>
            </a:r>
            <a:r>
              <a:rPr lang="en-IN" b="1" dirty="0">
                <a:latin typeface="Times New Roman" panose="02020603050405020304" pitchFamily="18" charset="0"/>
                <a:cs typeface="Times New Roman" panose="02020603050405020304" pitchFamily="18" charset="0"/>
              </a:rPr>
              <a:t>feedforward neural networks</a:t>
            </a:r>
            <a:r>
              <a:rPr lang="en-IN" dirty="0">
                <a:latin typeface="Times New Roman" panose="02020603050405020304" pitchFamily="18" charset="0"/>
                <a:cs typeface="Times New Roman" panose="02020603050405020304" pitchFamily="18" charset="0"/>
              </a:rPr>
              <a:t>, or </a:t>
            </a:r>
            <a:r>
              <a:rPr lang="en-IN" b="1" dirty="0">
                <a:latin typeface="Times New Roman" panose="02020603050405020304" pitchFamily="18" charset="0"/>
                <a:cs typeface="Times New Roman" panose="02020603050405020304" pitchFamily="18" charset="0"/>
              </a:rPr>
              <a:t>multilayer perceptrons </a:t>
            </a:r>
            <a:r>
              <a:rPr lang="en-IN" dirty="0">
                <a:latin typeface="Times New Roman" panose="02020603050405020304" pitchFamily="18" charset="0"/>
                <a:cs typeface="Times New Roman" panose="02020603050405020304" pitchFamily="18" charset="0"/>
              </a:rPr>
              <a:t>(MLPs), are the quintessential deep learning models.</a:t>
            </a:r>
          </a:p>
          <a:p>
            <a:r>
              <a:rPr lang="en-IN" dirty="0">
                <a:latin typeface="Times New Roman" panose="02020603050405020304" pitchFamily="18" charset="0"/>
                <a:cs typeface="Times New Roman" panose="02020603050405020304" pitchFamily="18" charset="0"/>
              </a:rPr>
              <a:t>The goal of a feedforward network is to approximate some function </a:t>
            </a:r>
            <a:r>
              <a:rPr lang="en-IN" i="1" dirty="0">
                <a:latin typeface="Times New Roman" panose="02020603050405020304" pitchFamily="18" charset="0"/>
                <a:cs typeface="Times New Roman" panose="02020603050405020304" pitchFamily="18" charset="0"/>
              </a:rPr>
              <a:t>f</a:t>
            </a:r>
            <a:r>
              <a:rPr lang="en-IN" i="1" baseline="3000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For example, for a classifier, </a:t>
            </a:r>
            <a:r>
              <a:rPr lang="en-IN" i="1" dirty="0">
                <a:latin typeface="Times New Roman" panose="02020603050405020304" pitchFamily="18" charset="0"/>
                <a:cs typeface="Times New Roman" panose="02020603050405020304" pitchFamily="18" charset="0"/>
              </a:rPr>
              <a:t>y </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f</a:t>
            </a:r>
            <a:r>
              <a:rPr lang="en-IN" i="1" baseline="300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maps an input </a:t>
            </a:r>
            <a:r>
              <a:rPr lang="en-IN" i="1" dirty="0">
                <a:latin typeface="Times New Roman" panose="02020603050405020304" pitchFamily="18" charset="0"/>
                <a:cs typeface="Times New Roman" panose="02020603050405020304" pitchFamily="18" charset="0"/>
              </a:rPr>
              <a:t>x </a:t>
            </a:r>
            <a:r>
              <a:rPr lang="en-IN" dirty="0">
                <a:latin typeface="Times New Roman" panose="02020603050405020304" pitchFamily="18" charset="0"/>
                <a:cs typeface="Times New Roman" panose="02020603050405020304" pitchFamily="18" charset="0"/>
              </a:rPr>
              <a:t>to a category </a:t>
            </a:r>
            <a:r>
              <a:rPr lang="en-IN" i="1" dirty="0">
                <a:latin typeface="Times New Roman" panose="02020603050405020304" pitchFamily="18" charset="0"/>
                <a:cs typeface="Times New Roman" panose="02020603050405020304" pitchFamily="18" charset="0"/>
              </a:rPr>
              <a:t>y</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 feedforward network defines a mapping </a:t>
            </a:r>
            <a:r>
              <a:rPr lang="en-IN" i="1" dirty="0">
                <a:latin typeface="Times New Roman" panose="02020603050405020304" pitchFamily="18" charset="0"/>
                <a:cs typeface="Times New Roman" panose="02020603050405020304" pitchFamily="18" charset="0"/>
              </a:rPr>
              <a:t>y </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f </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a:t>
            </a:r>
            <a:r>
              <a:rPr lang="el-GR" dirty="0">
                <a:latin typeface="Times New Roman" panose="02020603050405020304" pitchFamily="18" charset="0"/>
                <a:cs typeface="Times New Roman" panose="02020603050405020304" pitchFamily="18" charset="0"/>
              </a:rPr>
              <a:t>θ</a:t>
            </a:r>
            <a:r>
              <a:rPr lang="en-IN" dirty="0">
                <a:latin typeface="Times New Roman" panose="02020603050405020304" pitchFamily="18" charset="0"/>
                <a:cs typeface="Times New Roman" panose="02020603050405020304" pitchFamily="18" charset="0"/>
              </a:rPr>
              <a:t>) and learns the value of the parameters </a:t>
            </a:r>
            <a:r>
              <a:rPr lang="el-GR" dirty="0">
                <a:latin typeface="Times New Roman" panose="02020603050405020304" pitchFamily="18" charset="0"/>
                <a:cs typeface="Times New Roman" panose="02020603050405020304" pitchFamily="18" charset="0"/>
              </a:rPr>
              <a:t>θ </a:t>
            </a:r>
            <a:r>
              <a:rPr lang="en-IN" dirty="0">
                <a:latin typeface="Times New Roman" panose="02020603050405020304" pitchFamily="18" charset="0"/>
                <a:cs typeface="Times New Roman" panose="02020603050405020304" pitchFamily="18" charset="0"/>
              </a:rPr>
              <a:t>that result in the best function approximation.</a:t>
            </a:r>
          </a:p>
        </p:txBody>
      </p:sp>
    </p:spTree>
    <p:extLst>
      <p:ext uri="{BB962C8B-B14F-4D97-AF65-F5344CB8AC3E}">
        <p14:creationId xmlns:p14="http://schemas.microsoft.com/office/powerpoint/2010/main" val="2139835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7784"/>
            <a:ext cx="10515600" cy="5619179"/>
          </a:xfrm>
        </p:spPr>
        <p:txBody>
          <a:bodyPr>
            <a:normAutofit/>
          </a:bodyPr>
          <a:lstStyle/>
          <a:p>
            <a:r>
              <a:rPr lang="en-IN" dirty="0">
                <a:latin typeface="Times New Roman" panose="02020603050405020304" pitchFamily="18" charset="0"/>
                <a:cs typeface="Times New Roman" panose="02020603050405020304" pitchFamily="18" charset="0"/>
              </a:rPr>
              <a:t>These models are called </a:t>
            </a:r>
            <a:r>
              <a:rPr lang="en-IN" b="1" dirty="0">
                <a:latin typeface="Times New Roman" panose="02020603050405020304" pitchFamily="18" charset="0"/>
                <a:cs typeface="Times New Roman" panose="02020603050405020304" pitchFamily="18" charset="0"/>
              </a:rPr>
              <a:t>feedforward </a:t>
            </a:r>
            <a:r>
              <a:rPr lang="en-IN" dirty="0">
                <a:latin typeface="Times New Roman" panose="02020603050405020304" pitchFamily="18" charset="0"/>
                <a:cs typeface="Times New Roman" panose="02020603050405020304" pitchFamily="18" charset="0"/>
              </a:rPr>
              <a:t>because information flows through the function being evaluated from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through the intermediate computations used to define </a:t>
            </a:r>
            <a:r>
              <a:rPr lang="en-IN" i="1" dirty="0">
                <a:latin typeface="Times New Roman" panose="02020603050405020304" pitchFamily="18" charset="0"/>
                <a:cs typeface="Times New Roman" panose="02020603050405020304" pitchFamily="18" charset="0"/>
              </a:rPr>
              <a:t>f </a:t>
            </a:r>
            <a:r>
              <a:rPr lang="en-IN" dirty="0">
                <a:latin typeface="Times New Roman" panose="02020603050405020304" pitchFamily="18" charset="0"/>
                <a:cs typeface="Times New Roman" panose="02020603050405020304" pitchFamily="18" charset="0"/>
              </a:rPr>
              <a:t>, and finally to the output </a:t>
            </a:r>
            <a:r>
              <a:rPr lang="en-IN" i="1" dirty="0">
                <a:latin typeface="Times New Roman" panose="02020603050405020304" pitchFamily="18" charset="0"/>
                <a:cs typeface="Times New Roman" panose="02020603050405020304" pitchFamily="18" charset="0"/>
              </a:rPr>
              <a:t>y</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There are no </a:t>
            </a:r>
            <a:r>
              <a:rPr lang="en-IN" b="1" dirty="0">
                <a:latin typeface="Times New Roman" panose="02020603050405020304" pitchFamily="18" charset="0"/>
                <a:cs typeface="Times New Roman" panose="02020603050405020304" pitchFamily="18" charset="0"/>
              </a:rPr>
              <a:t>feedback </a:t>
            </a:r>
            <a:r>
              <a:rPr lang="en-IN" dirty="0">
                <a:latin typeface="Times New Roman" panose="02020603050405020304" pitchFamily="18" charset="0"/>
                <a:cs typeface="Times New Roman" panose="02020603050405020304" pitchFamily="18" charset="0"/>
              </a:rPr>
              <a:t>connections in which outputs of the model are fed back into itself. When feedforward neural networks are extended to include feedback connections, they are called </a:t>
            </a:r>
            <a:r>
              <a:rPr lang="en-IN" b="1" dirty="0">
                <a:latin typeface="Times New Roman" panose="02020603050405020304" pitchFamily="18" charset="0"/>
                <a:cs typeface="Times New Roman" panose="02020603050405020304" pitchFamily="18" charset="0"/>
              </a:rPr>
              <a:t>recurrent neural networks</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04807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2376"/>
            <a:ext cx="10515600" cy="5454587"/>
          </a:xfrm>
        </p:spPr>
        <p:txBody>
          <a:bodyPr>
            <a:normAutofit/>
          </a:bodyPr>
          <a:lstStyle/>
          <a:p>
            <a:r>
              <a:rPr lang="en-IN" dirty="0">
                <a:latin typeface="Times New Roman" panose="02020603050405020304" pitchFamily="18" charset="0"/>
                <a:cs typeface="Times New Roman" panose="02020603050405020304" pitchFamily="18" charset="0"/>
              </a:rPr>
              <a:t>Feedforward neural networks are called </a:t>
            </a:r>
            <a:r>
              <a:rPr lang="en-IN" b="1" dirty="0">
                <a:latin typeface="Times New Roman" panose="02020603050405020304" pitchFamily="18" charset="0"/>
                <a:cs typeface="Times New Roman" panose="02020603050405020304" pitchFamily="18" charset="0"/>
              </a:rPr>
              <a:t>networks </a:t>
            </a:r>
            <a:r>
              <a:rPr lang="en-IN" dirty="0">
                <a:latin typeface="Times New Roman" panose="02020603050405020304" pitchFamily="18" charset="0"/>
                <a:cs typeface="Times New Roman" panose="02020603050405020304" pitchFamily="18" charset="0"/>
              </a:rPr>
              <a:t>because they are typically represented by composing together many different functions. </a:t>
            </a:r>
          </a:p>
          <a:p>
            <a:r>
              <a:rPr lang="en-IN" dirty="0">
                <a:latin typeface="Times New Roman" panose="02020603050405020304" pitchFamily="18" charset="0"/>
                <a:cs typeface="Times New Roman" panose="02020603050405020304" pitchFamily="18" charset="0"/>
              </a:rPr>
              <a:t>The model is associated with a directed acyclic graph describing how the functions are composed together.</a:t>
            </a:r>
          </a:p>
          <a:p>
            <a:r>
              <a:rPr lang="en-IN" dirty="0">
                <a:latin typeface="Times New Roman" panose="02020603050405020304" pitchFamily="18" charset="0"/>
                <a:cs typeface="Times New Roman" panose="02020603050405020304" pitchFamily="18" charset="0"/>
              </a:rPr>
              <a:t>For example, we might have three functions </a:t>
            </a:r>
            <a:r>
              <a:rPr lang="en-IN" i="1" dirty="0">
                <a:latin typeface="Times New Roman" panose="02020603050405020304" pitchFamily="18" charset="0"/>
                <a:cs typeface="Times New Roman" panose="02020603050405020304" pitchFamily="18" charset="0"/>
              </a:rPr>
              <a:t>f </a:t>
            </a:r>
            <a:r>
              <a:rPr lang="en-IN" baseline="30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 , </a:t>
            </a:r>
            <a:r>
              <a:rPr lang="en-IN" i="1" dirty="0">
                <a:latin typeface="Times New Roman" panose="02020603050405020304" pitchFamily="18" charset="0"/>
                <a:cs typeface="Times New Roman" panose="02020603050405020304" pitchFamily="18" charset="0"/>
              </a:rPr>
              <a:t>f </a:t>
            </a:r>
            <a:r>
              <a:rPr lang="en-IN" baseline="30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and </a:t>
            </a:r>
            <a:r>
              <a:rPr lang="en-IN" i="1" dirty="0">
                <a:latin typeface="Times New Roman" panose="02020603050405020304" pitchFamily="18" charset="0"/>
                <a:cs typeface="Times New Roman" panose="02020603050405020304" pitchFamily="18" charset="0"/>
              </a:rPr>
              <a:t>f </a:t>
            </a:r>
            <a:r>
              <a:rPr lang="en-IN" baseline="30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connected in a chain, to form </a:t>
            </a:r>
            <a:r>
              <a:rPr lang="en-IN" i="1" dirty="0">
                <a:latin typeface="Times New Roman" panose="02020603050405020304" pitchFamily="18" charset="0"/>
                <a:cs typeface="Times New Roman" panose="02020603050405020304" pitchFamily="18" charset="0"/>
              </a:rPr>
              <a:t>f </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 </a:t>
            </a:r>
            <a:r>
              <a:rPr lang="en-IN" i="1" dirty="0">
                <a:latin typeface="Times New Roman" panose="02020603050405020304" pitchFamily="18" charset="0"/>
                <a:cs typeface="Times New Roman" panose="02020603050405020304" pitchFamily="18" charset="0"/>
              </a:rPr>
              <a:t>f </a:t>
            </a:r>
            <a:r>
              <a:rPr lang="en-IN" baseline="30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f </a:t>
            </a:r>
            <a:r>
              <a:rPr lang="en-IN" baseline="30000" dirty="0">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f </a:t>
            </a:r>
            <a:r>
              <a:rPr lang="en-IN" baseline="30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These chain structures are the most commonly used structures of neural networks. The final layer of a feedforward network is called the </a:t>
            </a:r>
            <a:r>
              <a:rPr lang="en-IN" b="1" dirty="0">
                <a:latin typeface="Times New Roman" panose="02020603050405020304" pitchFamily="18" charset="0"/>
                <a:cs typeface="Times New Roman" panose="02020603050405020304" pitchFamily="18" charset="0"/>
              </a:rPr>
              <a:t>output layer</a:t>
            </a:r>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The overall length of the chain gives the </a:t>
            </a:r>
            <a:r>
              <a:rPr lang="en-IN" b="1" dirty="0">
                <a:latin typeface="Times New Roman" panose="02020603050405020304" pitchFamily="18" charset="0"/>
                <a:cs typeface="Times New Roman" panose="02020603050405020304" pitchFamily="18" charset="0"/>
              </a:rPr>
              <a:t>depth </a:t>
            </a:r>
            <a:r>
              <a:rPr lang="en-IN" dirty="0">
                <a:latin typeface="Times New Roman" panose="02020603050405020304" pitchFamily="18" charset="0"/>
                <a:cs typeface="Times New Roman" panose="02020603050405020304" pitchFamily="18" charset="0"/>
              </a:rPr>
              <a:t>of the model.</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2077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96112"/>
            <a:ext cx="10515600" cy="5280851"/>
          </a:xfrm>
        </p:spPr>
        <p:txBody>
          <a:bodyPr>
            <a:normAutofit lnSpcReduction="10000"/>
          </a:bodyPr>
          <a:lstStyle/>
          <a:p>
            <a:r>
              <a:rPr lang="en-IN" dirty="0">
                <a:latin typeface="Times New Roman" panose="02020603050405020304" pitchFamily="18" charset="0"/>
                <a:cs typeface="Times New Roman" panose="02020603050405020304" pitchFamily="18" charset="0"/>
              </a:rPr>
              <a:t>During neural network training, we drive </a:t>
            </a:r>
            <a:r>
              <a:rPr lang="en-IN" i="1" dirty="0">
                <a:latin typeface="Times New Roman" panose="02020603050405020304" pitchFamily="18" charset="0"/>
                <a:cs typeface="Times New Roman" panose="02020603050405020304" pitchFamily="18" charset="0"/>
              </a:rPr>
              <a:t>f </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to match </a:t>
            </a:r>
            <a:r>
              <a:rPr lang="en-IN" i="1" dirty="0">
                <a:latin typeface="Times New Roman" panose="02020603050405020304" pitchFamily="18" charset="0"/>
                <a:cs typeface="Times New Roman" panose="02020603050405020304" pitchFamily="18" charset="0"/>
              </a:rPr>
              <a:t>f</a:t>
            </a:r>
            <a:r>
              <a:rPr lang="en-IN" i="1" baseline="300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training data provides us with noisy, approximate examples of </a:t>
            </a:r>
            <a:r>
              <a:rPr lang="en-IN" i="1" dirty="0">
                <a:latin typeface="Times New Roman" panose="02020603050405020304" pitchFamily="18" charset="0"/>
                <a:cs typeface="Times New Roman" panose="02020603050405020304" pitchFamily="18" charset="0"/>
              </a:rPr>
              <a:t>f</a:t>
            </a:r>
            <a:r>
              <a:rPr lang="en-IN" i="1" baseline="300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evaluated at different training points.</a:t>
            </a:r>
          </a:p>
          <a:p>
            <a:r>
              <a:rPr lang="en-IN" dirty="0">
                <a:latin typeface="Times New Roman" panose="02020603050405020304" pitchFamily="18" charset="0"/>
                <a:cs typeface="Times New Roman" panose="02020603050405020304" pitchFamily="18" charset="0"/>
              </a:rPr>
              <a:t>The behaviour of the other layers is not directly specified by the training data. </a:t>
            </a:r>
          </a:p>
          <a:p>
            <a:r>
              <a:rPr lang="en-IN" dirty="0">
                <a:latin typeface="Times New Roman" panose="02020603050405020304" pitchFamily="18" charset="0"/>
                <a:cs typeface="Times New Roman" panose="02020603050405020304" pitchFamily="18" charset="0"/>
              </a:rPr>
              <a:t>The learning algorithm must decide how to use those layers to produce the desired output, but the training data does not say what each individual layer should do.</a:t>
            </a:r>
          </a:p>
          <a:p>
            <a:r>
              <a:rPr lang="en-IN" dirty="0">
                <a:latin typeface="Times New Roman" panose="02020603050405020304" pitchFamily="18" charset="0"/>
                <a:cs typeface="Times New Roman" panose="02020603050405020304" pitchFamily="18" charset="0"/>
              </a:rPr>
              <a:t> Instead, the learning algorithm must decide how to use these layers to best implement an approximation of </a:t>
            </a:r>
            <a:r>
              <a:rPr lang="en-IN" i="1" dirty="0">
                <a:latin typeface="Times New Roman" panose="02020603050405020304" pitchFamily="18" charset="0"/>
                <a:cs typeface="Times New Roman" panose="02020603050405020304" pitchFamily="18" charset="0"/>
              </a:rPr>
              <a:t>f ∗</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Because the training data does not show the desired output for each of these layers, these layers are called </a:t>
            </a:r>
            <a:r>
              <a:rPr lang="en-IN" b="1" dirty="0">
                <a:latin typeface="Times New Roman" panose="02020603050405020304" pitchFamily="18" charset="0"/>
                <a:cs typeface="Times New Roman" panose="02020603050405020304" pitchFamily="18" charset="0"/>
              </a:rPr>
              <a:t>hidden layers</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52465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p:cNvSpPr>
            <a:spLocks noGrp="1"/>
          </p:cNvSpPr>
          <p:nvPr>
            <p:ph idx="1"/>
          </p:nvPr>
        </p:nvSpPr>
        <p:spPr>
          <a:xfrm>
            <a:off x="576793" y="1041494"/>
            <a:ext cx="4080361" cy="3769834"/>
          </a:xfrm>
        </p:spPr>
        <p:txBody>
          <a:bodyPr anchor="ctr">
            <a:normAutofit/>
          </a:bodyPr>
          <a:lstStyle/>
          <a:p>
            <a:pPr marL="0" indent="0">
              <a:buNone/>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Feed forward neural network</a:t>
            </a:r>
          </a:p>
          <a:p>
            <a:pPr lvl="1"/>
            <a:r>
              <a:rPr lang="en-IN" sz="2000" dirty="0">
                <a:latin typeface="Times New Roman" panose="02020603050405020304" pitchFamily="18" charset="0"/>
                <a:cs typeface="Times New Roman" panose="02020603050405020304" pitchFamily="18" charset="0"/>
              </a:rPr>
              <a:t>Input layer</a:t>
            </a:r>
          </a:p>
          <a:p>
            <a:pPr lvl="1"/>
            <a:r>
              <a:rPr lang="en-IN" sz="2000" dirty="0">
                <a:latin typeface="Times New Roman" panose="02020603050405020304" pitchFamily="18" charset="0"/>
                <a:cs typeface="Times New Roman" panose="02020603050405020304" pitchFamily="18" charset="0"/>
              </a:rPr>
              <a:t>Output layer</a:t>
            </a:r>
          </a:p>
          <a:p>
            <a:pPr lvl="1"/>
            <a:r>
              <a:rPr lang="en-IN" sz="2000" dirty="0">
                <a:latin typeface="Times New Roman" panose="02020603050405020304" pitchFamily="18" charset="0"/>
                <a:cs typeface="Times New Roman" panose="02020603050405020304" pitchFamily="18" charset="0"/>
              </a:rPr>
              <a:t>Hidden layer</a:t>
            </a:r>
          </a:p>
          <a:p>
            <a:pPr lvl="1"/>
            <a:r>
              <a:rPr lang="en-IN" sz="2000" dirty="0">
                <a:latin typeface="Times New Roman" panose="02020603050405020304" pitchFamily="18" charset="0"/>
                <a:cs typeface="Times New Roman" panose="02020603050405020304" pitchFamily="18" charset="0"/>
              </a:rPr>
              <a:t>Neuron weights</a:t>
            </a:r>
          </a:p>
          <a:p>
            <a:pPr lvl="1"/>
            <a:r>
              <a:rPr lang="en-IN" sz="2000" dirty="0">
                <a:latin typeface="Times New Roman" panose="02020603050405020304" pitchFamily="18" charset="0"/>
                <a:cs typeface="Times New Roman" panose="02020603050405020304" pitchFamily="18" charset="0"/>
              </a:rPr>
              <a:t>Neurons</a:t>
            </a:r>
          </a:p>
          <a:p>
            <a:pPr lvl="1"/>
            <a:r>
              <a:rPr lang="en-IN" sz="2000" dirty="0">
                <a:latin typeface="Times New Roman" panose="02020603050405020304" pitchFamily="18" charset="0"/>
                <a:cs typeface="Times New Roman" panose="02020603050405020304" pitchFamily="18" charset="0"/>
              </a:rPr>
              <a:t>Activation Function</a:t>
            </a:r>
          </a:p>
          <a:p>
            <a:endParaRPr lang="en-IN" sz="2000"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
            <a:extLst>
              <a:ext uri="{FF2B5EF4-FFF2-40B4-BE49-F238E27FC236}">
                <a16:creationId xmlns:a16="http://schemas.microsoft.com/office/drawing/2014/main" id="{EB3FDCB8-FDCE-8537-ED22-04418E4308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65964" y="1041494"/>
            <a:ext cx="7164824" cy="4478015"/>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834786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FF3DC0-6C76-4562-98EF-684054928E86}"/>
              </a:ext>
            </a:extLst>
          </p:cNvPr>
          <p:cNvSpPr>
            <a:spLocks noGrp="1"/>
          </p:cNvSpPr>
          <p:nvPr>
            <p:ph idx="1"/>
          </p:nvPr>
        </p:nvSpPr>
        <p:spPr>
          <a:xfrm>
            <a:off x="838200" y="557784"/>
            <a:ext cx="10515600" cy="5619179"/>
          </a:xfrm>
        </p:spPr>
        <p:txBody>
          <a:bodyPr>
            <a:normAutofit lnSpcReduction="10000"/>
          </a:bodyPr>
          <a:lstStyle/>
          <a:p>
            <a:pPr marL="0" lvl="0" indent="0" fontAlgn="base">
              <a:lnSpc>
                <a:spcPct val="107000"/>
              </a:lnSpc>
              <a:spcAft>
                <a:spcPts val="800"/>
              </a:spcAft>
              <a:buSzPts val="1000"/>
              <a:buNone/>
              <a:tabLst>
                <a:tab pos="457200" algn="l"/>
              </a:tabLst>
            </a:pPr>
            <a:r>
              <a:rPr lang="en-IN" sz="1800" b="1"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Input layer:</a:t>
            </a:r>
            <a:endParaRPr lang="en-IN" sz="1800" b="1"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The neurons of this layer receive input and pass it on to the other layers of the network. Feature or attribute numbers in the dataset must match the number of neurons in the input layer.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07000"/>
              </a:lnSpc>
              <a:spcAft>
                <a:spcPts val="800"/>
              </a:spcAft>
              <a:buSzPts val="1000"/>
              <a:buNone/>
              <a:tabLst>
                <a:tab pos="457200" algn="l"/>
              </a:tabLst>
            </a:pPr>
            <a:r>
              <a:rPr lang="en-IN" sz="1800" b="1"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Output layer:</a:t>
            </a:r>
            <a:endParaRPr lang="en-IN" sz="1800" b="1"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According to the type of model getting built, this layer represents the forecasted feature.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07000"/>
              </a:lnSpc>
              <a:spcAft>
                <a:spcPts val="800"/>
              </a:spcAft>
              <a:buSzPts val="1000"/>
              <a:buNone/>
              <a:tabLst>
                <a:tab pos="457200" algn="l"/>
              </a:tabLst>
            </a:pPr>
            <a:r>
              <a:rPr lang="en-IN" sz="1800" b="1"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Hidden layer:</a:t>
            </a:r>
            <a:endParaRPr lang="en-IN" sz="1800" b="1"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Input and output layers get separated by hidden layers. Depending on the type of model, there may be several hidden layers.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There are several neurons in hidden layers that transform the input before actually transferring it to the next layer. This network gets constantly updated with weights in order to make it easier to predict.</a:t>
            </a:r>
          </a:p>
          <a:p>
            <a:pPr marL="0" lvl="0" indent="0" fontAlgn="base">
              <a:lnSpc>
                <a:spcPct val="107000"/>
              </a:lnSpc>
              <a:spcAft>
                <a:spcPts val="800"/>
              </a:spcAft>
              <a:buSzPts val="1000"/>
              <a:buNone/>
              <a:tabLst>
                <a:tab pos="457200" algn="l"/>
              </a:tabLst>
            </a:pPr>
            <a:r>
              <a:rPr lang="en-IN" sz="1800" b="1"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Neuron weights:</a:t>
            </a:r>
            <a:endParaRPr lang="en-IN" sz="1800" b="1"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Neurons get connected by a weight, which measures their strength or magnitude. Similar to linear regression coefficients, input weights can also get compared.</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6095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36CC26-C269-4497-9E85-B7AEACF15C5D}"/>
              </a:ext>
            </a:extLst>
          </p:cNvPr>
          <p:cNvSpPr>
            <a:spLocks noGrp="1"/>
          </p:cNvSpPr>
          <p:nvPr>
            <p:ph idx="1"/>
          </p:nvPr>
        </p:nvSpPr>
        <p:spPr>
          <a:xfrm>
            <a:off x="838200" y="905256"/>
            <a:ext cx="10515600" cy="5271707"/>
          </a:xfrm>
        </p:spPr>
        <p:txBody>
          <a:bodyPr>
            <a:normAutofit lnSpcReduction="10000"/>
          </a:bodyPr>
          <a:lstStyle/>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Weight is normally between 0 and 1, with a value between 0 and 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07000"/>
              </a:lnSpc>
              <a:spcAft>
                <a:spcPts val="800"/>
              </a:spcAft>
              <a:buSzPts val="1000"/>
              <a:buNone/>
              <a:tabLst>
                <a:tab pos="457200" algn="l"/>
              </a:tabLst>
            </a:pPr>
            <a:r>
              <a:rPr lang="en-IN" sz="1800" b="1"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Neurons:</a:t>
            </a:r>
            <a:endParaRPr lang="en-IN" sz="1800" b="1"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Artificial neurons get used in feed forward networks, which later get adapted from biological neurons. A neural network consists of artificial neurons.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Neurons function in two ways: first, they create weighted input sums, and second, they activate the sums to make them normal.</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Activation functions can either be linear or nonlinear. Neurons have weights based on their inputs. During the learning phase, the network studies these weights.</a:t>
            </a:r>
          </a:p>
          <a:p>
            <a:pPr marL="0" lvl="0" indent="0" fontAlgn="base">
              <a:lnSpc>
                <a:spcPct val="107000"/>
              </a:lnSpc>
              <a:spcAft>
                <a:spcPts val="800"/>
              </a:spcAft>
              <a:buSzPts val="1000"/>
              <a:buNone/>
              <a:tabLst>
                <a:tab pos="457200" algn="l"/>
              </a:tabLst>
            </a:pPr>
            <a:r>
              <a:rPr lang="en-IN" sz="1800" b="1"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Activation Function:</a:t>
            </a:r>
            <a:endParaRPr lang="en-IN" sz="1800" b="1"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Neurons are responsible for making decisions in this area.</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According to the activation function, the neurons determine whether to make a linear or nonlinear decision. Since it passes through so many layers, it prevents the cascading effect from increasing neuron outputs.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15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92113E-A1BD-414D-BF3A-0232FE4D81CA}"/>
                  </a:ext>
                </a:extLst>
              </p:cNvPr>
              <p:cNvSpPr>
                <a:spLocks noGrp="1"/>
              </p:cNvSpPr>
              <p:nvPr>
                <p:ph idx="1"/>
              </p:nvPr>
            </p:nvSpPr>
            <p:spPr>
              <a:xfrm>
                <a:off x="838200" y="428626"/>
                <a:ext cx="10515600" cy="5748338"/>
              </a:xfrm>
            </p:spPr>
            <p:txBody>
              <a:bodyPr>
                <a:normAutofit fontScale="77500" lnSpcReduction="20000"/>
              </a:bodyPr>
              <a:lstStyle/>
              <a:p>
                <a:pPr marL="0" indent="0" fontAlgn="base">
                  <a:lnSpc>
                    <a:spcPct val="107000"/>
                  </a:lnSpc>
                  <a:spcAft>
                    <a:spcPts val="800"/>
                  </a:spcAft>
                  <a:buNone/>
                </a:pPr>
                <a:r>
                  <a:rPr lang="en-IN" sz="2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An activation function can be classified into three major categories: sigmoid, Tanh, and Rectified Linear Unit (</a:t>
                </a:r>
                <a:r>
                  <a:rPr lang="en-IN" sz="2800" dirty="0" err="1">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ReLu</a:t>
                </a:r>
                <a:r>
                  <a:rPr lang="en-IN" sz="2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Sigmoid:</a:t>
                </a:r>
                <a:endParaRPr lang="en-IN" sz="2800"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fontAlgn="base">
                  <a:lnSpc>
                    <a:spcPct val="107000"/>
                  </a:lnSpc>
                  <a:spcAft>
                    <a:spcPts val="800"/>
                  </a:spcAft>
                </a:pPr>
                <a:r>
                  <a:rPr lang="en-IN"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Input values between 0 and 1 get mapped to the output values.</a:t>
                </a:r>
              </a:p>
              <a:p>
                <a:pPr marL="457200" lvl="1" indent="0" algn="ctr" fontAlgn="base">
                  <a:lnSpc>
                    <a:spcPct val="107000"/>
                  </a:lnSpc>
                  <a:spcAft>
                    <a:spcPts val="800"/>
                  </a:spcAft>
                  <a:buNone/>
                </a:pPr>
                <a:r>
                  <a:rPr lang="el-GR" b="0" i="0" dirty="0">
                    <a:solidFill>
                      <a:srgbClr val="273239"/>
                    </a:solidFill>
                    <a:effectLst/>
                    <a:latin typeface="KaTeX_Main"/>
                  </a:rPr>
                  <a:t>​</a:t>
                </a:r>
                <a14:m>
                  <m:oMath xmlns:m="http://schemas.openxmlformats.org/officeDocument/2006/math">
                    <m:r>
                      <m:rPr>
                        <m:nor/>
                      </m:rPr>
                      <a:rPr lang="el-GR" i="1" dirty="0" smtClean="0">
                        <a:effectLst/>
                        <a:latin typeface="KaTeX_Math"/>
                      </a:rPr>
                      <m:t>σ</m:t>
                    </m:r>
                    <m:r>
                      <m:rPr>
                        <m:nor/>
                      </m:rPr>
                      <a:rPr lang="el-GR" dirty="0" smtClean="0">
                        <a:effectLst/>
                      </a:rPr>
                      <m:t>(</m:t>
                    </m:r>
                    <m:r>
                      <m:rPr>
                        <m:nor/>
                      </m:rPr>
                      <a:rPr lang="el-GR" i="1" dirty="0" smtClean="0">
                        <a:effectLst/>
                        <a:latin typeface="KaTeX_Math"/>
                      </a:rPr>
                      <m:t>x</m:t>
                    </m:r>
                    <m:r>
                      <m:rPr>
                        <m:nor/>
                      </m:rPr>
                      <a:rPr lang="el-GR" dirty="0" smtClean="0">
                        <a:effectLst/>
                      </a:rPr>
                      <m:t>)</m:t>
                    </m:r>
                    <m:r>
                      <m:rPr>
                        <m:nor/>
                      </m:rPr>
                      <a:rPr lang="en-IN" b="0" i="0" dirty="0" smtClean="0">
                        <a:effectLst/>
                      </a:rPr>
                      <m:t> </m:t>
                    </m:r>
                    <m:r>
                      <m:rPr>
                        <m:nor/>
                      </m:rPr>
                      <a:rPr lang="el-GR" dirty="0" smtClean="0">
                        <a:effectLst/>
                      </a:rPr>
                      <m:t>=</m:t>
                    </m:r>
                    <m:r>
                      <m:rPr>
                        <m:nor/>
                      </m:rPr>
                      <a:rPr lang="en-IN" b="0" i="0" dirty="0" smtClean="0">
                        <a:effectLst/>
                      </a:rPr>
                      <m:t> </m:t>
                    </m:r>
                    <m:f>
                      <m:fPr>
                        <m:ctrlPr>
                          <a:rPr lang="en-IN" b="0" i="1" dirty="0" smtClean="0">
                            <a:effectLst/>
                            <a:latin typeface="Cambria Math" panose="02040503050406030204" pitchFamily="18" charset="0"/>
                          </a:rPr>
                        </m:ctrlPr>
                      </m:fPr>
                      <m:num>
                        <m:r>
                          <a:rPr lang="en-IN" b="0" i="1" dirty="0" smtClean="0">
                            <a:effectLst/>
                            <a:latin typeface="Cambria Math" panose="02040503050406030204" pitchFamily="18" charset="0"/>
                          </a:rPr>
                          <m:t>1</m:t>
                        </m:r>
                      </m:num>
                      <m:den>
                        <m:r>
                          <m:rPr>
                            <m:nor/>
                          </m:rPr>
                          <a:rPr lang="el-GR" b="0" i="0" dirty="0" smtClean="0">
                            <a:solidFill>
                              <a:srgbClr val="273239"/>
                            </a:solidFill>
                            <a:effectLst/>
                            <a:latin typeface="KaTeX_Main"/>
                          </a:rPr>
                          <m:t>1+</m:t>
                        </m:r>
                        <m:sSup>
                          <m:sSupPr>
                            <m:ctrlPr>
                              <a:rPr lang="el-GR" b="0" i="1" dirty="0" smtClean="0">
                                <a:solidFill>
                                  <a:srgbClr val="273239"/>
                                </a:solidFill>
                                <a:effectLst/>
                                <a:latin typeface="Cambria Math" panose="02040503050406030204" pitchFamily="18" charset="0"/>
                              </a:rPr>
                            </m:ctrlPr>
                          </m:sSupPr>
                          <m:e>
                            <m:r>
                              <m:rPr>
                                <m:nor/>
                              </m:rPr>
                              <a:rPr lang="el-GR" b="0" i="1" dirty="0" smtClean="0">
                                <a:solidFill>
                                  <a:srgbClr val="273239"/>
                                </a:solidFill>
                                <a:effectLst/>
                                <a:latin typeface="KaTeX_Math"/>
                              </a:rPr>
                              <m:t>e</m:t>
                            </m:r>
                          </m:e>
                          <m:sup>
                            <m:r>
                              <m:rPr>
                                <m:nor/>
                              </m:rPr>
                              <a:rPr lang="el-GR" b="0" i="0" dirty="0" smtClean="0">
                                <a:solidFill>
                                  <a:srgbClr val="273239"/>
                                </a:solidFill>
                                <a:effectLst/>
                                <a:latin typeface="KaTeX_Main"/>
                              </a:rPr>
                              <m:t>−</m:t>
                            </m:r>
                            <m:r>
                              <m:rPr>
                                <m:nor/>
                              </m:rPr>
                              <a:rPr lang="el-GR" b="0" i="1" dirty="0" smtClean="0">
                                <a:solidFill>
                                  <a:srgbClr val="273239"/>
                                </a:solidFill>
                                <a:effectLst/>
                                <a:latin typeface="KaTeX_Math"/>
                              </a:rPr>
                              <m:t>x</m:t>
                            </m:r>
                          </m:sup>
                        </m:sSup>
                      </m:den>
                    </m:f>
                  </m:oMath>
                </a14:m>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Tanh:</a:t>
                </a:r>
                <a:endParaRPr lang="en-IN" sz="2800"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fontAlgn="base">
                  <a:lnSpc>
                    <a:spcPct val="107000"/>
                  </a:lnSpc>
                  <a:spcAft>
                    <a:spcPts val="800"/>
                  </a:spcAft>
                </a:pPr>
                <a:r>
                  <a:rPr lang="en-IN"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A value between -1 and 1 gets mapped to the input values.</a:t>
                </a:r>
              </a:p>
              <a:p>
                <a:pPr marL="457200" lvl="1" indent="0" fontAlgn="base">
                  <a:lnSpc>
                    <a:spcPct val="107000"/>
                  </a:lnSpc>
                  <a:spcAft>
                    <a:spcPts val="800"/>
                  </a:spcAft>
                  <a:buNone/>
                </a:pPr>
                <a14:m>
                  <m:oMathPara xmlns:m="http://schemas.openxmlformats.org/officeDocument/2006/math">
                    <m:oMathParaPr>
                      <m:jc m:val="centerGroup"/>
                    </m:oMathParaPr>
                    <m:oMath xmlns:m="http://schemas.openxmlformats.org/officeDocument/2006/math">
                      <m:r>
                        <m:rPr>
                          <m:nor/>
                        </m:rPr>
                        <a:rPr lang="en-IN" i="1" dirty="0">
                          <a:latin typeface="Cambria Math" panose="02040503050406030204" pitchFamily="18" charset="0"/>
                        </a:rPr>
                        <m:t>t</m:t>
                      </m:r>
                      <m:r>
                        <m:rPr>
                          <m:nor/>
                        </m:rPr>
                        <a:rPr lang="en-IN" b="0" i="1" dirty="0" smtClean="0">
                          <a:latin typeface="Cambria Math" panose="02040503050406030204" pitchFamily="18" charset="0"/>
                        </a:rPr>
                        <m:t>anh</m:t>
                      </m:r>
                      <m:r>
                        <m:rPr>
                          <m:nor/>
                        </m:rPr>
                        <a:rPr lang="el-GR" dirty="0" smtClean="0">
                          <a:effectLst/>
                        </a:rPr>
                        <m:t>(</m:t>
                      </m:r>
                      <m:r>
                        <m:rPr>
                          <m:nor/>
                        </m:rPr>
                        <a:rPr lang="el-GR" i="1" dirty="0" smtClean="0">
                          <a:effectLst/>
                          <a:latin typeface="KaTeX_Math"/>
                        </a:rPr>
                        <m:t>x</m:t>
                      </m:r>
                      <m:r>
                        <m:rPr>
                          <m:nor/>
                        </m:rPr>
                        <a:rPr lang="el-GR" dirty="0" smtClean="0">
                          <a:effectLst/>
                        </a:rPr>
                        <m:t>)</m:t>
                      </m:r>
                      <m:r>
                        <m:rPr>
                          <m:nor/>
                        </m:rPr>
                        <a:rPr lang="en-IN" b="0" i="0" dirty="0" smtClean="0">
                          <a:effectLst/>
                        </a:rPr>
                        <m:t> </m:t>
                      </m:r>
                      <m:r>
                        <m:rPr>
                          <m:nor/>
                        </m:rPr>
                        <a:rPr lang="el-GR" dirty="0" smtClean="0">
                          <a:effectLst/>
                        </a:rPr>
                        <m:t>=</m:t>
                      </m:r>
                      <m:r>
                        <m:rPr>
                          <m:nor/>
                        </m:rPr>
                        <a:rPr lang="en-IN" b="0" i="0" dirty="0" smtClean="0">
                          <a:effectLst/>
                        </a:rPr>
                        <m:t> </m:t>
                      </m:r>
                      <m:f>
                        <m:fPr>
                          <m:ctrlPr>
                            <a:rPr lang="en-IN" b="0" i="1" dirty="0" smtClean="0">
                              <a:effectLst/>
                              <a:latin typeface="Cambria Math" panose="02040503050406030204" pitchFamily="18" charset="0"/>
                            </a:rPr>
                          </m:ctrlPr>
                        </m:fPr>
                        <m:num>
                          <m:sSup>
                            <m:sSupPr>
                              <m:ctrlPr>
                                <a:rPr lang="el-GR" b="0" i="1" dirty="0" smtClean="0">
                                  <a:solidFill>
                                    <a:srgbClr val="273239"/>
                                  </a:solidFill>
                                  <a:effectLst/>
                                  <a:latin typeface="Cambria Math" panose="02040503050406030204" pitchFamily="18" charset="0"/>
                                </a:rPr>
                              </m:ctrlPr>
                            </m:sSupPr>
                            <m:e>
                              <m:r>
                                <m:rPr>
                                  <m:nor/>
                                </m:rPr>
                                <a:rPr lang="el-GR" b="0" i="1" dirty="0" smtClean="0">
                                  <a:solidFill>
                                    <a:srgbClr val="273239"/>
                                  </a:solidFill>
                                  <a:effectLst/>
                                  <a:latin typeface="KaTeX_Math"/>
                                </a:rPr>
                                <m:t>e</m:t>
                              </m:r>
                            </m:e>
                            <m:sup>
                              <m:r>
                                <m:rPr>
                                  <m:nor/>
                                </m:rPr>
                                <a:rPr lang="el-GR" b="0" i="1" dirty="0" smtClean="0">
                                  <a:solidFill>
                                    <a:srgbClr val="273239"/>
                                  </a:solidFill>
                                  <a:effectLst/>
                                  <a:latin typeface="KaTeX_Math"/>
                                </a:rPr>
                                <m:t>x</m:t>
                              </m:r>
                            </m:sup>
                          </m:sSup>
                          <m:r>
                            <a:rPr lang="en-IN" b="0" i="1" dirty="0" smtClean="0">
                              <a:solidFill>
                                <a:srgbClr val="273239"/>
                              </a:solidFill>
                              <a:effectLst/>
                              <a:latin typeface="Cambria Math" panose="02040503050406030204" pitchFamily="18" charset="0"/>
                            </a:rPr>
                            <m:t>−</m:t>
                          </m:r>
                          <m:sSup>
                            <m:sSupPr>
                              <m:ctrlPr>
                                <a:rPr lang="el-GR" b="0" i="1" dirty="0" smtClean="0">
                                  <a:solidFill>
                                    <a:srgbClr val="273239"/>
                                  </a:solidFill>
                                  <a:effectLst/>
                                  <a:latin typeface="Cambria Math" panose="02040503050406030204" pitchFamily="18" charset="0"/>
                                </a:rPr>
                              </m:ctrlPr>
                            </m:sSupPr>
                            <m:e>
                              <m:r>
                                <m:rPr>
                                  <m:nor/>
                                </m:rPr>
                                <a:rPr lang="el-GR" b="0" i="1" dirty="0" smtClean="0">
                                  <a:solidFill>
                                    <a:srgbClr val="273239"/>
                                  </a:solidFill>
                                  <a:effectLst/>
                                  <a:latin typeface="KaTeX_Math"/>
                                </a:rPr>
                                <m:t>e</m:t>
                              </m:r>
                            </m:e>
                            <m:sup>
                              <m:r>
                                <m:rPr>
                                  <m:nor/>
                                </m:rPr>
                                <a:rPr lang="el-GR" b="0" i="0" dirty="0" smtClean="0">
                                  <a:solidFill>
                                    <a:srgbClr val="273239"/>
                                  </a:solidFill>
                                  <a:effectLst/>
                                  <a:latin typeface="KaTeX_Main"/>
                                </a:rPr>
                                <m:t>−</m:t>
                              </m:r>
                              <m:r>
                                <m:rPr>
                                  <m:nor/>
                                </m:rPr>
                                <a:rPr lang="el-GR" b="0" i="1" dirty="0" smtClean="0">
                                  <a:solidFill>
                                    <a:srgbClr val="273239"/>
                                  </a:solidFill>
                                  <a:effectLst/>
                                  <a:latin typeface="KaTeX_Math"/>
                                </a:rPr>
                                <m:t>x</m:t>
                              </m:r>
                            </m:sup>
                          </m:sSup>
                        </m:num>
                        <m:den>
                          <m:sSup>
                            <m:sSupPr>
                              <m:ctrlPr>
                                <a:rPr lang="el-GR" b="0" i="1" dirty="0" smtClean="0">
                                  <a:solidFill>
                                    <a:srgbClr val="273239"/>
                                  </a:solidFill>
                                  <a:effectLst/>
                                  <a:latin typeface="Cambria Math" panose="02040503050406030204" pitchFamily="18" charset="0"/>
                                </a:rPr>
                              </m:ctrlPr>
                            </m:sSupPr>
                            <m:e>
                              <m:r>
                                <m:rPr>
                                  <m:nor/>
                                </m:rPr>
                                <a:rPr lang="el-GR" b="0" i="1" dirty="0" smtClean="0">
                                  <a:solidFill>
                                    <a:srgbClr val="273239"/>
                                  </a:solidFill>
                                  <a:effectLst/>
                                  <a:latin typeface="KaTeX_Math"/>
                                </a:rPr>
                                <m:t>e</m:t>
                              </m:r>
                            </m:e>
                            <m:sup>
                              <m:r>
                                <m:rPr>
                                  <m:nor/>
                                </m:rPr>
                                <a:rPr lang="el-GR" b="0" i="1" dirty="0" smtClean="0">
                                  <a:solidFill>
                                    <a:srgbClr val="273239"/>
                                  </a:solidFill>
                                  <a:effectLst/>
                                  <a:latin typeface="KaTeX_Math"/>
                                </a:rPr>
                                <m:t>x</m:t>
                              </m:r>
                            </m:sup>
                          </m:sSup>
                          <m:r>
                            <m:rPr>
                              <m:nor/>
                            </m:rPr>
                            <a:rPr lang="el-GR" b="0" i="0" dirty="0" smtClean="0">
                              <a:solidFill>
                                <a:srgbClr val="273239"/>
                              </a:solidFill>
                              <a:effectLst/>
                              <a:latin typeface="KaTeX_Main"/>
                            </a:rPr>
                            <m:t>+</m:t>
                          </m:r>
                          <m:sSup>
                            <m:sSupPr>
                              <m:ctrlPr>
                                <a:rPr lang="el-GR" b="0" i="1" dirty="0" smtClean="0">
                                  <a:solidFill>
                                    <a:srgbClr val="273239"/>
                                  </a:solidFill>
                                  <a:effectLst/>
                                  <a:latin typeface="Cambria Math" panose="02040503050406030204" pitchFamily="18" charset="0"/>
                                </a:rPr>
                              </m:ctrlPr>
                            </m:sSupPr>
                            <m:e>
                              <m:r>
                                <m:rPr>
                                  <m:nor/>
                                </m:rPr>
                                <a:rPr lang="el-GR" b="0" i="1" dirty="0" smtClean="0">
                                  <a:solidFill>
                                    <a:srgbClr val="273239"/>
                                  </a:solidFill>
                                  <a:effectLst/>
                                  <a:latin typeface="KaTeX_Math"/>
                                </a:rPr>
                                <m:t>e</m:t>
                              </m:r>
                            </m:e>
                            <m:sup>
                              <m:r>
                                <m:rPr>
                                  <m:nor/>
                                </m:rPr>
                                <a:rPr lang="el-GR" b="0" i="0" dirty="0" smtClean="0">
                                  <a:solidFill>
                                    <a:srgbClr val="273239"/>
                                  </a:solidFill>
                                  <a:effectLst/>
                                  <a:latin typeface="KaTeX_Main"/>
                                </a:rPr>
                                <m:t>−</m:t>
                              </m:r>
                              <m:r>
                                <m:rPr>
                                  <m:nor/>
                                </m:rPr>
                                <a:rPr lang="el-GR" b="0" i="1" dirty="0" smtClean="0">
                                  <a:solidFill>
                                    <a:srgbClr val="273239"/>
                                  </a:solidFill>
                                  <a:effectLst/>
                                  <a:latin typeface="KaTeX_Math"/>
                                </a:rPr>
                                <m:t>x</m:t>
                              </m:r>
                            </m:sup>
                          </m:sSup>
                        </m:den>
                      </m:f>
                    </m:oMath>
                  </m:oMathPara>
                </a14:m>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Rectified linear Unit:</a:t>
                </a:r>
                <a:endParaRPr lang="en-IN" sz="2800" dirty="0">
                  <a:solidFill>
                    <a:srgbClr val="21212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fontAlgn="base">
                  <a:lnSpc>
                    <a:spcPct val="107000"/>
                  </a:lnSpc>
                  <a:spcAft>
                    <a:spcPts val="800"/>
                  </a:spcAft>
                </a:pPr>
                <a:r>
                  <a:rPr lang="en-IN"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Only positive values are allowed to flow through this function. Negative values get mapped to 0.</a:t>
                </a:r>
              </a:p>
              <a:p>
                <a:pPr marL="457200" lvl="1" indent="0" algn="ctr" fontAlgn="base">
                  <a:lnSpc>
                    <a:spcPct val="107000"/>
                  </a:lnSpc>
                  <a:spcAft>
                    <a:spcPts val="800"/>
                  </a:spcAft>
                  <a:buNone/>
                </a:pPr>
                <a:r>
                  <a:rPr lang="en-IN" dirty="0" err="1">
                    <a:solidFill>
                      <a:srgbClr val="212121"/>
                    </a:solidFill>
                    <a:latin typeface="Times New Roman" panose="02020603050405020304" pitchFamily="18" charset="0"/>
                    <a:ea typeface="Calibri" panose="020F0502020204030204" pitchFamily="34" charset="0"/>
                    <a:cs typeface="Times New Roman" panose="02020603050405020304" pitchFamily="18" charset="0"/>
                  </a:rPr>
                  <a:t>ReLU</a:t>
                </a:r>
                <a:r>
                  <a:rPr lang="en-IN" dirty="0">
                    <a:solidFill>
                      <a:srgbClr val="212121"/>
                    </a:solidFill>
                    <a:latin typeface="Times New Roman" panose="02020603050405020304" pitchFamily="18" charset="0"/>
                    <a:ea typeface="Calibri" panose="020F0502020204030204" pitchFamily="34" charset="0"/>
                    <a:cs typeface="Times New Roman" panose="02020603050405020304" pitchFamily="18" charset="0"/>
                  </a:rPr>
                  <a:t>(x) = max(0,x)</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792113E-A1BD-414D-BF3A-0232FE4D81CA}"/>
                  </a:ext>
                </a:extLst>
              </p:cNvPr>
              <p:cNvSpPr>
                <a:spLocks noGrp="1" noRot="1" noChangeAspect="1" noMove="1" noResize="1" noEditPoints="1" noAdjustHandles="1" noChangeArrowheads="1" noChangeShapeType="1" noTextEdit="1"/>
              </p:cNvSpPr>
              <p:nvPr>
                <p:ph idx="1"/>
              </p:nvPr>
            </p:nvSpPr>
            <p:spPr>
              <a:xfrm>
                <a:off x="838200" y="428626"/>
                <a:ext cx="10515600" cy="5748338"/>
              </a:xfrm>
              <a:blipFill>
                <a:blip r:embed="rId2"/>
                <a:stretch>
                  <a:fillRect l="-754" t="-1379"/>
                </a:stretch>
              </a:blipFill>
            </p:spPr>
            <p:txBody>
              <a:bodyPr/>
              <a:lstStyle/>
              <a:p>
                <a:r>
                  <a:rPr lang="en-IN">
                    <a:noFill/>
                  </a:rPr>
                  <a:t> </a:t>
                </a:r>
              </a:p>
            </p:txBody>
          </p:sp>
        </mc:Fallback>
      </mc:AlternateContent>
    </p:spTree>
    <p:extLst>
      <p:ext uri="{BB962C8B-B14F-4D97-AF65-F5344CB8AC3E}">
        <p14:creationId xmlns:p14="http://schemas.microsoft.com/office/powerpoint/2010/main" val="1832559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8FFD6-A3CE-4338-9A15-51D66786D793}"/>
              </a:ext>
            </a:extLst>
          </p:cNvPr>
          <p:cNvSpPr>
            <a:spLocks noGrp="1"/>
          </p:cNvSpPr>
          <p:nvPr>
            <p:ph type="title"/>
          </p:nvPr>
        </p:nvSpPr>
        <p:spPr/>
        <p:txBody>
          <a:bodyPr/>
          <a:lstStyle/>
          <a:p>
            <a:r>
              <a:rPr lang="en-IN" sz="4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Functions in feed forward neural network</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5CB04E-3393-4A64-90B9-0AAFD7172E29}"/>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Cost Function</a:t>
            </a:r>
          </a:p>
          <a:p>
            <a:r>
              <a:rPr lang="en-IN" sz="2000" dirty="0">
                <a:latin typeface="Times New Roman" panose="02020603050405020304" pitchFamily="18" charset="0"/>
                <a:cs typeface="Times New Roman" panose="02020603050405020304" pitchFamily="18" charset="0"/>
              </a:rPr>
              <a:t>Loss Function</a:t>
            </a:r>
          </a:p>
          <a:p>
            <a:r>
              <a:rPr lang="en-IN" sz="2000" dirty="0">
                <a:latin typeface="Times New Roman" panose="02020603050405020304" pitchFamily="18" charset="0"/>
                <a:cs typeface="Times New Roman" panose="02020603050405020304" pitchFamily="18" charset="0"/>
              </a:rPr>
              <a:t>Gradient Learning Algorithm</a:t>
            </a:r>
          </a:p>
          <a:p>
            <a:r>
              <a:rPr lang="en-IN" sz="2000" dirty="0">
                <a:latin typeface="Times New Roman" panose="02020603050405020304" pitchFamily="18" charset="0"/>
                <a:cs typeface="Times New Roman" panose="02020603050405020304" pitchFamily="18" charset="0"/>
              </a:rPr>
              <a:t>Output Units</a:t>
            </a:r>
          </a:p>
        </p:txBody>
      </p:sp>
    </p:spTree>
    <p:extLst>
      <p:ext uri="{BB962C8B-B14F-4D97-AF65-F5344CB8AC3E}">
        <p14:creationId xmlns:p14="http://schemas.microsoft.com/office/powerpoint/2010/main" val="3995911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CC3C6-A091-45AE-BED0-5F85762F0FED}"/>
              </a:ext>
            </a:extLst>
          </p:cNvPr>
          <p:cNvSpPr>
            <a:spLocks noGrp="1"/>
          </p:cNvSpPr>
          <p:nvPr>
            <p:ph type="title"/>
          </p:nvPr>
        </p:nvSpPr>
        <p:spPr/>
        <p:txBody>
          <a:bodyPr/>
          <a:lstStyle/>
          <a:p>
            <a:r>
              <a:rPr lang="en-IN" sz="4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Cost function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6F671F-13DA-4FE8-AFB0-9472417D39D2}"/>
              </a:ext>
            </a:extLst>
          </p:cNvPr>
          <p:cNvSpPr>
            <a:spLocks noGrp="1"/>
          </p:cNvSpPr>
          <p:nvPr>
            <p:ph idx="1"/>
          </p:nvPr>
        </p:nvSpPr>
        <p:spPr/>
        <p:txBody>
          <a:bodyPr>
            <a:normAutofit fontScale="92500"/>
          </a:bodyPr>
          <a:lstStyle/>
          <a:p>
            <a:pPr fontAlgn="base">
              <a:lnSpc>
                <a:spcPct val="107000"/>
              </a:lnSpc>
              <a:spcAft>
                <a:spcPts val="800"/>
              </a:spcAft>
            </a:pPr>
            <a:r>
              <a:rPr lang="en-IN" sz="25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In a feed forward neural network, the cost function plays an important role. The categorized data points are little affected by minor adjustments to weights and biases.</a:t>
            </a:r>
            <a:endParaRPr lang="en-IN" sz="25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25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Thus, a smooth cost function can get used to determine a method of adjusting weights and biases to improve performance.</a:t>
            </a:r>
            <a:endParaRPr lang="en-IN" sz="25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25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Following is a definition of the mean square error cost function:</a:t>
            </a:r>
            <a:endParaRPr lang="en-IN" sz="25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pPr>
            <a:r>
              <a:rPr lang="en-IN" sz="25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Where, w = the weights gathered in the network; b = biases</a:t>
            </a:r>
            <a:endParaRPr lang="en-IN" sz="25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pPr>
            <a:r>
              <a:rPr lang="en-IN" sz="25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n = number of inputs for training; a = output vectors; </a:t>
            </a:r>
            <a:endParaRPr lang="en-IN" sz="25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pPr>
            <a:r>
              <a:rPr lang="en-IN" sz="25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x = input; ‖v‖ = vector v's normal length</a:t>
            </a:r>
            <a:endParaRPr lang="en-IN" sz="25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 name="Picture 3" descr="Cost function - mean square error..webp">
            <a:extLst>
              <a:ext uri="{FF2B5EF4-FFF2-40B4-BE49-F238E27FC236}">
                <a16:creationId xmlns:a16="http://schemas.microsoft.com/office/drawing/2014/main" id="{A463CFBD-3D88-4B8B-98A4-C59C465E5DD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145044" y="4899578"/>
            <a:ext cx="4475456" cy="1013460"/>
          </a:xfrm>
          <a:prstGeom prst="rect">
            <a:avLst/>
          </a:prstGeom>
          <a:noFill/>
          <a:ln>
            <a:noFill/>
          </a:ln>
        </p:spPr>
      </p:pic>
    </p:spTree>
    <p:extLst>
      <p:ext uri="{BB962C8B-B14F-4D97-AF65-F5344CB8AC3E}">
        <p14:creationId xmlns:p14="http://schemas.microsoft.com/office/powerpoint/2010/main" val="1875119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2FC2C-CE87-4B71-B8D5-CB060542815F}"/>
              </a:ext>
            </a:extLst>
          </p:cNvPr>
          <p:cNvSpPr>
            <a:spLocks noGrp="1"/>
          </p:cNvSpPr>
          <p:nvPr>
            <p:ph type="title"/>
          </p:nvPr>
        </p:nvSpPr>
        <p:spPr/>
        <p:txBody>
          <a:bodyPr/>
          <a:lstStyle/>
          <a:p>
            <a:r>
              <a:rPr lang="en-IN" sz="4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Loss function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706803-3836-45C1-9E17-CBB73CB5B792}"/>
              </a:ext>
            </a:extLst>
          </p:cNvPr>
          <p:cNvSpPr>
            <a:spLocks noGrp="1"/>
          </p:cNvSpPr>
          <p:nvPr>
            <p:ph idx="1"/>
          </p:nvPr>
        </p:nvSpPr>
        <p:spPr/>
        <p:txBody>
          <a:bodyPr/>
          <a:lstStyle/>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The loss function of a neural network gets used to determine if an adjustment needs to be made in the learning process.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Neurons in the output layer are equal to the number of classes. Showing the differences between predicted and actual probability distributions. Following is the cross-entropy loss for binary classification.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 name="Picture 3" descr="Cross entropy loss for binary classification..webp">
            <a:extLst>
              <a:ext uri="{FF2B5EF4-FFF2-40B4-BE49-F238E27FC236}">
                <a16:creationId xmlns:a16="http://schemas.microsoft.com/office/drawing/2014/main" id="{E6C07021-5414-4661-B729-4A6E732FC6E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56987" y="3698898"/>
            <a:ext cx="4823460" cy="1630680"/>
          </a:xfrm>
          <a:prstGeom prst="rect">
            <a:avLst/>
          </a:prstGeom>
          <a:noFill/>
          <a:ln>
            <a:noFill/>
          </a:ln>
        </p:spPr>
      </p:pic>
    </p:spTree>
    <p:extLst>
      <p:ext uri="{BB962C8B-B14F-4D97-AF65-F5344CB8AC3E}">
        <p14:creationId xmlns:p14="http://schemas.microsoft.com/office/powerpoint/2010/main" val="1086488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283FA-87D1-479F-A73B-6874EB6A9236}"/>
              </a:ext>
            </a:extLst>
          </p:cNvPr>
          <p:cNvSpPr>
            <a:spLocks noGrp="1"/>
          </p:cNvSpPr>
          <p:nvPr>
            <p:ph type="title"/>
          </p:nvPr>
        </p:nvSpPr>
        <p:spPr/>
        <p:txBody>
          <a:bodyPr/>
          <a:lstStyle/>
          <a:p>
            <a:r>
              <a:rPr lang="en-IN" sz="4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Gradient learning algorithm</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F508C4B-F402-467E-B981-50CA353EF5AA}"/>
                  </a:ext>
                </a:extLst>
              </p:cNvPr>
              <p:cNvSpPr>
                <a:spLocks noGrp="1"/>
              </p:cNvSpPr>
              <p:nvPr>
                <p:ph idx="1"/>
              </p:nvPr>
            </p:nvSpPr>
            <p:spPr/>
            <p:txBody>
              <a:bodyPr/>
              <a:lstStyle/>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In the gradient descent algorithm, the next point gets calculated by scaling the gradient at the current position by a learning rate. Then subtracted from the current position by the achieved value.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To decrease the function, it subtracts the value (to increase, it would add).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The gradient gets adjusted by the parameter η, which also determines the step size. Performance is significantly affected by the learning rate in machine learning.</a:t>
                </a:r>
              </a:p>
              <a:p>
                <a:endParaRPr lang="en-IN" sz="1800" dirty="0">
                  <a:solidFill>
                    <a:srgbClr val="21212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800" b="0" i="1" smtClean="0">
                              <a:effectLst/>
                              <a:latin typeface="Cambria Math" panose="02040503050406030204" pitchFamily="18" charset="0"/>
                              <a:ea typeface="Calibri" panose="020F0502020204030204" pitchFamily="34" charset="0"/>
                              <a:cs typeface="Times New Roman" panose="02020603050405020304" pitchFamily="18" charset="0"/>
                            </a:rPr>
                            <m:t>𝑝</m:t>
                          </m:r>
                        </m:e>
                        <m:sub>
                          <m:r>
                            <a:rPr lang="en-IN" sz="1800" b="0" i="1" smtClean="0">
                              <a:effectLst/>
                              <a:latin typeface="Cambria Math" panose="02040503050406030204" pitchFamily="18" charset="0"/>
                              <a:ea typeface="Calibri" panose="020F0502020204030204" pitchFamily="34" charset="0"/>
                              <a:cs typeface="Times New Roman" panose="02020603050405020304" pitchFamily="18" charset="0"/>
                            </a:rPr>
                            <m:t>𝑛</m:t>
                          </m:r>
                          <m:r>
                            <a:rPr lang="en-IN" sz="18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r>
                        <a:rPr lang="en-IN" sz="1800" b="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8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800" b="0" i="1" smtClean="0">
                              <a:effectLst/>
                              <a:latin typeface="Cambria Math" panose="02040503050406030204" pitchFamily="18" charset="0"/>
                              <a:ea typeface="Calibri" panose="020F0502020204030204" pitchFamily="34" charset="0"/>
                              <a:cs typeface="Times New Roman" panose="02020603050405020304" pitchFamily="18" charset="0"/>
                            </a:rPr>
                            <m:t>𝑝</m:t>
                          </m:r>
                        </m:e>
                        <m:sub>
                          <m:r>
                            <a:rPr lang="en-IN" sz="18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IN" sz="18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IN" sz="1800" b="0" i="1" smtClean="0">
                          <a:effectLst/>
                          <a:latin typeface="Cambria Math" panose="02040503050406030204" pitchFamily="18" charset="0"/>
                          <a:ea typeface="Cambria Math" panose="02040503050406030204" pitchFamily="18" charset="0"/>
                          <a:cs typeface="Times New Roman" panose="02020603050405020304" pitchFamily="18" charset="0"/>
                        </a:rPr>
                        <m:t>𝜂</m:t>
                      </m:r>
                      <m:r>
                        <m:rPr>
                          <m:sty m:val="p"/>
                        </m:rPr>
                        <a:rPr lang="en-IN"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IN" sz="1800" b="0" i="1" smtClean="0">
                          <a:effectLst/>
                          <a:latin typeface="Cambria Math" panose="02040503050406030204" pitchFamily="18" charset="0"/>
                          <a:ea typeface="Cambria Math" panose="02040503050406030204" pitchFamily="18" charset="0"/>
                          <a:cs typeface="Times New Roman" panose="02020603050405020304" pitchFamily="18" charset="0"/>
                        </a:rPr>
                        <m:t>𝑓</m:t>
                      </m:r>
                      <m:r>
                        <a:rPr lang="en-IN"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800" b="0"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IN" sz="1800" b="0" i="1" smtClean="0">
                              <a:effectLst/>
                              <a:latin typeface="Cambria Math" panose="02040503050406030204" pitchFamily="18" charset="0"/>
                              <a:ea typeface="Cambria Math" panose="02040503050406030204" pitchFamily="18" charset="0"/>
                              <a:cs typeface="Times New Roman" panose="02020603050405020304" pitchFamily="18" charset="0"/>
                            </a:rPr>
                            <m:t>𝑝</m:t>
                          </m:r>
                        </m:e>
                        <m:sub>
                          <m:r>
                            <a:rPr lang="en-IN" sz="1800" b="0" i="1" smtClean="0">
                              <a:effectLst/>
                              <a:latin typeface="Cambria Math" panose="02040503050406030204" pitchFamily="18" charset="0"/>
                              <a:ea typeface="Cambria Math" panose="02040503050406030204" pitchFamily="18" charset="0"/>
                              <a:cs typeface="Times New Roman" panose="02020603050405020304" pitchFamily="18" charset="0"/>
                            </a:rPr>
                            <m:t>𝑛</m:t>
                          </m:r>
                        </m:sub>
                      </m:sSub>
                      <m:r>
                        <a:rPr lang="en-IN" sz="1800" b="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6F508C4B-F402-467E-B981-50CA353EF5AA}"/>
                  </a:ext>
                </a:extLst>
              </p:cNvPr>
              <p:cNvSpPr>
                <a:spLocks noGrp="1" noRot="1" noChangeAspect="1" noMove="1" noResize="1" noEditPoints="1" noAdjustHandles="1" noChangeArrowheads="1" noChangeShapeType="1" noTextEdit="1"/>
              </p:cNvSpPr>
              <p:nvPr>
                <p:ph idx="1"/>
              </p:nvPr>
            </p:nvSpPr>
            <p:spPr>
              <a:blipFill>
                <a:blip r:embed="rId2"/>
                <a:stretch>
                  <a:fillRect l="-406" t="-700"/>
                </a:stretch>
              </a:blipFill>
            </p:spPr>
            <p:txBody>
              <a:bodyPr/>
              <a:lstStyle/>
              <a:p>
                <a:r>
                  <a:rPr lang="en-IN">
                    <a:noFill/>
                  </a:rPr>
                  <a:t> </a:t>
                </a:r>
              </a:p>
            </p:txBody>
          </p:sp>
        </mc:Fallback>
      </mc:AlternateContent>
    </p:spTree>
    <p:extLst>
      <p:ext uri="{BB962C8B-B14F-4D97-AF65-F5344CB8AC3E}">
        <p14:creationId xmlns:p14="http://schemas.microsoft.com/office/powerpoint/2010/main" val="3653606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A3313-58A6-4F4F-B2E0-DE0500BA14B0}"/>
              </a:ext>
            </a:extLst>
          </p:cNvPr>
          <p:cNvSpPr>
            <a:spLocks noGrp="1"/>
          </p:cNvSpPr>
          <p:nvPr>
            <p:ph type="title"/>
          </p:nvPr>
        </p:nvSpPr>
        <p:spPr/>
        <p:txBody>
          <a:bodyPr/>
          <a:lstStyle/>
          <a:p>
            <a:r>
              <a:rPr lang="en-IN" sz="4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Output units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F93999-8AEE-4CF2-BE0B-BBC5FDECC3A0}"/>
              </a:ext>
            </a:extLst>
          </p:cNvPr>
          <p:cNvSpPr>
            <a:spLocks noGrp="1"/>
          </p:cNvSpPr>
          <p:nvPr>
            <p:ph idx="1"/>
          </p:nvPr>
        </p:nvSpPr>
        <p:spPr/>
        <p:txBody>
          <a:bodyPr/>
          <a:lstStyle/>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In the output layer, output units are those units that provide the desired output or prediction, thereby fulfilling the task that the neural network needs to complete.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There is a close relationship between the choice of output units and the cost function. Any unit that can serve as a hidden unit can also serve as an output unit in a neural network.</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2800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Example: Learning XOR</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solidFill>
                  <a:srgbClr val="0000FF"/>
                </a:solidFill>
                <a:latin typeface="Times New Roman" panose="02020603050405020304" pitchFamily="18" charset="0"/>
                <a:cs typeface="Times New Roman" panose="02020603050405020304" pitchFamily="18" charset="0"/>
              </a:rPr>
              <a:t>McCulloch and Pitts (1943)</a:t>
            </a:r>
            <a:r>
              <a:rPr lang="en-US" dirty="0">
                <a:latin typeface="Times New Roman" panose="02020603050405020304" pitchFamily="18" charset="0"/>
                <a:cs typeface="Times New Roman" panose="02020603050405020304" pitchFamily="18" charset="0"/>
              </a:rPr>
              <a:t> showed how linear threshold units can be used to compute logical functions </a:t>
            </a:r>
          </a:p>
          <a:p>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36C439D-A4C4-5D44-A65E-14F377631555}"/>
              </a:ext>
            </a:extLst>
          </p:cNvPr>
          <p:cNvPicPr>
            <a:picLocks noChangeAspect="1"/>
          </p:cNvPicPr>
          <p:nvPr/>
        </p:nvPicPr>
        <p:blipFill>
          <a:blip r:embed="rId2"/>
          <a:stretch>
            <a:fillRect/>
          </a:stretch>
        </p:blipFill>
        <p:spPr>
          <a:xfrm>
            <a:off x="2759529" y="2816133"/>
            <a:ext cx="5462309" cy="3204733"/>
          </a:xfrm>
          <a:prstGeom prst="rect">
            <a:avLst/>
          </a:prstGeom>
        </p:spPr>
      </p:pic>
    </p:spTree>
    <p:extLst>
      <p:ext uri="{BB962C8B-B14F-4D97-AF65-F5344CB8AC3E}">
        <p14:creationId xmlns:p14="http://schemas.microsoft.com/office/powerpoint/2010/main" val="1257298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XOR</a:t>
            </a:r>
          </a:p>
        </p:txBody>
      </p:sp>
      <p:pic>
        <p:nvPicPr>
          <p:cNvPr id="4" name="Content Placeholder 3">
            <a:extLst>
              <a:ext uri="{FF2B5EF4-FFF2-40B4-BE49-F238E27FC236}">
                <a16:creationId xmlns:a16="http://schemas.microsoft.com/office/drawing/2014/main" id="{B8BF46C4-1733-1A4E-A7B1-9B54E9D1F83F}"/>
              </a:ext>
            </a:extLst>
          </p:cNvPr>
          <p:cNvPicPr>
            <a:picLocks noGrp="1" noChangeAspect="1"/>
          </p:cNvPicPr>
          <p:nvPr>
            <p:ph idx="1"/>
          </p:nvPr>
        </p:nvPicPr>
        <p:blipFill>
          <a:blip r:embed="rId2"/>
          <a:stretch>
            <a:fillRect/>
          </a:stretch>
        </p:blipFill>
        <p:spPr>
          <a:xfrm>
            <a:off x="2009624" y="1825625"/>
            <a:ext cx="8172752" cy="4351338"/>
          </a:xfrm>
          <a:prstGeom prst="rect">
            <a:avLst/>
          </a:prstGeom>
        </p:spPr>
      </p:pic>
    </p:spTree>
    <p:extLst>
      <p:ext uri="{BB962C8B-B14F-4D97-AF65-F5344CB8AC3E}">
        <p14:creationId xmlns:p14="http://schemas.microsoft.com/office/powerpoint/2010/main" val="1420578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6275"/>
            <a:ext cx="10515600" cy="5500688"/>
          </a:xfrm>
        </p:spPr>
        <p:txBody>
          <a:bodyPr>
            <a:normAutofit lnSpcReduction="10000"/>
          </a:bodyPr>
          <a:lstStyle/>
          <a:p>
            <a:r>
              <a:rPr lang="en-IN" dirty="0">
                <a:latin typeface="Times New Roman" panose="02020603050405020304" pitchFamily="18" charset="0"/>
                <a:cs typeface="Times New Roman" panose="02020603050405020304" pitchFamily="18" charset="0"/>
              </a:rPr>
              <a:t>The XOR function provides the target function </a:t>
            </a:r>
            <a:r>
              <a:rPr lang="en-IN" i="1" dirty="0">
                <a:latin typeface="Times New Roman" panose="02020603050405020304" pitchFamily="18" charset="0"/>
                <a:cs typeface="Times New Roman" panose="02020603050405020304" pitchFamily="18" charset="0"/>
              </a:rPr>
              <a:t>y </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f</a:t>
            </a:r>
            <a:r>
              <a:rPr lang="en-US" i="1" baseline="30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that we want to learn. </a:t>
            </a:r>
          </a:p>
          <a:p>
            <a:r>
              <a:rPr lang="en-IN" dirty="0">
                <a:latin typeface="Times New Roman" panose="02020603050405020304" pitchFamily="18" charset="0"/>
                <a:cs typeface="Times New Roman" panose="02020603050405020304" pitchFamily="18" charset="0"/>
              </a:rPr>
              <a:t>Our model provides a function </a:t>
            </a:r>
            <a:r>
              <a:rPr lang="en-IN" i="1" dirty="0">
                <a:latin typeface="Times New Roman" panose="02020603050405020304" pitchFamily="18" charset="0"/>
                <a:cs typeface="Times New Roman" panose="02020603050405020304" pitchFamily="18" charset="0"/>
              </a:rPr>
              <a:t>y </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f</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a:t>
            </a:r>
            <a:r>
              <a:rPr lang="el-GR" dirty="0">
                <a:latin typeface="Times New Roman" panose="02020603050405020304" pitchFamily="18" charset="0"/>
                <a:cs typeface="Times New Roman" panose="02020603050405020304" pitchFamily="18" charset="0"/>
              </a:rPr>
              <a:t>θ</a:t>
            </a:r>
            <a:r>
              <a:rPr lang="en-IN" dirty="0">
                <a:latin typeface="Times New Roman" panose="02020603050405020304" pitchFamily="18" charset="0"/>
                <a:cs typeface="Times New Roman" panose="02020603050405020304" pitchFamily="18" charset="0"/>
              </a:rPr>
              <a:t>) and our learning algorithm will adapt the parameters </a:t>
            </a:r>
            <a:r>
              <a:rPr lang="el-GR" dirty="0">
                <a:latin typeface="Times New Roman" panose="02020603050405020304" pitchFamily="18" charset="0"/>
                <a:cs typeface="Times New Roman" panose="02020603050405020304" pitchFamily="18" charset="0"/>
              </a:rPr>
              <a:t>θ</a:t>
            </a:r>
            <a:r>
              <a:rPr lang="en-IN" dirty="0">
                <a:latin typeface="Times New Roman" panose="02020603050405020304" pitchFamily="18" charset="0"/>
                <a:cs typeface="Times New Roman" panose="02020603050405020304" pitchFamily="18" charset="0"/>
              </a:rPr>
              <a:t> to make </a:t>
            </a:r>
            <a:r>
              <a:rPr lang="en-IN" i="1" dirty="0">
                <a:latin typeface="Times New Roman" panose="02020603050405020304" pitchFamily="18" charset="0"/>
                <a:cs typeface="Times New Roman" panose="02020603050405020304" pitchFamily="18" charset="0"/>
              </a:rPr>
              <a:t>f </a:t>
            </a:r>
            <a:r>
              <a:rPr lang="en-IN" dirty="0">
                <a:latin typeface="Times New Roman" panose="02020603050405020304" pitchFamily="18" charset="0"/>
                <a:cs typeface="Times New Roman" panose="02020603050405020304" pitchFamily="18" charset="0"/>
              </a:rPr>
              <a:t>as similar as possible to </a:t>
            </a:r>
            <a:r>
              <a:rPr lang="en-IN" i="1" dirty="0">
                <a:latin typeface="Times New Roman" panose="02020603050405020304" pitchFamily="18" charset="0"/>
                <a:cs typeface="Times New Roman" panose="02020603050405020304" pitchFamily="18" charset="0"/>
              </a:rPr>
              <a:t>f </a:t>
            </a:r>
            <a:r>
              <a:rPr lang="en-US" i="1" baseline="30000" dirty="0">
                <a:latin typeface="Times New Roman" panose="02020603050405020304" pitchFamily="18" charset="0"/>
                <a:cs typeface="Times New Roman" panose="02020603050405020304" pitchFamily="18" charset="0"/>
              </a:rPr>
              <a:t>∗</a:t>
            </a:r>
            <a:r>
              <a:rPr lang="en-IN" baseline="3000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We want our network to perform correctly on the four points X = {[0</a:t>
            </a:r>
            <a:r>
              <a:rPr lang="en-IN" i="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0]</a:t>
            </a:r>
            <a:r>
              <a:rPr lang="en-IN" baseline="30000" dirty="0">
                <a:latin typeface="Times New Roman" panose="02020603050405020304" pitchFamily="18" charset="0"/>
                <a:cs typeface="Times New Roman" panose="02020603050405020304" pitchFamily="18" charset="0"/>
              </a:rPr>
              <a:t>T</a:t>
            </a:r>
            <a:r>
              <a:rPr lang="en-IN" dirty="0">
                <a:latin typeface="Times New Roman" panose="02020603050405020304" pitchFamily="18" charset="0"/>
                <a:cs typeface="Times New Roman" panose="02020603050405020304" pitchFamily="18" charset="0"/>
              </a:rPr>
              <a:t>, [0</a:t>
            </a:r>
            <a:r>
              <a:rPr lang="en-IN" i="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1]</a:t>
            </a:r>
            <a:r>
              <a:rPr lang="en-IN" baseline="30000" dirty="0">
                <a:latin typeface="Times New Roman" panose="02020603050405020304" pitchFamily="18" charset="0"/>
                <a:cs typeface="Times New Roman" panose="02020603050405020304" pitchFamily="18" charset="0"/>
              </a:rPr>
              <a:t>T</a:t>
            </a:r>
            <a:r>
              <a:rPr lang="en-IN" dirty="0">
                <a:latin typeface="Times New Roman" panose="02020603050405020304" pitchFamily="18" charset="0"/>
                <a:cs typeface="Times New Roman" panose="02020603050405020304" pitchFamily="18" charset="0"/>
              </a:rPr>
              <a:t>,[1</a:t>
            </a:r>
            <a:r>
              <a:rPr lang="en-IN" i="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0]</a:t>
            </a:r>
            <a:r>
              <a:rPr lang="en-IN" baseline="30000" dirty="0">
                <a:latin typeface="Times New Roman" panose="02020603050405020304" pitchFamily="18" charset="0"/>
                <a:cs typeface="Times New Roman" panose="02020603050405020304" pitchFamily="18" charset="0"/>
              </a:rPr>
              <a:t>T</a:t>
            </a:r>
            <a:r>
              <a:rPr lang="en-IN" dirty="0">
                <a:latin typeface="Times New Roman" panose="02020603050405020304" pitchFamily="18" charset="0"/>
                <a:cs typeface="Times New Roman" panose="02020603050405020304" pitchFamily="18" charset="0"/>
              </a:rPr>
              <a:t>, and [1</a:t>
            </a:r>
            <a:r>
              <a:rPr lang="en-IN" i="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1]</a:t>
            </a:r>
            <a:r>
              <a:rPr lang="en-IN" baseline="30000" dirty="0">
                <a:latin typeface="Times New Roman" panose="02020603050405020304" pitchFamily="18" charset="0"/>
                <a:cs typeface="Times New Roman" panose="02020603050405020304" pitchFamily="18" charset="0"/>
              </a:rPr>
              <a:t>T</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We will train the network on all four of these points. The only challenge is to fit the training set.</a:t>
            </a:r>
          </a:p>
          <a:p>
            <a:r>
              <a:rPr lang="en-IN" dirty="0">
                <a:latin typeface="Times New Roman" panose="02020603050405020304" pitchFamily="18" charset="0"/>
                <a:cs typeface="Times New Roman" panose="02020603050405020304" pitchFamily="18" charset="0"/>
              </a:rPr>
              <a:t>We can treat this problem as a regression problem and use a mean squared error loss function. </a:t>
            </a:r>
          </a:p>
          <a:p>
            <a:r>
              <a:rPr lang="en-IN" dirty="0">
                <a:latin typeface="Times New Roman" panose="02020603050405020304" pitchFamily="18" charset="0"/>
                <a:cs typeface="Times New Roman" panose="02020603050405020304" pitchFamily="18" charset="0"/>
              </a:rPr>
              <a:t>We choose this loss function to simplify the math for this example as much as possible. In practical applications, MSE is usually not an appropriate cost function for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binary data.</a:t>
            </a:r>
          </a:p>
        </p:txBody>
      </p:sp>
    </p:spTree>
    <p:extLst>
      <p:ext uri="{BB962C8B-B14F-4D97-AF65-F5344CB8AC3E}">
        <p14:creationId xmlns:p14="http://schemas.microsoft.com/office/powerpoint/2010/main" val="2950356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66961" y="1255131"/>
            <a:ext cx="152399" cy="160866"/>
          </a:xfrm>
          <a:prstGeom prst="rect">
            <a:avLst/>
          </a:prstGeom>
        </p:spPr>
      </p:pic>
      <p:sp>
        <p:nvSpPr>
          <p:cNvPr id="3" name="object 3"/>
          <p:cNvSpPr txBox="1"/>
          <p:nvPr/>
        </p:nvSpPr>
        <p:spPr>
          <a:xfrm>
            <a:off x="2111436" y="1149318"/>
            <a:ext cx="3607435" cy="330200"/>
          </a:xfrm>
          <a:prstGeom prst="rect">
            <a:avLst/>
          </a:prstGeom>
        </p:spPr>
        <p:txBody>
          <a:bodyPr vert="horz" wrap="square" lIns="0" tIns="12700" rIns="0" bIns="0" rtlCol="0">
            <a:spAutoFit/>
          </a:bodyPr>
          <a:lstStyle/>
          <a:p>
            <a:pPr marL="12700">
              <a:spcBef>
                <a:spcPts val="100"/>
              </a:spcBef>
            </a:pPr>
            <a:r>
              <a:rPr sz="2000" b="1" spc="-5" dirty="0">
                <a:latin typeface="Arial"/>
                <a:cs typeface="Arial"/>
              </a:rPr>
              <a:t>XOR</a:t>
            </a:r>
            <a:r>
              <a:rPr sz="2000" b="1" spc="-10" dirty="0">
                <a:latin typeface="Arial"/>
                <a:cs typeface="Arial"/>
              </a:rPr>
              <a:t> </a:t>
            </a:r>
            <a:r>
              <a:rPr sz="2000" b="1" spc="-5" dirty="0">
                <a:latin typeface="Arial"/>
                <a:cs typeface="Arial"/>
              </a:rPr>
              <a:t>function</a:t>
            </a:r>
            <a:r>
              <a:rPr sz="2000" b="1" spc="-15" dirty="0">
                <a:latin typeface="Arial"/>
                <a:cs typeface="Arial"/>
              </a:rPr>
              <a:t> </a:t>
            </a:r>
            <a:r>
              <a:rPr sz="2000" b="1" spc="-5" dirty="0">
                <a:latin typeface="Arial"/>
                <a:cs typeface="Arial"/>
              </a:rPr>
              <a:t>(“exclusive</a:t>
            </a:r>
            <a:r>
              <a:rPr sz="2000" b="1" spc="-20" dirty="0">
                <a:latin typeface="Arial"/>
                <a:cs typeface="Arial"/>
              </a:rPr>
              <a:t> </a:t>
            </a:r>
            <a:r>
              <a:rPr sz="2000" b="1" spc="-5" dirty="0">
                <a:latin typeface="Arial"/>
                <a:cs typeface="Arial"/>
              </a:rPr>
              <a:t>or”)</a:t>
            </a:r>
            <a:endParaRPr sz="2000">
              <a:latin typeface="Arial"/>
              <a:cs typeface="Arial"/>
            </a:endParaRPr>
          </a:p>
        </p:txBody>
      </p:sp>
      <p:pic>
        <p:nvPicPr>
          <p:cNvPr id="4" name="object 4"/>
          <p:cNvPicPr/>
          <p:nvPr/>
        </p:nvPicPr>
        <p:blipFill>
          <a:blip r:embed="rId2" cstate="print"/>
          <a:stretch>
            <a:fillRect/>
          </a:stretch>
        </p:blipFill>
        <p:spPr>
          <a:xfrm>
            <a:off x="1866961" y="3820531"/>
            <a:ext cx="152399" cy="160866"/>
          </a:xfrm>
          <a:prstGeom prst="rect">
            <a:avLst/>
          </a:prstGeom>
        </p:spPr>
      </p:pic>
      <p:sp>
        <p:nvSpPr>
          <p:cNvPr id="5" name="object 5"/>
          <p:cNvSpPr/>
          <p:nvPr/>
        </p:nvSpPr>
        <p:spPr>
          <a:xfrm>
            <a:off x="3220961" y="3794759"/>
            <a:ext cx="55880" cy="236220"/>
          </a:xfrm>
          <a:custGeom>
            <a:avLst/>
            <a:gdLst/>
            <a:ahLst/>
            <a:cxnLst/>
            <a:rect l="l" t="t" r="r" b="b"/>
            <a:pathLst>
              <a:path w="55880" h="236220">
                <a:moveTo>
                  <a:pt x="55321" y="0"/>
                </a:moveTo>
                <a:lnTo>
                  <a:pt x="0" y="0"/>
                </a:lnTo>
                <a:lnTo>
                  <a:pt x="0" y="10160"/>
                </a:lnTo>
                <a:lnTo>
                  <a:pt x="34734" y="10160"/>
                </a:lnTo>
                <a:lnTo>
                  <a:pt x="34734" y="227330"/>
                </a:lnTo>
                <a:lnTo>
                  <a:pt x="0" y="227330"/>
                </a:lnTo>
                <a:lnTo>
                  <a:pt x="0" y="236220"/>
                </a:lnTo>
                <a:lnTo>
                  <a:pt x="55321" y="236220"/>
                </a:lnTo>
                <a:lnTo>
                  <a:pt x="55321" y="227330"/>
                </a:lnTo>
                <a:lnTo>
                  <a:pt x="55321" y="10160"/>
                </a:lnTo>
                <a:lnTo>
                  <a:pt x="55321" y="0"/>
                </a:lnTo>
                <a:close/>
              </a:path>
            </a:pathLst>
          </a:custGeom>
          <a:solidFill>
            <a:srgbClr val="000000"/>
          </a:solidFill>
        </p:spPr>
        <p:txBody>
          <a:bodyPr wrap="square" lIns="0" tIns="0" rIns="0" bIns="0" rtlCol="0"/>
          <a:lstStyle/>
          <a:p>
            <a:endParaRPr/>
          </a:p>
        </p:txBody>
      </p:sp>
      <p:sp>
        <p:nvSpPr>
          <p:cNvPr id="6" name="object 6"/>
          <p:cNvSpPr/>
          <p:nvPr/>
        </p:nvSpPr>
        <p:spPr>
          <a:xfrm>
            <a:off x="2755468" y="3794759"/>
            <a:ext cx="55880" cy="236220"/>
          </a:xfrm>
          <a:custGeom>
            <a:avLst/>
            <a:gdLst/>
            <a:ahLst/>
            <a:cxnLst/>
            <a:rect l="l" t="t" r="r" b="b"/>
            <a:pathLst>
              <a:path w="55880" h="236220">
                <a:moveTo>
                  <a:pt x="55308" y="0"/>
                </a:moveTo>
                <a:lnTo>
                  <a:pt x="0" y="0"/>
                </a:lnTo>
                <a:lnTo>
                  <a:pt x="0" y="10160"/>
                </a:lnTo>
                <a:lnTo>
                  <a:pt x="0" y="227330"/>
                </a:lnTo>
                <a:lnTo>
                  <a:pt x="0" y="236220"/>
                </a:lnTo>
                <a:lnTo>
                  <a:pt x="55308" y="236220"/>
                </a:lnTo>
                <a:lnTo>
                  <a:pt x="55308" y="227330"/>
                </a:lnTo>
                <a:lnTo>
                  <a:pt x="20586" y="227330"/>
                </a:lnTo>
                <a:lnTo>
                  <a:pt x="20586" y="10160"/>
                </a:lnTo>
                <a:lnTo>
                  <a:pt x="55308" y="10160"/>
                </a:lnTo>
                <a:lnTo>
                  <a:pt x="55308" y="0"/>
                </a:lnTo>
                <a:close/>
              </a:path>
            </a:pathLst>
          </a:custGeom>
          <a:solidFill>
            <a:srgbClr val="000000"/>
          </a:solidFill>
        </p:spPr>
        <p:txBody>
          <a:bodyPr wrap="square" lIns="0" tIns="0" rIns="0" bIns="0" rtlCol="0"/>
          <a:lstStyle/>
          <a:p>
            <a:endParaRPr/>
          </a:p>
        </p:txBody>
      </p:sp>
      <p:sp>
        <p:nvSpPr>
          <p:cNvPr id="7" name="object 7"/>
          <p:cNvSpPr/>
          <p:nvPr/>
        </p:nvSpPr>
        <p:spPr>
          <a:xfrm>
            <a:off x="4019473" y="3794759"/>
            <a:ext cx="55880" cy="236220"/>
          </a:xfrm>
          <a:custGeom>
            <a:avLst/>
            <a:gdLst/>
            <a:ahLst/>
            <a:cxnLst/>
            <a:rect l="l" t="t" r="r" b="b"/>
            <a:pathLst>
              <a:path w="55880" h="236220">
                <a:moveTo>
                  <a:pt x="55321" y="0"/>
                </a:moveTo>
                <a:lnTo>
                  <a:pt x="0" y="0"/>
                </a:lnTo>
                <a:lnTo>
                  <a:pt x="0" y="10160"/>
                </a:lnTo>
                <a:lnTo>
                  <a:pt x="34734" y="10160"/>
                </a:lnTo>
                <a:lnTo>
                  <a:pt x="34734" y="227330"/>
                </a:lnTo>
                <a:lnTo>
                  <a:pt x="0" y="227330"/>
                </a:lnTo>
                <a:lnTo>
                  <a:pt x="0" y="236220"/>
                </a:lnTo>
                <a:lnTo>
                  <a:pt x="55321" y="236220"/>
                </a:lnTo>
                <a:lnTo>
                  <a:pt x="55321" y="227330"/>
                </a:lnTo>
                <a:lnTo>
                  <a:pt x="55321" y="10160"/>
                </a:lnTo>
                <a:lnTo>
                  <a:pt x="55321" y="0"/>
                </a:lnTo>
                <a:close/>
              </a:path>
            </a:pathLst>
          </a:custGeom>
          <a:solidFill>
            <a:srgbClr val="000000"/>
          </a:solidFill>
        </p:spPr>
        <p:txBody>
          <a:bodyPr wrap="square" lIns="0" tIns="0" rIns="0" bIns="0" rtlCol="0"/>
          <a:lstStyle/>
          <a:p>
            <a:endParaRPr/>
          </a:p>
        </p:txBody>
      </p:sp>
      <p:sp>
        <p:nvSpPr>
          <p:cNvPr id="8" name="object 8"/>
          <p:cNvSpPr/>
          <p:nvPr/>
        </p:nvSpPr>
        <p:spPr>
          <a:xfrm>
            <a:off x="3553980" y="3794759"/>
            <a:ext cx="55880" cy="236220"/>
          </a:xfrm>
          <a:custGeom>
            <a:avLst/>
            <a:gdLst/>
            <a:ahLst/>
            <a:cxnLst/>
            <a:rect l="l" t="t" r="r" b="b"/>
            <a:pathLst>
              <a:path w="55880" h="236220">
                <a:moveTo>
                  <a:pt x="55308" y="0"/>
                </a:moveTo>
                <a:lnTo>
                  <a:pt x="0" y="0"/>
                </a:lnTo>
                <a:lnTo>
                  <a:pt x="0" y="10160"/>
                </a:lnTo>
                <a:lnTo>
                  <a:pt x="0" y="227330"/>
                </a:lnTo>
                <a:lnTo>
                  <a:pt x="0" y="236220"/>
                </a:lnTo>
                <a:lnTo>
                  <a:pt x="55308" y="236220"/>
                </a:lnTo>
                <a:lnTo>
                  <a:pt x="55308" y="227330"/>
                </a:lnTo>
                <a:lnTo>
                  <a:pt x="20586" y="227330"/>
                </a:lnTo>
                <a:lnTo>
                  <a:pt x="20586" y="10160"/>
                </a:lnTo>
                <a:lnTo>
                  <a:pt x="55308" y="10160"/>
                </a:lnTo>
                <a:lnTo>
                  <a:pt x="55308" y="0"/>
                </a:lnTo>
                <a:close/>
              </a:path>
            </a:pathLst>
          </a:custGeom>
          <a:solidFill>
            <a:srgbClr val="000000"/>
          </a:solidFill>
        </p:spPr>
        <p:txBody>
          <a:bodyPr wrap="square" lIns="0" tIns="0" rIns="0" bIns="0" rtlCol="0"/>
          <a:lstStyle/>
          <a:p>
            <a:endParaRPr/>
          </a:p>
        </p:txBody>
      </p:sp>
      <p:sp>
        <p:nvSpPr>
          <p:cNvPr id="9" name="object 9"/>
          <p:cNvSpPr/>
          <p:nvPr/>
        </p:nvSpPr>
        <p:spPr>
          <a:xfrm>
            <a:off x="4817986" y="3794759"/>
            <a:ext cx="55880" cy="236220"/>
          </a:xfrm>
          <a:custGeom>
            <a:avLst/>
            <a:gdLst/>
            <a:ahLst/>
            <a:cxnLst/>
            <a:rect l="l" t="t" r="r" b="b"/>
            <a:pathLst>
              <a:path w="55879" h="236220">
                <a:moveTo>
                  <a:pt x="55321" y="0"/>
                </a:moveTo>
                <a:lnTo>
                  <a:pt x="0" y="0"/>
                </a:lnTo>
                <a:lnTo>
                  <a:pt x="0" y="10160"/>
                </a:lnTo>
                <a:lnTo>
                  <a:pt x="34721" y="10160"/>
                </a:lnTo>
                <a:lnTo>
                  <a:pt x="34721" y="227330"/>
                </a:lnTo>
                <a:lnTo>
                  <a:pt x="0" y="227330"/>
                </a:lnTo>
                <a:lnTo>
                  <a:pt x="0" y="236220"/>
                </a:lnTo>
                <a:lnTo>
                  <a:pt x="55321" y="236220"/>
                </a:lnTo>
                <a:lnTo>
                  <a:pt x="55321" y="227330"/>
                </a:lnTo>
                <a:lnTo>
                  <a:pt x="55321" y="10160"/>
                </a:lnTo>
                <a:lnTo>
                  <a:pt x="55321" y="0"/>
                </a:lnTo>
                <a:close/>
              </a:path>
            </a:pathLst>
          </a:custGeom>
          <a:solidFill>
            <a:srgbClr val="000000"/>
          </a:solidFill>
        </p:spPr>
        <p:txBody>
          <a:bodyPr wrap="square" lIns="0" tIns="0" rIns="0" bIns="0" rtlCol="0"/>
          <a:lstStyle/>
          <a:p>
            <a:endParaRPr/>
          </a:p>
        </p:txBody>
      </p:sp>
      <p:sp>
        <p:nvSpPr>
          <p:cNvPr id="10" name="object 10"/>
          <p:cNvSpPr/>
          <p:nvPr/>
        </p:nvSpPr>
        <p:spPr>
          <a:xfrm>
            <a:off x="4352493" y="3794759"/>
            <a:ext cx="55880" cy="236220"/>
          </a:xfrm>
          <a:custGeom>
            <a:avLst/>
            <a:gdLst/>
            <a:ahLst/>
            <a:cxnLst/>
            <a:rect l="l" t="t" r="r" b="b"/>
            <a:pathLst>
              <a:path w="55880" h="236220">
                <a:moveTo>
                  <a:pt x="55308" y="0"/>
                </a:moveTo>
                <a:lnTo>
                  <a:pt x="0" y="0"/>
                </a:lnTo>
                <a:lnTo>
                  <a:pt x="0" y="10160"/>
                </a:lnTo>
                <a:lnTo>
                  <a:pt x="0" y="227330"/>
                </a:lnTo>
                <a:lnTo>
                  <a:pt x="0" y="236220"/>
                </a:lnTo>
                <a:lnTo>
                  <a:pt x="55308" y="236220"/>
                </a:lnTo>
                <a:lnTo>
                  <a:pt x="55308" y="227330"/>
                </a:lnTo>
                <a:lnTo>
                  <a:pt x="20586" y="227330"/>
                </a:lnTo>
                <a:lnTo>
                  <a:pt x="20586" y="10160"/>
                </a:lnTo>
                <a:lnTo>
                  <a:pt x="55308" y="10160"/>
                </a:lnTo>
                <a:lnTo>
                  <a:pt x="55308" y="0"/>
                </a:lnTo>
                <a:close/>
              </a:path>
            </a:pathLst>
          </a:custGeom>
          <a:solidFill>
            <a:srgbClr val="000000"/>
          </a:solidFill>
        </p:spPr>
        <p:txBody>
          <a:bodyPr wrap="square" lIns="0" tIns="0" rIns="0" bIns="0" rtlCol="0"/>
          <a:lstStyle/>
          <a:p>
            <a:endParaRPr/>
          </a:p>
        </p:txBody>
      </p:sp>
      <p:sp>
        <p:nvSpPr>
          <p:cNvPr id="11" name="object 11"/>
          <p:cNvSpPr/>
          <p:nvPr/>
        </p:nvSpPr>
        <p:spPr>
          <a:xfrm>
            <a:off x="5616499" y="3794759"/>
            <a:ext cx="55880" cy="236220"/>
          </a:xfrm>
          <a:custGeom>
            <a:avLst/>
            <a:gdLst/>
            <a:ahLst/>
            <a:cxnLst/>
            <a:rect l="l" t="t" r="r" b="b"/>
            <a:pathLst>
              <a:path w="55879" h="236220">
                <a:moveTo>
                  <a:pt x="55321" y="0"/>
                </a:moveTo>
                <a:lnTo>
                  <a:pt x="0" y="0"/>
                </a:lnTo>
                <a:lnTo>
                  <a:pt x="0" y="10160"/>
                </a:lnTo>
                <a:lnTo>
                  <a:pt x="34734" y="10160"/>
                </a:lnTo>
                <a:lnTo>
                  <a:pt x="34734" y="227330"/>
                </a:lnTo>
                <a:lnTo>
                  <a:pt x="0" y="227330"/>
                </a:lnTo>
                <a:lnTo>
                  <a:pt x="0" y="236220"/>
                </a:lnTo>
                <a:lnTo>
                  <a:pt x="55321" y="236220"/>
                </a:lnTo>
                <a:lnTo>
                  <a:pt x="55321" y="227330"/>
                </a:lnTo>
                <a:lnTo>
                  <a:pt x="55321" y="10160"/>
                </a:lnTo>
                <a:lnTo>
                  <a:pt x="55321" y="0"/>
                </a:lnTo>
                <a:close/>
              </a:path>
            </a:pathLst>
          </a:custGeom>
          <a:solidFill>
            <a:srgbClr val="000000"/>
          </a:solidFill>
        </p:spPr>
        <p:txBody>
          <a:bodyPr wrap="square" lIns="0" tIns="0" rIns="0" bIns="0" rtlCol="0"/>
          <a:lstStyle/>
          <a:p>
            <a:endParaRPr/>
          </a:p>
        </p:txBody>
      </p:sp>
      <p:sp>
        <p:nvSpPr>
          <p:cNvPr id="12" name="object 12"/>
          <p:cNvSpPr/>
          <p:nvPr/>
        </p:nvSpPr>
        <p:spPr>
          <a:xfrm>
            <a:off x="5151005" y="3794759"/>
            <a:ext cx="55880" cy="236220"/>
          </a:xfrm>
          <a:custGeom>
            <a:avLst/>
            <a:gdLst/>
            <a:ahLst/>
            <a:cxnLst/>
            <a:rect l="l" t="t" r="r" b="b"/>
            <a:pathLst>
              <a:path w="55879" h="236220">
                <a:moveTo>
                  <a:pt x="55308" y="0"/>
                </a:moveTo>
                <a:lnTo>
                  <a:pt x="0" y="0"/>
                </a:lnTo>
                <a:lnTo>
                  <a:pt x="0" y="10160"/>
                </a:lnTo>
                <a:lnTo>
                  <a:pt x="0" y="227330"/>
                </a:lnTo>
                <a:lnTo>
                  <a:pt x="0" y="236220"/>
                </a:lnTo>
                <a:lnTo>
                  <a:pt x="55308" y="236220"/>
                </a:lnTo>
                <a:lnTo>
                  <a:pt x="55308" y="227330"/>
                </a:lnTo>
                <a:lnTo>
                  <a:pt x="20586" y="227330"/>
                </a:lnTo>
                <a:lnTo>
                  <a:pt x="20586" y="10160"/>
                </a:lnTo>
                <a:lnTo>
                  <a:pt x="55308" y="10160"/>
                </a:lnTo>
                <a:lnTo>
                  <a:pt x="55308" y="0"/>
                </a:lnTo>
                <a:close/>
              </a:path>
            </a:pathLst>
          </a:custGeom>
          <a:solidFill>
            <a:srgbClr val="000000"/>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13" name="object 13"/>
              <p:cNvSpPr txBox="1"/>
              <p:nvPr/>
            </p:nvSpPr>
            <p:spPr>
              <a:xfrm>
                <a:off x="2111436" y="3654724"/>
                <a:ext cx="4883785" cy="1531830"/>
              </a:xfrm>
              <a:prstGeom prst="rect">
                <a:avLst/>
              </a:prstGeom>
            </p:spPr>
            <p:txBody>
              <a:bodyPr vert="horz" wrap="square" lIns="0" tIns="71755" rIns="0" bIns="0" rtlCol="0">
                <a:spAutoFit/>
              </a:bodyPr>
              <a:lstStyle/>
              <a:p>
                <a:pPr marL="38100">
                  <a:spcBef>
                    <a:spcPts val="565"/>
                  </a:spcBef>
                  <a:tabLst>
                    <a:tab pos="1528445" algn="l"/>
                    <a:tab pos="2326640" algn="l"/>
                    <a:tab pos="3125470" algn="l"/>
                  </a:tabLst>
                </a:pPr>
                <a:r>
                  <a:rPr lang="en-IN" sz="2000" spc="110" dirty="0">
                    <a:latin typeface="Cambria Math"/>
                    <a:cs typeface="Cambria Math"/>
                  </a:rPr>
                  <a:t>A</a:t>
                </a:r>
                <a:r>
                  <a:rPr lang="en-IN" sz="2000" spc="114" dirty="0">
                    <a:latin typeface="Cambria Math"/>
                    <a:cs typeface="Cambria Math"/>
                  </a:rPr>
                  <a:t> </a:t>
                </a:r>
                <a:r>
                  <a:rPr lang="en-IN" sz="2000" dirty="0">
                    <a:latin typeface="Cambria Math"/>
                    <a:cs typeface="Cambria Math"/>
                  </a:rPr>
                  <a:t>=</a:t>
                </a:r>
                <a:r>
                  <a:rPr lang="en-IN" sz="2000" spc="120" dirty="0">
                    <a:latin typeface="Cambria Math"/>
                    <a:cs typeface="Cambria Math"/>
                  </a:rPr>
                  <a:t> </a:t>
                </a:r>
                <a:r>
                  <a:rPr lang="en-IN" sz="2000" dirty="0">
                    <a:latin typeface="Cambria Math"/>
                    <a:cs typeface="Cambria Math"/>
                  </a:rPr>
                  <a:t>{ </a:t>
                </a:r>
                <a:r>
                  <a:rPr lang="en-IN" sz="2000" spc="-185" dirty="0">
                    <a:latin typeface="Cambria Math"/>
                    <a:cs typeface="Cambria Math"/>
                  </a:rPr>
                  <a:t> </a:t>
                </a:r>
                <a:r>
                  <a:rPr lang="en-IN" sz="2000" dirty="0">
                    <a:latin typeface="Cambria Math"/>
                    <a:cs typeface="Cambria Math"/>
                  </a:rPr>
                  <a:t>𝟎,</a:t>
                </a:r>
                <a:r>
                  <a:rPr lang="en-IN" sz="2000" spc="-105" dirty="0">
                    <a:latin typeface="Cambria Math"/>
                    <a:cs typeface="Cambria Math"/>
                  </a:rPr>
                  <a:t> </a:t>
                </a:r>
                <a:r>
                  <a:rPr lang="en-IN" sz="2000" dirty="0">
                    <a:latin typeface="Cambria Math"/>
                    <a:cs typeface="Cambria Math"/>
                  </a:rPr>
                  <a:t>𝟎 </a:t>
                </a:r>
                <a:r>
                  <a:rPr lang="en-IN" sz="2000" spc="-180" dirty="0">
                    <a:latin typeface="Cambria Math"/>
                    <a:cs typeface="Cambria Math"/>
                  </a:rPr>
                  <a:t> </a:t>
                </a:r>
                <a:r>
                  <a:rPr lang="en-IN" sz="2175" spc="142" baseline="28735" dirty="0">
                    <a:latin typeface="Cambria Math"/>
                    <a:cs typeface="Cambria Math"/>
                  </a:rPr>
                  <a:t>𝑻</a:t>
                </a:r>
                <a:r>
                  <a:rPr lang="en-IN" sz="2000" dirty="0">
                    <a:latin typeface="Cambria Math"/>
                    <a:cs typeface="Cambria Math"/>
                  </a:rPr>
                  <a:t>,	𝟎,</a:t>
                </a:r>
                <a:r>
                  <a:rPr lang="en-IN" sz="2000" spc="-105" dirty="0">
                    <a:latin typeface="Cambria Math"/>
                    <a:cs typeface="Cambria Math"/>
                  </a:rPr>
                  <a:t> </a:t>
                </a:r>
                <a:r>
                  <a:rPr lang="en-IN" sz="2000" dirty="0">
                    <a:latin typeface="Cambria Math"/>
                    <a:cs typeface="Cambria Math"/>
                  </a:rPr>
                  <a:t>𝟏 </a:t>
                </a:r>
                <a:r>
                  <a:rPr lang="en-IN" sz="2000" spc="-180" dirty="0">
                    <a:latin typeface="Cambria Math"/>
                    <a:cs typeface="Cambria Math"/>
                  </a:rPr>
                  <a:t> </a:t>
                </a:r>
                <a:r>
                  <a:rPr lang="en-IN" sz="2175" spc="142" baseline="28735" dirty="0">
                    <a:latin typeface="Cambria Math"/>
                    <a:cs typeface="Cambria Math"/>
                  </a:rPr>
                  <a:t>𝑻</a:t>
                </a:r>
                <a:r>
                  <a:rPr lang="en-IN" sz="2000" dirty="0">
                    <a:latin typeface="Cambria Math"/>
                    <a:cs typeface="Cambria Math"/>
                  </a:rPr>
                  <a:t>,	𝟏,</a:t>
                </a:r>
                <a:r>
                  <a:rPr lang="en-IN" sz="2000" spc="-105" dirty="0">
                    <a:latin typeface="Cambria Math"/>
                    <a:cs typeface="Cambria Math"/>
                  </a:rPr>
                  <a:t> </a:t>
                </a:r>
                <a:r>
                  <a:rPr lang="en-IN" sz="2000" dirty="0">
                    <a:latin typeface="Cambria Math"/>
                    <a:cs typeface="Cambria Math"/>
                  </a:rPr>
                  <a:t>𝟎 </a:t>
                </a:r>
                <a:r>
                  <a:rPr lang="en-IN" sz="2000" spc="-180" dirty="0">
                    <a:latin typeface="Cambria Math"/>
                    <a:cs typeface="Cambria Math"/>
                  </a:rPr>
                  <a:t> </a:t>
                </a:r>
                <a:r>
                  <a:rPr lang="en-IN" sz="2175" spc="142" baseline="28735" dirty="0">
                    <a:latin typeface="Cambria Math"/>
                    <a:cs typeface="Cambria Math"/>
                  </a:rPr>
                  <a:t>𝑻</a:t>
                </a:r>
                <a:r>
                  <a:rPr lang="en-IN" sz="2000" dirty="0">
                    <a:latin typeface="Cambria Math"/>
                    <a:cs typeface="Cambria Math"/>
                  </a:rPr>
                  <a:t>,	𝟏,</a:t>
                </a:r>
                <a:r>
                  <a:rPr lang="en-IN" sz="2000" spc="-105" dirty="0">
                    <a:latin typeface="Cambria Math"/>
                    <a:cs typeface="Cambria Math"/>
                  </a:rPr>
                  <a:t> </a:t>
                </a:r>
                <a:r>
                  <a:rPr lang="en-IN" sz="2000" dirty="0">
                    <a:latin typeface="Cambria Math"/>
                    <a:cs typeface="Cambria Math"/>
                  </a:rPr>
                  <a:t>𝟏 </a:t>
                </a:r>
                <a:r>
                  <a:rPr lang="en-IN" sz="2000" spc="-180" dirty="0">
                    <a:latin typeface="Cambria Math"/>
                    <a:cs typeface="Cambria Math"/>
                  </a:rPr>
                  <a:t> </a:t>
                </a:r>
                <a:r>
                  <a:rPr lang="en-IN" sz="2175" spc="142" baseline="28735" dirty="0">
                    <a:latin typeface="Cambria Math"/>
                    <a:cs typeface="Cambria Math"/>
                  </a:rPr>
                  <a:t>𝑻</a:t>
                </a:r>
                <a:r>
                  <a:rPr lang="en-IN" sz="2000" dirty="0">
                    <a:latin typeface="Cambria Math"/>
                    <a:cs typeface="Cambria Math"/>
                  </a:rPr>
                  <a:t>}</a:t>
                </a:r>
              </a:p>
              <a:p>
                <a:pPr marL="38100">
                  <a:spcBef>
                    <a:spcPts val="465"/>
                  </a:spcBef>
                </a:pPr>
                <a:r>
                  <a:rPr lang="en-IN" sz="2000" b="1" spc="-5" dirty="0">
                    <a:latin typeface="Arial"/>
                    <a:cs typeface="Arial"/>
                  </a:rPr>
                  <a:t>Mean squared error</a:t>
                </a:r>
                <a:r>
                  <a:rPr lang="en-IN" sz="2000" b="1" spc="-10" dirty="0">
                    <a:latin typeface="Arial"/>
                    <a:cs typeface="Arial"/>
                  </a:rPr>
                  <a:t> </a:t>
                </a:r>
                <a:r>
                  <a:rPr lang="en-IN" sz="2000" b="1" spc="-5" dirty="0">
                    <a:latin typeface="Arial"/>
                    <a:cs typeface="Arial"/>
                  </a:rPr>
                  <a:t>(MSE)</a:t>
                </a:r>
                <a:r>
                  <a:rPr lang="en-IN" sz="2000" b="1" spc="-10" dirty="0">
                    <a:latin typeface="Arial"/>
                    <a:cs typeface="Arial"/>
                  </a:rPr>
                  <a:t> </a:t>
                </a:r>
                <a:r>
                  <a:rPr lang="en-IN" sz="2000" b="1" spc="-5" dirty="0">
                    <a:latin typeface="Arial"/>
                    <a:cs typeface="Arial"/>
                  </a:rPr>
                  <a:t>loss</a:t>
                </a:r>
                <a:r>
                  <a:rPr lang="en-IN" sz="2000" b="1" spc="-10" dirty="0">
                    <a:latin typeface="Arial"/>
                    <a:cs typeface="Arial"/>
                  </a:rPr>
                  <a:t> </a:t>
                </a:r>
                <a:r>
                  <a:rPr lang="en-IN" sz="2000" b="1" spc="-5" dirty="0">
                    <a:latin typeface="Arial"/>
                    <a:cs typeface="Arial"/>
                  </a:rPr>
                  <a:t>function</a:t>
                </a:r>
              </a:p>
              <a:p>
                <a:pPr marL="38100">
                  <a:spcBef>
                    <a:spcPts val="465"/>
                  </a:spcBef>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cs typeface="Arial"/>
                        </a:rPr>
                        <m:t>𝐽</m:t>
                      </m:r>
                      <m:d>
                        <m:dPr>
                          <m:ctrlPr>
                            <a:rPr lang="en-IN" sz="2000" b="0" i="1" smtClean="0">
                              <a:latin typeface="Cambria Math" panose="02040503050406030204" pitchFamily="18" charset="0"/>
                              <a:cs typeface="Arial"/>
                            </a:rPr>
                          </m:ctrlPr>
                        </m:dPr>
                        <m:e>
                          <m:r>
                            <a:rPr lang="en-IN" sz="2000" b="0" i="1" smtClean="0">
                              <a:latin typeface="Cambria Math" panose="02040503050406030204" pitchFamily="18" charset="0"/>
                              <a:ea typeface="Cambria Math" panose="02040503050406030204" pitchFamily="18" charset="0"/>
                              <a:cs typeface="Arial"/>
                            </a:rPr>
                            <m:t>𝜃</m:t>
                          </m:r>
                        </m:e>
                      </m:d>
                      <m:r>
                        <a:rPr lang="en-IN" sz="2000" b="0" i="1" smtClean="0">
                          <a:latin typeface="Cambria Math" panose="02040503050406030204" pitchFamily="18" charset="0"/>
                          <a:ea typeface="Cambria Math" panose="02040503050406030204" pitchFamily="18" charset="0"/>
                          <a:cs typeface="Arial"/>
                        </a:rPr>
                        <m:t>=</m:t>
                      </m:r>
                      <m:f>
                        <m:fPr>
                          <m:ctrlPr>
                            <a:rPr lang="en-IN" sz="2000" b="0" i="1" smtClean="0">
                              <a:latin typeface="Cambria Math" panose="02040503050406030204" pitchFamily="18" charset="0"/>
                              <a:ea typeface="Cambria Math" panose="02040503050406030204" pitchFamily="18" charset="0"/>
                              <a:cs typeface="Arial"/>
                            </a:rPr>
                          </m:ctrlPr>
                        </m:fPr>
                        <m:num>
                          <m:r>
                            <a:rPr lang="en-IN" sz="2000" b="0" i="1" smtClean="0">
                              <a:latin typeface="Cambria Math" panose="02040503050406030204" pitchFamily="18" charset="0"/>
                              <a:ea typeface="Cambria Math" panose="02040503050406030204" pitchFamily="18" charset="0"/>
                              <a:cs typeface="Arial"/>
                            </a:rPr>
                            <m:t>1</m:t>
                          </m:r>
                        </m:num>
                        <m:den>
                          <m:r>
                            <a:rPr lang="en-IN" sz="2000" b="0" i="1" smtClean="0">
                              <a:latin typeface="Cambria Math" panose="02040503050406030204" pitchFamily="18" charset="0"/>
                              <a:ea typeface="Cambria Math" panose="02040503050406030204" pitchFamily="18" charset="0"/>
                              <a:cs typeface="Arial"/>
                            </a:rPr>
                            <m:t>4</m:t>
                          </m:r>
                        </m:den>
                      </m:f>
                      <m:nary>
                        <m:naryPr>
                          <m:chr m:val="∑"/>
                          <m:supHide m:val="on"/>
                          <m:ctrlPr>
                            <a:rPr lang="en-IN" sz="2000" b="0" i="1" smtClean="0">
                              <a:latin typeface="Cambria Math" panose="02040503050406030204" pitchFamily="18" charset="0"/>
                              <a:ea typeface="Cambria Math" panose="02040503050406030204" pitchFamily="18" charset="0"/>
                              <a:cs typeface="Arial"/>
                            </a:rPr>
                          </m:ctrlPr>
                        </m:naryPr>
                        <m:sub>
                          <m:r>
                            <m:rPr>
                              <m:nor/>
                            </m:rPr>
                            <a:rPr lang="en-IN" sz="2000" spc="30" dirty="0">
                              <a:latin typeface="Cambria Math"/>
                              <a:cs typeface="Cambria Math"/>
                            </a:rPr>
                            <m:t>𝐱</m:t>
                          </m:r>
                          <m:r>
                            <m:rPr>
                              <m:nor/>
                            </m:rPr>
                            <a:rPr lang="en-IN" sz="2000" spc="30" dirty="0">
                              <a:latin typeface="Cambria Math"/>
                              <a:cs typeface="Cambria Math"/>
                            </a:rPr>
                            <m:t>∈</m:t>
                          </m:r>
                          <m:r>
                            <m:rPr>
                              <m:nor/>
                            </m:rPr>
                            <a:rPr lang="en-IN" sz="2000" spc="30" dirty="0">
                              <a:latin typeface="Cambria Math"/>
                              <a:cs typeface="Cambria Math"/>
                            </a:rPr>
                            <m:t>A</m:t>
                          </m:r>
                          <m:r>
                            <m:rPr>
                              <m:nor/>
                            </m:rPr>
                            <a:rPr lang="en-IN" sz="2000" dirty="0">
                              <a:latin typeface="Cambria Math"/>
                              <a:cs typeface="Cambria Math"/>
                            </a:rPr>
                            <m:t> </m:t>
                          </m:r>
                        </m:sub>
                        <m:sup/>
                        <m:e>
                          <m:sSup>
                            <m:sSupPr>
                              <m:ctrlPr>
                                <a:rPr lang="el-GR" i="1" smtClean="0">
                                  <a:latin typeface="Cambria Math" panose="02040503050406030204" pitchFamily="18" charset="0"/>
                                </a:rPr>
                              </m:ctrlPr>
                            </m:sSupPr>
                            <m:e>
                              <m:sSup>
                                <m:sSupPr>
                                  <m:ctrlPr>
                                    <a:rPr lang="en-IN" i="1" smtClean="0">
                                      <a:latin typeface="Cambria Math" panose="02040503050406030204" pitchFamily="18" charset="0"/>
                                    </a:rPr>
                                  </m:ctrlPr>
                                </m:sSupPr>
                                <m:e>
                                  <m:r>
                                    <a:rPr lang="en-IN" i="1">
                                      <a:latin typeface="Cambria Math" panose="02040503050406030204" pitchFamily="18" charset="0"/>
                                    </a:rPr>
                                    <m:t>(</m:t>
                                  </m:r>
                                  <m:r>
                                    <a:rPr lang="en-IN" i="1">
                                      <a:latin typeface="Cambria Math" panose="02040503050406030204" pitchFamily="18" charset="0"/>
                                    </a:rPr>
                                    <m:t>𝑓</m:t>
                                  </m:r>
                                </m:e>
                                <m:sup>
                                  <m:r>
                                    <m:rPr>
                                      <m:nor/>
                                    </m:rPr>
                                    <a:rPr lang="en-IN"/>
                                    <m:t>∗</m:t>
                                  </m:r>
                                </m:sup>
                              </m:sSup>
                              <m:r>
                                <m:rPr>
                                  <m:nor/>
                                </m:rPr>
                                <a:rPr lang="en-IN"/>
                                <m:t>(</m:t>
                              </m:r>
                              <m:r>
                                <m:rPr>
                                  <m:nor/>
                                </m:rPr>
                                <a:rPr lang="en-IN"/>
                                <m:t>x</m:t>
                              </m:r>
                              <m:r>
                                <m:rPr>
                                  <m:nor/>
                                </m:rPr>
                                <a:rPr lang="en-IN"/>
                                <m:t>) −</m:t>
                              </m:r>
                              <m:r>
                                <m:rPr>
                                  <m:nor/>
                                </m:rPr>
                                <a:rPr lang="en-IN" i="1"/>
                                <m:t>f</m:t>
                              </m:r>
                              <m:r>
                                <m:rPr>
                                  <m:nor/>
                                </m:rPr>
                                <a:rPr lang="en-IN"/>
                                <m:t>(</m:t>
                              </m:r>
                              <m:r>
                                <m:rPr>
                                  <m:nor/>
                                </m:rPr>
                                <a:rPr lang="en-IN"/>
                                <m:t>x</m:t>
                              </m:r>
                              <m:r>
                                <m:rPr>
                                  <m:nor/>
                                </m:rPr>
                                <a:rPr lang="en-IN"/>
                                <m:t>; </m:t>
                              </m:r>
                              <m:r>
                                <m:rPr>
                                  <m:nor/>
                                </m:rPr>
                                <a:rPr lang="el-GR"/>
                                <m:t>θ</m:t>
                              </m:r>
                              <m:r>
                                <m:rPr>
                                  <m:nor/>
                                </m:rPr>
                                <a:rPr lang="el-GR"/>
                                <m:t>))</m:t>
                              </m:r>
                            </m:e>
                            <m:sup>
                              <m:r>
                                <a:rPr lang="en-IN" b="0" i="1" smtClean="0">
                                  <a:latin typeface="Cambria Math" panose="02040503050406030204" pitchFamily="18" charset="0"/>
                                </a:rPr>
                                <m:t>2</m:t>
                              </m:r>
                            </m:sup>
                          </m:sSup>
                        </m:e>
                      </m:nary>
                    </m:oMath>
                  </m:oMathPara>
                </a14:m>
                <a:endParaRPr sz="2000" dirty="0">
                  <a:latin typeface="Arial"/>
                  <a:cs typeface="Arial"/>
                </a:endParaRPr>
              </a:p>
            </p:txBody>
          </p:sp>
        </mc:Choice>
        <mc:Fallback xmlns="">
          <p:sp>
            <p:nvSpPr>
              <p:cNvPr id="13" name="object 13"/>
              <p:cNvSpPr txBox="1">
                <a:spLocks noRot="1" noChangeAspect="1" noMove="1" noResize="1" noEditPoints="1" noAdjustHandles="1" noChangeArrowheads="1" noChangeShapeType="1" noTextEdit="1"/>
              </p:cNvSpPr>
              <p:nvPr/>
            </p:nvSpPr>
            <p:spPr>
              <a:xfrm>
                <a:off x="2111436" y="3654724"/>
                <a:ext cx="4883785" cy="1531830"/>
              </a:xfrm>
              <a:prstGeom prst="rect">
                <a:avLst/>
              </a:prstGeom>
              <a:blipFill>
                <a:blip r:embed="rId3"/>
                <a:stretch>
                  <a:fillRect l="-2369" t="-797" r="-2244"/>
                </a:stretch>
              </a:blipFill>
            </p:spPr>
            <p:txBody>
              <a:bodyPr/>
              <a:lstStyle/>
              <a:p>
                <a:r>
                  <a:rPr lang="en-IN">
                    <a:noFill/>
                  </a:rPr>
                  <a:t> </a:t>
                </a:r>
              </a:p>
            </p:txBody>
          </p:sp>
        </mc:Fallback>
      </mc:AlternateContent>
      <p:pic>
        <p:nvPicPr>
          <p:cNvPr id="14" name="object 14"/>
          <p:cNvPicPr/>
          <p:nvPr/>
        </p:nvPicPr>
        <p:blipFill>
          <a:blip r:embed="rId2" cstate="print"/>
          <a:stretch>
            <a:fillRect/>
          </a:stretch>
        </p:blipFill>
        <p:spPr>
          <a:xfrm>
            <a:off x="1866961" y="4188831"/>
            <a:ext cx="152399" cy="160866"/>
          </a:xfrm>
          <a:prstGeom prst="rect">
            <a:avLst/>
          </a:prstGeom>
        </p:spPr>
      </p:pic>
      <p:pic>
        <p:nvPicPr>
          <p:cNvPr id="23" name="object 23"/>
          <p:cNvPicPr/>
          <p:nvPr/>
        </p:nvPicPr>
        <p:blipFill>
          <a:blip r:embed="rId4" cstate="print"/>
          <a:stretch>
            <a:fillRect/>
          </a:stretch>
        </p:blipFill>
        <p:spPr>
          <a:xfrm>
            <a:off x="1604433" y="143934"/>
            <a:ext cx="4639732" cy="918633"/>
          </a:xfrm>
          <a:prstGeom prst="rect">
            <a:avLst/>
          </a:prstGeom>
        </p:spPr>
      </p:pic>
      <p:sp>
        <p:nvSpPr>
          <p:cNvPr id="24" name="object 24"/>
          <p:cNvSpPr txBox="1">
            <a:spLocks noGrp="1"/>
          </p:cNvSpPr>
          <p:nvPr>
            <p:ph type="title"/>
          </p:nvPr>
        </p:nvSpPr>
        <p:spPr>
          <a:xfrm>
            <a:off x="1854260" y="257128"/>
            <a:ext cx="4110990" cy="513080"/>
          </a:xfrm>
          <a:prstGeom prst="rect">
            <a:avLst/>
          </a:prstGeom>
        </p:spPr>
        <p:txBody>
          <a:bodyPr vert="horz" wrap="square" lIns="0" tIns="12700" rIns="0" bIns="0" rtlCol="0" anchor="ctr">
            <a:spAutoFit/>
          </a:bodyPr>
          <a:lstStyle/>
          <a:p>
            <a:pPr marL="12700">
              <a:lnSpc>
                <a:spcPct val="100000"/>
              </a:lnSpc>
              <a:spcBef>
                <a:spcPts val="100"/>
              </a:spcBef>
            </a:pPr>
            <a:r>
              <a:rPr lang="en-IN" sz="3200" spc="-5" dirty="0">
                <a:latin typeface="Times New Roman"/>
                <a:cs typeface="Times New Roman"/>
              </a:rPr>
              <a:t>Example:</a:t>
            </a:r>
            <a:r>
              <a:rPr lang="en-IN" sz="3200" spc="-30" dirty="0">
                <a:latin typeface="Times New Roman"/>
                <a:cs typeface="Times New Roman"/>
              </a:rPr>
              <a:t> </a:t>
            </a:r>
            <a:r>
              <a:rPr lang="en-IN" sz="3200" spc="-5" dirty="0">
                <a:latin typeface="Times New Roman"/>
                <a:cs typeface="Times New Roman"/>
              </a:rPr>
              <a:t>Learning</a:t>
            </a:r>
            <a:r>
              <a:rPr lang="en-IN" sz="3200" spc="-25" dirty="0">
                <a:latin typeface="Times New Roman"/>
                <a:cs typeface="Times New Roman"/>
              </a:rPr>
              <a:t> </a:t>
            </a:r>
            <a:r>
              <a:rPr lang="en-IN" sz="3200" dirty="0">
                <a:latin typeface="Times New Roman"/>
                <a:cs typeface="Times New Roman"/>
              </a:rPr>
              <a:t>XOR</a:t>
            </a:r>
          </a:p>
        </p:txBody>
      </p:sp>
      <p:graphicFrame>
        <p:nvGraphicFramePr>
          <p:cNvPr id="25" name="object 25"/>
          <p:cNvGraphicFramePr>
            <a:graphicFrameLocks noGrp="1"/>
          </p:cNvGraphicFramePr>
          <p:nvPr/>
        </p:nvGraphicFramePr>
        <p:xfrm>
          <a:off x="3346968" y="1697037"/>
          <a:ext cx="5416550" cy="1768652"/>
        </p:xfrm>
        <a:graphic>
          <a:graphicData uri="http://schemas.openxmlformats.org/drawingml/2006/table">
            <a:tbl>
              <a:tblPr firstRow="1" bandRow="1">
                <a:tableStyleId>{2D5ABB26-0587-4C30-8999-92F81FD0307C}</a:tableStyleId>
              </a:tblPr>
              <a:tblGrid>
                <a:gridCol w="5416550">
                  <a:extLst>
                    <a:ext uri="{9D8B030D-6E8A-4147-A177-3AD203B41FA5}">
                      <a16:colId xmlns:a16="http://schemas.microsoft.com/office/drawing/2014/main" val="20000"/>
                    </a:ext>
                  </a:extLst>
                </a:gridCol>
              </a:tblGrid>
              <a:tr h="362303">
                <a:tc>
                  <a:txBody>
                    <a:bodyPr/>
                    <a:lstStyle/>
                    <a:p>
                      <a:pPr marL="243840" algn="ctr">
                        <a:lnSpc>
                          <a:spcPct val="100000"/>
                        </a:lnSpc>
                        <a:spcBef>
                          <a:spcPts val="600"/>
                        </a:spcBef>
                        <a:tabLst>
                          <a:tab pos="2049145" algn="l"/>
                          <a:tab pos="3544570" algn="l"/>
                        </a:tabLst>
                      </a:pPr>
                      <a:r>
                        <a:rPr sz="1350" spc="-5" dirty="0">
                          <a:solidFill>
                            <a:srgbClr val="FFFFFF"/>
                          </a:solidFill>
                          <a:latin typeface="Cambria Math"/>
                          <a:cs typeface="Cambria Math"/>
                        </a:rPr>
                        <a:t>𝒙</a:t>
                      </a:r>
                      <a:r>
                        <a:rPr sz="1500" spc="-7" baseline="-16666" dirty="0">
                          <a:solidFill>
                            <a:srgbClr val="FFFFFF"/>
                          </a:solidFill>
                          <a:latin typeface="Cambria Math"/>
                          <a:cs typeface="Cambria Math"/>
                        </a:rPr>
                        <a:t>𝟏	</a:t>
                      </a:r>
                      <a:r>
                        <a:rPr sz="1350" spc="-5" dirty="0">
                          <a:solidFill>
                            <a:srgbClr val="FFFFFF"/>
                          </a:solidFill>
                          <a:latin typeface="Cambria Math"/>
                          <a:cs typeface="Cambria Math"/>
                        </a:rPr>
                        <a:t>𝒙</a:t>
                      </a:r>
                      <a:r>
                        <a:rPr sz="1500" spc="-7" baseline="-16666" dirty="0">
                          <a:solidFill>
                            <a:srgbClr val="FFFFFF"/>
                          </a:solidFill>
                          <a:latin typeface="Cambria Math"/>
                          <a:cs typeface="Cambria Math"/>
                        </a:rPr>
                        <a:t>𝟐	</a:t>
                      </a:r>
                      <a:r>
                        <a:rPr sz="1350" spc="-5" dirty="0">
                          <a:solidFill>
                            <a:srgbClr val="FFFFFF"/>
                          </a:solidFill>
                          <a:latin typeface="Cambria Math"/>
                          <a:cs typeface="Cambria Math"/>
                        </a:rPr>
                        <a:t>𝒙</a:t>
                      </a:r>
                      <a:r>
                        <a:rPr sz="1500" spc="-7" baseline="-16666" dirty="0">
                          <a:solidFill>
                            <a:srgbClr val="FFFFFF"/>
                          </a:solidFill>
                          <a:latin typeface="Cambria Math"/>
                          <a:cs typeface="Cambria Math"/>
                        </a:rPr>
                        <a:t>𝟏</a:t>
                      </a:r>
                      <a:r>
                        <a:rPr sz="1500" spc="135" baseline="-16666" dirty="0">
                          <a:solidFill>
                            <a:srgbClr val="FFFFFF"/>
                          </a:solidFill>
                          <a:latin typeface="Cambria Math"/>
                          <a:cs typeface="Cambria Math"/>
                        </a:rPr>
                        <a:t> </a:t>
                      </a:r>
                      <a:r>
                        <a:rPr sz="1350" dirty="0">
                          <a:solidFill>
                            <a:srgbClr val="FFFFFF"/>
                          </a:solidFill>
                          <a:latin typeface="Cambria Math"/>
                          <a:cs typeface="Cambria Math"/>
                        </a:rPr>
                        <a:t>𝑿𝑶𝑹</a:t>
                      </a:r>
                      <a:r>
                        <a:rPr sz="1350" spc="-35" dirty="0">
                          <a:solidFill>
                            <a:srgbClr val="FFFFFF"/>
                          </a:solidFill>
                          <a:latin typeface="Cambria Math"/>
                          <a:cs typeface="Cambria Math"/>
                        </a:rPr>
                        <a:t> </a:t>
                      </a:r>
                      <a:r>
                        <a:rPr sz="1350" spc="-5" dirty="0">
                          <a:solidFill>
                            <a:srgbClr val="FFFFFF"/>
                          </a:solidFill>
                          <a:latin typeface="Cambria Math"/>
                          <a:cs typeface="Cambria Math"/>
                        </a:rPr>
                        <a:t>𝒙</a:t>
                      </a:r>
                      <a:r>
                        <a:rPr sz="1500" spc="-7" baseline="-16666" dirty="0">
                          <a:solidFill>
                            <a:srgbClr val="FFFFFF"/>
                          </a:solidFill>
                          <a:latin typeface="Cambria Math"/>
                          <a:cs typeface="Cambria Math"/>
                        </a:rPr>
                        <a:t>𝟐</a:t>
                      </a:r>
                      <a:endParaRPr sz="1500" baseline="-16666">
                        <a:latin typeface="Cambria Math"/>
                        <a:cs typeface="Cambria Math"/>
                      </a:endParaRPr>
                    </a:p>
                  </a:txBody>
                  <a:tcPr marL="0" marR="0" marT="76200" marB="0">
                    <a:lnL w="12700">
                      <a:solidFill>
                        <a:srgbClr val="4A7EBB"/>
                      </a:solidFill>
                      <a:prstDash val="solid"/>
                    </a:lnL>
                    <a:lnR w="12700">
                      <a:solidFill>
                        <a:srgbClr val="4A7EBB"/>
                      </a:solidFill>
                      <a:prstDash val="solid"/>
                    </a:lnR>
                    <a:solidFill>
                      <a:srgbClr val="4F81BD"/>
                    </a:solidFill>
                  </a:tcPr>
                </a:tc>
                <a:extLst>
                  <a:ext uri="{0D108BD9-81ED-4DB2-BD59-A6C34878D82A}">
                    <a16:rowId xmlns:a16="http://schemas.microsoft.com/office/drawing/2014/main" val="10000"/>
                  </a:ext>
                </a:extLst>
              </a:tr>
              <a:tr h="348015">
                <a:tc>
                  <a:txBody>
                    <a:bodyPr/>
                    <a:lstStyle/>
                    <a:p>
                      <a:pPr marL="1905" algn="ctr">
                        <a:lnSpc>
                          <a:spcPct val="100000"/>
                        </a:lnSpc>
                        <a:spcBef>
                          <a:spcPts val="525"/>
                        </a:spcBef>
                        <a:tabLst>
                          <a:tab pos="1807210" algn="l"/>
                          <a:tab pos="3612515" algn="l"/>
                        </a:tabLst>
                      </a:pPr>
                      <a:r>
                        <a:rPr sz="1350" spc="5" dirty="0">
                          <a:latin typeface="Malgun Gothic"/>
                          <a:cs typeface="Malgun Gothic"/>
                        </a:rPr>
                        <a:t>0	0	0</a:t>
                      </a:r>
                      <a:endParaRPr sz="1350">
                        <a:latin typeface="Malgun Gothic"/>
                        <a:cs typeface="Malgun Gothic"/>
                      </a:endParaRPr>
                    </a:p>
                  </a:txBody>
                  <a:tcPr marL="0" marR="0" marT="66675" marB="0">
                    <a:lnL w="12700">
                      <a:solidFill>
                        <a:srgbClr val="4A7EBB"/>
                      </a:solidFill>
                      <a:prstDash val="solid"/>
                    </a:lnL>
                    <a:lnR w="12700">
                      <a:solidFill>
                        <a:srgbClr val="4A7EBB"/>
                      </a:solidFill>
                      <a:prstDash val="solid"/>
                    </a:lnR>
                    <a:lnB w="12700">
                      <a:solidFill>
                        <a:srgbClr val="4A7EBB"/>
                      </a:solidFill>
                      <a:prstDash val="solid"/>
                    </a:lnB>
                  </a:tcPr>
                </a:tc>
                <a:extLst>
                  <a:ext uri="{0D108BD9-81ED-4DB2-BD59-A6C34878D82A}">
                    <a16:rowId xmlns:a16="http://schemas.microsoft.com/office/drawing/2014/main" val="10001"/>
                  </a:ext>
                </a:extLst>
              </a:tr>
              <a:tr h="352778">
                <a:tc>
                  <a:txBody>
                    <a:bodyPr/>
                    <a:lstStyle/>
                    <a:p>
                      <a:pPr marL="1905" algn="ctr">
                        <a:lnSpc>
                          <a:spcPct val="100000"/>
                        </a:lnSpc>
                        <a:spcBef>
                          <a:spcPts val="560"/>
                        </a:spcBef>
                        <a:tabLst>
                          <a:tab pos="1807210" algn="l"/>
                          <a:tab pos="3612515" algn="l"/>
                        </a:tabLst>
                      </a:pPr>
                      <a:r>
                        <a:rPr sz="1350" spc="5" dirty="0">
                          <a:latin typeface="Malgun Gothic"/>
                          <a:cs typeface="Malgun Gothic"/>
                        </a:rPr>
                        <a:t>0	1	1</a:t>
                      </a:r>
                      <a:endParaRPr sz="1350">
                        <a:latin typeface="Malgun Gothic"/>
                        <a:cs typeface="Malgun Gothic"/>
                      </a:endParaRPr>
                    </a:p>
                  </a:txBody>
                  <a:tcPr marL="0" marR="0" marT="71120" marB="0">
                    <a:lnL w="12700">
                      <a:solidFill>
                        <a:srgbClr val="4A7EBB"/>
                      </a:solidFill>
                      <a:prstDash val="solid"/>
                    </a:lnL>
                    <a:lnR w="12700">
                      <a:solidFill>
                        <a:srgbClr val="4A7EBB"/>
                      </a:solidFill>
                      <a:prstDash val="solid"/>
                    </a:lnR>
                    <a:lnT w="12700">
                      <a:solidFill>
                        <a:srgbClr val="4A7EBB"/>
                      </a:solidFill>
                      <a:prstDash val="solid"/>
                    </a:lnT>
                    <a:lnB w="12700">
                      <a:solidFill>
                        <a:srgbClr val="4A7EBB"/>
                      </a:solidFill>
                      <a:prstDash val="solid"/>
                    </a:lnB>
                  </a:tcPr>
                </a:tc>
                <a:extLst>
                  <a:ext uri="{0D108BD9-81ED-4DB2-BD59-A6C34878D82A}">
                    <a16:rowId xmlns:a16="http://schemas.microsoft.com/office/drawing/2014/main" val="10002"/>
                  </a:ext>
                </a:extLst>
              </a:tr>
              <a:tr h="352778">
                <a:tc>
                  <a:txBody>
                    <a:bodyPr/>
                    <a:lstStyle/>
                    <a:p>
                      <a:pPr marL="1905" algn="ctr">
                        <a:lnSpc>
                          <a:spcPct val="100000"/>
                        </a:lnSpc>
                        <a:spcBef>
                          <a:spcPts val="560"/>
                        </a:spcBef>
                        <a:tabLst>
                          <a:tab pos="1807210" algn="l"/>
                          <a:tab pos="3612515" algn="l"/>
                        </a:tabLst>
                      </a:pPr>
                      <a:r>
                        <a:rPr sz="1350" spc="5" dirty="0">
                          <a:latin typeface="Malgun Gothic"/>
                          <a:cs typeface="Malgun Gothic"/>
                        </a:rPr>
                        <a:t>1	0	1</a:t>
                      </a:r>
                      <a:endParaRPr sz="1350">
                        <a:latin typeface="Malgun Gothic"/>
                        <a:cs typeface="Malgun Gothic"/>
                      </a:endParaRPr>
                    </a:p>
                  </a:txBody>
                  <a:tcPr marL="0" marR="0" marT="71120" marB="0">
                    <a:lnL w="12700">
                      <a:solidFill>
                        <a:srgbClr val="4A7EBB"/>
                      </a:solidFill>
                      <a:prstDash val="solid"/>
                    </a:lnL>
                    <a:lnR w="12700">
                      <a:solidFill>
                        <a:srgbClr val="4A7EBB"/>
                      </a:solidFill>
                      <a:prstDash val="solid"/>
                    </a:lnR>
                    <a:lnT w="12700">
                      <a:solidFill>
                        <a:srgbClr val="4A7EBB"/>
                      </a:solidFill>
                      <a:prstDash val="solid"/>
                    </a:lnT>
                    <a:lnB w="12700">
                      <a:solidFill>
                        <a:srgbClr val="4A7EBB"/>
                      </a:solidFill>
                      <a:prstDash val="solid"/>
                    </a:lnB>
                  </a:tcPr>
                </a:tc>
                <a:extLst>
                  <a:ext uri="{0D108BD9-81ED-4DB2-BD59-A6C34878D82A}">
                    <a16:rowId xmlns:a16="http://schemas.microsoft.com/office/drawing/2014/main" val="10003"/>
                  </a:ext>
                </a:extLst>
              </a:tr>
              <a:tr h="352778">
                <a:tc>
                  <a:txBody>
                    <a:bodyPr/>
                    <a:lstStyle/>
                    <a:p>
                      <a:pPr marL="1905" algn="ctr">
                        <a:lnSpc>
                          <a:spcPct val="100000"/>
                        </a:lnSpc>
                        <a:spcBef>
                          <a:spcPts val="560"/>
                        </a:spcBef>
                        <a:tabLst>
                          <a:tab pos="1807210" algn="l"/>
                          <a:tab pos="3612515" algn="l"/>
                        </a:tabLst>
                      </a:pPr>
                      <a:r>
                        <a:rPr sz="1350" spc="5" dirty="0">
                          <a:latin typeface="Malgun Gothic"/>
                          <a:cs typeface="Malgun Gothic"/>
                        </a:rPr>
                        <a:t>1	1	0</a:t>
                      </a:r>
                      <a:endParaRPr sz="1350">
                        <a:latin typeface="Malgun Gothic"/>
                        <a:cs typeface="Malgun Gothic"/>
                      </a:endParaRPr>
                    </a:p>
                  </a:txBody>
                  <a:tcPr marL="0" marR="0" marT="71120" marB="0">
                    <a:lnL w="12700">
                      <a:solidFill>
                        <a:srgbClr val="4A7EBB"/>
                      </a:solidFill>
                      <a:prstDash val="solid"/>
                    </a:lnL>
                    <a:lnR w="12700">
                      <a:solidFill>
                        <a:srgbClr val="4A7EBB"/>
                      </a:solidFill>
                      <a:prstDash val="solid"/>
                    </a:lnR>
                    <a:lnT w="12700">
                      <a:solidFill>
                        <a:srgbClr val="4A7EBB"/>
                      </a:solidFill>
                      <a:prstDash val="solid"/>
                    </a:lnT>
                    <a:lnB w="12700">
                      <a:solidFill>
                        <a:srgbClr val="4A7EBB"/>
                      </a:solidFill>
                      <a:prstDash val="solid"/>
                    </a:lnB>
                  </a:tcPr>
                </a:tc>
                <a:extLst>
                  <a:ext uri="{0D108BD9-81ED-4DB2-BD59-A6C34878D82A}">
                    <a16:rowId xmlns:a16="http://schemas.microsoft.com/office/drawing/2014/main" val="10004"/>
                  </a:ext>
                </a:extLst>
              </a:tr>
            </a:tbl>
          </a:graphicData>
        </a:graphic>
      </p:graphicFrame>
      <p:sp>
        <p:nvSpPr>
          <p:cNvPr id="28" name="object 28"/>
          <p:cNvSpPr txBox="1"/>
          <p:nvPr/>
        </p:nvSpPr>
        <p:spPr>
          <a:xfrm>
            <a:off x="3268490" y="5253348"/>
            <a:ext cx="4564295" cy="629659"/>
          </a:xfrm>
          <a:prstGeom prst="rect">
            <a:avLst/>
          </a:prstGeom>
        </p:spPr>
        <p:txBody>
          <a:bodyPr vert="horz" wrap="square" lIns="0" tIns="116839" rIns="0" bIns="0" rtlCol="0">
            <a:spAutoFit/>
          </a:bodyPr>
          <a:lstStyle/>
          <a:p>
            <a:pPr marL="209550" indent="-171450">
              <a:spcBef>
                <a:spcPts val="880"/>
              </a:spcBef>
              <a:buFont typeface="Arial MT"/>
              <a:buChar char="•"/>
              <a:tabLst>
                <a:tab pos="209550" algn="l"/>
              </a:tabLst>
            </a:pPr>
            <a:r>
              <a:rPr sz="1600" spc="90" dirty="0">
                <a:latin typeface="Cambria Math"/>
                <a:cs typeface="Cambria Math"/>
              </a:rPr>
              <a:t>𝑓</a:t>
            </a:r>
            <a:r>
              <a:rPr sz="1725" spc="7" baseline="28985" dirty="0">
                <a:latin typeface="Cambria Math"/>
                <a:cs typeface="Cambria Math"/>
              </a:rPr>
              <a:t>∗</a:t>
            </a:r>
            <a:r>
              <a:rPr sz="1725" baseline="28985" dirty="0">
                <a:latin typeface="Cambria Math"/>
                <a:cs typeface="Cambria Math"/>
              </a:rPr>
              <a:t> </a:t>
            </a:r>
            <a:r>
              <a:rPr lang="en-IN" sz="1725" spc="-52" dirty="0">
                <a:latin typeface="Cambria Math"/>
                <a:cs typeface="Cambria Math"/>
              </a:rPr>
              <a:t>(</a:t>
            </a:r>
            <a:r>
              <a:rPr sz="1600" dirty="0">
                <a:latin typeface="Cambria Math"/>
                <a:cs typeface="Cambria Math"/>
              </a:rPr>
              <a:t>𝑥</a:t>
            </a:r>
            <a:r>
              <a:rPr lang="en-IN" sz="1600" dirty="0">
                <a:latin typeface="Cambria Math"/>
                <a:cs typeface="Cambria Math"/>
              </a:rPr>
              <a:t>)</a:t>
            </a:r>
            <a:r>
              <a:rPr sz="1600" dirty="0">
                <a:latin typeface="Cambria Math"/>
                <a:cs typeface="Cambria Math"/>
              </a:rPr>
              <a:t> </a:t>
            </a:r>
            <a:r>
              <a:rPr sz="1600" spc="5" dirty="0">
                <a:latin typeface="Cambria Math"/>
                <a:cs typeface="Cambria Math"/>
              </a:rPr>
              <a:t> </a:t>
            </a:r>
            <a:r>
              <a:rPr sz="1600" dirty="0">
                <a:latin typeface="Cambria Math"/>
                <a:cs typeface="Cambria Math"/>
              </a:rPr>
              <a:t>:</a:t>
            </a:r>
            <a:r>
              <a:rPr sz="1600" spc="-85" dirty="0">
                <a:latin typeface="Cambria Math"/>
                <a:cs typeface="Cambria Math"/>
              </a:rPr>
              <a:t> </a:t>
            </a:r>
            <a:r>
              <a:rPr sz="1600" dirty="0">
                <a:latin typeface="Cambria Math"/>
                <a:cs typeface="Cambria Math"/>
              </a:rPr>
              <a:t>𝑐</a:t>
            </a:r>
            <a:r>
              <a:rPr sz="1600" spc="-5" dirty="0">
                <a:latin typeface="Cambria Math"/>
                <a:cs typeface="Cambria Math"/>
              </a:rPr>
              <a:t>𝑜</a:t>
            </a:r>
            <a:r>
              <a:rPr sz="1600" dirty="0">
                <a:latin typeface="Cambria Math"/>
                <a:cs typeface="Cambria Math"/>
              </a:rPr>
              <a:t>𝑟𝑟</a:t>
            </a:r>
            <a:r>
              <a:rPr sz="1600" spc="5" dirty="0">
                <a:latin typeface="Cambria Math"/>
                <a:cs typeface="Cambria Math"/>
              </a:rPr>
              <a:t>𝑒</a:t>
            </a:r>
            <a:r>
              <a:rPr sz="1600" dirty="0">
                <a:latin typeface="Cambria Math"/>
                <a:cs typeface="Cambria Math"/>
              </a:rPr>
              <a:t>𝑐𝑡</a:t>
            </a:r>
            <a:r>
              <a:rPr sz="1600" spc="40" dirty="0">
                <a:latin typeface="Cambria Math"/>
                <a:cs typeface="Cambria Math"/>
              </a:rPr>
              <a:t> </a:t>
            </a:r>
            <a:r>
              <a:rPr sz="1600" spc="-5" dirty="0">
                <a:latin typeface="Cambria Math"/>
                <a:cs typeface="Cambria Math"/>
              </a:rPr>
              <a:t>𝑎</a:t>
            </a:r>
            <a:r>
              <a:rPr sz="1600" spc="-10" dirty="0">
                <a:latin typeface="Cambria Math"/>
                <a:cs typeface="Cambria Math"/>
              </a:rPr>
              <a:t>𝑛</a:t>
            </a:r>
            <a:r>
              <a:rPr sz="1600" spc="-5" dirty="0">
                <a:latin typeface="Cambria Math"/>
                <a:cs typeface="Cambria Math"/>
              </a:rPr>
              <a:t>𝑠</a:t>
            </a:r>
            <a:r>
              <a:rPr sz="1600" spc="5" dirty="0">
                <a:latin typeface="Cambria Math"/>
                <a:cs typeface="Cambria Math"/>
              </a:rPr>
              <a:t>𝑤𝑒</a:t>
            </a:r>
            <a:r>
              <a:rPr sz="1600" dirty="0">
                <a:latin typeface="Cambria Math"/>
                <a:cs typeface="Cambria Math"/>
              </a:rPr>
              <a:t>𝑟</a:t>
            </a:r>
          </a:p>
          <a:p>
            <a:pPr marL="209550" indent="-171450">
              <a:spcBef>
                <a:spcPts val="15"/>
              </a:spcBef>
              <a:buFont typeface="Arial MT"/>
              <a:buChar char="•"/>
              <a:tabLst>
                <a:tab pos="209550" algn="l"/>
              </a:tabLst>
            </a:pPr>
            <a:r>
              <a:rPr sz="1600" dirty="0">
                <a:latin typeface="Cambria Math"/>
                <a:cs typeface="Cambria Math"/>
              </a:rPr>
              <a:t>𝑓</a:t>
            </a:r>
            <a:r>
              <a:rPr lang="en-IN" sz="1600" spc="345" dirty="0">
                <a:latin typeface="Cambria Math"/>
                <a:cs typeface="Cambria Math"/>
              </a:rPr>
              <a:t>(</a:t>
            </a:r>
            <a:r>
              <a:rPr sz="1600" spc="20" dirty="0">
                <a:latin typeface="Cambria Math"/>
                <a:cs typeface="Cambria Math"/>
              </a:rPr>
              <a:t>𝑥;</a:t>
            </a:r>
            <a:r>
              <a:rPr sz="1600" spc="-90" dirty="0">
                <a:latin typeface="Cambria Math"/>
                <a:cs typeface="Cambria Math"/>
              </a:rPr>
              <a:t> </a:t>
            </a:r>
            <a:r>
              <a:rPr sz="1600" dirty="0">
                <a:latin typeface="Cambria Math"/>
                <a:cs typeface="Cambria Math"/>
              </a:rPr>
              <a:t>𝜃</a:t>
            </a:r>
            <a:r>
              <a:rPr lang="en-IN" sz="1600" dirty="0">
                <a:latin typeface="Cambria Math"/>
                <a:cs typeface="Cambria Math"/>
              </a:rPr>
              <a:t>)</a:t>
            </a:r>
            <a:r>
              <a:rPr sz="1600" dirty="0">
                <a:latin typeface="Cambria Math"/>
                <a:cs typeface="Cambria Math"/>
              </a:rPr>
              <a:t> :</a:t>
            </a:r>
            <a:r>
              <a:rPr sz="1600" spc="-90" dirty="0">
                <a:latin typeface="Cambria Math"/>
                <a:cs typeface="Cambria Math"/>
              </a:rPr>
              <a:t> </a:t>
            </a:r>
            <a:r>
              <a:rPr sz="1600" spc="-5" dirty="0">
                <a:latin typeface="Cambria Math"/>
                <a:cs typeface="Cambria Math"/>
              </a:rPr>
              <a:t>𝑐𝑎𝑙𝑐𝑢𝑙𝑎𝑡𝑒𝑑</a:t>
            </a:r>
            <a:r>
              <a:rPr sz="1600" spc="35" dirty="0">
                <a:latin typeface="Cambria Math"/>
                <a:cs typeface="Cambria Math"/>
              </a:rPr>
              <a:t> </a:t>
            </a:r>
            <a:r>
              <a:rPr sz="1600" spc="-5" dirty="0">
                <a:latin typeface="Cambria Math"/>
                <a:cs typeface="Cambria Math"/>
              </a:rPr>
              <a:t>𝑟𝑒𝑠𝑢𝑙𝑡</a:t>
            </a:r>
            <a:r>
              <a:rPr sz="1600" spc="35" dirty="0">
                <a:latin typeface="Cambria Math"/>
                <a:cs typeface="Cambria Math"/>
              </a:rPr>
              <a:t> </a:t>
            </a:r>
            <a:r>
              <a:rPr sz="1600" dirty="0">
                <a:latin typeface="Cambria Math"/>
                <a:cs typeface="Cambria Math"/>
              </a:rPr>
              <a:t>𝑏𝑦</a:t>
            </a:r>
            <a:r>
              <a:rPr sz="1600" spc="25" dirty="0">
                <a:latin typeface="Cambria Math"/>
                <a:cs typeface="Cambria Math"/>
              </a:rPr>
              <a:t> </a:t>
            </a:r>
            <a:r>
              <a:rPr sz="1600" spc="-5" dirty="0">
                <a:latin typeface="Cambria Math"/>
                <a:cs typeface="Cambria Math"/>
              </a:rPr>
              <a:t>𝑛𝑒𝑢𝑟𝑎𝑙</a:t>
            </a:r>
            <a:r>
              <a:rPr sz="1600" spc="35" dirty="0">
                <a:latin typeface="Cambria Math"/>
                <a:cs typeface="Cambria Math"/>
              </a:rPr>
              <a:t> </a:t>
            </a:r>
            <a:r>
              <a:rPr sz="1600" dirty="0">
                <a:latin typeface="Cambria Math"/>
                <a:cs typeface="Cambria Math"/>
              </a:rPr>
              <a:t>𝑛𝑒𝑡𝑤𝑜𝑟𝑘</a:t>
            </a:r>
          </a:p>
        </p:txBody>
      </p:sp>
    </p:spTree>
    <p:extLst>
      <p:ext uri="{BB962C8B-B14F-4D97-AF65-F5344CB8AC3E}">
        <p14:creationId xmlns:p14="http://schemas.microsoft.com/office/powerpoint/2010/main" val="707575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8175"/>
            <a:ext cx="10515600" cy="5538788"/>
          </a:xfrm>
        </p:spPr>
        <p:txBody>
          <a:bodyPr>
            <a:normAutofit/>
          </a:bodyPr>
          <a:lstStyle/>
          <a:p>
            <a:r>
              <a:rPr lang="en-IN" dirty="0">
                <a:latin typeface="Times New Roman" panose="02020603050405020304" pitchFamily="18" charset="0"/>
                <a:cs typeface="Times New Roman" panose="02020603050405020304" pitchFamily="18" charset="0"/>
              </a:rPr>
              <a:t>Now we must choose the form of our model, </a:t>
            </a:r>
            <a:r>
              <a:rPr lang="en-IN" i="1" dirty="0">
                <a:latin typeface="Times New Roman" panose="02020603050405020304" pitchFamily="18" charset="0"/>
                <a:cs typeface="Times New Roman" panose="02020603050405020304" pitchFamily="18" charset="0"/>
              </a:rPr>
              <a:t>f </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a:t>
            </a:r>
            <a:r>
              <a:rPr lang="el-GR" dirty="0">
                <a:latin typeface="Times New Roman" panose="02020603050405020304" pitchFamily="18" charset="0"/>
                <a:cs typeface="Times New Roman" panose="02020603050405020304" pitchFamily="18" charset="0"/>
              </a:rPr>
              <a:t>θ</a:t>
            </a:r>
            <a:r>
              <a:rPr lang="en-IN" dirty="0">
                <a:latin typeface="Times New Roman" panose="02020603050405020304" pitchFamily="18" charset="0"/>
                <a:cs typeface="Times New Roman" panose="02020603050405020304" pitchFamily="18" charset="0"/>
              </a:rPr>
              <a:t>). Suppose that we choose a linear model, with </a:t>
            </a:r>
            <a:r>
              <a:rPr lang="el-GR" dirty="0">
                <a:latin typeface="Times New Roman" panose="02020603050405020304" pitchFamily="18" charset="0"/>
                <a:cs typeface="Times New Roman" panose="02020603050405020304" pitchFamily="18" charset="0"/>
              </a:rPr>
              <a:t>θ</a:t>
            </a:r>
            <a:r>
              <a:rPr lang="en-IN" dirty="0">
                <a:latin typeface="Times New Roman" panose="02020603050405020304" pitchFamily="18" charset="0"/>
                <a:cs typeface="Times New Roman" panose="02020603050405020304" pitchFamily="18" charset="0"/>
              </a:rPr>
              <a:t> consisting of </a:t>
            </a:r>
            <a:r>
              <a:rPr lang="en-IN" i="1" dirty="0">
                <a:latin typeface="Times New Roman" panose="02020603050405020304" pitchFamily="18" charset="0"/>
                <a:cs typeface="Times New Roman" panose="02020603050405020304" pitchFamily="18" charset="0"/>
              </a:rPr>
              <a:t>w </a:t>
            </a:r>
            <a:r>
              <a:rPr lang="en-IN" dirty="0">
                <a:latin typeface="Times New Roman" panose="02020603050405020304" pitchFamily="18" charset="0"/>
                <a:cs typeface="Times New Roman" panose="02020603050405020304" pitchFamily="18" charset="0"/>
              </a:rPr>
              <a:t>and </a:t>
            </a:r>
            <a:r>
              <a:rPr lang="en-IN" i="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Our model is defined to be </a:t>
            </a:r>
            <a:r>
              <a:rPr lang="pl-PL" i="1" dirty="0">
                <a:latin typeface="Times New Roman" panose="02020603050405020304" pitchFamily="18" charset="0"/>
                <a:cs typeface="Times New Roman" panose="02020603050405020304" pitchFamily="18" charset="0"/>
              </a:rPr>
              <a:t>f</a:t>
            </a:r>
            <a:r>
              <a:rPr lang="pl-PL" dirty="0">
                <a:latin typeface="Times New Roman" panose="02020603050405020304" pitchFamily="18" charset="0"/>
                <a:cs typeface="Times New Roman" panose="02020603050405020304" pitchFamily="18" charset="0"/>
              </a:rPr>
              <a:t>(</a:t>
            </a:r>
            <a:r>
              <a:rPr lang="pl-PL" i="1" dirty="0">
                <a:latin typeface="Times New Roman" panose="02020603050405020304" pitchFamily="18" charset="0"/>
                <a:cs typeface="Times New Roman" panose="02020603050405020304" pitchFamily="18" charset="0"/>
              </a:rPr>
              <a:t>x</a:t>
            </a:r>
            <a:r>
              <a:rPr lang="pl-PL" dirty="0">
                <a:latin typeface="Times New Roman" panose="02020603050405020304" pitchFamily="18" charset="0"/>
                <a:cs typeface="Times New Roman" panose="02020603050405020304" pitchFamily="18" charset="0"/>
              </a:rPr>
              <a:t>;</a:t>
            </a:r>
            <a:r>
              <a:rPr lang="pl-PL" i="1" dirty="0">
                <a:latin typeface="Times New Roman" panose="02020603050405020304" pitchFamily="18" charset="0"/>
                <a:cs typeface="Times New Roman" panose="02020603050405020304" pitchFamily="18" charset="0"/>
              </a:rPr>
              <a:t>w, b</a:t>
            </a:r>
            <a:r>
              <a:rPr lang="pl-PL" dirty="0">
                <a:latin typeface="Times New Roman" panose="02020603050405020304" pitchFamily="18" charset="0"/>
                <a:cs typeface="Times New Roman" panose="02020603050405020304" pitchFamily="18" charset="0"/>
              </a:rPr>
              <a:t>) = </a:t>
            </a:r>
            <a:r>
              <a:rPr lang="pl-PL" i="1" dirty="0">
                <a:latin typeface="Times New Roman" panose="02020603050405020304" pitchFamily="18" charset="0"/>
                <a:cs typeface="Times New Roman" panose="02020603050405020304" pitchFamily="18" charset="0"/>
              </a:rPr>
              <a:t>x</a:t>
            </a:r>
            <a:r>
              <a:rPr lang="en-IN" i="1" dirty="0">
                <a:latin typeface="Times New Roman" panose="02020603050405020304" pitchFamily="18" charset="0"/>
                <a:cs typeface="Times New Roman" panose="02020603050405020304" pitchFamily="18" charset="0"/>
              </a:rPr>
              <a:t> </a:t>
            </a:r>
            <a:r>
              <a:rPr lang="en-IN" i="1" baseline="30000" dirty="0">
                <a:latin typeface="Times New Roman" panose="02020603050405020304" pitchFamily="18" charset="0"/>
                <a:cs typeface="Times New Roman" panose="02020603050405020304" pitchFamily="18" charset="0"/>
              </a:rPr>
              <a:t>T </a:t>
            </a:r>
            <a:r>
              <a:rPr lang="pl-PL" i="1" dirty="0">
                <a:latin typeface="Times New Roman" panose="02020603050405020304" pitchFamily="18" charset="0"/>
                <a:cs typeface="Times New Roman" panose="02020603050405020304" pitchFamily="18" charset="0"/>
              </a:rPr>
              <a:t>w </a:t>
            </a:r>
            <a:r>
              <a:rPr lang="pl-PL" dirty="0">
                <a:latin typeface="Times New Roman" panose="02020603050405020304" pitchFamily="18" charset="0"/>
                <a:cs typeface="Times New Roman" panose="02020603050405020304" pitchFamily="18" charset="0"/>
              </a:rPr>
              <a:t>+ </a:t>
            </a:r>
            <a:r>
              <a:rPr lang="pl-PL" i="1" dirty="0">
                <a:latin typeface="Times New Roman" panose="02020603050405020304" pitchFamily="18" charset="0"/>
                <a:cs typeface="Times New Roman" panose="02020603050405020304" pitchFamily="18" charset="0"/>
              </a:rPr>
              <a:t>b.</a:t>
            </a:r>
            <a:endParaRPr lang="en-IN" i="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We can minimize </a:t>
            </a:r>
            <a:r>
              <a:rPr lang="en-IN" i="1" dirty="0">
                <a:latin typeface="Times New Roman" panose="02020603050405020304" pitchFamily="18" charset="0"/>
                <a:cs typeface="Times New Roman" panose="02020603050405020304" pitchFamily="18" charset="0"/>
              </a:rPr>
              <a:t>J</a:t>
            </a:r>
            <a:r>
              <a:rPr lang="en-IN" dirty="0">
                <a:latin typeface="Times New Roman" panose="02020603050405020304" pitchFamily="18" charset="0"/>
                <a:cs typeface="Times New Roman" panose="02020603050405020304" pitchFamily="18" charset="0"/>
              </a:rPr>
              <a:t>(</a:t>
            </a:r>
            <a:r>
              <a:rPr lang="el-GR" dirty="0">
                <a:latin typeface="Times New Roman" panose="02020603050405020304" pitchFamily="18" charset="0"/>
                <a:cs typeface="Times New Roman" panose="02020603050405020304" pitchFamily="18" charset="0"/>
              </a:rPr>
              <a:t>θ</a:t>
            </a:r>
            <a:r>
              <a:rPr lang="en-IN" dirty="0">
                <a:latin typeface="Times New Roman" panose="02020603050405020304" pitchFamily="18" charset="0"/>
                <a:cs typeface="Times New Roman" panose="02020603050405020304" pitchFamily="18" charset="0"/>
              </a:rPr>
              <a:t>) in closed form with respect to </a:t>
            </a:r>
            <a:r>
              <a:rPr lang="en-IN" i="1" dirty="0">
                <a:latin typeface="Times New Roman" panose="02020603050405020304" pitchFamily="18" charset="0"/>
                <a:cs typeface="Times New Roman" panose="02020603050405020304" pitchFamily="18" charset="0"/>
              </a:rPr>
              <a:t>w </a:t>
            </a:r>
            <a:r>
              <a:rPr lang="en-IN" dirty="0">
                <a:latin typeface="Times New Roman" panose="02020603050405020304" pitchFamily="18" charset="0"/>
                <a:cs typeface="Times New Roman" panose="02020603050405020304" pitchFamily="18" charset="0"/>
              </a:rPr>
              <a:t>and </a:t>
            </a:r>
            <a:r>
              <a:rPr lang="en-IN" i="1"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using the normal equations.</a:t>
            </a:r>
          </a:p>
          <a:p>
            <a:r>
              <a:rPr lang="en-IN" dirty="0">
                <a:latin typeface="Times New Roman" panose="02020603050405020304" pitchFamily="18" charset="0"/>
                <a:cs typeface="Times New Roman" panose="02020603050405020304" pitchFamily="18" charset="0"/>
              </a:rPr>
              <a:t>After solving the normal equations, we obtain </a:t>
            </a:r>
            <a:r>
              <a:rPr lang="en-IN" i="1" dirty="0">
                <a:latin typeface="Times New Roman" panose="02020603050405020304" pitchFamily="18" charset="0"/>
                <a:cs typeface="Times New Roman" panose="02020603050405020304" pitchFamily="18" charset="0"/>
              </a:rPr>
              <a:t>w </a:t>
            </a:r>
            <a:r>
              <a:rPr lang="en-IN" dirty="0">
                <a:latin typeface="Times New Roman" panose="02020603050405020304" pitchFamily="18" charset="0"/>
                <a:cs typeface="Times New Roman" panose="02020603050405020304" pitchFamily="18" charset="0"/>
              </a:rPr>
              <a:t>= 0 and </a:t>
            </a:r>
            <a:r>
              <a:rPr lang="en-IN" i="1"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 ½.</a:t>
            </a:r>
          </a:p>
          <a:p>
            <a:r>
              <a:rPr lang="en-IN" dirty="0">
                <a:latin typeface="Times New Roman" panose="02020603050405020304" pitchFamily="18" charset="0"/>
                <a:cs typeface="Times New Roman" panose="02020603050405020304" pitchFamily="18" charset="0"/>
              </a:rPr>
              <a:t>The linear model simply outputs 0</a:t>
            </a:r>
            <a:r>
              <a:rPr lang="en-IN" i="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5 everywhere.</a:t>
            </a:r>
          </a:p>
          <a:p>
            <a:r>
              <a:rPr lang="en-IN" dirty="0">
                <a:latin typeface="Times New Roman" panose="02020603050405020304" pitchFamily="18" charset="0"/>
                <a:cs typeface="Times New Roman" panose="02020603050405020304" pitchFamily="18" charset="0"/>
              </a:rPr>
              <a:t> A linear model is not able to represent the XOR function.</a:t>
            </a:r>
          </a:p>
          <a:p>
            <a:r>
              <a:rPr lang="en-IN" dirty="0">
                <a:latin typeface="Times New Roman" panose="02020603050405020304" pitchFamily="18" charset="0"/>
                <a:cs typeface="Times New Roman" panose="02020603050405020304" pitchFamily="18" charset="0"/>
              </a:rPr>
              <a:t>One way to solve</a:t>
            </a:r>
          </a:p>
          <a:p>
            <a:r>
              <a:rPr lang="en-IN" dirty="0">
                <a:latin typeface="Times New Roman" panose="02020603050405020304" pitchFamily="18" charset="0"/>
                <a:cs typeface="Times New Roman" panose="02020603050405020304" pitchFamily="18" charset="0"/>
              </a:rPr>
              <a:t>this problem is to use a model that learns a different feature space in which a linear model is able to represent the solution.</a:t>
            </a:r>
          </a:p>
        </p:txBody>
      </p:sp>
    </p:spTree>
    <p:extLst>
      <p:ext uri="{BB962C8B-B14F-4D97-AF65-F5344CB8AC3E}">
        <p14:creationId xmlns:p14="http://schemas.microsoft.com/office/powerpoint/2010/main" val="156895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762000"/>
            <a:ext cx="10515600" cy="5414963"/>
          </a:xfrm>
        </p:spPr>
        <p:txBody>
          <a:bodyPr/>
          <a:lstStyle/>
          <a:p>
            <a:r>
              <a:rPr lang="en-IN" dirty="0">
                <a:latin typeface="Times New Roman" panose="02020603050405020304" pitchFamily="18" charset="0"/>
                <a:cs typeface="Times New Roman" panose="02020603050405020304" pitchFamily="18" charset="0"/>
              </a:rPr>
              <a:t>A linear model applied directly to the original input cannot implement the XOR function. </a:t>
            </a:r>
          </a:p>
          <a:p>
            <a:r>
              <a:rPr lang="en-IN" dirty="0">
                <a:latin typeface="Times New Roman" panose="02020603050405020304" pitchFamily="18" charset="0"/>
                <a:cs typeface="Times New Roman" panose="02020603050405020304" pitchFamily="18" charset="0"/>
              </a:rPr>
              <a:t>When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1 = 0, the model’s output must increase as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2 increases. </a:t>
            </a:r>
          </a:p>
          <a:p>
            <a:r>
              <a:rPr lang="en-IN" dirty="0">
                <a:latin typeface="Times New Roman" panose="02020603050405020304" pitchFamily="18" charset="0"/>
                <a:cs typeface="Times New Roman" panose="02020603050405020304" pitchFamily="18" charset="0"/>
              </a:rPr>
              <a:t>When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1 = 1, the model’s output must decrease as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2 increases. </a:t>
            </a:r>
          </a:p>
          <a:p>
            <a:r>
              <a:rPr lang="en-IN" dirty="0">
                <a:latin typeface="Times New Roman" panose="02020603050405020304" pitchFamily="18" charset="0"/>
                <a:cs typeface="Times New Roman" panose="02020603050405020304" pitchFamily="18" charset="0"/>
              </a:rPr>
              <a:t>A linear model must apply a fixed coefficient </a:t>
            </a:r>
            <a:r>
              <a:rPr lang="en-IN" i="1" dirty="0">
                <a:latin typeface="Times New Roman" panose="02020603050405020304" pitchFamily="18" charset="0"/>
                <a:cs typeface="Times New Roman" panose="02020603050405020304" pitchFamily="18" charset="0"/>
              </a:rPr>
              <a:t>w</a:t>
            </a:r>
            <a:r>
              <a:rPr lang="en-IN" dirty="0">
                <a:latin typeface="Times New Roman" panose="02020603050405020304" pitchFamily="18" charset="0"/>
                <a:cs typeface="Times New Roman" panose="02020603050405020304" pitchFamily="18" charset="0"/>
              </a:rPr>
              <a:t>2 to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2. </a:t>
            </a:r>
          </a:p>
          <a:p>
            <a:r>
              <a:rPr lang="en-IN" dirty="0">
                <a:latin typeface="Times New Roman" panose="02020603050405020304" pitchFamily="18" charset="0"/>
                <a:cs typeface="Times New Roman" panose="02020603050405020304" pitchFamily="18" charset="0"/>
              </a:rPr>
              <a:t>The linear model therefore cannot use the value of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1 to change the coefficient on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2 and cannot solve this problem.</a:t>
            </a:r>
          </a:p>
        </p:txBody>
      </p:sp>
    </p:spTree>
    <p:extLst>
      <p:ext uri="{BB962C8B-B14F-4D97-AF65-F5344CB8AC3E}">
        <p14:creationId xmlns:p14="http://schemas.microsoft.com/office/powerpoint/2010/main" val="4117780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iro.medium.com/v2/resize:fit:875/1*u842RTHur1mPW95rF6o25Q.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6720" y="1253331"/>
            <a:ext cx="771855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00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4850"/>
            <a:ext cx="10515600" cy="5472113"/>
          </a:xfrm>
        </p:spPr>
        <p:txBody>
          <a:bodyPr>
            <a:normAutofit lnSpcReduction="10000"/>
          </a:bodyPr>
          <a:lstStyle/>
          <a:p>
            <a:pPr marL="0" indent="0">
              <a:buNone/>
            </a:pPr>
            <a:r>
              <a:rPr lang="en-IN" dirty="0">
                <a:latin typeface="Times New Roman" panose="02020603050405020304" pitchFamily="18" charset="0"/>
                <a:cs typeface="Times New Roman" panose="02020603050405020304" pitchFamily="18" charset="0"/>
              </a:rPr>
              <a:t>we will introduce a very simple feedforward network with one hidden layer containing two hidden units.</a:t>
            </a:r>
          </a:p>
          <a:p>
            <a:pPr marL="0" indent="0">
              <a:buNone/>
            </a:pPr>
            <a:r>
              <a:rPr lang="en-IN" dirty="0">
                <a:latin typeface="Times New Roman" panose="02020603050405020304" pitchFamily="18" charset="0"/>
                <a:cs typeface="Times New Roman" panose="02020603050405020304" pitchFamily="18" charset="0"/>
              </a:rPr>
              <a:t>This feedforward network has a vector of hidden units </a:t>
            </a:r>
            <a:r>
              <a:rPr lang="en-IN" i="1" dirty="0">
                <a:latin typeface="Times New Roman" panose="02020603050405020304" pitchFamily="18" charset="0"/>
                <a:cs typeface="Times New Roman" panose="02020603050405020304" pitchFamily="18" charset="0"/>
              </a:rPr>
              <a:t>h </a:t>
            </a:r>
            <a:r>
              <a:rPr lang="en-IN" dirty="0">
                <a:latin typeface="Times New Roman" panose="02020603050405020304" pitchFamily="18" charset="0"/>
                <a:cs typeface="Times New Roman" panose="02020603050405020304" pitchFamily="18" charset="0"/>
              </a:rPr>
              <a:t>that are</a:t>
            </a:r>
          </a:p>
          <a:p>
            <a:r>
              <a:rPr lang="en-IN" dirty="0">
                <a:latin typeface="Times New Roman" panose="02020603050405020304" pitchFamily="18" charset="0"/>
                <a:cs typeface="Times New Roman" panose="02020603050405020304" pitchFamily="18" charset="0"/>
              </a:rPr>
              <a:t>computed by a function </a:t>
            </a:r>
            <a:r>
              <a:rPr lang="en-IN" i="1" dirty="0">
                <a:latin typeface="Times New Roman" panose="02020603050405020304" pitchFamily="18" charset="0"/>
                <a:cs typeface="Times New Roman" panose="02020603050405020304" pitchFamily="18" charset="0"/>
              </a:rPr>
              <a:t>f </a:t>
            </a:r>
            <a:r>
              <a:rPr lang="en-IN" baseline="30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a:t>
            </a:r>
            <a:r>
              <a:rPr lang="en-IN" i="1" dirty="0" err="1">
                <a:latin typeface="Times New Roman" panose="02020603050405020304" pitchFamily="18" charset="0"/>
                <a:cs typeface="Times New Roman" panose="02020603050405020304" pitchFamily="18" charset="0"/>
              </a:rPr>
              <a:t>x</a:t>
            </a:r>
            <a:r>
              <a:rPr lang="en-IN" dirty="0" err="1">
                <a:latin typeface="Times New Roman" panose="02020603050405020304" pitchFamily="18" charset="0"/>
                <a:cs typeface="Times New Roman" panose="02020603050405020304" pitchFamily="18" charset="0"/>
              </a:rPr>
              <a:t>;</a:t>
            </a:r>
            <a:r>
              <a:rPr lang="en-IN" i="1" dirty="0" err="1">
                <a:latin typeface="Times New Roman" panose="02020603050405020304" pitchFamily="18" charset="0"/>
                <a:cs typeface="Times New Roman" panose="02020603050405020304" pitchFamily="18" charset="0"/>
              </a:rPr>
              <a:t>W</a:t>
            </a:r>
            <a:r>
              <a:rPr lang="en-IN" i="1" dirty="0">
                <a:latin typeface="Times New Roman" panose="02020603050405020304" pitchFamily="18" charset="0"/>
                <a:cs typeface="Times New Roman" panose="02020603050405020304" pitchFamily="18" charset="0"/>
              </a:rPr>
              <a:t>, c</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The values of these hidden units are then used as the input for a second layer. </a:t>
            </a:r>
          </a:p>
          <a:p>
            <a:r>
              <a:rPr lang="en-IN" dirty="0">
                <a:latin typeface="Times New Roman" panose="02020603050405020304" pitchFamily="18" charset="0"/>
                <a:cs typeface="Times New Roman" panose="02020603050405020304" pitchFamily="18" charset="0"/>
              </a:rPr>
              <a:t>The second layer is the output layer of the network. </a:t>
            </a:r>
          </a:p>
          <a:p>
            <a:r>
              <a:rPr lang="en-IN" dirty="0">
                <a:latin typeface="Times New Roman" panose="02020603050405020304" pitchFamily="18" charset="0"/>
                <a:cs typeface="Times New Roman" panose="02020603050405020304" pitchFamily="18" charset="0"/>
              </a:rPr>
              <a:t>The output layer is still just a linear regression model, but now it is applied to </a:t>
            </a:r>
            <a:r>
              <a:rPr lang="en-IN" i="1" dirty="0">
                <a:latin typeface="Times New Roman" panose="02020603050405020304" pitchFamily="18" charset="0"/>
                <a:cs typeface="Times New Roman" panose="02020603050405020304" pitchFamily="18" charset="0"/>
              </a:rPr>
              <a:t>h </a:t>
            </a:r>
            <a:r>
              <a:rPr lang="en-IN" dirty="0">
                <a:latin typeface="Times New Roman" panose="02020603050405020304" pitchFamily="18" charset="0"/>
                <a:cs typeface="Times New Roman" panose="02020603050405020304" pitchFamily="18" charset="0"/>
              </a:rPr>
              <a:t>rather than to </a:t>
            </a:r>
            <a:r>
              <a:rPr lang="en-IN" i="1" dirty="0">
                <a:latin typeface="Times New Roman" panose="02020603050405020304" pitchFamily="18" charset="0"/>
                <a:cs typeface="Times New Roman" panose="02020603050405020304" pitchFamily="18" charset="0"/>
              </a:rPr>
              <a:t>x </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The network now contains two functions chained together: </a:t>
            </a:r>
            <a:r>
              <a:rPr lang="en-IN" i="1" dirty="0">
                <a:latin typeface="Times New Roman" panose="02020603050405020304" pitchFamily="18" charset="0"/>
                <a:cs typeface="Times New Roman" panose="02020603050405020304" pitchFamily="18" charset="0"/>
              </a:rPr>
              <a:t>h </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f</a:t>
            </a:r>
            <a:r>
              <a:rPr lang="en-IN" dirty="0">
                <a:latin typeface="Times New Roman" panose="02020603050405020304" pitchFamily="18" charset="0"/>
                <a:cs typeface="Times New Roman" panose="02020603050405020304" pitchFamily="18" charset="0"/>
              </a:rPr>
              <a:t>(</a:t>
            </a:r>
            <a:r>
              <a:rPr lang="en-IN" baseline="30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a:t>
            </a:r>
            <a:r>
              <a:rPr lang="en-IN" i="1" dirty="0" err="1">
                <a:latin typeface="Times New Roman" panose="02020603050405020304" pitchFamily="18" charset="0"/>
                <a:cs typeface="Times New Roman" panose="02020603050405020304" pitchFamily="18" charset="0"/>
              </a:rPr>
              <a:t>x</a:t>
            </a:r>
            <a:r>
              <a:rPr lang="en-IN" dirty="0" err="1">
                <a:latin typeface="Times New Roman" panose="02020603050405020304" pitchFamily="18" charset="0"/>
                <a:cs typeface="Times New Roman" panose="02020603050405020304" pitchFamily="18" charset="0"/>
              </a:rPr>
              <a:t>;</a:t>
            </a:r>
            <a:r>
              <a:rPr lang="en-IN" i="1" dirty="0" err="1">
                <a:latin typeface="Times New Roman" panose="02020603050405020304" pitchFamily="18" charset="0"/>
                <a:cs typeface="Times New Roman" panose="02020603050405020304" pitchFamily="18" charset="0"/>
              </a:rPr>
              <a:t>W</a:t>
            </a:r>
            <a:r>
              <a:rPr lang="en-IN" i="1" dirty="0">
                <a:latin typeface="Times New Roman" panose="02020603050405020304" pitchFamily="18" charset="0"/>
                <a:cs typeface="Times New Roman" panose="02020603050405020304" pitchFamily="18" charset="0"/>
              </a:rPr>
              <a:t>, c</a:t>
            </a:r>
            <a:r>
              <a:rPr lang="en-IN" dirty="0">
                <a:latin typeface="Times New Roman" panose="02020603050405020304" pitchFamily="18" charset="0"/>
                <a:cs typeface="Times New Roman" panose="02020603050405020304" pitchFamily="18" charset="0"/>
              </a:rPr>
              <a:t>) and </a:t>
            </a:r>
            <a:r>
              <a:rPr lang="en-IN" i="1" dirty="0">
                <a:latin typeface="Times New Roman" panose="02020603050405020304" pitchFamily="18" charset="0"/>
                <a:cs typeface="Times New Roman" panose="02020603050405020304" pitchFamily="18" charset="0"/>
              </a:rPr>
              <a:t>y </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f</a:t>
            </a:r>
            <a:r>
              <a:rPr lang="en-IN" baseline="30000" dirty="0">
                <a:latin typeface="Times New Roman" panose="02020603050405020304" pitchFamily="18" charset="0"/>
                <a:cs typeface="Times New Roman" panose="02020603050405020304" pitchFamily="18" charset="0"/>
              </a:rPr>
              <a:t>(2)(</a:t>
            </a:r>
            <a:r>
              <a:rPr lang="en-IN" i="1" dirty="0" err="1">
                <a:latin typeface="Times New Roman" panose="02020603050405020304" pitchFamily="18" charset="0"/>
                <a:cs typeface="Times New Roman" panose="02020603050405020304" pitchFamily="18" charset="0"/>
              </a:rPr>
              <a:t>h</a:t>
            </a:r>
            <a:r>
              <a:rPr lang="en-IN" dirty="0" err="1">
                <a:latin typeface="Times New Roman" panose="02020603050405020304" pitchFamily="18" charset="0"/>
                <a:cs typeface="Times New Roman" panose="02020603050405020304" pitchFamily="18" charset="0"/>
              </a:rPr>
              <a:t>;</a:t>
            </a:r>
            <a:r>
              <a:rPr lang="en-IN" i="1" dirty="0" err="1">
                <a:latin typeface="Times New Roman" panose="02020603050405020304" pitchFamily="18" charset="0"/>
                <a:cs typeface="Times New Roman" panose="02020603050405020304" pitchFamily="18" charset="0"/>
              </a:rPr>
              <a:t>w</a:t>
            </a:r>
            <a:r>
              <a:rPr lang="en-IN" i="1" dirty="0">
                <a:latin typeface="Times New Roman" panose="02020603050405020304" pitchFamily="18" charset="0"/>
                <a:cs typeface="Times New Roman" panose="02020603050405020304" pitchFamily="18" charset="0"/>
              </a:rPr>
              <a:t>, b</a:t>
            </a:r>
            <a:r>
              <a:rPr lang="en-IN" dirty="0">
                <a:latin typeface="Times New Roman" panose="02020603050405020304" pitchFamily="18" charset="0"/>
                <a:cs typeface="Times New Roman" panose="02020603050405020304" pitchFamily="18" charset="0"/>
              </a:rPr>
              <a:t>), with the complete model being </a:t>
            </a:r>
          </a:p>
          <a:p>
            <a:pPr marL="0" indent="0">
              <a:buNone/>
            </a:pPr>
            <a:r>
              <a:rPr lang="en-IN" i="1" dirty="0">
                <a:latin typeface="Times New Roman" panose="02020603050405020304" pitchFamily="18" charset="0"/>
                <a:cs typeface="Times New Roman" panose="02020603050405020304" pitchFamily="18" charset="0"/>
              </a:rPr>
              <a:t>        f</a:t>
            </a:r>
            <a:r>
              <a:rPr lang="en-IN" dirty="0">
                <a:latin typeface="Times New Roman" panose="02020603050405020304" pitchFamily="18" charset="0"/>
                <a:cs typeface="Times New Roman" panose="02020603050405020304" pitchFamily="18" charset="0"/>
              </a:rPr>
              <a:t>(</a:t>
            </a:r>
            <a:r>
              <a:rPr lang="en-IN" i="1" dirty="0" err="1">
                <a:latin typeface="Times New Roman" panose="02020603050405020304" pitchFamily="18" charset="0"/>
                <a:cs typeface="Times New Roman" panose="02020603050405020304" pitchFamily="18" charset="0"/>
              </a:rPr>
              <a:t>x</a:t>
            </a:r>
            <a:r>
              <a:rPr lang="en-IN" dirty="0" err="1">
                <a:latin typeface="Times New Roman" panose="02020603050405020304" pitchFamily="18" charset="0"/>
                <a:cs typeface="Times New Roman" panose="02020603050405020304" pitchFamily="18" charset="0"/>
              </a:rPr>
              <a:t>;</a:t>
            </a:r>
            <a:r>
              <a:rPr lang="en-IN" i="1" dirty="0" err="1">
                <a:latin typeface="Times New Roman" panose="02020603050405020304" pitchFamily="18" charset="0"/>
                <a:cs typeface="Times New Roman" panose="02020603050405020304" pitchFamily="18" charset="0"/>
              </a:rPr>
              <a:t>W</a:t>
            </a:r>
            <a:r>
              <a:rPr lang="en-IN" i="1" dirty="0">
                <a:latin typeface="Times New Roman" panose="02020603050405020304" pitchFamily="18" charset="0"/>
                <a:cs typeface="Times New Roman" panose="02020603050405020304" pitchFamily="18" charset="0"/>
              </a:rPr>
              <a:t>, </a:t>
            </a:r>
            <a:r>
              <a:rPr lang="en-IN" i="1" dirty="0" err="1">
                <a:latin typeface="Times New Roman" panose="02020603050405020304" pitchFamily="18" charset="0"/>
                <a:cs typeface="Times New Roman" panose="02020603050405020304" pitchFamily="18" charset="0"/>
              </a:rPr>
              <a:t>c,w</a:t>
            </a:r>
            <a:r>
              <a:rPr lang="en-IN" i="1" dirty="0">
                <a:latin typeface="Times New Roman" panose="02020603050405020304" pitchFamily="18" charset="0"/>
                <a:cs typeface="Times New Roman" panose="02020603050405020304" pitchFamily="18" charset="0"/>
              </a:rPr>
              <a:t>, b</a:t>
            </a:r>
            <a:r>
              <a:rPr lang="en-IN" dirty="0">
                <a:latin typeface="Times New Roman" panose="02020603050405020304" pitchFamily="18" charset="0"/>
                <a:cs typeface="Times New Roman" panose="02020603050405020304" pitchFamily="18" charset="0"/>
              </a:rPr>
              <a:t>) = </a:t>
            </a:r>
            <a:r>
              <a:rPr lang="en-IN" i="1" dirty="0">
                <a:latin typeface="Times New Roman" panose="02020603050405020304" pitchFamily="18" charset="0"/>
                <a:cs typeface="Times New Roman" panose="02020603050405020304" pitchFamily="18" charset="0"/>
              </a:rPr>
              <a:t>f</a:t>
            </a:r>
            <a:r>
              <a:rPr lang="en-IN" baseline="30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f </a:t>
            </a:r>
            <a:r>
              <a:rPr lang="en-IN" baseline="30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a:t>
            </a:r>
            <a:r>
              <a:rPr lang="en-IN" i="1"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834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95442" y="732704"/>
            <a:ext cx="4110990" cy="513080"/>
          </a:xfrm>
          <a:prstGeom prst="rect">
            <a:avLst/>
          </a:prstGeom>
        </p:spPr>
        <p:txBody>
          <a:bodyPr vert="horz" wrap="square" lIns="0" tIns="12700" rIns="0" bIns="0" rtlCol="0" anchor="ctr">
            <a:spAutoFit/>
          </a:bodyPr>
          <a:lstStyle/>
          <a:p>
            <a:pPr marL="12700">
              <a:lnSpc>
                <a:spcPct val="100000"/>
              </a:lnSpc>
              <a:spcBef>
                <a:spcPts val="100"/>
              </a:spcBef>
            </a:pPr>
            <a:r>
              <a:rPr sz="3200" spc="-5" dirty="0">
                <a:solidFill>
                  <a:srgbClr val="004990"/>
                </a:solidFill>
                <a:latin typeface="Times New Roman"/>
                <a:cs typeface="Times New Roman"/>
              </a:rPr>
              <a:t>Example:</a:t>
            </a:r>
            <a:r>
              <a:rPr sz="3200" spc="-30" dirty="0">
                <a:solidFill>
                  <a:srgbClr val="004990"/>
                </a:solidFill>
                <a:latin typeface="Times New Roman"/>
                <a:cs typeface="Times New Roman"/>
              </a:rPr>
              <a:t> </a:t>
            </a:r>
            <a:r>
              <a:rPr sz="3200" spc="-5" dirty="0">
                <a:solidFill>
                  <a:srgbClr val="004990"/>
                </a:solidFill>
                <a:latin typeface="Times New Roman"/>
                <a:cs typeface="Times New Roman"/>
              </a:rPr>
              <a:t>Learning</a:t>
            </a:r>
            <a:r>
              <a:rPr sz="3200" spc="-25" dirty="0">
                <a:solidFill>
                  <a:srgbClr val="004990"/>
                </a:solidFill>
                <a:latin typeface="Times New Roman"/>
                <a:cs typeface="Times New Roman"/>
              </a:rPr>
              <a:t> </a:t>
            </a:r>
            <a:r>
              <a:rPr sz="3200" dirty="0">
                <a:solidFill>
                  <a:srgbClr val="004990"/>
                </a:solidFill>
                <a:latin typeface="Times New Roman"/>
                <a:cs typeface="Times New Roman"/>
              </a:rPr>
              <a:t>XOR</a:t>
            </a:r>
            <a:endParaRPr sz="3200" dirty="0">
              <a:latin typeface="Times New Roman"/>
              <a:cs typeface="Times New Roman"/>
            </a:endParaRPr>
          </a:p>
        </p:txBody>
      </p:sp>
      <p:grpSp>
        <p:nvGrpSpPr>
          <p:cNvPr id="4" name="object 4"/>
          <p:cNvGrpSpPr/>
          <p:nvPr/>
        </p:nvGrpSpPr>
        <p:grpSpPr>
          <a:xfrm>
            <a:off x="4079350" y="2350961"/>
            <a:ext cx="3877310" cy="2006600"/>
            <a:chOff x="2555350" y="1788986"/>
            <a:chExt cx="3877310" cy="2006600"/>
          </a:xfrm>
        </p:grpSpPr>
        <p:sp>
          <p:nvSpPr>
            <p:cNvPr id="5" name="object 5"/>
            <p:cNvSpPr/>
            <p:nvPr/>
          </p:nvSpPr>
          <p:spPr>
            <a:xfrm>
              <a:off x="2568050" y="1801686"/>
              <a:ext cx="870585" cy="841375"/>
            </a:xfrm>
            <a:custGeom>
              <a:avLst/>
              <a:gdLst/>
              <a:ahLst/>
              <a:cxnLst/>
              <a:rect l="l" t="t" r="r" b="b"/>
              <a:pathLst>
                <a:path w="870585" h="841375">
                  <a:moveTo>
                    <a:pt x="0" y="420624"/>
                  </a:moveTo>
                  <a:lnTo>
                    <a:pt x="2552" y="374792"/>
                  </a:lnTo>
                  <a:lnTo>
                    <a:pt x="10034" y="330390"/>
                  </a:lnTo>
                  <a:lnTo>
                    <a:pt x="22178" y="287674"/>
                  </a:lnTo>
                  <a:lnTo>
                    <a:pt x="38721" y="246901"/>
                  </a:lnTo>
                  <a:lnTo>
                    <a:pt x="59396" y="208327"/>
                  </a:lnTo>
                  <a:lnTo>
                    <a:pt x="83938" y="172209"/>
                  </a:lnTo>
                  <a:lnTo>
                    <a:pt x="112082" y="138803"/>
                  </a:lnTo>
                  <a:lnTo>
                    <a:pt x="143562" y="108366"/>
                  </a:lnTo>
                  <a:lnTo>
                    <a:pt x="178113" y="81156"/>
                  </a:lnTo>
                  <a:lnTo>
                    <a:pt x="215470" y="57427"/>
                  </a:lnTo>
                  <a:lnTo>
                    <a:pt x="255367" y="37437"/>
                  </a:lnTo>
                  <a:lnTo>
                    <a:pt x="297538" y="21443"/>
                  </a:lnTo>
                  <a:lnTo>
                    <a:pt x="341719" y="9701"/>
                  </a:lnTo>
                  <a:lnTo>
                    <a:pt x="387643" y="2468"/>
                  </a:lnTo>
                  <a:lnTo>
                    <a:pt x="435047" y="0"/>
                  </a:lnTo>
                  <a:lnTo>
                    <a:pt x="482450" y="2468"/>
                  </a:lnTo>
                  <a:lnTo>
                    <a:pt x="528374" y="9701"/>
                  </a:lnTo>
                  <a:lnTo>
                    <a:pt x="572555" y="21443"/>
                  </a:lnTo>
                  <a:lnTo>
                    <a:pt x="614726" y="37437"/>
                  </a:lnTo>
                  <a:lnTo>
                    <a:pt x="654623" y="57427"/>
                  </a:lnTo>
                  <a:lnTo>
                    <a:pt x="691980" y="81156"/>
                  </a:lnTo>
                  <a:lnTo>
                    <a:pt x="726531" y="108366"/>
                  </a:lnTo>
                  <a:lnTo>
                    <a:pt x="758011" y="138803"/>
                  </a:lnTo>
                  <a:lnTo>
                    <a:pt x="786155" y="172209"/>
                  </a:lnTo>
                  <a:lnTo>
                    <a:pt x="810697" y="208327"/>
                  </a:lnTo>
                  <a:lnTo>
                    <a:pt x="831372" y="246901"/>
                  </a:lnTo>
                  <a:lnTo>
                    <a:pt x="847915" y="287674"/>
                  </a:lnTo>
                  <a:lnTo>
                    <a:pt x="860059" y="330390"/>
                  </a:lnTo>
                  <a:lnTo>
                    <a:pt x="867541" y="374792"/>
                  </a:lnTo>
                  <a:lnTo>
                    <a:pt x="870094" y="420624"/>
                  </a:lnTo>
                  <a:lnTo>
                    <a:pt x="867541" y="466456"/>
                  </a:lnTo>
                  <a:lnTo>
                    <a:pt x="860059" y="510858"/>
                  </a:lnTo>
                  <a:lnTo>
                    <a:pt x="847915" y="553574"/>
                  </a:lnTo>
                  <a:lnTo>
                    <a:pt x="831372" y="594347"/>
                  </a:lnTo>
                  <a:lnTo>
                    <a:pt x="810697" y="632921"/>
                  </a:lnTo>
                  <a:lnTo>
                    <a:pt x="786155" y="669039"/>
                  </a:lnTo>
                  <a:lnTo>
                    <a:pt x="758011" y="702445"/>
                  </a:lnTo>
                  <a:lnTo>
                    <a:pt x="726531" y="732881"/>
                  </a:lnTo>
                  <a:lnTo>
                    <a:pt x="691980" y="760092"/>
                  </a:lnTo>
                  <a:lnTo>
                    <a:pt x="654623" y="783821"/>
                  </a:lnTo>
                  <a:lnTo>
                    <a:pt x="614726" y="803811"/>
                  </a:lnTo>
                  <a:lnTo>
                    <a:pt x="572555" y="819805"/>
                  </a:lnTo>
                  <a:lnTo>
                    <a:pt x="528374" y="831547"/>
                  </a:lnTo>
                  <a:lnTo>
                    <a:pt x="482450" y="838780"/>
                  </a:lnTo>
                  <a:lnTo>
                    <a:pt x="435047" y="841248"/>
                  </a:lnTo>
                  <a:lnTo>
                    <a:pt x="387643" y="838780"/>
                  </a:lnTo>
                  <a:lnTo>
                    <a:pt x="341719" y="831547"/>
                  </a:lnTo>
                  <a:lnTo>
                    <a:pt x="297538" y="819805"/>
                  </a:lnTo>
                  <a:lnTo>
                    <a:pt x="255367" y="803811"/>
                  </a:lnTo>
                  <a:lnTo>
                    <a:pt x="215470" y="783821"/>
                  </a:lnTo>
                  <a:lnTo>
                    <a:pt x="178113" y="760092"/>
                  </a:lnTo>
                  <a:lnTo>
                    <a:pt x="143562" y="732881"/>
                  </a:lnTo>
                  <a:lnTo>
                    <a:pt x="112082" y="702445"/>
                  </a:lnTo>
                  <a:lnTo>
                    <a:pt x="83938" y="669039"/>
                  </a:lnTo>
                  <a:lnTo>
                    <a:pt x="59396" y="632921"/>
                  </a:lnTo>
                  <a:lnTo>
                    <a:pt x="38721" y="594347"/>
                  </a:lnTo>
                  <a:lnTo>
                    <a:pt x="22178" y="553574"/>
                  </a:lnTo>
                  <a:lnTo>
                    <a:pt x="10034" y="510858"/>
                  </a:lnTo>
                  <a:lnTo>
                    <a:pt x="2552" y="466456"/>
                  </a:lnTo>
                  <a:lnTo>
                    <a:pt x="0" y="420624"/>
                  </a:lnTo>
                  <a:close/>
                </a:path>
                <a:path w="870585" h="841375">
                  <a:moveTo>
                    <a:pt x="0" y="420624"/>
                  </a:moveTo>
                  <a:lnTo>
                    <a:pt x="2552" y="466456"/>
                  </a:lnTo>
                  <a:lnTo>
                    <a:pt x="10034" y="510858"/>
                  </a:lnTo>
                  <a:lnTo>
                    <a:pt x="22178" y="553574"/>
                  </a:lnTo>
                  <a:lnTo>
                    <a:pt x="38721" y="594347"/>
                  </a:lnTo>
                  <a:lnTo>
                    <a:pt x="59396" y="632921"/>
                  </a:lnTo>
                  <a:lnTo>
                    <a:pt x="83938" y="669039"/>
                  </a:lnTo>
                  <a:lnTo>
                    <a:pt x="112082" y="702445"/>
                  </a:lnTo>
                  <a:lnTo>
                    <a:pt x="143562" y="732881"/>
                  </a:lnTo>
                  <a:lnTo>
                    <a:pt x="178113" y="760092"/>
                  </a:lnTo>
                  <a:lnTo>
                    <a:pt x="215470" y="783821"/>
                  </a:lnTo>
                  <a:lnTo>
                    <a:pt x="255367" y="803811"/>
                  </a:lnTo>
                  <a:lnTo>
                    <a:pt x="297538" y="819805"/>
                  </a:lnTo>
                  <a:lnTo>
                    <a:pt x="341719" y="831547"/>
                  </a:lnTo>
                  <a:lnTo>
                    <a:pt x="387643" y="838780"/>
                  </a:lnTo>
                  <a:lnTo>
                    <a:pt x="435047" y="841248"/>
                  </a:lnTo>
                  <a:lnTo>
                    <a:pt x="482450" y="838780"/>
                  </a:lnTo>
                  <a:lnTo>
                    <a:pt x="528374" y="831547"/>
                  </a:lnTo>
                  <a:lnTo>
                    <a:pt x="572555" y="819805"/>
                  </a:lnTo>
                  <a:lnTo>
                    <a:pt x="614726" y="803811"/>
                  </a:lnTo>
                  <a:lnTo>
                    <a:pt x="654623" y="783821"/>
                  </a:lnTo>
                  <a:lnTo>
                    <a:pt x="691980" y="760092"/>
                  </a:lnTo>
                  <a:lnTo>
                    <a:pt x="726531" y="732881"/>
                  </a:lnTo>
                  <a:lnTo>
                    <a:pt x="758011" y="702445"/>
                  </a:lnTo>
                  <a:lnTo>
                    <a:pt x="786155" y="669039"/>
                  </a:lnTo>
                  <a:lnTo>
                    <a:pt x="810697" y="632921"/>
                  </a:lnTo>
                  <a:lnTo>
                    <a:pt x="831372" y="594347"/>
                  </a:lnTo>
                  <a:lnTo>
                    <a:pt x="847915" y="553574"/>
                  </a:lnTo>
                  <a:lnTo>
                    <a:pt x="860059" y="510858"/>
                  </a:lnTo>
                  <a:lnTo>
                    <a:pt x="867541" y="466456"/>
                  </a:lnTo>
                  <a:lnTo>
                    <a:pt x="870094" y="420624"/>
                  </a:lnTo>
                  <a:lnTo>
                    <a:pt x="867541" y="374792"/>
                  </a:lnTo>
                  <a:lnTo>
                    <a:pt x="860059" y="330390"/>
                  </a:lnTo>
                  <a:lnTo>
                    <a:pt x="847915" y="287674"/>
                  </a:lnTo>
                  <a:lnTo>
                    <a:pt x="831372" y="246901"/>
                  </a:lnTo>
                  <a:lnTo>
                    <a:pt x="810697" y="208327"/>
                  </a:lnTo>
                  <a:lnTo>
                    <a:pt x="786155" y="172209"/>
                  </a:lnTo>
                  <a:lnTo>
                    <a:pt x="758011" y="138803"/>
                  </a:lnTo>
                  <a:lnTo>
                    <a:pt x="726531" y="108366"/>
                  </a:lnTo>
                  <a:lnTo>
                    <a:pt x="691980" y="81156"/>
                  </a:lnTo>
                  <a:lnTo>
                    <a:pt x="654623" y="57427"/>
                  </a:lnTo>
                  <a:lnTo>
                    <a:pt x="614726" y="37437"/>
                  </a:lnTo>
                  <a:lnTo>
                    <a:pt x="572555" y="21443"/>
                  </a:lnTo>
                  <a:lnTo>
                    <a:pt x="528374" y="9701"/>
                  </a:lnTo>
                  <a:lnTo>
                    <a:pt x="482450" y="2468"/>
                  </a:lnTo>
                  <a:lnTo>
                    <a:pt x="435047" y="0"/>
                  </a:lnTo>
                  <a:lnTo>
                    <a:pt x="387643" y="2468"/>
                  </a:lnTo>
                  <a:lnTo>
                    <a:pt x="341719" y="9701"/>
                  </a:lnTo>
                  <a:lnTo>
                    <a:pt x="297538" y="21443"/>
                  </a:lnTo>
                  <a:lnTo>
                    <a:pt x="255367" y="37437"/>
                  </a:lnTo>
                  <a:lnTo>
                    <a:pt x="215470" y="57427"/>
                  </a:lnTo>
                  <a:lnTo>
                    <a:pt x="178113" y="81156"/>
                  </a:lnTo>
                  <a:lnTo>
                    <a:pt x="143562" y="108366"/>
                  </a:lnTo>
                  <a:lnTo>
                    <a:pt x="112082" y="138803"/>
                  </a:lnTo>
                  <a:lnTo>
                    <a:pt x="83938" y="172209"/>
                  </a:lnTo>
                  <a:lnTo>
                    <a:pt x="59396" y="208327"/>
                  </a:lnTo>
                  <a:lnTo>
                    <a:pt x="38721" y="246901"/>
                  </a:lnTo>
                  <a:lnTo>
                    <a:pt x="22178" y="287674"/>
                  </a:lnTo>
                  <a:lnTo>
                    <a:pt x="10034" y="330390"/>
                  </a:lnTo>
                  <a:lnTo>
                    <a:pt x="2552" y="374792"/>
                  </a:lnTo>
                  <a:lnTo>
                    <a:pt x="0" y="420624"/>
                  </a:lnTo>
                  <a:close/>
                </a:path>
              </a:pathLst>
            </a:custGeom>
            <a:ln w="25400">
              <a:solidFill>
                <a:srgbClr val="8EB4E3"/>
              </a:solidFill>
            </a:ln>
          </p:spPr>
          <p:txBody>
            <a:bodyPr wrap="square" lIns="0" tIns="0" rIns="0" bIns="0" rtlCol="0"/>
            <a:lstStyle/>
            <a:p>
              <a:endParaRPr/>
            </a:p>
          </p:txBody>
        </p:sp>
        <p:sp>
          <p:nvSpPr>
            <p:cNvPr id="6" name="object 6"/>
            <p:cNvSpPr/>
            <p:nvPr/>
          </p:nvSpPr>
          <p:spPr>
            <a:xfrm>
              <a:off x="4058865" y="1801686"/>
              <a:ext cx="870585" cy="841375"/>
            </a:xfrm>
            <a:custGeom>
              <a:avLst/>
              <a:gdLst/>
              <a:ahLst/>
              <a:cxnLst/>
              <a:rect l="l" t="t" r="r" b="b"/>
              <a:pathLst>
                <a:path w="870585" h="841375">
                  <a:moveTo>
                    <a:pt x="0" y="420624"/>
                  </a:moveTo>
                  <a:lnTo>
                    <a:pt x="2552" y="374792"/>
                  </a:lnTo>
                  <a:lnTo>
                    <a:pt x="10034" y="330390"/>
                  </a:lnTo>
                  <a:lnTo>
                    <a:pt x="22178" y="287674"/>
                  </a:lnTo>
                  <a:lnTo>
                    <a:pt x="38721" y="246901"/>
                  </a:lnTo>
                  <a:lnTo>
                    <a:pt x="59396" y="208327"/>
                  </a:lnTo>
                  <a:lnTo>
                    <a:pt x="83938" y="172209"/>
                  </a:lnTo>
                  <a:lnTo>
                    <a:pt x="112082" y="138803"/>
                  </a:lnTo>
                  <a:lnTo>
                    <a:pt x="143562" y="108366"/>
                  </a:lnTo>
                  <a:lnTo>
                    <a:pt x="178113" y="81156"/>
                  </a:lnTo>
                  <a:lnTo>
                    <a:pt x="215470" y="57427"/>
                  </a:lnTo>
                  <a:lnTo>
                    <a:pt x="255367" y="37437"/>
                  </a:lnTo>
                  <a:lnTo>
                    <a:pt x="297538" y="21443"/>
                  </a:lnTo>
                  <a:lnTo>
                    <a:pt x="341719" y="9701"/>
                  </a:lnTo>
                  <a:lnTo>
                    <a:pt x="387643" y="2468"/>
                  </a:lnTo>
                  <a:lnTo>
                    <a:pt x="435047" y="0"/>
                  </a:lnTo>
                  <a:lnTo>
                    <a:pt x="482450" y="2468"/>
                  </a:lnTo>
                  <a:lnTo>
                    <a:pt x="528374" y="9701"/>
                  </a:lnTo>
                  <a:lnTo>
                    <a:pt x="572555" y="21443"/>
                  </a:lnTo>
                  <a:lnTo>
                    <a:pt x="614726" y="37437"/>
                  </a:lnTo>
                  <a:lnTo>
                    <a:pt x="654623" y="57427"/>
                  </a:lnTo>
                  <a:lnTo>
                    <a:pt x="691980" y="81156"/>
                  </a:lnTo>
                  <a:lnTo>
                    <a:pt x="726531" y="108366"/>
                  </a:lnTo>
                  <a:lnTo>
                    <a:pt x="758011" y="138803"/>
                  </a:lnTo>
                  <a:lnTo>
                    <a:pt x="786155" y="172209"/>
                  </a:lnTo>
                  <a:lnTo>
                    <a:pt x="810697" y="208327"/>
                  </a:lnTo>
                  <a:lnTo>
                    <a:pt x="831372" y="246901"/>
                  </a:lnTo>
                  <a:lnTo>
                    <a:pt x="847915" y="287674"/>
                  </a:lnTo>
                  <a:lnTo>
                    <a:pt x="860059" y="330390"/>
                  </a:lnTo>
                  <a:lnTo>
                    <a:pt x="867541" y="374792"/>
                  </a:lnTo>
                  <a:lnTo>
                    <a:pt x="870094" y="420624"/>
                  </a:lnTo>
                  <a:lnTo>
                    <a:pt x="867541" y="466456"/>
                  </a:lnTo>
                  <a:lnTo>
                    <a:pt x="860059" y="510858"/>
                  </a:lnTo>
                  <a:lnTo>
                    <a:pt x="847915" y="553574"/>
                  </a:lnTo>
                  <a:lnTo>
                    <a:pt x="831372" y="594347"/>
                  </a:lnTo>
                  <a:lnTo>
                    <a:pt x="810697" y="632921"/>
                  </a:lnTo>
                  <a:lnTo>
                    <a:pt x="786155" y="669039"/>
                  </a:lnTo>
                  <a:lnTo>
                    <a:pt x="758011" y="702445"/>
                  </a:lnTo>
                  <a:lnTo>
                    <a:pt x="726531" y="732881"/>
                  </a:lnTo>
                  <a:lnTo>
                    <a:pt x="691980" y="760092"/>
                  </a:lnTo>
                  <a:lnTo>
                    <a:pt x="654623" y="783821"/>
                  </a:lnTo>
                  <a:lnTo>
                    <a:pt x="614726" y="803811"/>
                  </a:lnTo>
                  <a:lnTo>
                    <a:pt x="572555" y="819805"/>
                  </a:lnTo>
                  <a:lnTo>
                    <a:pt x="528374" y="831547"/>
                  </a:lnTo>
                  <a:lnTo>
                    <a:pt x="482450" y="838780"/>
                  </a:lnTo>
                  <a:lnTo>
                    <a:pt x="435047" y="841248"/>
                  </a:lnTo>
                  <a:lnTo>
                    <a:pt x="387643" y="838780"/>
                  </a:lnTo>
                  <a:lnTo>
                    <a:pt x="341719" y="831547"/>
                  </a:lnTo>
                  <a:lnTo>
                    <a:pt x="297538" y="819805"/>
                  </a:lnTo>
                  <a:lnTo>
                    <a:pt x="255367" y="803811"/>
                  </a:lnTo>
                  <a:lnTo>
                    <a:pt x="215470" y="783821"/>
                  </a:lnTo>
                  <a:lnTo>
                    <a:pt x="178113" y="760092"/>
                  </a:lnTo>
                  <a:lnTo>
                    <a:pt x="143562" y="732881"/>
                  </a:lnTo>
                  <a:lnTo>
                    <a:pt x="112082" y="702445"/>
                  </a:lnTo>
                  <a:lnTo>
                    <a:pt x="83938" y="669039"/>
                  </a:lnTo>
                  <a:lnTo>
                    <a:pt x="59396" y="632921"/>
                  </a:lnTo>
                  <a:lnTo>
                    <a:pt x="38721" y="594347"/>
                  </a:lnTo>
                  <a:lnTo>
                    <a:pt x="22178" y="553574"/>
                  </a:lnTo>
                  <a:lnTo>
                    <a:pt x="10034" y="510858"/>
                  </a:lnTo>
                  <a:lnTo>
                    <a:pt x="2552" y="466456"/>
                  </a:lnTo>
                  <a:lnTo>
                    <a:pt x="0" y="420624"/>
                  </a:lnTo>
                  <a:close/>
                </a:path>
                <a:path w="870585" h="841375">
                  <a:moveTo>
                    <a:pt x="0" y="420624"/>
                  </a:moveTo>
                  <a:lnTo>
                    <a:pt x="2552" y="466456"/>
                  </a:lnTo>
                  <a:lnTo>
                    <a:pt x="10034" y="510858"/>
                  </a:lnTo>
                  <a:lnTo>
                    <a:pt x="22178" y="553574"/>
                  </a:lnTo>
                  <a:lnTo>
                    <a:pt x="38721" y="594347"/>
                  </a:lnTo>
                  <a:lnTo>
                    <a:pt x="59396" y="632921"/>
                  </a:lnTo>
                  <a:lnTo>
                    <a:pt x="83938" y="669039"/>
                  </a:lnTo>
                  <a:lnTo>
                    <a:pt x="112082" y="702445"/>
                  </a:lnTo>
                  <a:lnTo>
                    <a:pt x="143562" y="732881"/>
                  </a:lnTo>
                  <a:lnTo>
                    <a:pt x="178113" y="760092"/>
                  </a:lnTo>
                  <a:lnTo>
                    <a:pt x="215470" y="783821"/>
                  </a:lnTo>
                  <a:lnTo>
                    <a:pt x="255367" y="803811"/>
                  </a:lnTo>
                  <a:lnTo>
                    <a:pt x="297538" y="819805"/>
                  </a:lnTo>
                  <a:lnTo>
                    <a:pt x="341719" y="831547"/>
                  </a:lnTo>
                  <a:lnTo>
                    <a:pt x="387643" y="838780"/>
                  </a:lnTo>
                  <a:lnTo>
                    <a:pt x="435047" y="841248"/>
                  </a:lnTo>
                  <a:lnTo>
                    <a:pt x="482450" y="838780"/>
                  </a:lnTo>
                  <a:lnTo>
                    <a:pt x="528374" y="831547"/>
                  </a:lnTo>
                  <a:lnTo>
                    <a:pt x="572555" y="819805"/>
                  </a:lnTo>
                  <a:lnTo>
                    <a:pt x="614726" y="803811"/>
                  </a:lnTo>
                  <a:lnTo>
                    <a:pt x="654623" y="783821"/>
                  </a:lnTo>
                  <a:lnTo>
                    <a:pt x="691980" y="760092"/>
                  </a:lnTo>
                  <a:lnTo>
                    <a:pt x="726531" y="732881"/>
                  </a:lnTo>
                  <a:lnTo>
                    <a:pt x="758011" y="702445"/>
                  </a:lnTo>
                  <a:lnTo>
                    <a:pt x="786155" y="669039"/>
                  </a:lnTo>
                  <a:lnTo>
                    <a:pt x="810697" y="632921"/>
                  </a:lnTo>
                  <a:lnTo>
                    <a:pt x="831372" y="594347"/>
                  </a:lnTo>
                  <a:lnTo>
                    <a:pt x="847915" y="553574"/>
                  </a:lnTo>
                  <a:lnTo>
                    <a:pt x="860059" y="510858"/>
                  </a:lnTo>
                  <a:lnTo>
                    <a:pt x="867541" y="466456"/>
                  </a:lnTo>
                  <a:lnTo>
                    <a:pt x="870094" y="420624"/>
                  </a:lnTo>
                  <a:lnTo>
                    <a:pt x="867541" y="374792"/>
                  </a:lnTo>
                  <a:lnTo>
                    <a:pt x="860059" y="330390"/>
                  </a:lnTo>
                  <a:lnTo>
                    <a:pt x="847915" y="287674"/>
                  </a:lnTo>
                  <a:lnTo>
                    <a:pt x="831372" y="246901"/>
                  </a:lnTo>
                  <a:lnTo>
                    <a:pt x="810697" y="208327"/>
                  </a:lnTo>
                  <a:lnTo>
                    <a:pt x="786155" y="172209"/>
                  </a:lnTo>
                  <a:lnTo>
                    <a:pt x="758011" y="138803"/>
                  </a:lnTo>
                  <a:lnTo>
                    <a:pt x="726531" y="108366"/>
                  </a:lnTo>
                  <a:lnTo>
                    <a:pt x="691980" y="81156"/>
                  </a:lnTo>
                  <a:lnTo>
                    <a:pt x="654623" y="57427"/>
                  </a:lnTo>
                  <a:lnTo>
                    <a:pt x="614726" y="37437"/>
                  </a:lnTo>
                  <a:lnTo>
                    <a:pt x="572555" y="21443"/>
                  </a:lnTo>
                  <a:lnTo>
                    <a:pt x="528374" y="9701"/>
                  </a:lnTo>
                  <a:lnTo>
                    <a:pt x="482450" y="2468"/>
                  </a:lnTo>
                  <a:lnTo>
                    <a:pt x="435047" y="0"/>
                  </a:lnTo>
                  <a:lnTo>
                    <a:pt x="387643" y="2468"/>
                  </a:lnTo>
                  <a:lnTo>
                    <a:pt x="341719" y="9701"/>
                  </a:lnTo>
                  <a:lnTo>
                    <a:pt x="297538" y="21443"/>
                  </a:lnTo>
                  <a:lnTo>
                    <a:pt x="255367" y="37437"/>
                  </a:lnTo>
                  <a:lnTo>
                    <a:pt x="215470" y="57427"/>
                  </a:lnTo>
                  <a:lnTo>
                    <a:pt x="178113" y="81156"/>
                  </a:lnTo>
                  <a:lnTo>
                    <a:pt x="143562" y="108366"/>
                  </a:lnTo>
                  <a:lnTo>
                    <a:pt x="112082" y="138803"/>
                  </a:lnTo>
                  <a:lnTo>
                    <a:pt x="83938" y="172209"/>
                  </a:lnTo>
                  <a:lnTo>
                    <a:pt x="59396" y="208327"/>
                  </a:lnTo>
                  <a:lnTo>
                    <a:pt x="38721" y="246901"/>
                  </a:lnTo>
                  <a:lnTo>
                    <a:pt x="22178" y="287674"/>
                  </a:lnTo>
                  <a:lnTo>
                    <a:pt x="10034" y="330390"/>
                  </a:lnTo>
                  <a:lnTo>
                    <a:pt x="2552" y="374792"/>
                  </a:lnTo>
                  <a:lnTo>
                    <a:pt x="0" y="420624"/>
                  </a:lnTo>
                  <a:close/>
                </a:path>
              </a:pathLst>
            </a:custGeom>
            <a:ln w="25400">
              <a:solidFill>
                <a:srgbClr val="8EB4E3"/>
              </a:solidFill>
            </a:ln>
          </p:spPr>
          <p:txBody>
            <a:bodyPr wrap="square" lIns="0" tIns="0" rIns="0" bIns="0" rtlCol="0"/>
            <a:lstStyle/>
            <a:p>
              <a:endParaRPr/>
            </a:p>
          </p:txBody>
        </p:sp>
        <p:pic>
          <p:nvPicPr>
            <p:cNvPr id="7" name="object 7"/>
            <p:cNvPicPr/>
            <p:nvPr/>
          </p:nvPicPr>
          <p:blipFill>
            <a:blip r:embed="rId2" cstate="print"/>
            <a:stretch>
              <a:fillRect/>
            </a:stretch>
          </p:blipFill>
          <p:spPr>
            <a:xfrm>
              <a:off x="3390899" y="2120899"/>
              <a:ext cx="791633" cy="245533"/>
            </a:xfrm>
            <a:prstGeom prst="rect">
              <a:avLst/>
            </a:prstGeom>
          </p:spPr>
        </p:pic>
        <p:sp>
          <p:nvSpPr>
            <p:cNvPr id="8" name="object 8"/>
            <p:cNvSpPr/>
            <p:nvPr/>
          </p:nvSpPr>
          <p:spPr>
            <a:xfrm>
              <a:off x="3438143" y="2184212"/>
              <a:ext cx="621030" cy="76200"/>
            </a:xfrm>
            <a:custGeom>
              <a:avLst/>
              <a:gdLst/>
              <a:ahLst/>
              <a:cxnLst/>
              <a:rect l="l" t="t" r="r" b="b"/>
              <a:pathLst>
                <a:path w="621029" h="76200">
                  <a:moveTo>
                    <a:pt x="544521" y="0"/>
                  </a:moveTo>
                  <a:lnTo>
                    <a:pt x="544521" y="25400"/>
                  </a:lnTo>
                  <a:lnTo>
                    <a:pt x="0" y="25398"/>
                  </a:lnTo>
                  <a:lnTo>
                    <a:pt x="0" y="50798"/>
                  </a:lnTo>
                  <a:lnTo>
                    <a:pt x="544521" y="50800"/>
                  </a:lnTo>
                  <a:lnTo>
                    <a:pt x="544521" y="76200"/>
                  </a:lnTo>
                  <a:lnTo>
                    <a:pt x="620721" y="38100"/>
                  </a:lnTo>
                  <a:lnTo>
                    <a:pt x="544521" y="0"/>
                  </a:lnTo>
                  <a:close/>
                </a:path>
              </a:pathLst>
            </a:custGeom>
            <a:solidFill>
              <a:srgbClr val="4F81BD"/>
            </a:solidFill>
          </p:spPr>
          <p:txBody>
            <a:bodyPr wrap="square" lIns="0" tIns="0" rIns="0" bIns="0" rtlCol="0"/>
            <a:lstStyle/>
            <a:p>
              <a:endParaRPr/>
            </a:p>
          </p:txBody>
        </p:sp>
        <p:sp>
          <p:nvSpPr>
            <p:cNvPr id="9" name="object 9"/>
            <p:cNvSpPr/>
            <p:nvPr/>
          </p:nvSpPr>
          <p:spPr>
            <a:xfrm>
              <a:off x="2568050" y="2941638"/>
              <a:ext cx="870585" cy="841375"/>
            </a:xfrm>
            <a:custGeom>
              <a:avLst/>
              <a:gdLst/>
              <a:ahLst/>
              <a:cxnLst/>
              <a:rect l="l" t="t" r="r" b="b"/>
              <a:pathLst>
                <a:path w="870585" h="841375">
                  <a:moveTo>
                    <a:pt x="0" y="420624"/>
                  </a:moveTo>
                  <a:lnTo>
                    <a:pt x="2552" y="374792"/>
                  </a:lnTo>
                  <a:lnTo>
                    <a:pt x="10034" y="330390"/>
                  </a:lnTo>
                  <a:lnTo>
                    <a:pt x="22178" y="287674"/>
                  </a:lnTo>
                  <a:lnTo>
                    <a:pt x="38721" y="246901"/>
                  </a:lnTo>
                  <a:lnTo>
                    <a:pt x="59396" y="208327"/>
                  </a:lnTo>
                  <a:lnTo>
                    <a:pt x="83938" y="172209"/>
                  </a:lnTo>
                  <a:lnTo>
                    <a:pt x="112082" y="138803"/>
                  </a:lnTo>
                  <a:lnTo>
                    <a:pt x="143562" y="108366"/>
                  </a:lnTo>
                  <a:lnTo>
                    <a:pt x="178113" y="81156"/>
                  </a:lnTo>
                  <a:lnTo>
                    <a:pt x="215470" y="57427"/>
                  </a:lnTo>
                  <a:lnTo>
                    <a:pt x="255367" y="37437"/>
                  </a:lnTo>
                  <a:lnTo>
                    <a:pt x="297538" y="21443"/>
                  </a:lnTo>
                  <a:lnTo>
                    <a:pt x="341719" y="9701"/>
                  </a:lnTo>
                  <a:lnTo>
                    <a:pt x="387643" y="2468"/>
                  </a:lnTo>
                  <a:lnTo>
                    <a:pt x="435047" y="0"/>
                  </a:lnTo>
                  <a:lnTo>
                    <a:pt x="482450" y="2468"/>
                  </a:lnTo>
                  <a:lnTo>
                    <a:pt x="528374" y="9701"/>
                  </a:lnTo>
                  <a:lnTo>
                    <a:pt x="572555" y="21443"/>
                  </a:lnTo>
                  <a:lnTo>
                    <a:pt x="614726" y="37437"/>
                  </a:lnTo>
                  <a:lnTo>
                    <a:pt x="654623" y="57427"/>
                  </a:lnTo>
                  <a:lnTo>
                    <a:pt x="691980" y="81156"/>
                  </a:lnTo>
                  <a:lnTo>
                    <a:pt x="726531" y="108366"/>
                  </a:lnTo>
                  <a:lnTo>
                    <a:pt x="758011" y="138803"/>
                  </a:lnTo>
                  <a:lnTo>
                    <a:pt x="786155" y="172209"/>
                  </a:lnTo>
                  <a:lnTo>
                    <a:pt x="810697" y="208327"/>
                  </a:lnTo>
                  <a:lnTo>
                    <a:pt x="831372" y="246901"/>
                  </a:lnTo>
                  <a:lnTo>
                    <a:pt x="847915" y="287674"/>
                  </a:lnTo>
                  <a:lnTo>
                    <a:pt x="860059" y="330390"/>
                  </a:lnTo>
                  <a:lnTo>
                    <a:pt x="867541" y="374792"/>
                  </a:lnTo>
                  <a:lnTo>
                    <a:pt x="870094" y="420624"/>
                  </a:lnTo>
                  <a:lnTo>
                    <a:pt x="867541" y="466456"/>
                  </a:lnTo>
                  <a:lnTo>
                    <a:pt x="860059" y="510858"/>
                  </a:lnTo>
                  <a:lnTo>
                    <a:pt x="847915" y="553574"/>
                  </a:lnTo>
                  <a:lnTo>
                    <a:pt x="831372" y="594347"/>
                  </a:lnTo>
                  <a:lnTo>
                    <a:pt x="810697" y="632921"/>
                  </a:lnTo>
                  <a:lnTo>
                    <a:pt x="786155" y="669039"/>
                  </a:lnTo>
                  <a:lnTo>
                    <a:pt x="758011" y="702445"/>
                  </a:lnTo>
                  <a:lnTo>
                    <a:pt x="726531" y="732881"/>
                  </a:lnTo>
                  <a:lnTo>
                    <a:pt x="691980" y="760092"/>
                  </a:lnTo>
                  <a:lnTo>
                    <a:pt x="654623" y="783821"/>
                  </a:lnTo>
                  <a:lnTo>
                    <a:pt x="614726" y="803811"/>
                  </a:lnTo>
                  <a:lnTo>
                    <a:pt x="572555" y="819805"/>
                  </a:lnTo>
                  <a:lnTo>
                    <a:pt x="528374" y="831547"/>
                  </a:lnTo>
                  <a:lnTo>
                    <a:pt x="482450" y="838780"/>
                  </a:lnTo>
                  <a:lnTo>
                    <a:pt x="435047" y="841248"/>
                  </a:lnTo>
                  <a:lnTo>
                    <a:pt x="387643" y="838780"/>
                  </a:lnTo>
                  <a:lnTo>
                    <a:pt x="341719" y="831547"/>
                  </a:lnTo>
                  <a:lnTo>
                    <a:pt x="297538" y="819805"/>
                  </a:lnTo>
                  <a:lnTo>
                    <a:pt x="255367" y="803811"/>
                  </a:lnTo>
                  <a:lnTo>
                    <a:pt x="215470" y="783821"/>
                  </a:lnTo>
                  <a:lnTo>
                    <a:pt x="178113" y="760092"/>
                  </a:lnTo>
                  <a:lnTo>
                    <a:pt x="143562" y="732881"/>
                  </a:lnTo>
                  <a:lnTo>
                    <a:pt x="112082" y="702445"/>
                  </a:lnTo>
                  <a:lnTo>
                    <a:pt x="83938" y="669039"/>
                  </a:lnTo>
                  <a:lnTo>
                    <a:pt x="59396" y="632921"/>
                  </a:lnTo>
                  <a:lnTo>
                    <a:pt x="38721" y="594347"/>
                  </a:lnTo>
                  <a:lnTo>
                    <a:pt x="22178" y="553574"/>
                  </a:lnTo>
                  <a:lnTo>
                    <a:pt x="10034" y="510858"/>
                  </a:lnTo>
                  <a:lnTo>
                    <a:pt x="2552" y="466456"/>
                  </a:lnTo>
                  <a:lnTo>
                    <a:pt x="0" y="420624"/>
                  </a:lnTo>
                  <a:close/>
                </a:path>
                <a:path w="870585" h="841375">
                  <a:moveTo>
                    <a:pt x="0" y="420624"/>
                  </a:moveTo>
                  <a:lnTo>
                    <a:pt x="2552" y="466456"/>
                  </a:lnTo>
                  <a:lnTo>
                    <a:pt x="10034" y="510858"/>
                  </a:lnTo>
                  <a:lnTo>
                    <a:pt x="22178" y="553574"/>
                  </a:lnTo>
                  <a:lnTo>
                    <a:pt x="38721" y="594347"/>
                  </a:lnTo>
                  <a:lnTo>
                    <a:pt x="59396" y="632921"/>
                  </a:lnTo>
                  <a:lnTo>
                    <a:pt x="83938" y="669039"/>
                  </a:lnTo>
                  <a:lnTo>
                    <a:pt x="112082" y="702445"/>
                  </a:lnTo>
                  <a:lnTo>
                    <a:pt x="143562" y="732881"/>
                  </a:lnTo>
                  <a:lnTo>
                    <a:pt x="178113" y="760092"/>
                  </a:lnTo>
                  <a:lnTo>
                    <a:pt x="215470" y="783821"/>
                  </a:lnTo>
                  <a:lnTo>
                    <a:pt x="255367" y="803811"/>
                  </a:lnTo>
                  <a:lnTo>
                    <a:pt x="297538" y="819805"/>
                  </a:lnTo>
                  <a:lnTo>
                    <a:pt x="341719" y="831547"/>
                  </a:lnTo>
                  <a:lnTo>
                    <a:pt x="387643" y="838780"/>
                  </a:lnTo>
                  <a:lnTo>
                    <a:pt x="435047" y="841248"/>
                  </a:lnTo>
                  <a:lnTo>
                    <a:pt x="482450" y="838780"/>
                  </a:lnTo>
                  <a:lnTo>
                    <a:pt x="528374" y="831547"/>
                  </a:lnTo>
                  <a:lnTo>
                    <a:pt x="572555" y="819805"/>
                  </a:lnTo>
                  <a:lnTo>
                    <a:pt x="614726" y="803811"/>
                  </a:lnTo>
                  <a:lnTo>
                    <a:pt x="654623" y="783821"/>
                  </a:lnTo>
                  <a:lnTo>
                    <a:pt x="691980" y="760092"/>
                  </a:lnTo>
                  <a:lnTo>
                    <a:pt x="726531" y="732881"/>
                  </a:lnTo>
                  <a:lnTo>
                    <a:pt x="758011" y="702445"/>
                  </a:lnTo>
                  <a:lnTo>
                    <a:pt x="786155" y="669039"/>
                  </a:lnTo>
                  <a:lnTo>
                    <a:pt x="810697" y="632921"/>
                  </a:lnTo>
                  <a:lnTo>
                    <a:pt x="831372" y="594347"/>
                  </a:lnTo>
                  <a:lnTo>
                    <a:pt x="847915" y="553574"/>
                  </a:lnTo>
                  <a:lnTo>
                    <a:pt x="860059" y="510858"/>
                  </a:lnTo>
                  <a:lnTo>
                    <a:pt x="867541" y="466456"/>
                  </a:lnTo>
                  <a:lnTo>
                    <a:pt x="870094" y="420624"/>
                  </a:lnTo>
                  <a:lnTo>
                    <a:pt x="867541" y="374792"/>
                  </a:lnTo>
                  <a:lnTo>
                    <a:pt x="860059" y="330390"/>
                  </a:lnTo>
                  <a:lnTo>
                    <a:pt x="847915" y="287674"/>
                  </a:lnTo>
                  <a:lnTo>
                    <a:pt x="831372" y="246901"/>
                  </a:lnTo>
                  <a:lnTo>
                    <a:pt x="810697" y="208327"/>
                  </a:lnTo>
                  <a:lnTo>
                    <a:pt x="786155" y="172209"/>
                  </a:lnTo>
                  <a:lnTo>
                    <a:pt x="758011" y="138803"/>
                  </a:lnTo>
                  <a:lnTo>
                    <a:pt x="726531" y="108366"/>
                  </a:lnTo>
                  <a:lnTo>
                    <a:pt x="691980" y="81156"/>
                  </a:lnTo>
                  <a:lnTo>
                    <a:pt x="654623" y="57427"/>
                  </a:lnTo>
                  <a:lnTo>
                    <a:pt x="614726" y="37437"/>
                  </a:lnTo>
                  <a:lnTo>
                    <a:pt x="572555" y="21443"/>
                  </a:lnTo>
                  <a:lnTo>
                    <a:pt x="528374" y="9701"/>
                  </a:lnTo>
                  <a:lnTo>
                    <a:pt x="482450" y="2468"/>
                  </a:lnTo>
                  <a:lnTo>
                    <a:pt x="435047" y="0"/>
                  </a:lnTo>
                  <a:lnTo>
                    <a:pt x="387643" y="2468"/>
                  </a:lnTo>
                  <a:lnTo>
                    <a:pt x="341719" y="9701"/>
                  </a:lnTo>
                  <a:lnTo>
                    <a:pt x="297538" y="21443"/>
                  </a:lnTo>
                  <a:lnTo>
                    <a:pt x="255367" y="37437"/>
                  </a:lnTo>
                  <a:lnTo>
                    <a:pt x="215470" y="57427"/>
                  </a:lnTo>
                  <a:lnTo>
                    <a:pt x="178113" y="81156"/>
                  </a:lnTo>
                  <a:lnTo>
                    <a:pt x="143562" y="108366"/>
                  </a:lnTo>
                  <a:lnTo>
                    <a:pt x="112082" y="138803"/>
                  </a:lnTo>
                  <a:lnTo>
                    <a:pt x="83938" y="172209"/>
                  </a:lnTo>
                  <a:lnTo>
                    <a:pt x="59396" y="208327"/>
                  </a:lnTo>
                  <a:lnTo>
                    <a:pt x="38721" y="246901"/>
                  </a:lnTo>
                  <a:lnTo>
                    <a:pt x="22178" y="287674"/>
                  </a:lnTo>
                  <a:lnTo>
                    <a:pt x="10034" y="330390"/>
                  </a:lnTo>
                  <a:lnTo>
                    <a:pt x="2552" y="374792"/>
                  </a:lnTo>
                  <a:lnTo>
                    <a:pt x="0" y="420624"/>
                  </a:lnTo>
                  <a:close/>
                </a:path>
              </a:pathLst>
            </a:custGeom>
            <a:ln w="25400">
              <a:solidFill>
                <a:srgbClr val="8EB4E3"/>
              </a:solidFill>
            </a:ln>
          </p:spPr>
          <p:txBody>
            <a:bodyPr wrap="square" lIns="0" tIns="0" rIns="0" bIns="0" rtlCol="0"/>
            <a:lstStyle/>
            <a:p>
              <a:endParaRPr/>
            </a:p>
          </p:txBody>
        </p:sp>
        <p:sp>
          <p:nvSpPr>
            <p:cNvPr id="10" name="object 10"/>
            <p:cNvSpPr/>
            <p:nvPr/>
          </p:nvSpPr>
          <p:spPr>
            <a:xfrm>
              <a:off x="4058865" y="2941638"/>
              <a:ext cx="870585" cy="841375"/>
            </a:xfrm>
            <a:custGeom>
              <a:avLst/>
              <a:gdLst/>
              <a:ahLst/>
              <a:cxnLst/>
              <a:rect l="l" t="t" r="r" b="b"/>
              <a:pathLst>
                <a:path w="870585" h="841375">
                  <a:moveTo>
                    <a:pt x="0" y="420624"/>
                  </a:moveTo>
                  <a:lnTo>
                    <a:pt x="2552" y="374792"/>
                  </a:lnTo>
                  <a:lnTo>
                    <a:pt x="10034" y="330390"/>
                  </a:lnTo>
                  <a:lnTo>
                    <a:pt x="22178" y="287674"/>
                  </a:lnTo>
                  <a:lnTo>
                    <a:pt x="38721" y="246901"/>
                  </a:lnTo>
                  <a:lnTo>
                    <a:pt x="59396" y="208327"/>
                  </a:lnTo>
                  <a:lnTo>
                    <a:pt x="83938" y="172209"/>
                  </a:lnTo>
                  <a:lnTo>
                    <a:pt x="112082" y="138803"/>
                  </a:lnTo>
                  <a:lnTo>
                    <a:pt x="143562" y="108366"/>
                  </a:lnTo>
                  <a:lnTo>
                    <a:pt x="178113" y="81156"/>
                  </a:lnTo>
                  <a:lnTo>
                    <a:pt x="215470" y="57427"/>
                  </a:lnTo>
                  <a:lnTo>
                    <a:pt x="255367" y="37437"/>
                  </a:lnTo>
                  <a:lnTo>
                    <a:pt x="297538" y="21443"/>
                  </a:lnTo>
                  <a:lnTo>
                    <a:pt x="341719" y="9701"/>
                  </a:lnTo>
                  <a:lnTo>
                    <a:pt x="387643" y="2468"/>
                  </a:lnTo>
                  <a:lnTo>
                    <a:pt x="435047" y="0"/>
                  </a:lnTo>
                  <a:lnTo>
                    <a:pt x="482450" y="2468"/>
                  </a:lnTo>
                  <a:lnTo>
                    <a:pt x="528374" y="9701"/>
                  </a:lnTo>
                  <a:lnTo>
                    <a:pt x="572555" y="21443"/>
                  </a:lnTo>
                  <a:lnTo>
                    <a:pt x="614726" y="37437"/>
                  </a:lnTo>
                  <a:lnTo>
                    <a:pt x="654623" y="57427"/>
                  </a:lnTo>
                  <a:lnTo>
                    <a:pt x="691980" y="81156"/>
                  </a:lnTo>
                  <a:lnTo>
                    <a:pt x="726531" y="108366"/>
                  </a:lnTo>
                  <a:lnTo>
                    <a:pt x="758011" y="138803"/>
                  </a:lnTo>
                  <a:lnTo>
                    <a:pt x="786155" y="172209"/>
                  </a:lnTo>
                  <a:lnTo>
                    <a:pt x="810697" y="208327"/>
                  </a:lnTo>
                  <a:lnTo>
                    <a:pt x="831372" y="246901"/>
                  </a:lnTo>
                  <a:lnTo>
                    <a:pt x="847915" y="287674"/>
                  </a:lnTo>
                  <a:lnTo>
                    <a:pt x="860059" y="330390"/>
                  </a:lnTo>
                  <a:lnTo>
                    <a:pt x="867541" y="374792"/>
                  </a:lnTo>
                  <a:lnTo>
                    <a:pt x="870094" y="420624"/>
                  </a:lnTo>
                  <a:lnTo>
                    <a:pt x="867541" y="466456"/>
                  </a:lnTo>
                  <a:lnTo>
                    <a:pt x="860059" y="510858"/>
                  </a:lnTo>
                  <a:lnTo>
                    <a:pt x="847915" y="553574"/>
                  </a:lnTo>
                  <a:lnTo>
                    <a:pt x="831372" y="594347"/>
                  </a:lnTo>
                  <a:lnTo>
                    <a:pt x="810697" y="632921"/>
                  </a:lnTo>
                  <a:lnTo>
                    <a:pt x="786155" y="669039"/>
                  </a:lnTo>
                  <a:lnTo>
                    <a:pt x="758011" y="702445"/>
                  </a:lnTo>
                  <a:lnTo>
                    <a:pt x="726531" y="732881"/>
                  </a:lnTo>
                  <a:lnTo>
                    <a:pt x="691980" y="760092"/>
                  </a:lnTo>
                  <a:lnTo>
                    <a:pt x="654623" y="783821"/>
                  </a:lnTo>
                  <a:lnTo>
                    <a:pt x="614726" y="803811"/>
                  </a:lnTo>
                  <a:lnTo>
                    <a:pt x="572555" y="819805"/>
                  </a:lnTo>
                  <a:lnTo>
                    <a:pt x="528374" y="831547"/>
                  </a:lnTo>
                  <a:lnTo>
                    <a:pt x="482450" y="838780"/>
                  </a:lnTo>
                  <a:lnTo>
                    <a:pt x="435047" y="841248"/>
                  </a:lnTo>
                  <a:lnTo>
                    <a:pt x="387643" y="838780"/>
                  </a:lnTo>
                  <a:lnTo>
                    <a:pt x="341719" y="831547"/>
                  </a:lnTo>
                  <a:lnTo>
                    <a:pt x="297538" y="819805"/>
                  </a:lnTo>
                  <a:lnTo>
                    <a:pt x="255367" y="803811"/>
                  </a:lnTo>
                  <a:lnTo>
                    <a:pt x="215470" y="783821"/>
                  </a:lnTo>
                  <a:lnTo>
                    <a:pt x="178113" y="760092"/>
                  </a:lnTo>
                  <a:lnTo>
                    <a:pt x="143562" y="732881"/>
                  </a:lnTo>
                  <a:lnTo>
                    <a:pt x="112082" y="702445"/>
                  </a:lnTo>
                  <a:lnTo>
                    <a:pt x="83938" y="669039"/>
                  </a:lnTo>
                  <a:lnTo>
                    <a:pt x="59396" y="632921"/>
                  </a:lnTo>
                  <a:lnTo>
                    <a:pt x="38721" y="594347"/>
                  </a:lnTo>
                  <a:lnTo>
                    <a:pt x="22178" y="553574"/>
                  </a:lnTo>
                  <a:lnTo>
                    <a:pt x="10034" y="510858"/>
                  </a:lnTo>
                  <a:lnTo>
                    <a:pt x="2552" y="466456"/>
                  </a:lnTo>
                  <a:lnTo>
                    <a:pt x="0" y="420624"/>
                  </a:lnTo>
                  <a:close/>
                </a:path>
                <a:path w="870585" h="841375">
                  <a:moveTo>
                    <a:pt x="0" y="420624"/>
                  </a:moveTo>
                  <a:lnTo>
                    <a:pt x="2552" y="466456"/>
                  </a:lnTo>
                  <a:lnTo>
                    <a:pt x="10034" y="510858"/>
                  </a:lnTo>
                  <a:lnTo>
                    <a:pt x="22178" y="553574"/>
                  </a:lnTo>
                  <a:lnTo>
                    <a:pt x="38721" y="594347"/>
                  </a:lnTo>
                  <a:lnTo>
                    <a:pt x="59396" y="632921"/>
                  </a:lnTo>
                  <a:lnTo>
                    <a:pt x="83938" y="669039"/>
                  </a:lnTo>
                  <a:lnTo>
                    <a:pt x="112082" y="702445"/>
                  </a:lnTo>
                  <a:lnTo>
                    <a:pt x="143562" y="732881"/>
                  </a:lnTo>
                  <a:lnTo>
                    <a:pt x="178113" y="760092"/>
                  </a:lnTo>
                  <a:lnTo>
                    <a:pt x="215470" y="783821"/>
                  </a:lnTo>
                  <a:lnTo>
                    <a:pt x="255367" y="803811"/>
                  </a:lnTo>
                  <a:lnTo>
                    <a:pt x="297538" y="819805"/>
                  </a:lnTo>
                  <a:lnTo>
                    <a:pt x="341719" y="831547"/>
                  </a:lnTo>
                  <a:lnTo>
                    <a:pt x="387643" y="838780"/>
                  </a:lnTo>
                  <a:lnTo>
                    <a:pt x="435047" y="841248"/>
                  </a:lnTo>
                  <a:lnTo>
                    <a:pt x="482450" y="838780"/>
                  </a:lnTo>
                  <a:lnTo>
                    <a:pt x="528374" y="831547"/>
                  </a:lnTo>
                  <a:lnTo>
                    <a:pt x="572555" y="819805"/>
                  </a:lnTo>
                  <a:lnTo>
                    <a:pt x="614726" y="803811"/>
                  </a:lnTo>
                  <a:lnTo>
                    <a:pt x="654623" y="783821"/>
                  </a:lnTo>
                  <a:lnTo>
                    <a:pt x="691980" y="760092"/>
                  </a:lnTo>
                  <a:lnTo>
                    <a:pt x="726531" y="732881"/>
                  </a:lnTo>
                  <a:lnTo>
                    <a:pt x="758011" y="702445"/>
                  </a:lnTo>
                  <a:lnTo>
                    <a:pt x="786155" y="669039"/>
                  </a:lnTo>
                  <a:lnTo>
                    <a:pt x="810697" y="632921"/>
                  </a:lnTo>
                  <a:lnTo>
                    <a:pt x="831372" y="594347"/>
                  </a:lnTo>
                  <a:lnTo>
                    <a:pt x="847915" y="553574"/>
                  </a:lnTo>
                  <a:lnTo>
                    <a:pt x="860059" y="510858"/>
                  </a:lnTo>
                  <a:lnTo>
                    <a:pt x="867541" y="466456"/>
                  </a:lnTo>
                  <a:lnTo>
                    <a:pt x="870094" y="420624"/>
                  </a:lnTo>
                  <a:lnTo>
                    <a:pt x="867541" y="374792"/>
                  </a:lnTo>
                  <a:lnTo>
                    <a:pt x="860059" y="330390"/>
                  </a:lnTo>
                  <a:lnTo>
                    <a:pt x="847915" y="287674"/>
                  </a:lnTo>
                  <a:lnTo>
                    <a:pt x="831372" y="246901"/>
                  </a:lnTo>
                  <a:lnTo>
                    <a:pt x="810697" y="208327"/>
                  </a:lnTo>
                  <a:lnTo>
                    <a:pt x="786155" y="172209"/>
                  </a:lnTo>
                  <a:lnTo>
                    <a:pt x="758011" y="138803"/>
                  </a:lnTo>
                  <a:lnTo>
                    <a:pt x="726531" y="108366"/>
                  </a:lnTo>
                  <a:lnTo>
                    <a:pt x="691980" y="81156"/>
                  </a:lnTo>
                  <a:lnTo>
                    <a:pt x="654623" y="57427"/>
                  </a:lnTo>
                  <a:lnTo>
                    <a:pt x="614726" y="37437"/>
                  </a:lnTo>
                  <a:lnTo>
                    <a:pt x="572555" y="21443"/>
                  </a:lnTo>
                  <a:lnTo>
                    <a:pt x="528374" y="9701"/>
                  </a:lnTo>
                  <a:lnTo>
                    <a:pt x="482450" y="2468"/>
                  </a:lnTo>
                  <a:lnTo>
                    <a:pt x="435047" y="0"/>
                  </a:lnTo>
                  <a:lnTo>
                    <a:pt x="387643" y="2468"/>
                  </a:lnTo>
                  <a:lnTo>
                    <a:pt x="341719" y="9701"/>
                  </a:lnTo>
                  <a:lnTo>
                    <a:pt x="297538" y="21443"/>
                  </a:lnTo>
                  <a:lnTo>
                    <a:pt x="255367" y="37437"/>
                  </a:lnTo>
                  <a:lnTo>
                    <a:pt x="215470" y="57427"/>
                  </a:lnTo>
                  <a:lnTo>
                    <a:pt x="178113" y="81156"/>
                  </a:lnTo>
                  <a:lnTo>
                    <a:pt x="143562" y="108366"/>
                  </a:lnTo>
                  <a:lnTo>
                    <a:pt x="112082" y="138803"/>
                  </a:lnTo>
                  <a:lnTo>
                    <a:pt x="83938" y="172209"/>
                  </a:lnTo>
                  <a:lnTo>
                    <a:pt x="59396" y="208327"/>
                  </a:lnTo>
                  <a:lnTo>
                    <a:pt x="38721" y="246901"/>
                  </a:lnTo>
                  <a:lnTo>
                    <a:pt x="22178" y="287674"/>
                  </a:lnTo>
                  <a:lnTo>
                    <a:pt x="10034" y="330390"/>
                  </a:lnTo>
                  <a:lnTo>
                    <a:pt x="2552" y="374792"/>
                  </a:lnTo>
                  <a:lnTo>
                    <a:pt x="0" y="420624"/>
                  </a:lnTo>
                  <a:close/>
                </a:path>
              </a:pathLst>
            </a:custGeom>
            <a:ln w="25400">
              <a:solidFill>
                <a:srgbClr val="8EB4E3"/>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3382432" y="2120899"/>
              <a:ext cx="800100" cy="1312332"/>
            </a:xfrm>
            <a:prstGeom prst="rect">
              <a:avLst/>
            </a:prstGeom>
          </p:spPr>
        </p:pic>
        <p:sp>
          <p:nvSpPr>
            <p:cNvPr id="12" name="object 12"/>
            <p:cNvSpPr/>
            <p:nvPr/>
          </p:nvSpPr>
          <p:spPr>
            <a:xfrm>
              <a:off x="3426989" y="2222310"/>
              <a:ext cx="632460" cy="1146175"/>
            </a:xfrm>
            <a:custGeom>
              <a:avLst/>
              <a:gdLst/>
              <a:ahLst/>
              <a:cxnLst/>
              <a:rect l="l" t="t" r="r" b="b"/>
              <a:pathLst>
                <a:path w="632460" h="1146175">
                  <a:moveTo>
                    <a:pt x="631875" y="0"/>
                  </a:moveTo>
                  <a:lnTo>
                    <a:pt x="561973" y="48701"/>
                  </a:lnTo>
                  <a:lnTo>
                    <a:pt x="584281" y="60848"/>
                  </a:lnTo>
                  <a:lnTo>
                    <a:pt x="0" y="1133878"/>
                  </a:lnTo>
                  <a:lnTo>
                    <a:pt x="22307" y="1146025"/>
                  </a:lnTo>
                  <a:lnTo>
                    <a:pt x="606588" y="72995"/>
                  </a:lnTo>
                  <a:lnTo>
                    <a:pt x="628896" y="85142"/>
                  </a:lnTo>
                  <a:lnTo>
                    <a:pt x="631875" y="0"/>
                  </a:lnTo>
                  <a:close/>
                </a:path>
              </a:pathLst>
            </a:custGeom>
            <a:solidFill>
              <a:srgbClr val="4F81BD"/>
            </a:solidFill>
          </p:spPr>
          <p:txBody>
            <a:bodyPr wrap="square" lIns="0" tIns="0" rIns="0" bIns="0" rtlCol="0"/>
            <a:lstStyle/>
            <a:p>
              <a:endParaRPr/>
            </a:p>
          </p:txBody>
        </p:sp>
        <p:pic>
          <p:nvPicPr>
            <p:cNvPr id="13" name="object 13"/>
            <p:cNvPicPr/>
            <p:nvPr/>
          </p:nvPicPr>
          <p:blipFill>
            <a:blip r:embed="rId4" cstate="print"/>
            <a:stretch>
              <a:fillRect/>
            </a:stretch>
          </p:blipFill>
          <p:spPr>
            <a:xfrm>
              <a:off x="3382432" y="2188632"/>
              <a:ext cx="800100" cy="1316567"/>
            </a:xfrm>
            <a:prstGeom prst="rect">
              <a:avLst/>
            </a:prstGeom>
          </p:spPr>
        </p:pic>
        <p:sp>
          <p:nvSpPr>
            <p:cNvPr id="14" name="object 14"/>
            <p:cNvSpPr/>
            <p:nvPr/>
          </p:nvSpPr>
          <p:spPr>
            <a:xfrm>
              <a:off x="3426989" y="2216237"/>
              <a:ext cx="632460" cy="1146175"/>
            </a:xfrm>
            <a:custGeom>
              <a:avLst/>
              <a:gdLst/>
              <a:ahLst/>
              <a:cxnLst/>
              <a:rect l="l" t="t" r="r" b="b"/>
              <a:pathLst>
                <a:path w="632460" h="1146175">
                  <a:moveTo>
                    <a:pt x="22307" y="0"/>
                  </a:moveTo>
                  <a:lnTo>
                    <a:pt x="0" y="12146"/>
                  </a:lnTo>
                  <a:lnTo>
                    <a:pt x="584281" y="1085176"/>
                  </a:lnTo>
                  <a:lnTo>
                    <a:pt x="561973" y="1097323"/>
                  </a:lnTo>
                  <a:lnTo>
                    <a:pt x="631875" y="1146025"/>
                  </a:lnTo>
                  <a:lnTo>
                    <a:pt x="628896" y="1060883"/>
                  </a:lnTo>
                  <a:lnTo>
                    <a:pt x="606588" y="1073030"/>
                  </a:lnTo>
                  <a:lnTo>
                    <a:pt x="22307" y="0"/>
                  </a:lnTo>
                  <a:close/>
                </a:path>
              </a:pathLst>
            </a:custGeom>
            <a:solidFill>
              <a:srgbClr val="4F81BD"/>
            </a:solidFill>
          </p:spPr>
          <p:txBody>
            <a:bodyPr wrap="square" lIns="0" tIns="0" rIns="0" bIns="0" rtlCol="0"/>
            <a:lstStyle/>
            <a:p>
              <a:endParaRPr/>
            </a:p>
          </p:txBody>
        </p:sp>
        <p:pic>
          <p:nvPicPr>
            <p:cNvPr id="15" name="object 15"/>
            <p:cNvPicPr/>
            <p:nvPr/>
          </p:nvPicPr>
          <p:blipFill>
            <a:blip r:embed="rId5" cstate="print"/>
            <a:stretch>
              <a:fillRect/>
            </a:stretch>
          </p:blipFill>
          <p:spPr>
            <a:xfrm>
              <a:off x="3390899" y="3259666"/>
              <a:ext cx="791633" cy="245533"/>
            </a:xfrm>
            <a:prstGeom prst="rect">
              <a:avLst/>
            </a:prstGeom>
          </p:spPr>
        </p:pic>
        <p:sp>
          <p:nvSpPr>
            <p:cNvPr id="16" name="object 16"/>
            <p:cNvSpPr/>
            <p:nvPr/>
          </p:nvSpPr>
          <p:spPr>
            <a:xfrm>
              <a:off x="3438143" y="3324163"/>
              <a:ext cx="621030" cy="76200"/>
            </a:xfrm>
            <a:custGeom>
              <a:avLst/>
              <a:gdLst/>
              <a:ahLst/>
              <a:cxnLst/>
              <a:rect l="l" t="t" r="r" b="b"/>
              <a:pathLst>
                <a:path w="621029" h="76200">
                  <a:moveTo>
                    <a:pt x="544521" y="0"/>
                  </a:moveTo>
                  <a:lnTo>
                    <a:pt x="544521" y="25400"/>
                  </a:lnTo>
                  <a:lnTo>
                    <a:pt x="0" y="25398"/>
                  </a:lnTo>
                  <a:lnTo>
                    <a:pt x="0" y="50798"/>
                  </a:lnTo>
                  <a:lnTo>
                    <a:pt x="544521" y="50800"/>
                  </a:lnTo>
                  <a:lnTo>
                    <a:pt x="544521" y="76200"/>
                  </a:lnTo>
                  <a:lnTo>
                    <a:pt x="620721" y="38100"/>
                  </a:lnTo>
                  <a:lnTo>
                    <a:pt x="544521" y="0"/>
                  </a:lnTo>
                  <a:close/>
                </a:path>
              </a:pathLst>
            </a:custGeom>
            <a:solidFill>
              <a:srgbClr val="4F81BD"/>
            </a:solidFill>
          </p:spPr>
          <p:txBody>
            <a:bodyPr wrap="square" lIns="0" tIns="0" rIns="0" bIns="0" rtlCol="0"/>
            <a:lstStyle/>
            <a:p>
              <a:endParaRPr/>
            </a:p>
          </p:txBody>
        </p:sp>
        <p:sp>
          <p:nvSpPr>
            <p:cNvPr id="17" name="object 17"/>
            <p:cNvSpPr/>
            <p:nvPr/>
          </p:nvSpPr>
          <p:spPr>
            <a:xfrm>
              <a:off x="5549680" y="2356422"/>
              <a:ext cx="870585" cy="841375"/>
            </a:xfrm>
            <a:custGeom>
              <a:avLst/>
              <a:gdLst/>
              <a:ahLst/>
              <a:cxnLst/>
              <a:rect l="l" t="t" r="r" b="b"/>
              <a:pathLst>
                <a:path w="870585" h="841375">
                  <a:moveTo>
                    <a:pt x="0" y="420624"/>
                  </a:moveTo>
                  <a:lnTo>
                    <a:pt x="2552" y="374792"/>
                  </a:lnTo>
                  <a:lnTo>
                    <a:pt x="10034" y="330390"/>
                  </a:lnTo>
                  <a:lnTo>
                    <a:pt x="22178" y="287674"/>
                  </a:lnTo>
                  <a:lnTo>
                    <a:pt x="38721" y="246901"/>
                  </a:lnTo>
                  <a:lnTo>
                    <a:pt x="59396" y="208327"/>
                  </a:lnTo>
                  <a:lnTo>
                    <a:pt x="83938" y="172209"/>
                  </a:lnTo>
                  <a:lnTo>
                    <a:pt x="112082" y="138803"/>
                  </a:lnTo>
                  <a:lnTo>
                    <a:pt x="143562" y="108366"/>
                  </a:lnTo>
                  <a:lnTo>
                    <a:pt x="178113" y="81156"/>
                  </a:lnTo>
                  <a:lnTo>
                    <a:pt x="215470" y="57427"/>
                  </a:lnTo>
                  <a:lnTo>
                    <a:pt x="255367" y="37437"/>
                  </a:lnTo>
                  <a:lnTo>
                    <a:pt x="297538" y="21443"/>
                  </a:lnTo>
                  <a:lnTo>
                    <a:pt x="341719" y="9701"/>
                  </a:lnTo>
                  <a:lnTo>
                    <a:pt x="387643" y="2468"/>
                  </a:lnTo>
                  <a:lnTo>
                    <a:pt x="435047" y="0"/>
                  </a:lnTo>
                  <a:lnTo>
                    <a:pt x="482450" y="2468"/>
                  </a:lnTo>
                  <a:lnTo>
                    <a:pt x="528374" y="9701"/>
                  </a:lnTo>
                  <a:lnTo>
                    <a:pt x="572555" y="21443"/>
                  </a:lnTo>
                  <a:lnTo>
                    <a:pt x="614726" y="37437"/>
                  </a:lnTo>
                  <a:lnTo>
                    <a:pt x="654623" y="57427"/>
                  </a:lnTo>
                  <a:lnTo>
                    <a:pt x="691980" y="81156"/>
                  </a:lnTo>
                  <a:lnTo>
                    <a:pt x="726531" y="108366"/>
                  </a:lnTo>
                  <a:lnTo>
                    <a:pt x="758011" y="138803"/>
                  </a:lnTo>
                  <a:lnTo>
                    <a:pt x="786155" y="172209"/>
                  </a:lnTo>
                  <a:lnTo>
                    <a:pt x="810697" y="208327"/>
                  </a:lnTo>
                  <a:lnTo>
                    <a:pt x="831372" y="246901"/>
                  </a:lnTo>
                  <a:lnTo>
                    <a:pt x="847915" y="287674"/>
                  </a:lnTo>
                  <a:lnTo>
                    <a:pt x="860059" y="330390"/>
                  </a:lnTo>
                  <a:lnTo>
                    <a:pt x="867541" y="374792"/>
                  </a:lnTo>
                  <a:lnTo>
                    <a:pt x="870094" y="420624"/>
                  </a:lnTo>
                  <a:lnTo>
                    <a:pt x="867541" y="466456"/>
                  </a:lnTo>
                  <a:lnTo>
                    <a:pt x="860059" y="510858"/>
                  </a:lnTo>
                  <a:lnTo>
                    <a:pt x="847915" y="553574"/>
                  </a:lnTo>
                  <a:lnTo>
                    <a:pt x="831372" y="594347"/>
                  </a:lnTo>
                  <a:lnTo>
                    <a:pt x="810697" y="632921"/>
                  </a:lnTo>
                  <a:lnTo>
                    <a:pt x="786155" y="669039"/>
                  </a:lnTo>
                  <a:lnTo>
                    <a:pt x="758011" y="702445"/>
                  </a:lnTo>
                  <a:lnTo>
                    <a:pt x="726531" y="732881"/>
                  </a:lnTo>
                  <a:lnTo>
                    <a:pt x="691980" y="760092"/>
                  </a:lnTo>
                  <a:lnTo>
                    <a:pt x="654623" y="783821"/>
                  </a:lnTo>
                  <a:lnTo>
                    <a:pt x="614726" y="803811"/>
                  </a:lnTo>
                  <a:lnTo>
                    <a:pt x="572555" y="819805"/>
                  </a:lnTo>
                  <a:lnTo>
                    <a:pt x="528374" y="831547"/>
                  </a:lnTo>
                  <a:lnTo>
                    <a:pt x="482450" y="838780"/>
                  </a:lnTo>
                  <a:lnTo>
                    <a:pt x="435047" y="841248"/>
                  </a:lnTo>
                  <a:lnTo>
                    <a:pt x="387643" y="838780"/>
                  </a:lnTo>
                  <a:lnTo>
                    <a:pt x="341719" y="831547"/>
                  </a:lnTo>
                  <a:lnTo>
                    <a:pt x="297538" y="819805"/>
                  </a:lnTo>
                  <a:lnTo>
                    <a:pt x="255367" y="803811"/>
                  </a:lnTo>
                  <a:lnTo>
                    <a:pt x="215470" y="783821"/>
                  </a:lnTo>
                  <a:lnTo>
                    <a:pt x="178113" y="760092"/>
                  </a:lnTo>
                  <a:lnTo>
                    <a:pt x="143562" y="732881"/>
                  </a:lnTo>
                  <a:lnTo>
                    <a:pt x="112082" y="702445"/>
                  </a:lnTo>
                  <a:lnTo>
                    <a:pt x="83938" y="669039"/>
                  </a:lnTo>
                  <a:lnTo>
                    <a:pt x="59396" y="632921"/>
                  </a:lnTo>
                  <a:lnTo>
                    <a:pt x="38721" y="594347"/>
                  </a:lnTo>
                  <a:lnTo>
                    <a:pt x="22178" y="553574"/>
                  </a:lnTo>
                  <a:lnTo>
                    <a:pt x="10034" y="510858"/>
                  </a:lnTo>
                  <a:lnTo>
                    <a:pt x="2552" y="466456"/>
                  </a:lnTo>
                  <a:lnTo>
                    <a:pt x="0" y="420624"/>
                  </a:lnTo>
                  <a:close/>
                </a:path>
                <a:path w="870585" h="841375">
                  <a:moveTo>
                    <a:pt x="0" y="420624"/>
                  </a:moveTo>
                  <a:lnTo>
                    <a:pt x="2552" y="466456"/>
                  </a:lnTo>
                  <a:lnTo>
                    <a:pt x="10034" y="510858"/>
                  </a:lnTo>
                  <a:lnTo>
                    <a:pt x="22178" y="553574"/>
                  </a:lnTo>
                  <a:lnTo>
                    <a:pt x="38721" y="594347"/>
                  </a:lnTo>
                  <a:lnTo>
                    <a:pt x="59396" y="632921"/>
                  </a:lnTo>
                  <a:lnTo>
                    <a:pt x="83938" y="669039"/>
                  </a:lnTo>
                  <a:lnTo>
                    <a:pt x="112082" y="702445"/>
                  </a:lnTo>
                  <a:lnTo>
                    <a:pt x="143562" y="732881"/>
                  </a:lnTo>
                  <a:lnTo>
                    <a:pt x="178113" y="760092"/>
                  </a:lnTo>
                  <a:lnTo>
                    <a:pt x="215470" y="783821"/>
                  </a:lnTo>
                  <a:lnTo>
                    <a:pt x="255367" y="803811"/>
                  </a:lnTo>
                  <a:lnTo>
                    <a:pt x="297538" y="819805"/>
                  </a:lnTo>
                  <a:lnTo>
                    <a:pt x="341719" y="831547"/>
                  </a:lnTo>
                  <a:lnTo>
                    <a:pt x="387643" y="838780"/>
                  </a:lnTo>
                  <a:lnTo>
                    <a:pt x="435047" y="841248"/>
                  </a:lnTo>
                  <a:lnTo>
                    <a:pt x="482450" y="838780"/>
                  </a:lnTo>
                  <a:lnTo>
                    <a:pt x="528374" y="831547"/>
                  </a:lnTo>
                  <a:lnTo>
                    <a:pt x="572555" y="819805"/>
                  </a:lnTo>
                  <a:lnTo>
                    <a:pt x="614726" y="803811"/>
                  </a:lnTo>
                  <a:lnTo>
                    <a:pt x="654623" y="783821"/>
                  </a:lnTo>
                  <a:lnTo>
                    <a:pt x="691980" y="760092"/>
                  </a:lnTo>
                  <a:lnTo>
                    <a:pt x="726531" y="732881"/>
                  </a:lnTo>
                  <a:lnTo>
                    <a:pt x="758011" y="702445"/>
                  </a:lnTo>
                  <a:lnTo>
                    <a:pt x="786155" y="669039"/>
                  </a:lnTo>
                  <a:lnTo>
                    <a:pt x="810697" y="632921"/>
                  </a:lnTo>
                  <a:lnTo>
                    <a:pt x="831372" y="594347"/>
                  </a:lnTo>
                  <a:lnTo>
                    <a:pt x="847915" y="553574"/>
                  </a:lnTo>
                  <a:lnTo>
                    <a:pt x="860059" y="510858"/>
                  </a:lnTo>
                  <a:lnTo>
                    <a:pt x="867541" y="466456"/>
                  </a:lnTo>
                  <a:lnTo>
                    <a:pt x="870094" y="420624"/>
                  </a:lnTo>
                  <a:lnTo>
                    <a:pt x="867541" y="374792"/>
                  </a:lnTo>
                  <a:lnTo>
                    <a:pt x="860059" y="330390"/>
                  </a:lnTo>
                  <a:lnTo>
                    <a:pt x="847915" y="287674"/>
                  </a:lnTo>
                  <a:lnTo>
                    <a:pt x="831372" y="246901"/>
                  </a:lnTo>
                  <a:lnTo>
                    <a:pt x="810697" y="208327"/>
                  </a:lnTo>
                  <a:lnTo>
                    <a:pt x="786155" y="172209"/>
                  </a:lnTo>
                  <a:lnTo>
                    <a:pt x="758011" y="138803"/>
                  </a:lnTo>
                  <a:lnTo>
                    <a:pt x="726531" y="108366"/>
                  </a:lnTo>
                  <a:lnTo>
                    <a:pt x="691980" y="81156"/>
                  </a:lnTo>
                  <a:lnTo>
                    <a:pt x="654623" y="57427"/>
                  </a:lnTo>
                  <a:lnTo>
                    <a:pt x="614726" y="37437"/>
                  </a:lnTo>
                  <a:lnTo>
                    <a:pt x="572555" y="21443"/>
                  </a:lnTo>
                  <a:lnTo>
                    <a:pt x="528374" y="9701"/>
                  </a:lnTo>
                  <a:lnTo>
                    <a:pt x="482450" y="2468"/>
                  </a:lnTo>
                  <a:lnTo>
                    <a:pt x="435047" y="0"/>
                  </a:lnTo>
                  <a:lnTo>
                    <a:pt x="387643" y="2468"/>
                  </a:lnTo>
                  <a:lnTo>
                    <a:pt x="341719" y="9701"/>
                  </a:lnTo>
                  <a:lnTo>
                    <a:pt x="297538" y="21443"/>
                  </a:lnTo>
                  <a:lnTo>
                    <a:pt x="255367" y="37437"/>
                  </a:lnTo>
                  <a:lnTo>
                    <a:pt x="215470" y="57427"/>
                  </a:lnTo>
                  <a:lnTo>
                    <a:pt x="178113" y="81156"/>
                  </a:lnTo>
                  <a:lnTo>
                    <a:pt x="143562" y="108366"/>
                  </a:lnTo>
                  <a:lnTo>
                    <a:pt x="112082" y="138803"/>
                  </a:lnTo>
                  <a:lnTo>
                    <a:pt x="83938" y="172209"/>
                  </a:lnTo>
                  <a:lnTo>
                    <a:pt x="59396" y="208327"/>
                  </a:lnTo>
                  <a:lnTo>
                    <a:pt x="38721" y="246901"/>
                  </a:lnTo>
                  <a:lnTo>
                    <a:pt x="22178" y="287674"/>
                  </a:lnTo>
                  <a:lnTo>
                    <a:pt x="10034" y="330390"/>
                  </a:lnTo>
                  <a:lnTo>
                    <a:pt x="2552" y="374792"/>
                  </a:lnTo>
                  <a:lnTo>
                    <a:pt x="0" y="420624"/>
                  </a:lnTo>
                  <a:close/>
                </a:path>
              </a:pathLst>
            </a:custGeom>
            <a:ln w="25400">
              <a:solidFill>
                <a:srgbClr val="8EB4E3"/>
              </a:solidFill>
            </a:ln>
          </p:spPr>
          <p:txBody>
            <a:bodyPr wrap="square" lIns="0" tIns="0" rIns="0" bIns="0" rtlCol="0"/>
            <a:lstStyle/>
            <a:p>
              <a:endParaRPr/>
            </a:p>
          </p:txBody>
        </p:sp>
        <p:pic>
          <p:nvPicPr>
            <p:cNvPr id="18" name="object 18"/>
            <p:cNvPicPr/>
            <p:nvPr/>
          </p:nvPicPr>
          <p:blipFill>
            <a:blip r:embed="rId6" cstate="print"/>
            <a:stretch>
              <a:fillRect/>
            </a:stretch>
          </p:blipFill>
          <p:spPr>
            <a:xfrm>
              <a:off x="4872566" y="2184399"/>
              <a:ext cx="800100" cy="736600"/>
            </a:xfrm>
            <a:prstGeom prst="rect">
              <a:avLst/>
            </a:prstGeom>
          </p:spPr>
        </p:pic>
        <p:sp>
          <p:nvSpPr>
            <p:cNvPr id="19" name="object 19"/>
            <p:cNvSpPr/>
            <p:nvPr/>
          </p:nvSpPr>
          <p:spPr>
            <a:xfrm>
              <a:off x="4920496" y="2212841"/>
              <a:ext cx="629285" cy="564515"/>
            </a:xfrm>
            <a:custGeom>
              <a:avLst/>
              <a:gdLst/>
              <a:ahLst/>
              <a:cxnLst/>
              <a:rect l="l" t="t" r="r" b="b"/>
              <a:pathLst>
                <a:path w="629285" h="564514">
                  <a:moveTo>
                    <a:pt x="16925" y="0"/>
                  </a:moveTo>
                  <a:lnTo>
                    <a:pt x="0" y="18939"/>
                  </a:lnTo>
                  <a:lnTo>
                    <a:pt x="563904" y="522898"/>
                  </a:lnTo>
                  <a:lnTo>
                    <a:pt x="546977" y="541836"/>
                  </a:lnTo>
                  <a:lnTo>
                    <a:pt x="629183" y="564205"/>
                  </a:lnTo>
                  <a:lnTo>
                    <a:pt x="597754" y="485020"/>
                  </a:lnTo>
                  <a:lnTo>
                    <a:pt x="580829" y="503958"/>
                  </a:lnTo>
                  <a:lnTo>
                    <a:pt x="16925" y="0"/>
                  </a:lnTo>
                  <a:close/>
                </a:path>
              </a:pathLst>
            </a:custGeom>
            <a:solidFill>
              <a:srgbClr val="4F81BD"/>
            </a:solidFill>
          </p:spPr>
          <p:txBody>
            <a:bodyPr wrap="square" lIns="0" tIns="0" rIns="0" bIns="0" rtlCol="0"/>
            <a:lstStyle/>
            <a:p>
              <a:endParaRPr/>
            </a:p>
          </p:txBody>
        </p:sp>
        <p:pic>
          <p:nvPicPr>
            <p:cNvPr id="20" name="object 20"/>
            <p:cNvPicPr/>
            <p:nvPr/>
          </p:nvPicPr>
          <p:blipFill>
            <a:blip r:embed="rId7" cstate="print"/>
            <a:stretch>
              <a:fillRect/>
            </a:stretch>
          </p:blipFill>
          <p:spPr>
            <a:xfrm>
              <a:off x="4872566" y="2675467"/>
              <a:ext cx="800100" cy="762000"/>
            </a:xfrm>
            <a:prstGeom prst="rect">
              <a:avLst/>
            </a:prstGeom>
          </p:spPr>
        </p:pic>
        <p:sp>
          <p:nvSpPr>
            <p:cNvPr id="21" name="object 21"/>
            <p:cNvSpPr/>
            <p:nvPr/>
          </p:nvSpPr>
          <p:spPr>
            <a:xfrm>
              <a:off x="4920246" y="2777046"/>
              <a:ext cx="629920" cy="594995"/>
            </a:xfrm>
            <a:custGeom>
              <a:avLst/>
              <a:gdLst/>
              <a:ahLst/>
              <a:cxnLst/>
              <a:rect l="l" t="t" r="r" b="b"/>
              <a:pathLst>
                <a:path w="629920" h="594995">
                  <a:moveTo>
                    <a:pt x="629433" y="0"/>
                  </a:moveTo>
                  <a:lnTo>
                    <a:pt x="547853" y="24550"/>
                  </a:lnTo>
                  <a:lnTo>
                    <a:pt x="565276" y="43032"/>
                  </a:lnTo>
                  <a:lnTo>
                    <a:pt x="0" y="575975"/>
                  </a:lnTo>
                  <a:lnTo>
                    <a:pt x="17424" y="594456"/>
                  </a:lnTo>
                  <a:lnTo>
                    <a:pt x="582701" y="61513"/>
                  </a:lnTo>
                  <a:lnTo>
                    <a:pt x="600125" y="79994"/>
                  </a:lnTo>
                  <a:lnTo>
                    <a:pt x="629433" y="0"/>
                  </a:lnTo>
                  <a:close/>
                </a:path>
              </a:pathLst>
            </a:custGeom>
            <a:solidFill>
              <a:srgbClr val="4F81BD"/>
            </a:solidFill>
          </p:spPr>
          <p:txBody>
            <a:bodyPr wrap="square" lIns="0" tIns="0" rIns="0" bIns="0" rtlCol="0"/>
            <a:lstStyle/>
            <a:p>
              <a:endParaRPr/>
            </a:p>
          </p:txBody>
        </p:sp>
      </p:grpSp>
      <p:sp>
        <p:nvSpPr>
          <p:cNvPr id="22" name="object 22"/>
          <p:cNvSpPr txBox="1"/>
          <p:nvPr/>
        </p:nvSpPr>
        <p:spPr>
          <a:xfrm>
            <a:off x="3948065" y="4547071"/>
            <a:ext cx="1078230" cy="269240"/>
          </a:xfrm>
          <a:prstGeom prst="rect">
            <a:avLst/>
          </a:prstGeom>
        </p:spPr>
        <p:txBody>
          <a:bodyPr vert="horz" wrap="square" lIns="0" tIns="12700" rIns="0" bIns="0" rtlCol="0">
            <a:spAutoFit/>
          </a:bodyPr>
          <a:lstStyle/>
          <a:p>
            <a:pPr marL="12700">
              <a:spcBef>
                <a:spcPts val="100"/>
              </a:spcBef>
            </a:pPr>
            <a:r>
              <a:rPr sz="1600" b="1" spc="-5" dirty="0">
                <a:solidFill>
                  <a:srgbClr val="0D0D0D"/>
                </a:solidFill>
                <a:latin typeface="Malgun Gothic"/>
                <a:cs typeface="Malgun Gothic"/>
              </a:rPr>
              <a:t>Input</a:t>
            </a:r>
            <a:r>
              <a:rPr sz="1600" b="1" spc="-70" dirty="0">
                <a:solidFill>
                  <a:srgbClr val="0D0D0D"/>
                </a:solidFill>
                <a:latin typeface="Malgun Gothic"/>
                <a:cs typeface="Malgun Gothic"/>
              </a:rPr>
              <a:t> </a:t>
            </a:r>
            <a:r>
              <a:rPr sz="1600" b="1" spc="-5" dirty="0">
                <a:solidFill>
                  <a:srgbClr val="0D0D0D"/>
                </a:solidFill>
                <a:latin typeface="Malgun Gothic"/>
                <a:cs typeface="Malgun Gothic"/>
              </a:rPr>
              <a:t>layer</a:t>
            </a:r>
            <a:endParaRPr sz="1600">
              <a:latin typeface="Malgun Gothic"/>
              <a:cs typeface="Malgun Gothic"/>
            </a:endParaRPr>
          </a:p>
        </p:txBody>
      </p:sp>
      <p:sp>
        <p:nvSpPr>
          <p:cNvPr id="23" name="object 23"/>
          <p:cNvSpPr txBox="1"/>
          <p:nvPr/>
        </p:nvSpPr>
        <p:spPr>
          <a:xfrm>
            <a:off x="5368895" y="4538219"/>
            <a:ext cx="1264285" cy="269240"/>
          </a:xfrm>
          <a:prstGeom prst="rect">
            <a:avLst/>
          </a:prstGeom>
        </p:spPr>
        <p:txBody>
          <a:bodyPr vert="horz" wrap="square" lIns="0" tIns="12700" rIns="0" bIns="0" rtlCol="0">
            <a:spAutoFit/>
          </a:bodyPr>
          <a:lstStyle/>
          <a:p>
            <a:pPr marL="12700">
              <a:spcBef>
                <a:spcPts val="100"/>
              </a:spcBef>
            </a:pPr>
            <a:r>
              <a:rPr sz="1600" b="1" spc="-5" dirty="0">
                <a:solidFill>
                  <a:srgbClr val="0D0D0D"/>
                </a:solidFill>
                <a:latin typeface="Malgun Gothic"/>
                <a:cs typeface="Malgun Gothic"/>
              </a:rPr>
              <a:t>Hidden</a:t>
            </a:r>
            <a:r>
              <a:rPr sz="1600" b="1" spc="-70" dirty="0">
                <a:solidFill>
                  <a:srgbClr val="0D0D0D"/>
                </a:solidFill>
                <a:latin typeface="Malgun Gothic"/>
                <a:cs typeface="Malgun Gothic"/>
              </a:rPr>
              <a:t> </a:t>
            </a:r>
            <a:r>
              <a:rPr sz="1600" b="1" spc="-5" dirty="0">
                <a:solidFill>
                  <a:srgbClr val="0D0D0D"/>
                </a:solidFill>
                <a:latin typeface="Malgun Gothic"/>
                <a:cs typeface="Malgun Gothic"/>
              </a:rPr>
              <a:t>layer</a:t>
            </a:r>
            <a:endParaRPr sz="1600">
              <a:latin typeface="Malgun Gothic"/>
              <a:cs typeface="Malgun Gothic"/>
            </a:endParaRPr>
          </a:p>
        </p:txBody>
      </p:sp>
      <p:grpSp>
        <p:nvGrpSpPr>
          <p:cNvPr id="24" name="object 24"/>
          <p:cNvGrpSpPr/>
          <p:nvPr/>
        </p:nvGrpSpPr>
        <p:grpSpPr>
          <a:xfrm>
            <a:off x="3378200" y="2682874"/>
            <a:ext cx="5558790" cy="1384300"/>
            <a:chOff x="1854200" y="2120899"/>
            <a:chExt cx="5558790" cy="1384300"/>
          </a:xfrm>
        </p:grpSpPr>
        <p:pic>
          <p:nvPicPr>
            <p:cNvPr id="25" name="object 25"/>
            <p:cNvPicPr/>
            <p:nvPr/>
          </p:nvPicPr>
          <p:blipFill>
            <a:blip r:embed="rId8" cstate="print"/>
            <a:stretch>
              <a:fillRect/>
            </a:stretch>
          </p:blipFill>
          <p:spPr>
            <a:xfrm>
              <a:off x="6371166" y="2675466"/>
              <a:ext cx="1041400" cy="245533"/>
            </a:xfrm>
            <a:prstGeom prst="rect">
              <a:avLst/>
            </a:prstGeom>
          </p:spPr>
        </p:pic>
        <p:sp>
          <p:nvSpPr>
            <p:cNvPr id="26" name="object 26"/>
            <p:cNvSpPr/>
            <p:nvPr/>
          </p:nvSpPr>
          <p:spPr>
            <a:xfrm>
              <a:off x="6419773" y="2738948"/>
              <a:ext cx="868044" cy="76200"/>
            </a:xfrm>
            <a:custGeom>
              <a:avLst/>
              <a:gdLst/>
              <a:ahLst/>
              <a:cxnLst/>
              <a:rect l="l" t="t" r="r" b="b"/>
              <a:pathLst>
                <a:path w="868045" h="76200">
                  <a:moveTo>
                    <a:pt x="791599" y="0"/>
                  </a:moveTo>
                  <a:lnTo>
                    <a:pt x="791598" y="25400"/>
                  </a:lnTo>
                  <a:lnTo>
                    <a:pt x="0" y="25398"/>
                  </a:lnTo>
                  <a:lnTo>
                    <a:pt x="0" y="50798"/>
                  </a:lnTo>
                  <a:lnTo>
                    <a:pt x="791598" y="50800"/>
                  </a:lnTo>
                  <a:lnTo>
                    <a:pt x="791598" y="76200"/>
                  </a:lnTo>
                  <a:lnTo>
                    <a:pt x="867798" y="38100"/>
                  </a:lnTo>
                  <a:lnTo>
                    <a:pt x="791599" y="0"/>
                  </a:lnTo>
                  <a:close/>
                </a:path>
              </a:pathLst>
            </a:custGeom>
            <a:solidFill>
              <a:srgbClr val="4F81BD"/>
            </a:solidFill>
          </p:spPr>
          <p:txBody>
            <a:bodyPr wrap="square" lIns="0" tIns="0" rIns="0" bIns="0" rtlCol="0"/>
            <a:lstStyle/>
            <a:p>
              <a:endParaRPr/>
            </a:p>
          </p:txBody>
        </p:sp>
        <p:pic>
          <p:nvPicPr>
            <p:cNvPr id="27" name="object 27"/>
            <p:cNvPicPr/>
            <p:nvPr/>
          </p:nvPicPr>
          <p:blipFill>
            <a:blip r:embed="rId9" cstate="print"/>
            <a:stretch>
              <a:fillRect/>
            </a:stretch>
          </p:blipFill>
          <p:spPr>
            <a:xfrm>
              <a:off x="1854200" y="2120899"/>
              <a:ext cx="838200" cy="245533"/>
            </a:xfrm>
            <a:prstGeom prst="rect">
              <a:avLst/>
            </a:prstGeom>
          </p:spPr>
        </p:pic>
        <p:sp>
          <p:nvSpPr>
            <p:cNvPr id="28" name="object 28"/>
            <p:cNvSpPr/>
            <p:nvPr/>
          </p:nvSpPr>
          <p:spPr>
            <a:xfrm>
              <a:off x="1901951" y="2184212"/>
              <a:ext cx="666115" cy="76200"/>
            </a:xfrm>
            <a:custGeom>
              <a:avLst/>
              <a:gdLst/>
              <a:ahLst/>
              <a:cxnLst/>
              <a:rect l="l" t="t" r="r" b="b"/>
              <a:pathLst>
                <a:path w="666114" h="76200">
                  <a:moveTo>
                    <a:pt x="589898" y="0"/>
                  </a:moveTo>
                  <a:lnTo>
                    <a:pt x="589898" y="25400"/>
                  </a:lnTo>
                  <a:lnTo>
                    <a:pt x="0" y="25398"/>
                  </a:lnTo>
                  <a:lnTo>
                    <a:pt x="0" y="50798"/>
                  </a:lnTo>
                  <a:lnTo>
                    <a:pt x="589898" y="50800"/>
                  </a:lnTo>
                  <a:lnTo>
                    <a:pt x="589898" y="76200"/>
                  </a:lnTo>
                  <a:lnTo>
                    <a:pt x="666098" y="38100"/>
                  </a:lnTo>
                  <a:lnTo>
                    <a:pt x="589898" y="0"/>
                  </a:lnTo>
                  <a:close/>
                </a:path>
              </a:pathLst>
            </a:custGeom>
            <a:solidFill>
              <a:srgbClr val="4F81BD"/>
            </a:solidFill>
          </p:spPr>
          <p:txBody>
            <a:bodyPr wrap="square" lIns="0" tIns="0" rIns="0" bIns="0" rtlCol="0"/>
            <a:lstStyle/>
            <a:p>
              <a:endParaRPr/>
            </a:p>
          </p:txBody>
        </p:sp>
        <p:pic>
          <p:nvPicPr>
            <p:cNvPr id="29" name="object 29"/>
            <p:cNvPicPr/>
            <p:nvPr/>
          </p:nvPicPr>
          <p:blipFill>
            <a:blip r:embed="rId10" cstate="print"/>
            <a:stretch>
              <a:fillRect/>
            </a:stretch>
          </p:blipFill>
          <p:spPr>
            <a:xfrm>
              <a:off x="1854200" y="3259666"/>
              <a:ext cx="838200" cy="245533"/>
            </a:xfrm>
            <a:prstGeom prst="rect">
              <a:avLst/>
            </a:prstGeom>
          </p:spPr>
        </p:pic>
        <p:sp>
          <p:nvSpPr>
            <p:cNvPr id="30" name="object 30"/>
            <p:cNvSpPr/>
            <p:nvPr/>
          </p:nvSpPr>
          <p:spPr>
            <a:xfrm>
              <a:off x="1901951" y="3324164"/>
              <a:ext cx="666115" cy="76200"/>
            </a:xfrm>
            <a:custGeom>
              <a:avLst/>
              <a:gdLst/>
              <a:ahLst/>
              <a:cxnLst/>
              <a:rect l="l" t="t" r="r" b="b"/>
              <a:pathLst>
                <a:path w="666114" h="76200">
                  <a:moveTo>
                    <a:pt x="589898" y="0"/>
                  </a:moveTo>
                  <a:lnTo>
                    <a:pt x="589898" y="25400"/>
                  </a:lnTo>
                  <a:lnTo>
                    <a:pt x="0" y="25398"/>
                  </a:lnTo>
                  <a:lnTo>
                    <a:pt x="0" y="50798"/>
                  </a:lnTo>
                  <a:lnTo>
                    <a:pt x="589898" y="50800"/>
                  </a:lnTo>
                  <a:lnTo>
                    <a:pt x="589898" y="76200"/>
                  </a:lnTo>
                  <a:lnTo>
                    <a:pt x="666098" y="38100"/>
                  </a:lnTo>
                  <a:lnTo>
                    <a:pt x="589898" y="0"/>
                  </a:lnTo>
                  <a:close/>
                </a:path>
              </a:pathLst>
            </a:custGeom>
            <a:solidFill>
              <a:srgbClr val="4F81BD"/>
            </a:solidFill>
          </p:spPr>
          <p:txBody>
            <a:bodyPr wrap="square" lIns="0" tIns="0" rIns="0" bIns="0" rtlCol="0"/>
            <a:lstStyle/>
            <a:p>
              <a:endParaRPr/>
            </a:p>
          </p:txBody>
        </p:sp>
      </p:grpSp>
      <p:sp>
        <p:nvSpPr>
          <p:cNvPr id="31" name="object 31"/>
          <p:cNvSpPr txBox="1"/>
          <p:nvPr/>
        </p:nvSpPr>
        <p:spPr>
          <a:xfrm>
            <a:off x="3016644" y="2603427"/>
            <a:ext cx="147320" cy="299720"/>
          </a:xfrm>
          <a:prstGeom prst="rect">
            <a:avLst/>
          </a:prstGeom>
        </p:spPr>
        <p:txBody>
          <a:bodyPr vert="horz" wrap="square" lIns="0" tIns="12700" rIns="0" bIns="0" rtlCol="0">
            <a:spAutoFit/>
          </a:bodyPr>
          <a:lstStyle/>
          <a:p>
            <a:pPr marL="12700">
              <a:spcBef>
                <a:spcPts val="100"/>
              </a:spcBef>
            </a:pPr>
            <a:r>
              <a:rPr dirty="0">
                <a:solidFill>
                  <a:srgbClr val="0D0D0D"/>
                </a:solidFill>
                <a:latin typeface="Cambria Math"/>
                <a:cs typeface="Cambria Math"/>
              </a:rPr>
              <a:t>𝑥</a:t>
            </a:r>
            <a:endParaRPr>
              <a:latin typeface="Cambria Math"/>
              <a:cs typeface="Cambria Math"/>
            </a:endParaRPr>
          </a:p>
        </p:txBody>
      </p:sp>
      <p:sp>
        <p:nvSpPr>
          <p:cNvPr id="32" name="object 32"/>
          <p:cNvSpPr txBox="1"/>
          <p:nvPr/>
        </p:nvSpPr>
        <p:spPr>
          <a:xfrm>
            <a:off x="3131390" y="2713601"/>
            <a:ext cx="121285" cy="212879"/>
          </a:xfrm>
          <a:prstGeom prst="rect">
            <a:avLst/>
          </a:prstGeom>
        </p:spPr>
        <p:txBody>
          <a:bodyPr vert="horz" wrap="square" lIns="0" tIns="12700" rIns="0" bIns="0" rtlCol="0">
            <a:spAutoFit/>
          </a:bodyPr>
          <a:lstStyle/>
          <a:p>
            <a:pPr marL="12700">
              <a:spcBef>
                <a:spcPts val="100"/>
              </a:spcBef>
            </a:pPr>
            <a:r>
              <a:rPr sz="1300" spc="-310" dirty="0">
                <a:solidFill>
                  <a:srgbClr val="0D0D0D"/>
                </a:solidFill>
                <a:latin typeface="Cambria Math"/>
                <a:cs typeface="Cambria Math"/>
              </a:rPr>
              <a:t>M</a:t>
            </a:r>
            <a:endParaRPr sz="1300">
              <a:latin typeface="Cambria Math"/>
              <a:cs typeface="Cambria Math"/>
            </a:endParaRPr>
          </a:p>
        </p:txBody>
      </p:sp>
      <p:sp>
        <p:nvSpPr>
          <p:cNvPr id="33" name="object 33"/>
          <p:cNvSpPr txBox="1"/>
          <p:nvPr/>
        </p:nvSpPr>
        <p:spPr>
          <a:xfrm>
            <a:off x="2991603" y="3768783"/>
            <a:ext cx="292100" cy="299720"/>
          </a:xfrm>
          <a:prstGeom prst="rect">
            <a:avLst/>
          </a:prstGeom>
        </p:spPr>
        <p:txBody>
          <a:bodyPr vert="horz" wrap="square" lIns="0" tIns="12700" rIns="0" bIns="0" rtlCol="0">
            <a:spAutoFit/>
          </a:bodyPr>
          <a:lstStyle/>
          <a:p>
            <a:pPr marL="38100">
              <a:spcBef>
                <a:spcPts val="100"/>
              </a:spcBef>
            </a:pPr>
            <a:r>
              <a:rPr spc="-75" dirty="0">
                <a:solidFill>
                  <a:srgbClr val="0D0D0D"/>
                </a:solidFill>
                <a:latin typeface="Cambria Math"/>
                <a:cs typeface="Cambria Math"/>
              </a:rPr>
              <a:t>𝑥</a:t>
            </a:r>
            <a:r>
              <a:rPr sz="1950" spc="-112" baseline="-14957" dirty="0">
                <a:solidFill>
                  <a:srgbClr val="0D0D0D"/>
                </a:solidFill>
                <a:latin typeface="Cambria Math"/>
                <a:cs typeface="Cambria Math"/>
              </a:rPr>
              <a:t>N</a:t>
            </a:r>
            <a:endParaRPr sz="1950" baseline="-14957">
              <a:latin typeface="Cambria Math"/>
              <a:cs typeface="Cambria Math"/>
            </a:endParaRPr>
          </a:p>
        </p:txBody>
      </p:sp>
      <p:sp>
        <p:nvSpPr>
          <p:cNvPr id="34" name="object 34"/>
          <p:cNvSpPr txBox="1"/>
          <p:nvPr/>
        </p:nvSpPr>
        <p:spPr>
          <a:xfrm>
            <a:off x="8938625" y="3198807"/>
            <a:ext cx="710565" cy="299720"/>
          </a:xfrm>
          <a:prstGeom prst="rect">
            <a:avLst/>
          </a:prstGeom>
        </p:spPr>
        <p:txBody>
          <a:bodyPr vert="horz" wrap="square" lIns="0" tIns="12700" rIns="0" bIns="0" rtlCol="0">
            <a:spAutoFit/>
          </a:bodyPr>
          <a:lstStyle/>
          <a:p>
            <a:pPr marL="12700">
              <a:spcBef>
                <a:spcPts val="100"/>
              </a:spcBef>
            </a:pPr>
            <a:r>
              <a:rPr spc="50" dirty="0">
                <a:solidFill>
                  <a:srgbClr val="0D0D0D"/>
                </a:solidFill>
                <a:latin typeface="Cambria Math"/>
                <a:cs typeface="Cambria Math"/>
              </a:rPr>
              <a:t>𝑓</a:t>
            </a:r>
            <a:r>
              <a:rPr dirty="0">
                <a:solidFill>
                  <a:srgbClr val="0D0D0D"/>
                </a:solidFill>
                <a:latin typeface="Cambria Math"/>
                <a:cs typeface="Cambria Math"/>
              </a:rPr>
              <a:t>(</a:t>
            </a:r>
            <a:r>
              <a:rPr spc="55" dirty="0">
                <a:solidFill>
                  <a:srgbClr val="0D0D0D"/>
                </a:solidFill>
                <a:latin typeface="Cambria Math"/>
                <a:cs typeface="Cambria Math"/>
              </a:rPr>
              <a:t>𝑥</a:t>
            </a:r>
            <a:r>
              <a:rPr dirty="0">
                <a:solidFill>
                  <a:srgbClr val="0D0D0D"/>
                </a:solidFill>
                <a:latin typeface="Cambria Math"/>
                <a:cs typeface="Cambria Math"/>
              </a:rPr>
              <a:t>;</a:t>
            </a:r>
            <a:r>
              <a:rPr spc="-100" dirty="0">
                <a:solidFill>
                  <a:srgbClr val="0D0D0D"/>
                </a:solidFill>
                <a:latin typeface="Cambria Math"/>
                <a:cs typeface="Cambria Math"/>
              </a:rPr>
              <a:t> </a:t>
            </a:r>
            <a:r>
              <a:rPr spc="50" dirty="0">
                <a:solidFill>
                  <a:srgbClr val="0D0D0D"/>
                </a:solidFill>
                <a:latin typeface="Cambria Math"/>
                <a:cs typeface="Cambria Math"/>
              </a:rPr>
              <a:t>𝜃</a:t>
            </a:r>
            <a:r>
              <a:rPr dirty="0">
                <a:solidFill>
                  <a:srgbClr val="0D0D0D"/>
                </a:solidFill>
                <a:latin typeface="Cambria Math"/>
                <a:cs typeface="Cambria Math"/>
              </a:rPr>
              <a:t>)</a:t>
            </a:r>
            <a:endParaRPr>
              <a:latin typeface="Cambria Math"/>
              <a:cs typeface="Cambria Math"/>
            </a:endParaRPr>
          </a:p>
        </p:txBody>
      </p:sp>
      <p:sp>
        <p:nvSpPr>
          <p:cNvPr id="35" name="object 35"/>
          <p:cNvSpPr txBox="1"/>
          <p:nvPr/>
        </p:nvSpPr>
        <p:spPr>
          <a:xfrm>
            <a:off x="6576416" y="2436157"/>
            <a:ext cx="332740" cy="299720"/>
          </a:xfrm>
          <a:prstGeom prst="rect">
            <a:avLst/>
          </a:prstGeom>
        </p:spPr>
        <p:txBody>
          <a:bodyPr vert="horz" wrap="square" lIns="0" tIns="12700" rIns="0" bIns="0" rtlCol="0">
            <a:spAutoFit/>
          </a:bodyPr>
          <a:lstStyle/>
          <a:p>
            <a:pPr marL="38100">
              <a:spcBef>
                <a:spcPts val="100"/>
              </a:spcBef>
            </a:pPr>
            <a:r>
              <a:rPr spc="-100" dirty="0">
                <a:solidFill>
                  <a:srgbClr val="0D0D0D"/>
                </a:solidFill>
                <a:latin typeface="Cambria Math"/>
                <a:cs typeface="Cambria Math"/>
              </a:rPr>
              <a:t>𝑤</a:t>
            </a:r>
            <a:r>
              <a:rPr sz="1950" spc="-150" baseline="-14957" dirty="0">
                <a:solidFill>
                  <a:srgbClr val="0D0D0D"/>
                </a:solidFill>
                <a:latin typeface="Cambria Math"/>
                <a:cs typeface="Cambria Math"/>
              </a:rPr>
              <a:t>N</a:t>
            </a:r>
            <a:endParaRPr sz="1950" baseline="-14957">
              <a:latin typeface="Cambria Math"/>
              <a:cs typeface="Cambria Math"/>
            </a:endParaRPr>
          </a:p>
        </p:txBody>
      </p:sp>
      <p:sp>
        <p:nvSpPr>
          <p:cNvPr id="36" name="object 36"/>
          <p:cNvSpPr txBox="1"/>
          <p:nvPr/>
        </p:nvSpPr>
        <p:spPr>
          <a:xfrm>
            <a:off x="5077425" y="2443720"/>
            <a:ext cx="327660" cy="299720"/>
          </a:xfrm>
          <a:prstGeom prst="rect">
            <a:avLst/>
          </a:prstGeom>
        </p:spPr>
        <p:txBody>
          <a:bodyPr vert="horz" wrap="square" lIns="0" tIns="12700" rIns="0" bIns="0" rtlCol="0">
            <a:spAutoFit/>
          </a:bodyPr>
          <a:lstStyle/>
          <a:p>
            <a:pPr marL="38100">
              <a:spcBef>
                <a:spcPts val="100"/>
              </a:spcBef>
            </a:pPr>
            <a:r>
              <a:rPr spc="-210" dirty="0">
                <a:solidFill>
                  <a:srgbClr val="0D0D0D"/>
                </a:solidFill>
                <a:latin typeface="Cambria Math"/>
                <a:cs typeface="Cambria Math"/>
              </a:rPr>
              <a:t>𝑤</a:t>
            </a:r>
            <a:r>
              <a:rPr sz="1950" spc="-315" baseline="-14957" dirty="0">
                <a:solidFill>
                  <a:srgbClr val="0D0D0D"/>
                </a:solidFill>
                <a:latin typeface="Cambria Math"/>
                <a:cs typeface="Cambria Math"/>
              </a:rPr>
              <a:t>M</a:t>
            </a:r>
            <a:endParaRPr sz="1950" baseline="-14957">
              <a:latin typeface="Cambria Math"/>
              <a:cs typeface="Cambria Math"/>
            </a:endParaRPr>
          </a:p>
        </p:txBody>
      </p:sp>
      <p:grpSp>
        <p:nvGrpSpPr>
          <p:cNvPr id="37" name="object 37"/>
          <p:cNvGrpSpPr/>
          <p:nvPr/>
        </p:nvGrpSpPr>
        <p:grpSpPr>
          <a:xfrm>
            <a:off x="5388358" y="1790760"/>
            <a:ext cx="1190625" cy="2731770"/>
            <a:chOff x="3864357" y="1228785"/>
            <a:chExt cx="1190625" cy="2731770"/>
          </a:xfrm>
        </p:grpSpPr>
        <p:sp>
          <p:nvSpPr>
            <p:cNvPr id="38" name="object 38"/>
            <p:cNvSpPr/>
            <p:nvPr/>
          </p:nvSpPr>
          <p:spPr>
            <a:xfrm>
              <a:off x="3877057" y="1706879"/>
              <a:ext cx="253365" cy="2240915"/>
            </a:xfrm>
            <a:custGeom>
              <a:avLst/>
              <a:gdLst/>
              <a:ahLst/>
              <a:cxnLst/>
              <a:rect l="l" t="t" r="r" b="b"/>
              <a:pathLst>
                <a:path w="253364" h="2240915">
                  <a:moveTo>
                    <a:pt x="0" y="0"/>
                  </a:moveTo>
                  <a:lnTo>
                    <a:pt x="252919" y="0"/>
                  </a:lnTo>
                  <a:lnTo>
                    <a:pt x="252919" y="2240599"/>
                  </a:lnTo>
                  <a:lnTo>
                    <a:pt x="0" y="2240599"/>
                  </a:lnTo>
                  <a:lnTo>
                    <a:pt x="0" y="0"/>
                  </a:lnTo>
                  <a:close/>
                </a:path>
              </a:pathLst>
            </a:custGeom>
            <a:ln w="25400">
              <a:solidFill>
                <a:srgbClr val="FF0000"/>
              </a:solidFill>
            </a:ln>
          </p:spPr>
          <p:txBody>
            <a:bodyPr wrap="square" lIns="0" tIns="0" rIns="0" bIns="0" rtlCol="0"/>
            <a:lstStyle/>
            <a:p>
              <a:endParaRPr/>
            </a:p>
          </p:txBody>
        </p:sp>
        <p:sp>
          <p:nvSpPr>
            <p:cNvPr id="39" name="object 39"/>
            <p:cNvSpPr/>
            <p:nvPr/>
          </p:nvSpPr>
          <p:spPr>
            <a:xfrm>
              <a:off x="4635055" y="1241485"/>
              <a:ext cx="407670" cy="586105"/>
            </a:xfrm>
            <a:custGeom>
              <a:avLst/>
              <a:gdLst/>
              <a:ahLst/>
              <a:cxnLst/>
              <a:rect l="l" t="t" r="r" b="b"/>
              <a:pathLst>
                <a:path w="407670" h="586105">
                  <a:moveTo>
                    <a:pt x="278554" y="0"/>
                  </a:moveTo>
                  <a:lnTo>
                    <a:pt x="278554" y="429035"/>
                  </a:lnTo>
                  <a:lnTo>
                    <a:pt x="407187" y="429035"/>
                  </a:lnTo>
                  <a:lnTo>
                    <a:pt x="203593" y="585847"/>
                  </a:lnTo>
                  <a:lnTo>
                    <a:pt x="0" y="429035"/>
                  </a:lnTo>
                  <a:lnTo>
                    <a:pt x="128632" y="429035"/>
                  </a:lnTo>
                  <a:lnTo>
                    <a:pt x="128632" y="0"/>
                  </a:lnTo>
                  <a:lnTo>
                    <a:pt x="278554" y="0"/>
                  </a:lnTo>
                  <a:close/>
                </a:path>
              </a:pathLst>
            </a:custGeom>
            <a:ln w="25400">
              <a:solidFill>
                <a:srgbClr val="215968"/>
              </a:solidFill>
            </a:ln>
          </p:spPr>
          <p:txBody>
            <a:bodyPr wrap="square" lIns="0" tIns="0" rIns="0" bIns="0" rtlCol="0"/>
            <a:lstStyle/>
            <a:p>
              <a:endParaRPr/>
            </a:p>
          </p:txBody>
        </p:sp>
      </p:grpSp>
      <p:sp>
        <p:nvSpPr>
          <p:cNvPr id="40" name="object 40"/>
          <p:cNvSpPr txBox="1"/>
          <p:nvPr/>
        </p:nvSpPr>
        <p:spPr>
          <a:xfrm>
            <a:off x="5181998" y="1978577"/>
            <a:ext cx="121285" cy="212879"/>
          </a:xfrm>
          <a:prstGeom prst="rect">
            <a:avLst/>
          </a:prstGeom>
        </p:spPr>
        <p:txBody>
          <a:bodyPr vert="horz" wrap="square" lIns="0" tIns="12700" rIns="0" bIns="0" rtlCol="0">
            <a:spAutoFit/>
          </a:bodyPr>
          <a:lstStyle/>
          <a:p>
            <a:pPr marL="12700">
              <a:spcBef>
                <a:spcPts val="100"/>
              </a:spcBef>
            </a:pPr>
            <a:r>
              <a:rPr sz="1300" spc="-310" dirty="0">
                <a:solidFill>
                  <a:srgbClr val="0D0D0D"/>
                </a:solidFill>
                <a:latin typeface="Cambria Math"/>
                <a:cs typeface="Cambria Math"/>
              </a:rPr>
              <a:t>M</a:t>
            </a:r>
            <a:endParaRPr sz="1300">
              <a:latin typeface="Cambria Math"/>
              <a:cs typeface="Cambria Math"/>
            </a:endParaRPr>
          </a:p>
        </p:txBody>
      </p:sp>
      <p:sp>
        <p:nvSpPr>
          <p:cNvPr id="41" name="object 41"/>
          <p:cNvSpPr txBox="1"/>
          <p:nvPr/>
        </p:nvSpPr>
        <p:spPr>
          <a:xfrm>
            <a:off x="5001212" y="1864339"/>
            <a:ext cx="901700" cy="299720"/>
          </a:xfrm>
          <a:prstGeom prst="rect">
            <a:avLst/>
          </a:prstGeom>
        </p:spPr>
        <p:txBody>
          <a:bodyPr vert="horz" wrap="square" lIns="0" tIns="12700" rIns="0" bIns="0" rtlCol="0">
            <a:spAutoFit/>
          </a:bodyPr>
          <a:lstStyle/>
          <a:p>
            <a:pPr marL="38100">
              <a:spcBef>
                <a:spcPts val="100"/>
              </a:spcBef>
            </a:pPr>
            <a:r>
              <a:rPr spc="80" dirty="0">
                <a:solidFill>
                  <a:srgbClr val="0D0D0D"/>
                </a:solidFill>
                <a:latin typeface="Cambria Math"/>
                <a:cs typeface="Cambria Math"/>
              </a:rPr>
              <a:t>𝑤</a:t>
            </a:r>
            <a:r>
              <a:rPr sz="1950" spc="120" baseline="29914" dirty="0">
                <a:solidFill>
                  <a:srgbClr val="0D0D0D"/>
                </a:solidFill>
                <a:latin typeface="Cambria Math"/>
                <a:cs typeface="Cambria Math"/>
              </a:rPr>
              <a:t>𝑇</a:t>
            </a:r>
            <a:r>
              <a:rPr spc="80" dirty="0">
                <a:solidFill>
                  <a:srgbClr val="0D0D0D"/>
                </a:solidFill>
                <a:latin typeface="Cambria Math"/>
                <a:cs typeface="Cambria Math"/>
              </a:rPr>
              <a:t>𝑥</a:t>
            </a:r>
            <a:r>
              <a:rPr spc="20" dirty="0">
                <a:solidFill>
                  <a:srgbClr val="0D0D0D"/>
                </a:solidFill>
                <a:latin typeface="Cambria Math"/>
                <a:cs typeface="Cambria Math"/>
              </a:rPr>
              <a:t> </a:t>
            </a:r>
            <a:r>
              <a:rPr dirty="0">
                <a:solidFill>
                  <a:srgbClr val="0D0D0D"/>
                </a:solidFill>
                <a:latin typeface="Cambria Math"/>
                <a:cs typeface="Cambria Math"/>
              </a:rPr>
              <a:t>+</a:t>
            </a:r>
            <a:r>
              <a:rPr spc="-25" dirty="0">
                <a:solidFill>
                  <a:srgbClr val="0D0D0D"/>
                </a:solidFill>
                <a:latin typeface="Cambria Math"/>
                <a:cs typeface="Cambria Math"/>
              </a:rPr>
              <a:t> </a:t>
            </a:r>
            <a:r>
              <a:rPr dirty="0">
                <a:solidFill>
                  <a:srgbClr val="0D0D0D"/>
                </a:solidFill>
                <a:latin typeface="Cambria Math"/>
                <a:cs typeface="Cambria Math"/>
              </a:rPr>
              <a:t>𝑏</a:t>
            </a:r>
            <a:endParaRPr>
              <a:latin typeface="Cambria Math"/>
              <a:cs typeface="Cambria Math"/>
            </a:endParaRPr>
          </a:p>
        </p:txBody>
      </p:sp>
      <p:sp>
        <p:nvSpPr>
          <p:cNvPr id="42" name="object 42"/>
          <p:cNvSpPr txBox="1"/>
          <p:nvPr/>
        </p:nvSpPr>
        <p:spPr>
          <a:xfrm>
            <a:off x="5868864" y="2581346"/>
            <a:ext cx="294005" cy="299720"/>
          </a:xfrm>
          <a:prstGeom prst="rect">
            <a:avLst/>
          </a:prstGeom>
        </p:spPr>
        <p:txBody>
          <a:bodyPr vert="horz" wrap="square" lIns="0" tIns="12700" rIns="0" bIns="0" rtlCol="0">
            <a:spAutoFit/>
          </a:bodyPr>
          <a:lstStyle/>
          <a:p>
            <a:pPr marL="38100">
              <a:spcBef>
                <a:spcPts val="100"/>
              </a:spcBef>
            </a:pPr>
            <a:r>
              <a:rPr spc="-175" dirty="0">
                <a:solidFill>
                  <a:srgbClr val="0D0D0D"/>
                </a:solidFill>
                <a:latin typeface="Cambria Math"/>
                <a:cs typeface="Cambria Math"/>
              </a:rPr>
              <a:t>ℎ</a:t>
            </a:r>
            <a:r>
              <a:rPr sz="1950" spc="-262" baseline="-14957" dirty="0">
                <a:solidFill>
                  <a:srgbClr val="0D0D0D"/>
                </a:solidFill>
                <a:latin typeface="Cambria Math"/>
                <a:cs typeface="Cambria Math"/>
              </a:rPr>
              <a:t>M</a:t>
            </a:r>
            <a:endParaRPr sz="1950" baseline="-14957">
              <a:latin typeface="Cambria Math"/>
              <a:cs typeface="Cambria Math"/>
            </a:endParaRPr>
          </a:p>
        </p:txBody>
      </p:sp>
      <p:sp>
        <p:nvSpPr>
          <p:cNvPr id="43" name="object 43"/>
          <p:cNvSpPr txBox="1"/>
          <p:nvPr/>
        </p:nvSpPr>
        <p:spPr>
          <a:xfrm>
            <a:off x="5921021" y="3768336"/>
            <a:ext cx="299085" cy="299720"/>
          </a:xfrm>
          <a:prstGeom prst="rect">
            <a:avLst/>
          </a:prstGeom>
        </p:spPr>
        <p:txBody>
          <a:bodyPr vert="horz" wrap="square" lIns="0" tIns="12700" rIns="0" bIns="0" rtlCol="0">
            <a:spAutoFit/>
          </a:bodyPr>
          <a:lstStyle/>
          <a:p>
            <a:pPr marL="38100">
              <a:spcBef>
                <a:spcPts val="100"/>
              </a:spcBef>
            </a:pPr>
            <a:r>
              <a:rPr spc="-70" dirty="0">
                <a:solidFill>
                  <a:srgbClr val="0D0D0D"/>
                </a:solidFill>
                <a:latin typeface="Cambria Math"/>
                <a:cs typeface="Cambria Math"/>
              </a:rPr>
              <a:t>ℎ</a:t>
            </a:r>
            <a:r>
              <a:rPr sz="1950" spc="-104" baseline="-14957" dirty="0">
                <a:solidFill>
                  <a:srgbClr val="0D0D0D"/>
                </a:solidFill>
                <a:latin typeface="Cambria Math"/>
                <a:cs typeface="Cambria Math"/>
              </a:rPr>
              <a:t>N</a:t>
            </a:r>
            <a:endParaRPr sz="1950" baseline="-14957">
              <a:latin typeface="Cambria Math"/>
              <a:cs typeface="Cambria Math"/>
            </a:endParaRPr>
          </a:p>
        </p:txBody>
      </p:sp>
      <p:sp>
        <p:nvSpPr>
          <p:cNvPr id="44" name="object 44"/>
          <p:cNvSpPr txBox="1"/>
          <p:nvPr/>
        </p:nvSpPr>
        <p:spPr>
          <a:xfrm>
            <a:off x="6990656" y="4429974"/>
            <a:ext cx="3474720" cy="685800"/>
          </a:xfrm>
          <a:prstGeom prst="rect">
            <a:avLst/>
          </a:prstGeom>
        </p:spPr>
        <p:txBody>
          <a:bodyPr vert="horz" wrap="square" lIns="0" tIns="120650" rIns="0" bIns="0" rtlCol="0">
            <a:spAutoFit/>
          </a:bodyPr>
          <a:lstStyle/>
          <a:p>
            <a:pPr marL="12700">
              <a:spcBef>
                <a:spcPts val="950"/>
              </a:spcBef>
            </a:pPr>
            <a:r>
              <a:rPr sz="1600" b="1" spc="-5" dirty="0">
                <a:solidFill>
                  <a:srgbClr val="0D0D0D"/>
                </a:solidFill>
                <a:latin typeface="Malgun Gothic"/>
                <a:cs typeface="Malgun Gothic"/>
              </a:rPr>
              <a:t>Output</a:t>
            </a:r>
            <a:r>
              <a:rPr sz="1600" b="1" spc="-50" dirty="0">
                <a:solidFill>
                  <a:srgbClr val="0D0D0D"/>
                </a:solidFill>
                <a:latin typeface="Malgun Gothic"/>
                <a:cs typeface="Malgun Gothic"/>
              </a:rPr>
              <a:t> </a:t>
            </a:r>
            <a:r>
              <a:rPr sz="1600" b="1" spc="-5" dirty="0">
                <a:solidFill>
                  <a:srgbClr val="0D0D0D"/>
                </a:solidFill>
                <a:latin typeface="Malgun Gothic"/>
                <a:cs typeface="Malgun Gothic"/>
              </a:rPr>
              <a:t>layer</a:t>
            </a:r>
            <a:endParaRPr sz="1600">
              <a:latin typeface="Malgun Gothic"/>
              <a:cs typeface="Malgun Gothic"/>
            </a:endParaRPr>
          </a:p>
          <a:p>
            <a:pPr marL="537210">
              <a:spcBef>
                <a:spcPts val="745"/>
              </a:spcBef>
            </a:pPr>
            <a:r>
              <a:rPr sz="1400" spc="-5" dirty="0">
                <a:solidFill>
                  <a:srgbClr val="0D0D0D"/>
                </a:solidFill>
                <a:latin typeface="Malgun Gothic"/>
                <a:cs typeface="Malgun Gothic"/>
              </a:rPr>
              <a:t>(g</a:t>
            </a:r>
            <a:r>
              <a:rPr sz="1400" spc="-15" dirty="0">
                <a:solidFill>
                  <a:srgbClr val="0D0D0D"/>
                </a:solidFill>
                <a:latin typeface="Malgun Gothic"/>
                <a:cs typeface="Malgun Gothic"/>
              </a:rPr>
              <a:t> </a:t>
            </a:r>
            <a:r>
              <a:rPr sz="1400" dirty="0">
                <a:solidFill>
                  <a:srgbClr val="0D0D0D"/>
                </a:solidFill>
                <a:latin typeface="Malgun Gothic"/>
                <a:cs typeface="Malgun Gothic"/>
              </a:rPr>
              <a:t>=</a:t>
            </a:r>
            <a:r>
              <a:rPr sz="1400" spc="-10" dirty="0">
                <a:solidFill>
                  <a:srgbClr val="0D0D0D"/>
                </a:solidFill>
                <a:latin typeface="Malgun Gothic"/>
                <a:cs typeface="Malgun Gothic"/>
              </a:rPr>
              <a:t> </a:t>
            </a:r>
            <a:r>
              <a:rPr sz="1400" spc="-5" dirty="0">
                <a:solidFill>
                  <a:srgbClr val="0D0D0D"/>
                </a:solidFill>
                <a:latin typeface="Malgun Gothic"/>
                <a:cs typeface="Malgun Gothic"/>
              </a:rPr>
              <a:t>activation</a:t>
            </a:r>
            <a:r>
              <a:rPr sz="1400" spc="-10" dirty="0">
                <a:solidFill>
                  <a:srgbClr val="0D0D0D"/>
                </a:solidFill>
                <a:latin typeface="Malgun Gothic"/>
                <a:cs typeface="Malgun Gothic"/>
              </a:rPr>
              <a:t> </a:t>
            </a:r>
            <a:r>
              <a:rPr sz="1400" spc="-5" dirty="0">
                <a:solidFill>
                  <a:srgbClr val="0D0D0D"/>
                </a:solidFill>
                <a:latin typeface="Malgun Gothic"/>
                <a:cs typeface="Malgun Gothic"/>
              </a:rPr>
              <a:t>function,</a:t>
            </a:r>
            <a:r>
              <a:rPr sz="1400" dirty="0">
                <a:solidFill>
                  <a:srgbClr val="0D0D0D"/>
                </a:solidFill>
                <a:latin typeface="Malgun Gothic"/>
                <a:cs typeface="Malgun Gothic"/>
              </a:rPr>
              <a:t> </a:t>
            </a:r>
            <a:r>
              <a:rPr sz="1400" spc="-5" dirty="0">
                <a:solidFill>
                  <a:srgbClr val="0D0D0D"/>
                </a:solidFill>
                <a:latin typeface="Malgun Gothic"/>
                <a:cs typeface="Malgun Gothic"/>
              </a:rPr>
              <a:t>b, </a:t>
            </a:r>
            <a:r>
              <a:rPr sz="1400" dirty="0">
                <a:solidFill>
                  <a:srgbClr val="0D0D0D"/>
                </a:solidFill>
                <a:latin typeface="Malgun Gothic"/>
                <a:cs typeface="Malgun Gothic"/>
              </a:rPr>
              <a:t>c</a:t>
            </a:r>
            <a:r>
              <a:rPr sz="1400" spc="-5" dirty="0">
                <a:solidFill>
                  <a:srgbClr val="0D0D0D"/>
                </a:solidFill>
                <a:latin typeface="Malgun Gothic"/>
                <a:cs typeface="Malgun Gothic"/>
              </a:rPr>
              <a:t> </a:t>
            </a:r>
            <a:r>
              <a:rPr sz="1400" dirty="0">
                <a:solidFill>
                  <a:srgbClr val="0D0D0D"/>
                </a:solidFill>
                <a:latin typeface="Malgun Gothic"/>
                <a:cs typeface="Malgun Gothic"/>
              </a:rPr>
              <a:t>=</a:t>
            </a:r>
            <a:r>
              <a:rPr sz="1400" spc="-10" dirty="0">
                <a:solidFill>
                  <a:srgbClr val="0D0D0D"/>
                </a:solidFill>
                <a:latin typeface="Malgun Gothic"/>
                <a:cs typeface="Malgun Gothic"/>
              </a:rPr>
              <a:t> </a:t>
            </a:r>
            <a:r>
              <a:rPr sz="1400" spc="-5" dirty="0">
                <a:solidFill>
                  <a:srgbClr val="0D0D0D"/>
                </a:solidFill>
                <a:latin typeface="Malgun Gothic"/>
                <a:cs typeface="Malgun Gothic"/>
              </a:rPr>
              <a:t>bias)</a:t>
            </a:r>
            <a:endParaRPr sz="1400">
              <a:latin typeface="Malgun Gothic"/>
              <a:cs typeface="Malgun Gothic"/>
            </a:endParaRPr>
          </a:p>
        </p:txBody>
      </p:sp>
      <p:sp>
        <p:nvSpPr>
          <p:cNvPr id="45" name="object 45"/>
          <p:cNvSpPr txBox="1"/>
          <p:nvPr/>
        </p:nvSpPr>
        <p:spPr>
          <a:xfrm>
            <a:off x="7128737" y="1550881"/>
            <a:ext cx="121285" cy="212879"/>
          </a:xfrm>
          <a:prstGeom prst="rect">
            <a:avLst/>
          </a:prstGeom>
        </p:spPr>
        <p:txBody>
          <a:bodyPr vert="horz" wrap="square" lIns="0" tIns="12700" rIns="0" bIns="0" rtlCol="0">
            <a:spAutoFit/>
          </a:bodyPr>
          <a:lstStyle/>
          <a:p>
            <a:pPr marL="12700">
              <a:spcBef>
                <a:spcPts val="100"/>
              </a:spcBef>
            </a:pPr>
            <a:r>
              <a:rPr sz="1300" spc="-310" dirty="0">
                <a:solidFill>
                  <a:srgbClr val="0D0D0D"/>
                </a:solidFill>
                <a:latin typeface="Cambria Math"/>
                <a:cs typeface="Cambria Math"/>
              </a:rPr>
              <a:t>M</a:t>
            </a:r>
            <a:endParaRPr sz="1300">
              <a:latin typeface="Cambria Math"/>
              <a:cs typeface="Cambria Math"/>
            </a:endParaRPr>
          </a:p>
        </p:txBody>
      </p:sp>
      <p:sp>
        <p:nvSpPr>
          <p:cNvPr id="46" name="object 46"/>
          <p:cNvSpPr txBox="1"/>
          <p:nvPr/>
        </p:nvSpPr>
        <p:spPr>
          <a:xfrm>
            <a:off x="6279678" y="1436644"/>
            <a:ext cx="1670685" cy="299720"/>
          </a:xfrm>
          <a:prstGeom prst="rect">
            <a:avLst/>
          </a:prstGeom>
        </p:spPr>
        <p:txBody>
          <a:bodyPr vert="horz" wrap="square" lIns="0" tIns="12700" rIns="0" bIns="0" rtlCol="0">
            <a:spAutoFit/>
          </a:bodyPr>
          <a:lstStyle/>
          <a:p>
            <a:pPr marL="38100">
              <a:spcBef>
                <a:spcPts val="100"/>
              </a:spcBef>
            </a:pPr>
            <a:r>
              <a:rPr dirty="0">
                <a:solidFill>
                  <a:srgbClr val="0D0D0D"/>
                </a:solidFill>
                <a:latin typeface="Cambria Math"/>
                <a:cs typeface="Cambria Math"/>
              </a:rPr>
              <a:t>ℎ</a:t>
            </a:r>
            <a:r>
              <a:rPr spc="110" dirty="0">
                <a:solidFill>
                  <a:srgbClr val="0D0D0D"/>
                </a:solidFill>
                <a:latin typeface="Cambria Math"/>
                <a:cs typeface="Cambria Math"/>
              </a:rPr>
              <a:t> </a:t>
            </a:r>
            <a:r>
              <a:rPr dirty="0">
                <a:solidFill>
                  <a:srgbClr val="0D0D0D"/>
                </a:solidFill>
                <a:latin typeface="Cambria Math"/>
                <a:cs typeface="Cambria Math"/>
              </a:rPr>
              <a:t>=</a:t>
            </a:r>
            <a:r>
              <a:rPr spc="80" dirty="0">
                <a:solidFill>
                  <a:srgbClr val="0D0D0D"/>
                </a:solidFill>
                <a:latin typeface="Cambria Math"/>
                <a:cs typeface="Cambria Math"/>
              </a:rPr>
              <a:t> </a:t>
            </a:r>
            <a:r>
              <a:rPr spc="55" dirty="0">
                <a:solidFill>
                  <a:srgbClr val="0D0D0D"/>
                </a:solidFill>
                <a:latin typeface="Cambria Math"/>
                <a:cs typeface="Cambria Math"/>
              </a:rPr>
              <a:t>𝑔(𝑤</a:t>
            </a:r>
            <a:r>
              <a:rPr sz="1950" spc="82" baseline="29914" dirty="0">
                <a:solidFill>
                  <a:srgbClr val="0D0D0D"/>
                </a:solidFill>
                <a:latin typeface="Cambria Math"/>
                <a:cs typeface="Cambria Math"/>
              </a:rPr>
              <a:t>𝑇</a:t>
            </a:r>
            <a:r>
              <a:rPr spc="55" dirty="0">
                <a:solidFill>
                  <a:srgbClr val="0D0D0D"/>
                </a:solidFill>
                <a:latin typeface="Cambria Math"/>
                <a:cs typeface="Cambria Math"/>
              </a:rPr>
              <a:t>𝑥</a:t>
            </a:r>
            <a:r>
              <a:rPr spc="40" dirty="0">
                <a:solidFill>
                  <a:srgbClr val="0D0D0D"/>
                </a:solidFill>
                <a:latin typeface="Cambria Math"/>
                <a:cs typeface="Cambria Math"/>
              </a:rPr>
              <a:t> </a:t>
            </a:r>
            <a:r>
              <a:rPr dirty="0">
                <a:solidFill>
                  <a:srgbClr val="0D0D0D"/>
                </a:solidFill>
                <a:latin typeface="Cambria Math"/>
                <a:cs typeface="Cambria Math"/>
              </a:rPr>
              <a:t>+</a:t>
            </a:r>
            <a:r>
              <a:rPr spc="-15" dirty="0">
                <a:solidFill>
                  <a:srgbClr val="0D0D0D"/>
                </a:solidFill>
                <a:latin typeface="Cambria Math"/>
                <a:cs typeface="Cambria Math"/>
              </a:rPr>
              <a:t> </a:t>
            </a:r>
            <a:r>
              <a:rPr spc="20" dirty="0">
                <a:solidFill>
                  <a:srgbClr val="0D0D0D"/>
                </a:solidFill>
                <a:latin typeface="Cambria Math"/>
                <a:cs typeface="Cambria Math"/>
              </a:rPr>
              <a:t>𝑏)</a:t>
            </a:r>
            <a:endParaRPr>
              <a:latin typeface="Cambria Math"/>
              <a:cs typeface="Cambria Math"/>
            </a:endParaRPr>
          </a:p>
        </p:txBody>
      </p:sp>
      <p:sp>
        <p:nvSpPr>
          <p:cNvPr id="47" name="object 47"/>
          <p:cNvSpPr/>
          <p:nvPr/>
        </p:nvSpPr>
        <p:spPr>
          <a:xfrm>
            <a:off x="6319683" y="1701227"/>
            <a:ext cx="1591945" cy="12700"/>
          </a:xfrm>
          <a:custGeom>
            <a:avLst/>
            <a:gdLst/>
            <a:ahLst/>
            <a:cxnLst/>
            <a:rect l="l" t="t" r="r" b="b"/>
            <a:pathLst>
              <a:path w="1591945" h="12700">
                <a:moveTo>
                  <a:pt x="1591732" y="0"/>
                </a:moveTo>
                <a:lnTo>
                  <a:pt x="0" y="0"/>
                </a:lnTo>
                <a:lnTo>
                  <a:pt x="0" y="12700"/>
                </a:lnTo>
                <a:lnTo>
                  <a:pt x="1591732" y="12700"/>
                </a:lnTo>
                <a:lnTo>
                  <a:pt x="1591732" y="0"/>
                </a:lnTo>
                <a:close/>
              </a:path>
            </a:pathLst>
          </a:custGeom>
          <a:solidFill>
            <a:srgbClr val="0D0D0D"/>
          </a:solidFill>
        </p:spPr>
        <p:txBody>
          <a:bodyPr wrap="square" lIns="0" tIns="0" rIns="0" bIns="0" rtlCol="0"/>
          <a:lstStyle/>
          <a:p>
            <a:endParaRPr/>
          </a:p>
        </p:txBody>
      </p:sp>
      <p:sp>
        <p:nvSpPr>
          <p:cNvPr id="48" name="object 48"/>
          <p:cNvSpPr/>
          <p:nvPr/>
        </p:nvSpPr>
        <p:spPr>
          <a:xfrm>
            <a:off x="6993046" y="2285735"/>
            <a:ext cx="253365" cy="2240915"/>
          </a:xfrm>
          <a:custGeom>
            <a:avLst/>
            <a:gdLst/>
            <a:ahLst/>
            <a:cxnLst/>
            <a:rect l="l" t="t" r="r" b="b"/>
            <a:pathLst>
              <a:path w="253364" h="2240915">
                <a:moveTo>
                  <a:pt x="0" y="0"/>
                </a:moveTo>
                <a:lnTo>
                  <a:pt x="252919" y="0"/>
                </a:lnTo>
                <a:lnTo>
                  <a:pt x="252919" y="2240599"/>
                </a:lnTo>
                <a:lnTo>
                  <a:pt x="0" y="2240599"/>
                </a:lnTo>
                <a:lnTo>
                  <a:pt x="0" y="0"/>
                </a:lnTo>
                <a:close/>
              </a:path>
            </a:pathLst>
          </a:custGeom>
          <a:ln w="25400">
            <a:solidFill>
              <a:srgbClr val="FF0000"/>
            </a:solidFill>
          </a:ln>
        </p:spPr>
        <p:txBody>
          <a:bodyPr wrap="square" lIns="0" tIns="0" rIns="0" bIns="0" rtlCol="0"/>
          <a:lstStyle/>
          <a:p>
            <a:endParaRPr/>
          </a:p>
        </p:txBody>
      </p:sp>
      <p:sp>
        <p:nvSpPr>
          <p:cNvPr id="49" name="object 49"/>
          <p:cNvSpPr txBox="1"/>
          <p:nvPr/>
        </p:nvSpPr>
        <p:spPr>
          <a:xfrm>
            <a:off x="7498233" y="4231947"/>
            <a:ext cx="121285" cy="212879"/>
          </a:xfrm>
          <a:prstGeom prst="rect">
            <a:avLst/>
          </a:prstGeom>
        </p:spPr>
        <p:txBody>
          <a:bodyPr vert="horz" wrap="square" lIns="0" tIns="12700" rIns="0" bIns="0" rtlCol="0">
            <a:spAutoFit/>
          </a:bodyPr>
          <a:lstStyle/>
          <a:p>
            <a:pPr marL="12700">
              <a:spcBef>
                <a:spcPts val="100"/>
              </a:spcBef>
            </a:pPr>
            <a:r>
              <a:rPr sz="1300" spc="-135" dirty="0">
                <a:solidFill>
                  <a:srgbClr val="0D0D0D"/>
                </a:solidFill>
                <a:latin typeface="Cambria Math"/>
                <a:cs typeface="Cambria Math"/>
              </a:rPr>
              <a:t>N</a:t>
            </a:r>
            <a:endParaRPr sz="1300">
              <a:latin typeface="Cambria Math"/>
              <a:cs typeface="Cambria Math"/>
            </a:endParaRPr>
          </a:p>
        </p:txBody>
      </p:sp>
      <p:sp>
        <p:nvSpPr>
          <p:cNvPr id="50" name="object 50"/>
          <p:cNvSpPr txBox="1"/>
          <p:nvPr/>
        </p:nvSpPr>
        <p:spPr>
          <a:xfrm>
            <a:off x="7312177" y="4117455"/>
            <a:ext cx="885190" cy="299720"/>
          </a:xfrm>
          <a:prstGeom prst="rect">
            <a:avLst/>
          </a:prstGeom>
        </p:spPr>
        <p:txBody>
          <a:bodyPr vert="horz" wrap="square" lIns="0" tIns="12700" rIns="0" bIns="0" rtlCol="0">
            <a:spAutoFit/>
          </a:bodyPr>
          <a:lstStyle/>
          <a:p>
            <a:pPr marL="38100">
              <a:spcBef>
                <a:spcPts val="100"/>
              </a:spcBef>
            </a:pPr>
            <a:r>
              <a:rPr spc="80" dirty="0">
                <a:solidFill>
                  <a:srgbClr val="0D0D0D"/>
                </a:solidFill>
                <a:latin typeface="Cambria Math"/>
                <a:cs typeface="Cambria Math"/>
              </a:rPr>
              <a:t>𝑤</a:t>
            </a:r>
            <a:r>
              <a:rPr sz="1950" spc="120" baseline="29914" dirty="0">
                <a:solidFill>
                  <a:srgbClr val="0D0D0D"/>
                </a:solidFill>
                <a:latin typeface="Cambria Math"/>
                <a:cs typeface="Cambria Math"/>
              </a:rPr>
              <a:t>𝑇</a:t>
            </a:r>
            <a:r>
              <a:rPr spc="80" dirty="0">
                <a:solidFill>
                  <a:srgbClr val="0D0D0D"/>
                </a:solidFill>
                <a:latin typeface="Cambria Math"/>
                <a:cs typeface="Cambria Math"/>
              </a:rPr>
              <a:t>ℎ</a:t>
            </a:r>
            <a:r>
              <a:rPr dirty="0">
                <a:solidFill>
                  <a:srgbClr val="0D0D0D"/>
                </a:solidFill>
                <a:latin typeface="Cambria Math"/>
                <a:cs typeface="Cambria Math"/>
              </a:rPr>
              <a:t> +</a:t>
            </a:r>
            <a:r>
              <a:rPr spc="-30" dirty="0">
                <a:solidFill>
                  <a:srgbClr val="0D0D0D"/>
                </a:solidFill>
                <a:latin typeface="Cambria Math"/>
                <a:cs typeface="Cambria Math"/>
              </a:rPr>
              <a:t> </a:t>
            </a:r>
            <a:r>
              <a:rPr dirty="0">
                <a:solidFill>
                  <a:srgbClr val="0D0D0D"/>
                </a:solidFill>
                <a:latin typeface="Cambria Math"/>
                <a:cs typeface="Cambria Math"/>
              </a:rPr>
              <a:t>𝑐</a:t>
            </a:r>
            <a:endParaRPr>
              <a:latin typeface="Cambria Math"/>
              <a:cs typeface="Cambria Math"/>
            </a:endParaRPr>
          </a:p>
        </p:txBody>
      </p:sp>
      <p:sp>
        <p:nvSpPr>
          <p:cNvPr id="51" name="object 51"/>
          <p:cNvSpPr/>
          <p:nvPr/>
        </p:nvSpPr>
        <p:spPr>
          <a:xfrm>
            <a:off x="3491215" y="5518092"/>
            <a:ext cx="568325" cy="235585"/>
          </a:xfrm>
          <a:custGeom>
            <a:avLst/>
            <a:gdLst/>
            <a:ahLst/>
            <a:cxnLst/>
            <a:rect l="l" t="t" r="r" b="b"/>
            <a:pathLst>
              <a:path w="568325" h="235585">
                <a:moveTo>
                  <a:pt x="493102" y="0"/>
                </a:moveTo>
                <a:lnTo>
                  <a:pt x="489753" y="9550"/>
                </a:lnTo>
                <a:lnTo>
                  <a:pt x="503373" y="15460"/>
                </a:lnTo>
                <a:lnTo>
                  <a:pt x="515085" y="23642"/>
                </a:lnTo>
                <a:lnTo>
                  <a:pt x="538867" y="61566"/>
                </a:lnTo>
                <a:lnTo>
                  <a:pt x="546680" y="116458"/>
                </a:lnTo>
                <a:lnTo>
                  <a:pt x="545808" y="137209"/>
                </a:lnTo>
                <a:lnTo>
                  <a:pt x="532728" y="188019"/>
                </a:lnTo>
                <a:lnTo>
                  <a:pt x="503532" y="219785"/>
                </a:lnTo>
                <a:lnTo>
                  <a:pt x="490126" y="225723"/>
                </a:lnTo>
                <a:lnTo>
                  <a:pt x="493102" y="235272"/>
                </a:lnTo>
                <a:lnTo>
                  <a:pt x="538053" y="208564"/>
                </a:lnTo>
                <a:lnTo>
                  <a:pt x="563300" y="159261"/>
                </a:lnTo>
                <a:lnTo>
                  <a:pt x="568137" y="117698"/>
                </a:lnTo>
                <a:lnTo>
                  <a:pt x="566924" y="96130"/>
                </a:lnTo>
                <a:lnTo>
                  <a:pt x="557219" y="57899"/>
                </a:lnTo>
                <a:lnTo>
                  <a:pt x="525116" y="15084"/>
                </a:lnTo>
                <a:lnTo>
                  <a:pt x="510159" y="6158"/>
                </a:lnTo>
                <a:lnTo>
                  <a:pt x="493102" y="0"/>
                </a:lnTo>
                <a:close/>
              </a:path>
              <a:path w="568325" h="235585">
                <a:moveTo>
                  <a:pt x="75034" y="0"/>
                </a:moveTo>
                <a:lnTo>
                  <a:pt x="30165" y="26777"/>
                </a:lnTo>
                <a:lnTo>
                  <a:pt x="4852" y="76197"/>
                </a:lnTo>
                <a:lnTo>
                  <a:pt x="0" y="117698"/>
                </a:lnTo>
                <a:lnTo>
                  <a:pt x="1209" y="139313"/>
                </a:lnTo>
                <a:lnTo>
                  <a:pt x="10883" y="177543"/>
                </a:lnTo>
                <a:lnTo>
                  <a:pt x="42943" y="220219"/>
                </a:lnTo>
                <a:lnTo>
                  <a:pt x="75034" y="235272"/>
                </a:lnTo>
                <a:lnTo>
                  <a:pt x="78011" y="225723"/>
                </a:lnTo>
                <a:lnTo>
                  <a:pt x="64604" y="219785"/>
                </a:lnTo>
                <a:lnTo>
                  <a:pt x="53035" y="211522"/>
                </a:lnTo>
                <a:lnTo>
                  <a:pt x="29304" y="172989"/>
                </a:lnTo>
                <a:lnTo>
                  <a:pt x="21456" y="116458"/>
                </a:lnTo>
                <a:lnTo>
                  <a:pt x="22328" y="96386"/>
                </a:lnTo>
                <a:lnTo>
                  <a:pt x="35408" y="46819"/>
                </a:lnTo>
                <a:lnTo>
                  <a:pt x="64814" y="15460"/>
                </a:lnTo>
                <a:lnTo>
                  <a:pt x="78383" y="9550"/>
                </a:lnTo>
                <a:lnTo>
                  <a:pt x="75034" y="0"/>
                </a:lnTo>
                <a:close/>
              </a:path>
            </a:pathLst>
          </a:custGeom>
          <a:solidFill>
            <a:srgbClr val="0D0D0D"/>
          </a:solidFill>
        </p:spPr>
        <p:txBody>
          <a:bodyPr wrap="square" lIns="0" tIns="0" rIns="0" bIns="0" rtlCol="0"/>
          <a:lstStyle/>
          <a:p>
            <a:endParaRPr/>
          </a:p>
        </p:txBody>
      </p:sp>
      <p:sp>
        <p:nvSpPr>
          <p:cNvPr id="52" name="object 52"/>
          <p:cNvSpPr txBox="1"/>
          <p:nvPr/>
        </p:nvSpPr>
        <p:spPr>
          <a:xfrm>
            <a:off x="3309062" y="5441591"/>
            <a:ext cx="672465" cy="330200"/>
          </a:xfrm>
          <a:prstGeom prst="rect">
            <a:avLst/>
          </a:prstGeom>
        </p:spPr>
        <p:txBody>
          <a:bodyPr vert="horz" wrap="square" lIns="0" tIns="12700" rIns="0" bIns="0" rtlCol="0">
            <a:spAutoFit/>
          </a:bodyPr>
          <a:lstStyle/>
          <a:p>
            <a:pPr marL="12700">
              <a:spcBef>
                <a:spcPts val="100"/>
              </a:spcBef>
            </a:pPr>
            <a:r>
              <a:rPr sz="2000" dirty="0">
                <a:solidFill>
                  <a:srgbClr val="0D0D0D"/>
                </a:solidFill>
                <a:latin typeface="Cambria Math"/>
                <a:cs typeface="Cambria Math"/>
              </a:rPr>
              <a:t>𝑓 </a:t>
            </a:r>
            <a:r>
              <a:rPr sz="2000" spc="5" dirty="0">
                <a:solidFill>
                  <a:srgbClr val="0D0D0D"/>
                </a:solidFill>
                <a:latin typeface="Cambria Math"/>
                <a:cs typeface="Cambria Math"/>
              </a:rPr>
              <a:t> </a:t>
            </a:r>
            <a:r>
              <a:rPr sz="2000" spc="55" dirty="0">
                <a:solidFill>
                  <a:srgbClr val="0D0D0D"/>
                </a:solidFill>
                <a:latin typeface="Cambria Math"/>
                <a:cs typeface="Cambria Math"/>
              </a:rPr>
              <a:t>𝑥</a:t>
            </a:r>
            <a:r>
              <a:rPr sz="2000" dirty="0">
                <a:solidFill>
                  <a:srgbClr val="0D0D0D"/>
                </a:solidFill>
                <a:latin typeface="Cambria Math"/>
                <a:cs typeface="Cambria Math"/>
              </a:rPr>
              <a:t>;</a:t>
            </a:r>
            <a:r>
              <a:rPr sz="2000" spc="-110" dirty="0">
                <a:solidFill>
                  <a:srgbClr val="0D0D0D"/>
                </a:solidFill>
                <a:latin typeface="Cambria Math"/>
                <a:cs typeface="Cambria Math"/>
              </a:rPr>
              <a:t> </a:t>
            </a:r>
            <a:r>
              <a:rPr sz="2000" dirty="0">
                <a:solidFill>
                  <a:srgbClr val="0D0D0D"/>
                </a:solidFill>
                <a:latin typeface="Cambria Math"/>
                <a:cs typeface="Cambria Math"/>
              </a:rPr>
              <a:t>𝜃</a:t>
            </a:r>
            <a:endParaRPr sz="2000">
              <a:latin typeface="Cambria Math"/>
              <a:cs typeface="Cambria Math"/>
            </a:endParaRPr>
          </a:p>
        </p:txBody>
      </p:sp>
      <p:sp>
        <p:nvSpPr>
          <p:cNvPr id="53" name="object 53"/>
          <p:cNvSpPr/>
          <p:nvPr/>
        </p:nvSpPr>
        <p:spPr>
          <a:xfrm>
            <a:off x="4582717" y="5518092"/>
            <a:ext cx="1558925" cy="235585"/>
          </a:xfrm>
          <a:custGeom>
            <a:avLst/>
            <a:gdLst/>
            <a:ahLst/>
            <a:cxnLst/>
            <a:rect l="l" t="t" r="r" b="b"/>
            <a:pathLst>
              <a:path w="1558925" h="235585">
                <a:moveTo>
                  <a:pt x="1483512" y="0"/>
                </a:moveTo>
                <a:lnTo>
                  <a:pt x="1480163" y="9550"/>
                </a:lnTo>
                <a:lnTo>
                  <a:pt x="1493783" y="15460"/>
                </a:lnTo>
                <a:lnTo>
                  <a:pt x="1505495" y="23642"/>
                </a:lnTo>
                <a:lnTo>
                  <a:pt x="1529277" y="61566"/>
                </a:lnTo>
                <a:lnTo>
                  <a:pt x="1537089" y="116458"/>
                </a:lnTo>
                <a:lnTo>
                  <a:pt x="1536217" y="137209"/>
                </a:lnTo>
                <a:lnTo>
                  <a:pt x="1523137" y="188019"/>
                </a:lnTo>
                <a:lnTo>
                  <a:pt x="1493941" y="219785"/>
                </a:lnTo>
                <a:lnTo>
                  <a:pt x="1480535" y="225723"/>
                </a:lnTo>
                <a:lnTo>
                  <a:pt x="1483512" y="235272"/>
                </a:lnTo>
                <a:lnTo>
                  <a:pt x="1528463" y="208564"/>
                </a:lnTo>
                <a:lnTo>
                  <a:pt x="1553709" y="159261"/>
                </a:lnTo>
                <a:lnTo>
                  <a:pt x="1558546" y="117698"/>
                </a:lnTo>
                <a:lnTo>
                  <a:pt x="1557333" y="96130"/>
                </a:lnTo>
                <a:lnTo>
                  <a:pt x="1547628" y="57899"/>
                </a:lnTo>
                <a:lnTo>
                  <a:pt x="1515525" y="15084"/>
                </a:lnTo>
                <a:lnTo>
                  <a:pt x="1500569" y="6158"/>
                </a:lnTo>
                <a:lnTo>
                  <a:pt x="1483512" y="0"/>
                </a:lnTo>
                <a:close/>
              </a:path>
              <a:path w="1558925" h="235585">
                <a:moveTo>
                  <a:pt x="75034" y="0"/>
                </a:moveTo>
                <a:lnTo>
                  <a:pt x="30165" y="26777"/>
                </a:lnTo>
                <a:lnTo>
                  <a:pt x="4852" y="76197"/>
                </a:lnTo>
                <a:lnTo>
                  <a:pt x="0" y="117698"/>
                </a:lnTo>
                <a:lnTo>
                  <a:pt x="1209" y="139313"/>
                </a:lnTo>
                <a:lnTo>
                  <a:pt x="10883" y="177543"/>
                </a:lnTo>
                <a:lnTo>
                  <a:pt x="42943" y="220219"/>
                </a:lnTo>
                <a:lnTo>
                  <a:pt x="75034" y="235272"/>
                </a:lnTo>
                <a:lnTo>
                  <a:pt x="78011" y="225723"/>
                </a:lnTo>
                <a:lnTo>
                  <a:pt x="64604" y="219785"/>
                </a:lnTo>
                <a:lnTo>
                  <a:pt x="53035" y="211522"/>
                </a:lnTo>
                <a:lnTo>
                  <a:pt x="29304" y="172989"/>
                </a:lnTo>
                <a:lnTo>
                  <a:pt x="21456" y="116458"/>
                </a:lnTo>
                <a:lnTo>
                  <a:pt x="22328" y="96386"/>
                </a:lnTo>
                <a:lnTo>
                  <a:pt x="35408" y="46819"/>
                </a:lnTo>
                <a:lnTo>
                  <a:pt x="64814" y="15460"/>
                </a:lnTo>
                <a:lnTo>
                  <a:pt x="78383" y="9550"/>
                </a:lnTo>
                <a:lnTo>
                  <a:pt x="75034" y="0"/>
                </a:lnTo>
                <a:close/>
              </a:path>
            </a:pathLst>
          </a:custGeom>
          <a:solidFill>
            <a:srgbClr val="0D0D0D"/>
          </a:solidFill>
        </p:spPr>
        <p:txBody>
          <a:bodyPr wrap="square" lIns="0" tIns="0" rIns="0" bIns="0" rtlCol="0"/>
          <a:lstStyle/>
          <a:p>
            <a:endParaRPr/>
          </a:p>
        </p:txBody>
      </p:sp>
      <p:sp>
        <p:nvSpPr>
          <p:cNvPr id="54" name="object 54"/>
          <p:cNvSpPr/>
          <p:nvPr/>
        </p:nvSpPr>
        <p:spPr>
          <a:xfrm>
            <a:off x="7010639" y="5518092"/>
            <a:ext cx="1087755" cy="235585"/>
          </a:xfrm>
          <a:custGeom>
            <a:avLst/>
            <a:gdLst/>
            <a:ahLst/>
            <a:cxnLst/>
            <a:rect l="l" t="t" r="r" b="b"/>
            <a:pathLst>
              <a:path w="1087754" h="235585">
                <a:moveTo>
                  <a:pt x="1012532" y="0"/>
                </a:moveTo>
                <a:lnTo>
                  <a:pt x="1009183" y="9550"/>
                </a:lnTo>
                <a:lnTo>
                  <a:pt x="1022803" y="15460"/>
                </a:lnTo>
                <a:lnTo>
                  <a:pt x="1034515" y="23642"/>
                </a:lnTo>
                <a:lnTo>
                  <a:pt x="1058297" y="61566"/>
                </a:lnTo>
                <a:lnTo>
                  <a:pt x="1066110" y="116458"/>
                </a:lnTo>
                <a:lnTo>
                  <a:pt x="1065238" y="137209"/>
                </a:lnTo>
                <a:lnTo>
                  <a:pt x="1052158" y="188019"/>
                </a:lnTo>
                <a:lnTo>
                  <a:pt x="1022962" y="219785"/>
                </a:lnTo>
                <a:lnTo>
                  <a:pt x="1009556" y="225723"/>
                </a:lnTo>
                <a:lnTo>
                  <a:pt x="1012532" y="235272"/>
                </a:lnTo>
                <a:lnTo>
                  <a:pt x="1057483" y="208564"/>
                </a:lnTo>
                <a:lnTo>
                  <a:pt x="1082730" y="159261"/>
                </a:lnTo>
                <a:lnTo>
                  <a:pt x="1087567" y="117698"/>
                </a:lnTo>
                <a:lnTo>
                  <a:pt x="1086354" y="96130"/>
                </a:lnTo>
                <a:lnTo>
                  <a:pt x="1076649" y="57899"/>
                </a:lnTo>
                <a:lnTo>
                  <a:pt x="1044546" y="15084"/>
                </a:lnTo>
                <a:lnTo>
                  <a:pt x="1029589" y="6158"/>
                </a:lnTo>
                <a:lnTo>
                  <a:pt x="1012532" y="0"/>
                </a:lnTo>
                <a:close/>
              </a:path>
              <a:path w="1087754" h="235585">
                <a:moveTo>
                  <a:pt x="75034" y="0"/>
                </a:moveTo>
                <a:lnTo>
                  <a:pt x="30164" y="26777"/>
                </a:lnTo>
                <a:lnTo>
                  <a:pt x="4852" y="76197"/>
                </a:lnTo>
                <a:lnTo>
                  <a:pt x="0" y="117698"/>
                </a:lnTo>
                <a:lnTo>
                  <a:pt x="1209" y="139313"/>
                </a:lnTo>
                <a:lnTo>
                  <a:pt x="10883" y="177543"/>
                </a:lnTo>
                <a:lnTo>
                  <a:pt x="42943" y="220219"/>
                </a:lnTo>
                <a:lnTo>
                  <a:pt x="75034" y="235272"/>
                </a:lnTo>
                <a:lnTo>
                  <a:pt x="78011" y="225723"/>
                </a:lnTo>
                <a:lnTo>
                  <a:pt x="64604" y="219785"/>
                </a:lnTo>
                <a:lnTo>
                  <a:pt x="53035" y="211522"/>
                </a:lnTo>
                <a:lnTo>
                  <a:pt x="29304" y="172989"/>
                </a:lnTo>
                <a:lnTo>
                  <a:pt x="21456" y="116458"/>
                </a:lnTo>
                <a:lnTo>
                  <a:pt x="22328" y="96386"/>
                </a:lnTo>
                <a:lnTo>
                  <a:pt x="35408" y="46819"/>
                </a:lnTo>
                <a:lnTo>
                  <a:pt x="64814" y="15460"/>
                </a:lnTo>
                <a:lnTo>
                  <a:pt x="78383" y="9550"/>
                </a:lnTo>
                <a:lnTo>
                  <a:pt x="75034" y="0"/>
                </a:lnTo>
                <a:close/>
              </a:path>
            </a:pathLst>
          </a:custGeom>
          <a:solidFill>
            <a:srgbClr val="0D0D0D"/>
          </a:solidFill>
        </p:spPr>
        <p:txBody>
          <a:bodyPr wrap="square" lIns="0" tIns="0" rIns="0" bIns="0" rtlCol="0"/>
          <a:lstStyle/>
          <a:p>
            <a:endParaRPr/>
          </a:p>
        </p:txBody>
      </p:sp>
      <p:sp>
        <p:nvSpPr>
          <p:cNvPr id="55" name="object 55"/>
          <p:cNvSpPr txBox="1"/>
          <p:nvPr/>
        </p:nvSpPr>
        <p:spPr>
          <a:xfrm>
            <a:off x="4101414" y="5441591"/>
            <a:ext cx="4490720" cy="373380"/>
          </a:xfrm>
          <a:prstGeom prst="rect">
            <a:avLst/>
          </a:prstGeom>
        </p:spPr>
        <p:txBody>
          <a:bodyPr vert="horz" wrap="square" lIns="0" tIns="12700" rIns="0" bIns="0" rtlCol="0">
            <a:spAutoFit/>
          </a:bodyPr>
          <a:lstStyle/>
          <a:p>
            <a:pPr marL="50800">
              <a:lnSpc>
                <a:spcPts val="1700"/>
              </a:lnSpc>
              <a:spcBef>
                <a:spcPts val="100"/>
              </a:spcBef>
              <a:tabLst>
                <a:tab pos="2132330" algn="l"/>
                <a:tab pos="4075429" algn="l"/>
              </a:tabLst>
            </a:pPr>
            <a:r>
              <a:rPr sz="2000" dirty="0">
                <a:solidFill>
                  <a:srgbClr val="0D0D0D"/>
                </a:solidFill>
                <a:latin typeface="Cambria Math"/>
                <a:cs typeface="Cambria Math"/>
              </a:rPr>
              <a:t>=</a:t>
            </a:r>
            <a:r>
              <a:rPr sz="2000" spc="120" dirty="0">
                <a:solidFill>
                  <a:srgbClr val="0D0D0D"/>
                </a:solidFill>
                <a:latin typeface="Cambria Math"/>
                <a:cs typeface="Cambria Math"/>
              </a:rPr>
              <a:t> </a:t>
            </a:r>
            <a:r>
              <a:rPr sz="2000" dirty="0">
                <a:solidFill>
                  <a:srgbClr val="0D0D0D"/>
                </a:solidFill>
                <a:latin typeface="Cambria Math"/>
                <a:cs typeface="Cambria Math"/>
              </a:rPr>
              <a:t>𝑓</a:t>
            </a:r>
            <a:r>
              <a:rPr sz="2000" spc="445" dirty="0">
                <a:solidFill>
                  <a:srgbClr val="0D0D0D"/>
                </a:solidFill>
                <a:latin typeface="Cambria Math"/>
                <a:cs typeface="Cambria Math"/>
              </a:rPr>
              <a:t> </a:t>
            </a:r>
            <a:r>
              <a:rPr sz="2000" spc="25" dirty="0">
                <a:solidFill>
                  <a:srgbClr val="0D0D0D"/>
                </a:solidFill>
                <a:latin typeface="Cambria Math"/>
                <a:cs typeface="Cambria Math"/>
              </a:rPr>
              <a:t>𝑥;</a:t>
            </a:r>
            <a:r>
              <a:rPr sz="2000" spc="-105" dirty="0">
                <a:solidFill>
                  <a:srgbClr val="0D0D0D"/>
                </a:solidFill>
                <a:latin typeface="Cambria Math"/>
                <a:cs typeface="Cambria Math"/>
              </a:rPr>
              <a:t> </a:t>
            </a:r>
            <a:r>
              <a:rPr sz="2000" spc="-125" dirty="0">
                <a:solidFill>
                  <a:srgbClr val="0D0D0D"/>
                </a:solidFill>
                <a:latin typeface="Cambria Math"/>
                <a:cs typeface="Cambria Math"/>
              </a:rPr>
              <a:t>𝑤</a:t>
            </a:r>
            <a:r>
              <a:rPr sz="2175" spc="-187" baseline="-15325" dirty="0">
                <a:solidFill>
                  <a:srgbClr val="0D0D0D"/>
                </a:solidFill>
                <a:latin typeface="Cambria Math"/>
                <a:cs typeface="Cambria Math"/>
              </a:rPr>
              <a:t>M</a:t>
            </a:r>
            <a:r>
              <a:rPr sz="2000" spc="-125" dirty="0">
                <a:solidFill>
                  <a:srgbClr val="0D0D0D"/>
                </a:solidFill>
                <a:latin typeface="Cambria Math"/>
                <a:cs typeface="Cambria Math"/>
              </a:rPr>
              <a:t>,</a:t>
            </a:r>
            <a:r>
              <a:rPr sz="2000" spc="-105" dirty="0">
                <a:solidFill>
                  <a:srgbClr val="0D0D0D"/>
                </a:solidFill>
                <a:latin typeface="Cambria Math"/>
                <a:cs typeface="Cambria Math"/>
              </a:rPr>
              <a:t> </a:t>
            </a:r>
            <a:r>
              <a:rPr sz="2000" spc="20" dirty="0">
                <a:solidFill>
                  <a:srgbClr val="0D0D0D"/>
                </a:solidFill>
                <a:latin typeface="Cambria Math"/>
                <a:cs typeface="Cambria Math"/>
              </a:rPr>
              <a:t>𝑏,</a:t>
            </a:r>
            <a:r>
              <a:rPr sz="2000" spc="-105" dirty="0">
                <a:solidFill>
                  <a:srgbClr val="0D0D0D"/>
                </a:solidFill>
                <a:latin typeface="Cambria Math"/>
                <a:cs typeface="Cambria Math"/>
              </a:rPr>
              <a:t> </a:t>
            </a:r>
            <a:r>
              <a:rPr sz="2000" spc="-45" dirty="0">
                <a:solidFill>
                  <a:srgbClr val="0D0D0D"/>
                </a:solidFill>
                <a:latin typeface="Cambria Math"/>
                <a:cs typeface="Cambria Math"/>
              </a:rPr>
              <a:t>𝑤</a:t>
            </a:r>
            <a:r>
              <a:rPr sz="2175" spc="-67" baseline="-15325" dirty="0">
                <a:solidFill>
                  <a:srgbClr val="0D0D0D"/>
                </a:solidFill>
                <a:latin typeface="Cambria Math"/>
                <a:cs typeface="Cambria Math"/>
              </a:rPr>
              <a:t>N</a:t>
            </a:r>
            <a:r>
              <a:rPr sz="2000" spc="-45" dirty="0">
                <a:solidFill>
                  <a:srgbClr val="0D0D0D"/>
                </a:solidFill>
                <a:latin typeface="Cambria Math"/>
                <a:cs typeface="Cambria Math"/>
              </a:rPr>
              <a:t>,</a:t>
            </a:r>
            <a:r>
              <a:rPr sz="2000" spc="-105" dirty="0">
                <a:solidFill>
                  <a:srgbClr val="0D0D0D"/>
                </a:solidFill>
                <a:latin typeface="Cambria Math"/>
                <a:cs typeface="Cambria Math"/>
              </a:rPr>
              <a:t> </a:t>
            </a:r>
            <a:r>
              <a:rPr sz="2000" dirty="0">
                <a:solidFill>
                  <a:srgbClr val="0D0D0D"/>
                </a:solidFill>
                <a:latin typeface="Cambria Math"/>
                <a:cs typeface="Cambria Math"/>
              </a:rPr>
              <a:t>𝑐	=</a:t>
            </a:r>
            <a:r>
              <a:rPr sz="2000" spc="125" dirty="0">
                <a:solidFill>
                  <a:srgbClr val="0D0D0D"/>
                </a:solidFill>
                <a:latin typeface="Cambria Math"/>
                <a:cs typeface="Cambria Math"/>
              </a:rPr>
              <a:t> </a:t>
            </a:r>
            <a:r>
              <a:rPr sz="2000" spc="90" dirty="0">
                <a:solidFill>
                  <a:srgbClr val="0D0D0D"/>
                </a:solidFill>
                <a:latin typeface="Cambria Math"/>
                <a:cs typeface="Cambria Math"/>
              </a:rPr>
              <a:t>𝑤</a:t>
            </a:r>
            <a:r>
              <a:rPr sz="2175" spc="135" baseline="28735" dirty="0">
                <a:solidFill>
                  <a:srgbClr val="0D0D0D"/>
                </a:solidFill>
                <a:latin typeface="Cambria Math"/>
                <a:cs typeface="Cambria Math"/>
              </a:rPr>
              <a:t>𝑇</a:t>
            </a:r>
            <a:r>
              <a:rPr sz="2000" spc="90" dirty="0">
                <a:solidFill>
                  <a:srgbClr val="0D0D0D"/>
                </a:solidFill>
                <a:latin typeface="Cambria Math"/>
                <a:cs typeface="Cambria Math"/>
              </a:rPr>
              <a:t>𝑔</a:t>
            </a:r>
            <a:r>
              <a:rPr sz="2000" spc="425" dirty="0">
                <a:solidFill>
                  <a:srgbClr val="0D0D0D"/>
                </a:solidFill>
                <a:latin typeface="Cambria Math"/>
                <a:cs typeface="Cambria Math"/>
              </a:rPr>
              <a:t> </a:t>
            </a:r>
            <a:r>
              <a:rPr sz="2000" spc="90" dirty="0">
                <a:solidFill>
                  <a:srgbClr val="0D0D0D"/>
                </a:solidFill>
                <a:latin typeface="Cambria Math"/>
                <a:cs typeface="Cambria Math"/>
              </a:rPr>
              <a:t>𝑤</a:t>
            </a:r>
            <a:r>
              <a:rPr sz="2175" spc="135" baseline="28735" dirty="0">
                <a:solidFill>
                  <a:srgbClr val="0D0D0D"/>
                </a:solidFill>
                <a:latin typeface="Cambria Math"/>
                <a:cs typeface="Cambria Math"/>
              </a:rPr>
              <a:t>𝑇</a:t>
            </a:r>
            <a:r>
              <a:rPr sz="2000" spc="90" dirty="0">
                <a:solidFill>
                  <a:srgbClr val="0D0D0D"/>
                </a:solidFill>
                <a:latin typeface="Cambria Math"/>
                <a:cs typeface="Cambria Math"/>
              </a:rPr>
              <a:t>𝑥</a:t>
            </a:r>
            <a:r>
              <a:rPr sz="2000" spc="60" dirty="0">
                <a:solidFill>
                  <a:srgbClr val="0D0D0D"/>
                </a:solidFill>
                <a:latin typeface="Cambria Math"/>
                <a:cs typeface="Cambria Math"/>
              </a:rPr>
              <a:t> </a:t>
            </a:r>
            <a:r>
              <a:rPr sz="2000" dirty="0">
                <a:solidFill>
                  <a:srgbClr val="0D0D0D"/>
                </a:solidFill>
                <a:latin typeface="Cambria Math"/>
                <a:cs typeface="Cambria Math"/>
              </a:rPr>
              <a:t>+</a:t>
            </a:r>
            <a:r>
              <a:rPr sz="2000" spc="5" dirty="0">
                <a:solidFill>
                  <a:srgbClr val="0D0D0D"/>
                </a:solidFill>
                <a:latin typeface="Cambria Math"/>
                <a:cs typeface="Cambria Math"/>
              </a:rPr>
              <a:t> </a:t>
            </a:r>
            <a:r>
              <a:rPr sz="2000" dirty="0">
                <a:solidFill>
                  <a:srgbClr val="0D0D0D"/>
                </a:solidFill>
                <a:latin typeface="Cambria Math"/>
                <a:cs typeface="Cambria Math"/>
              </a:rPr>
              <a:t>𝑏	+</a:t>
            </a:r>
            <a:r>
              <a:rPr sz="2000" spc="-45" dirty="0">
                <a:solidFill>
                  <a:srgbClr val="0D0D0D"/>
                </a:solidFill>
                <a:latin typeface="Cambria Math"/>
                <a:cs typeface="Cambria Math"/>
              </a:rPr>
              <a:t> </a:t>
            </a:r>
            <a:r>
              <a:rPr sz="2000" dirty="0">
                <a:solidFill>
                  <a:srgbClr val="0D0D0D"/>
                </a:solidFill>
                <a:latin typeface="Cambria Math"/>
                <a:cs typeface="Cambria Math"/>
              </a:rPr>
              <a:t>𝑐</a:t>
            </a:r>
            <a:endParaRPr sz="2000">
              <a:latin typeface="Cambria Math"/>
              <a:cs typeface="Cambria Math"/>
            </a:endParaRPr>
          </a:p>
          <a:p>
            <a:pPr marL="2572385">
              <a:lnSpc>
                <a:spcPts val="1040"/>
              </a:lnSpc>
              <a:tabLst>
                <a:tab pos="3164840" algn="l"/>
              </a:tabLst>
            </a:pPr>
            <a:r>
              <a:rPr sz="1450" spc="-140" dirty="0">
                <a:solidFill>
                  <a:srgbClr val="0D0D0D"/>
                </a:solidFill>
                <a:latin typeface="Cambria Math"/>
                <a:cs typeface="Cambria Math"/>
              </a:rPr>
              <a:t>N	</a:t>
            </a:r>
            <a:r>
              <a:rPr sz="1450" spc="-335" dirty="0">
                <a:solidFill>
                  <a:srgbClr val="0D0D0D"/>
                </a:solidFill>
                <a:latin typeface="Cambria Math"/>
                <a:cs typeface="Cambria Math"/>
              </a:rPr>
              <a:t>M</a:t>
            </a:r>
            <a:endParaRPr sz="1450">
              <a:latin typeface="Cambria Math"/>
              <a:cs typeface="Cambria Math"/>
            </a:endParaRPr>
          </a:p>
        </p:txBody>
      </p:sp>
    </p:spTree>
    <p:extLst>
      <p:ext uri="{BB962C8B-B14F-4D97-AF65-F5344CB8AC3E}">
        <p14:creationId xmlns:p14="http://schemas.microsoft.com/office/powerpoint/2010/main" val="349395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5347-E6EC-5640-1DA3-A953FA64BF60}"/>
              </a:ext>
            </a:extLst>
          </p:cNvPr>
          <p:cNvSpPr>
            <a:spLocks noGrp="1"/>
          </p:cNvSpPr>
          <p:nvPr>
            <p:ph type="title"/>
          </p:nvPr>
        </p:nvSpPr>
        <p:spPr/>
        <p:txBody>
          <a:bodyPr/>
          <a:lstStyle/>
          <a:p>
            <a:r>
              <a:rPr lang="en-IN" dirty="0"/>
              <a:t>Example :</a:t>
            </a:r>
          </a:p>
        </p:txBody>
      </p:sp>
      <p:pic>
        <p:nvPicPr>
          <p:cNvPr id="7" name="Content Placeholder 6">
            <a:extLst>
              <a:ext uri="{FF2B5EF4-FFF2-40B4-BE49-F238E27FC236}">
                <a16:creationId xmlns:a16="http://schemas.microsoft.com/office/drawing/2014/main" id="{349C78D9-98D0-A351-9BC2-EB6BEB0EE519}"/>
              </a:ext>
            </a:extLst>
          </p:cNvPr>
          <p:cNvPicPr>
            <a:picLocks noGrp="1" noChangeAspect="1"/>
          </p:cNvPicPr>
          <p:nvPr>
            <p:ph idx="1"/>
          </p:nvPr>
        </p:nvPicPr>
        <p:blipFill>
          <a:blip r:embed="rId2"/>
          <a:stretch>
            <a:fillRect/>
          </a:stretch>
        </p:blipFill>
        <p:spPr>
          <a:xfrm>
            <a:off x="2270413" y="1825625"/>
            <a:ext cx="7651173" cy="4351338"/>
          </a:xfrm>
        </p:spPr>
      </p:pic>
      <p:pic>
        <p:nvPicPr>
          <p:cNvPr id="5" name="Picture 4">
            <a:extLst>
              <a:ext uri="{FF2B5EF4-FFF2-40B4-BE49-F238E27FC236}">
                <a16:creationId xmlns:a16="http://schemas.microsoft.com/office/drawing/2014/main" id="{7F53056B-C526-72B6-6CE4-CF79B3A06AC8}"/>
              </a:ext>
            </a:extLst>
          </p:cNvPr>
          <p:cNvPicPr>
            <a:picLocks noChangeAspect="1"/>
          </p:cNvPicPr>
          <p:nvPr/>
        </p:nvPicPr>
        <p:blipFill>
          <a:blip r:embed="rId2"/>
          <a:stretch>
            <a:fillRect/>
          </a:stretch>
        </p:blipFill>
        <p:spPr>
          <a:xfrm>
            <a:off x="1832966" y="1690688"/>
            <a:ext cx="8526065" cy="4848902"/>
          </a:xfrm>
          <a:prstGeom prst="rect">
            <a:avLst/>
          </a:prstGeom>
        </p:spPr>
      </p:pic>
    </p:spTree>
    <p:extLst>
      <p:ext uri="{BB962C8B-B14F-4D97-AF65-F5344CB8AC3E}">
        <p14:creationId xmlns:p14="http://schemas.microsoft.com/office/powerpoint/2010/main" val="1179602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TotalTime>
  <Words>2048</Words>
  <Application>Microsoft Office PowerPoint</Application>
  <PresentationFormat>Widescreen</PresentationFormat>
  <Paragraphs>152</Paragraphs>
  <Slides>29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Malgun Gothic</vt:lpstr>
      <vt:lpstr>Aptos</vt:lpstr>
      <vt:lpstr>Aptos Display</vt:lpstr>
      <vt:lpstr>Arial</vt:lpstr>
      <vt:lpstr>Arial MT</vt:lpstr>
      <vt:lpstr>Cambria Math</vt:lpstr>
      <vt:lpstr>KaTeX_Main</vt:lpstr>
      <vt:lpstr>KaTeX_Math</vt:lpstr>
      <vt:lpstr>Symbol</vt:lpstr>
      <vt:lpstr>Times New Roman</vt:lpstr>
      <vt:lpstr>Office Theme</vt:lpstr>
      <vt:lpstr>Introduction to Deep Learning</vt:lpstr>
      <vt:lpstr>Difference between Artificial Intelligence (AI), Machine Learning (ML) and Deep Learning (DL)</vt:lpstr>
      <vt:lpstr>Where Deep Learning Lies</vt:lpstr>
      <vt:lpstr>PowerPoint Presentation</vt:lpstr>
      <vt:lpstr>Deep learning</vt:lpstr>
      <vt:lpstr>PowerPoint Presentation</vt:lpstr>
      <vt:lpstr>DEEP FEEDFORWARD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Functions in feed forward neural network</vt:lpstr>
      <vt:lpstr>Cost function</vt:lpstr>
      <vt:lpstr>Loss function</vt:lpstr>
      <vt:lpstr>Gradient learning algorithm</vt:lpstr>
      <vt:lpstr>Output units</vt:lpstr>
      <vt:lpstr>Example: Learning XOR</vt:lpstr>
      <vt:lpstr>XOR</vt:lpstr>
      <vt:lpstr>PowerPoint Presentation</vt:lpstr>
      <vt:lpstr>Example: Learning XOR</vt:lpstr>
      <vt:lpstr>PowerPoint Presentation</vt:lpstr>
      <vt:lpstr>PowerPoint Presentation</vt:lpstr>
      <vt:lpstr>PowerPoint Presentation</vt:lpstr>
      <vt:lpstr>PowerPoint Presentation</vt:lpstr>
      <vt:lpstr>Example: Learning XOR</vt:lpstr>
      <vt:lpstr>Example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Deep Learning</dc:title>
  <dc:creator>Thamizharasi Nandakumar</dc:creator>
  <cp:lastModifiedBy>Thamizharasi Nandakumar</cp:lastModifiedBy>
  <cp:revision>6</cp:revision>
  <dcterms:created xsi:type="dcterms:W3CDTF">2025-07-05T10:11:24Z</dcterms:created>
  <dcterms:modified xsi:type="dcterms:W3CDTF">2025-07-14T13:55:49Z</dcterms:modified>
</cp:coreProperties>
</file>