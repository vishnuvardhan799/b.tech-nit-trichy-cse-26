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4" r:id="rId7"/>
    <p:sldId id="265" r:id="rId8"/>
    <p:sldId id="266" r:id="rId9"/>
    <p:sldId id="268" r:id="rId10"/>
    <p:sldId id="269" r:id="rId11"/>
    <p:sldId id="270" r:id="rId12"/>
    <p:sldId id="271" r:id="rId13"/>
    <p:sldId id="272" r:id="rId14"/>
    <p:sldId id="273" r:id="rId15"/>
    <p:sldId id="275" r:id="rId16"/>
    <p:sldId id="276" r:id="rId17"/>
    <p:sldId id="277" r:id="rId18"/>
    <p:sldId id="284" r:id="rId19"/>
    <p:sldId id="278" r:id="rId20"/>
    <p:sldId id="279" r:id="rId21"/>
    <p:sldId id="280" r:id="rId22"/>
    <p:sldId id="281" r:id="rId23"/>
    <p:sldId id="282" r:id="rId24"/>
    <p:sldId id="28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98" d="100"/>
          <a:sy n="98" d="100"/>
        </p:scale>
        <p:origin x="110"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unni Ranadeesh" userId="03c1ed1ded996da4" providerId="LiveId" clId="{3EE4009B-EA70-434F-95E1-E49B0EB28BBC}"/>
    <pc:docChg chg="modSld">
      <pc:chgData name="Bunni Ranadeesh" userId="03c1ed1ded996da4" providerId="LiveId" clId="{3EE4009B-EA70-434F-95E1-E49B0EB28BBC}" dt="2025-08-19T19:00:43.303" v="9" actId="13926"/>
      <pc:docMkLst>
        <pc:docMk/>
      </pc:docMkLst>
      <pc:sldChg chg="modSp mod">
        <pc:chgData name="Bunni Ranadeesh" userId="03c1ed1ded996da4" providerId="LiveId" clId="{3EE4009B-EA70-434F-95E1-E49B0EB28BBC}" dt="2025-08-19T18:40:26.142" v="1" actId="13926"/>
        <pc:sldMkLst>
          <pc:docMk/>
          <pc:sldMk cId="3489656279" sldId="269"/>
        </pc:sldMkLst>
        <pc:spChg chg="mod">
          <ac:chgData name="Bunni Ranadeesh" userId="03c1ed1ded996da4" providerId="LiveId" clId="{3EE4009B-EA70-434F-95E1-E49B0EB28BBC}" dt="2025-08-19T18:40:26.142" v="1" actId="13926"/>
          <ac:spMkLst>
            <pc:docMk/>
            <pc:sldMk cId="3489656279" sldId="269"/>
            <ac:spMk id="3" creationId="{00000000-0000-0000-0000-000000000000}"/>
          </ac:spMkLst>
        </pc:spChg>
      </pc:sldChg>
      <pc:sldChg chg="modSp mod">
        <pc:chgData name="Bunni Ranadeesh" userId="03c1ed1ded996da4" providerId="LiveId" clId="{3EE4009B-EA70-434F-95E1-E49B0EB28BBC}" dt="2025-08-19T18:41:02.291" v="2" actId="13926"/>
        <pc:sldMkLst>
          <pc:docMk/>
          <pc:sldMk cId="2213790454" sldId="270"/>
        </pc:sldMkLst>
        <pc:spChg chg="mod">
          <ac:chgData name="Bunni Ranadeesh" userId="03c1ed1ded996da4" providerId="LiveId" clId="{3EE4009B-EA70-434F-95E1-E49B0EB28BBC}" dt="2025-08-19T18:41:02.291" v="2" actId="13926"/>
          <ac:spMkLst>
            <pc:docMk/>
            <pc:sldMk cId="2213790454" sldId="270"/>
            <ac:spMk id="3" creationId="{00000000-0000-0000-0000-000000000000}"/>
          </ac:spMkLst>
        </pc:spChg>
      </pc:sldChg>
      <pc:sldChg chg="modSp mod">
        <pc:chgData name="Bunni Ranadeesh" userId="03c1ed1ded996da4" providerId="LiveId" clId="{3EE4009B-EA70-434F-95E1-E49B0EB28BBC}" dt="2025-08-19T18:44:14.904" v="3" actId="13926"/>
        <pc:sldMkLst>
          <pc:docMk/>
          <pc:sldMk cId="4193524783" sldId="273"/>
        </pc:sldMkLst>
        <pc:spChg chg="mod">
          <ac:chgData name="Bunni Ranadeesh" userId="03c1ed1ded996da4" providerId="LiveId" clId="{3EE4009B-EA70-434F-95E1-E49B0EB28BBC}" dt="2025-08-19T18:44:14.904" v="3" actId="13926"/>
          <ac:spMkLst>
            <pc:docMk/>
            <pc:sldMk cId="4193524783" sldId="273"/>
            <ac:spMk id="3" creationId="{00000000-0000-0000-0000-000000000000}"/>
          </ac:spMkLst>
        </pc:spChg>
      </pc:sldChg>
      <pc:sldChg chg="modSp mod">
        <pc:chgData name="Bunni Ranadeesh" userId="03c1ed1ded996da4" providerId="LiveId" clId="{3EE4009B-EA70-434F-95E1-E49B0EB28BBC}" dt="2025-08-19T18:53:15.686" v="7" actId="13926"/>
        <pc:sldMkLst>
          <pc:docMk/>
          <pc:sldMk cId="1099138870" sldId="276"/>
        </pc:sldMkLst>
        <pc:spChg chg="mod">
          <ac:chgData name="Bunni Ranadeesh" userId="03c1ed1ded996da4" providerId="LiveId" clId="{3EE4009B-EA70-434F-95E1-E49B0EB28BBC}" dt="2025-08-19T18:53:15.686" v="7" actId="13926"/>
          <ac:spMkLst>
            <pc:docMk/>
            <pc:sldMk cId="1099138870" sldId="276"/>
            <ac:spMk id="3" creationId="{39BFC75C-B637-4415-A78E-E26F60AF849F}"/>
          </ac:spMkLst>
        </pc:spChg>
      </pc:sldChg>
      <pc:sldChg chg="modSp mod">
        <pc:chgData name="Bunni Ranadeesh" userId="03c1ed1ded996da4" providerId="LiveId" clId="{3EE4009B-EA70-434F-95E1-E49B0EB28BBC}" dt="2025-08-19T18:52:26.762" v="6" actId="13926"/>
        <pc:sldMkLst>
          <pc:docMk/>
          <pc:sldMk cId="778242864" sldId="277"/>
        </pc:sldMkLst>
        <pc:spChg chg="mod">
          <ac:chgData name="Bunni Ranadeesh" userId="03c1ed1ded996da4" providerId="LiveId" clId="{3EE4009B-EA70-434F-95E1-E49B0EB28BBC}" dt="2025-08-19T18:52:26.762" v="6" actId="13926"/>
          <ac:spMkLst>
            <pc:docMk/>
            <pc:sldMk cId="778242864" sldId="277"/>
            <ac:spMk id="3" creationId="{02F091E2-B75C-45E8-A463-9FE1D814A22B}"/>
          </ac:spMkLst>
        </pc:spChg>
      </pc:sldChg>
      <pc:sldChg chg="modSp mod">
        <pc:chgData name="Bunni Ranadeesh" userId="03c1ed1ded996da4" providerId="LiveId" clId="{3EE4009B-EA70-434F-95E1-E49B0EB28BBC}" dt="2025-08-19T19:00:43.303" v="9" actId="13926"/>
        <pc:sldMkLst>
          <pc:docMk/>
          <pc:sldMk cId="3798165914" sldId="282"/>
        </pc:sldMkLst>
        <pc:spChg chg="mod">
          <ac:chgData name="Bunni Ranadeesh" userId="03c1ed1ded996da4" providerId="LiveId" clId="{3EE4009B-EA70-434F-95E1-E49B0EB28BBC}" dt="2025-08-19T19:00:43.303" v="9" actId="13926"/>
          <ac:spMkLst>
            <pc:docMk/>
            <pc:sldMk cId="3798165914" sldId="282"/>
            <ac:spMk id="3" creationId="{09AD7304-AB6B-4F51-920D-80F97AE8A19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873E573-ABAB-439D-BF63-83449C1D5F74}" type="datetimeFigureOut">
              <a:rPr lang="en-IN" smtClean="0"/>
              <a:t>19-08-2025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51AA51-D1CD-4EDC-B438-8DD20C102530}" type="slidenum">
              <a:rPr lang="en-IN" smtClean="0"/>
              <a:t>‹#›</a:t>
            </a:fld>
            <a:endParaRPr lang="en-IN"/>
          </a:p>
        </p:txBody>
      </p:sp>
    </p:spTree>
    <p:extLst>
      <p:ext uri="{BB962C8B-B14F-4D97-AF65-F5344CB8AC3E}">
        <p14:creationId xmlns:p14="http://schemas.microsoft.com/office/powerpoint/2010/main" val="448744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873E573-ABAB-439D-BF63-83449C1D5F74}" type="datetimeFigureOut">
              <a:rPr lang="en-IN" smtClean="0"/>
              <a:t>19-08-2025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51AA51-D1CD-4EDC-B438-8DD20C102530}" type="slidenum">
              <a:rPr lang="en-IN" smtClean="0"/>
              <a:t>‹#›</a:t>
            </a:fld>
            <a:endParaRPr lang="en-IN"/>
          </a:p>
        </p:txBody>
      </p:sp>
    </p:spTree>
    <p:extLst>
      <p:ext uri="{BB962C8B-B14F-4D97-AF65-F5344CB8AC3E}">
        <p14:creationId xmlns:p14="http://schemas.microsoft.com/office/powerpoint/2010/main" val="9910333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873E573-ABAB-439D-BF63-83449C1D5F74}" type="datetimeFigureOut">
              <a:rPr lang="en-IN" smtClean="0"/>
              <a:t>19-08-2025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51AA51-D1CD-4EDC-B438-8DD20C102530}" type="slidenum">
              <a:rPr lang="en-IN" smtClean="0"/>
              <a:t>‹#›</a:t>
            </a:fld>
            <a:endParaRPr lang="en-IN"/>
          </a:p>
        </p:txBody>
      </p:sp>
    </p:spTree>
    <p:extLst>
      <p:ext uri="{BB962C8B-B14F-4D97-AF65-F5344CB8AC3E}">
        <p14:creationId xmlns:p14="http://schemas.microsoft.com/office/powerpoint/2010/main" val="2764535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873E573-ABAB-439D-BF63-83449C1D5F74}" type="datetimeFigureOut">
              <a:rPr lang="en-IN" smtClean="0"/>
              <a:t>19-08-2025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051AA51-D1CD-4EDC-B438-8DD20C102530}" type="slidenum">
              <a:rPr lang="en-IN" smtClean="0"/>
              <a:t>‹#›</a:t>
            </a:fld>
            <a:endParaRPr lang="en-IN"/>
          </a:p>
        </p:txBody>
      </p:sp>
    </p:spTree>
    <p:extLst>
      <p:ext uri="{BB962C8B-B14F-4D97-AF65-F5344CB8AC3E}">
        <p14:creationId xmlns:p14="http://schemas.microsoft.com/office/powerpoint/2010/main" val="3338976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873E573-ABAB-439D-BF63-83449C1D5F74}" type="datetimeFigureOut">
              <a:rPr lang="en-IN" smtClean="0"/>
              <a:t>19-08-2025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051AA51-D1CD-4EDC-B438-8DD20C102530}" type="slidenum">
              <a:rPr lang="en-IN" smtClean="0"/>
              <a:t>‹#›</a:t>
            </a:fld>
            <a:endParaRPr lang="en-IN"/>
          </a:p>
        </p:txBody>
      </p:sp>
    </p:spTree>
    <p:extLst>
      <p:ext uri="{BB962C8B-B14F-4D97-AF65-F5344CB8AC3E}">
        <p14:creationId xmlns:p14="http://schemas.microsoft.com/office/powerpoint/2010/main" val="13017230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873E573-ABAB-439D-BF63-83449C1D5F74}" type="datetimeFigureOut">
              <a:rPr lang="en-IN" smtClean="0"/>
              <a:t>19-08-2025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051AA51-D1CD-4EDC-B438-8DD20C102530}" type="slidenum">
              <a:rPr lang="en-IN" smtClean="0"/>
              <a:t>‹#›</a:t>
            </a:fld>
            <a:endParaRPr lang="en-IN"/>
          </a:p>
        </p:txBody>
      </p:sp>
    </p:spTree>
    <p:extLst>
      <p:ext uri="{BB962C8B-B14F-4D97-AF65-F5344CB8AC3E}">
        <p14:creationId xmlns:p14="http://schemas.microsoft.com/office/powerpoint/2010/main" val="363221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73E573-ABAB-439D-BF63-83449C1D5F74}" type="datetimeFigureOut">
              <a:rPr lang="en-IN" smtClean="0"/>
              <a:t>19-08-2025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051AA51-D1CD-4EDC-B438-8DD20C102530}" type="slidenum">
              <a:rPr lang="en-IN" smtClean="0"/>
              <a:t>‹#›</a:t>
            </a:fld>
            <a:endParaRPr lang="en-IN"/>
          </a:p>
        </p:txBody>
      </p:sp>
    </p:spTree>
    <p:extLst>
      <p:ext uri="{BB962C8B-B14F-4D97-AF65-F5344CB8AC3E}">
        <p14:creationId xmlns:p14="http://schemas.microsoft.com/office/powerpoint/2010/main" val="11247116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873E573-ABAB-439D-BF63-83449C1D5F74}" type="datetimeFigureOut">
              <a:rPr lang="en-IN" smtClean="0"/>
              <a:t>19-08-2025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051AA51-D1CD-4EDC-B438-8DD20C102530}" type="slidenum">
              <a:rPr lang="en-IN" smtClean="0"/>
              <a:t>‹#›</a:t>
            </a:fld>
            <a:endParaRPr lang="en-IN"/>
          </a:p>
        </p:txBody>
      </p:sp>
    </p:spTree>
    <p:extLst>
      <p:ext uri="{BB962C8B-B14F-4D97-AF65-F5344CB8AC3E}">
        <p14:creationId xmlns:p14="http://schemas.microsoft.com/office/powerpoint/2010/main" val="367866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873E573-ABAB-439D-BF63-83449C1D5F74}" type="datetimeFigureOut">
              <a:rPr lang="en-IN" smtClean="0"/>
              <a:t>19-08-2025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051AA51-D1CD-4EDC-B438-8DD20C102530}" type="slidenum">
              <a:rPr lang="en-IN" smtClean="0"/>
              <a:t>‹#›</a:t>
            </a:fld>
            <a:endParaRPr lang="en-IN"/>
          </a:p>
        </p:txBody>
      </p:sp>
    </p:spTree>
    <p:extLst>
      <p:ext uri="{BB962C8B-B14F-4D97-AF65-F5344CB8AC3E}">
        <p14:creationId xmlns:p14="http://schemas.microsoft.com/office/powerpoint/2010/main" val="2793234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873E573-ABAB-439D-BF63-83449C1D5F74}" type="datetimeFigureOut">
              <a:rPr lang="en-IN" smtClean="0"/>
              <a:t>19-08-2025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51AA51-D1CD-4EDC-B438-8DD20C102530}" type="slidenum">
              <a:rPr lang="en-IN" smtClean="0"/>
              <a:t>‹#›</a:t>
            </a:fld>
            <a:endParaRPr lang="en-IN"/>
          </a:p>
        </p:txBody>
      </p:sp>
    </p:spTree>
    <p:extLst>
      <p:ext uri="{BB962C8B-B14F-4D97-AF65-F5344CB8AC3E}">
        <p14:creationId xmlns:p14="http://schemas.microsoft.com/office/powerpoint/2010/main" val="3125513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873E573-ABAB-439D-BF63-83449C1D5F74}" type="datetimeFigureOut">
              <a:rPr lang="en-IN" smtClean="0"/>
              <a:t>19-08-2025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051AA51-D1CD-4EDC-B438-8DD20C102530}" type="slidenum">
              <a:rPr lang="en-IN" smtClean="0"/>
              <a:t>‹#›</a:t>
            </a:fld>
            <a:endParaRPr lang="en-IN"/>
          </a:p>
        </p:txBody>
      </p:sp>
    </p:spTree>
    <p:extLst>
      <p:ext uri="{BB962C8B-B14F-4D97-AF65-F5344CB8AC3E}">
        <p14:creationId xmlns:p14="http://schemas.microsoft.com/office/powerpoint/2010/main" val="747908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873E573-ABAB-439D-BF63-83449C1D5F74}" type="datetimeFigureOut">
              <a:rPr lang="en-IN" smtClean="0"/>
              <a:t>19-08-2025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051AA51-D1CD-4EDC-B438-8DD20C102530}" type="slidenum">
              <a:rPr lang="en-IN" smtClean="0"/>
              <a:t>‹#›</a:t>
            </a:fld>
            <a:endParaRPr lang="en-IN"/>
          </a:p>
        </p:txBody>
      </p:sp>
    </p:spTree>
    <p:extLst>
      <p:ext uri="{BB962C8B-B14F-4D97-AF65-F5344CB8AC3E}">
        <p14:creationId xmlns:p14="http://schemas.microsoft.com/office/powerpoint/2010/main" val="32799790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071268"/>
            <a:ext cx="9144000" cy="2387600"/>
          </a:xfrm>
        </p:spPr>
        <p:txBody>
          <a:bodyPr>
            <a:normAutofit/>
          </a:bodyPr>
          <a:lstStyle/>
          <a:p>
            <a:r>
              <a:rPr lang="en-IN" b="1" dirty="0"/>
              <a:t>Regularization Techniques in Deep Learning</a:t>
            </a:r>
            <a:endParaRPr lang="en-IN" dirty="0"/>
          </a:p>
        </p:txBody>
      </p:sp>
    </p:spTree>
    <p:extLst>
      <p:ext uri="{BB962C8B-B14F-4D97-AF65-F5344CB8AC3E}">
        <p14:creationId xmlns:p14="http://schemas.microsoft.com/office/powerpoint/2010/main" val="10148696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81676" y="1084772"/>
            <a:ext cx="7819048" cy="2066667"/>
          </a:xfrm>
          <a:prstGeom prst="rect">
            <a:avLst/>
          </a:prstGeom>
          <a:noFill/>
          <a:ln>
            <a:noFill/>
          </a:ln>
        </p:spPr>
      </p:pic>
      <p:sp>
        <p:nvSpPr>
          <p:cNvPr id="5" name="Rectangle 4"/>
          <p:cNvSpPr/>
          <p:nvPr/>
        </p:nvSpPr>
        <p:spPr>
          <a:xfrm>
            <a:off x="1173192" y="3774176"/>
            <a:ext cx="9842740" cy="1878206"/>
          </a:xfrm>
          <a:prstGeom prst="rect">
            <a:avLst/>
          </a:prstGeom>
        </p:spPr>
        <p:txBody>
          <a:bodyPr wrap="square">
            <a:spAutoFit/>
          </a:bodyPr>
          <a:lstStyle/>
          <a:p>
            <a:pPr marL="285750" indent="-285750">
              <a:lnSpc>
                <a:spcPct val="107000"/>
              </a:lnSpc>
              <a:spcAft>
                <a:spcPts val="1200"/>
              </a:spcAft>
              <a:buFont typeface="Arial" panose="020B0604020202020204" pitchFamily="34" charset="0"/>
              <a:buChar char="•"/>
            </a:pPr>
            <a:r>
              <a:rPr lang="en-IN" sz="2000" dirty="0">
                <a:ea typeface="Times New Roman" panose="02020603050405020304" pitchFamily="18" charset="0"/>
                <a:cs typeface="Times New Roman" panose="02020603050405020304" pitchFamily="18" charset="0"/>
              </a:rPr>
              <a:t>As we move towards the right in this image, our model tries to learn too well the details and the noise from the training data, which ultimately results in poor performance on the unseen data.</a:t>
            </a:r>
          </a:p>
          <a:p>
            <a:pPr marL="285750" indent="-285750">
              <a:lnSpc>
                <a:spcPct val="107000"/>
              </a:lnSpc>
              <a:spcAft>
                <a:spcPts val="1200"/>
              </a:spcAft>
              <a:buFont typeface="Arial" panose="020B0604020202020204" pitchFamily="34" charset="0"/>
              <a:buChar char="•"/>
            </a:pPr>
            <a:r>
              <a:rPr lang="en-IN" sz="2000" dirty="0"/>
              <a:t>In other words, while going towards the right, the complexity of the model increases such that the training error reduces but the testing error doesn’t. </a:t>
            </a:r>
            <a:endParaRPr lang="en-IN" sz="20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80891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40823" y="1253331"/>
            <a:ext cx="5644979" cy="4351338"/>
          </a:xfrm>
          <a:prstGeom prst="rect">
            <a:avLst/>
          </a:prstGeom>
          <a:noFill/>
        </p:spPr>
      </p:pic>
      <p:sp>
        <p:nvSpPr>
          <p:cNvPr id="5" name="Rectangle 4"/>
          <p:cNvSpPr/>
          <p:nvPr/>
        </p:nvSpPr>
        <p:spPr>
          <a:xfrm>
            <a:off x="7189685" y="2328961"/>
            <a:ext cx="3861492" cy="685059"/>
          </a:xfrm>
          <a:prstGeom prst="rect">
            <a:avLst/>
          </a:prstGeom>
        </p:spPr>
        <p:txBody>
          <a:bodyPr wrap="square">
            <a:spAutoFit/>
          </a:bodyPr>
          <a:lstStyle/>
          <a:p>
            <a:pPr>
              <a:lnSpc>
                <a:spcPct val="107000"/>
              </a:lnSpc>
              <a:spcAft>
                <a:spcPts val="1200"/>
              </a:spcAft>
            </a:pPr>
            <a:r>
              <a:rPr lang="en-IN" dirty="0">
                <a:latin typeface="Arial" panose="020B0604020202020204" pitchFamily="34" charset="0"/>
                <a:ea typeface="Times New Roman" panose="02020603050405020304" pitchFamily="18" charset="0"/>
                <a:cs typeface="Times New Roman" panose="02020603050405020304" pitchFamily="18" charset="0"/>
              </a:rPr>
              <a:t>This makes the neural network more prone to overfitting.</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67848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Regularization</a:t>
            </a:r>
            <a:endParaRPr lang="en-IN" dirty="0"/>
          </a:p>
        </p:txBody>
      </p:sp>
      <p:sp>
        <p:nvSpPr>
          <p:cNvPr id="3" name="Content Placeholder 2"/>
          <p:cNvSpPr>
            <a:spLocks noGrp="1"/>
          </p:cNvSpPr>
          <p:nvPr>
            <p:ph idx="1"/>
          </p:nvPr>
        </p:nvSpPr>
        <p:spPr/>
        <p:txBody>
          <a:bodyPr/>
          <a:lstStyle/>
          <a:p>
            <a:r>
              <a:rPr lang="en-IN" b="1" dirty="0"/>
              <a:t>Regularization</a:t>
            </a:r>
            <a:r>
              <a:rPr lang="en-IN" dirty="0"/>
              <a:t> is a technique which makes slight modifications to the learning algorithm such that the model generalizes better. This in turn improves the model’s performance on the unseen data as well.</a:t>
            </a:r>
          </a:p>
          <a:p>
            <a:r>
              <a:rPr lang="en-IN" dirty="0"/>
              <a:t>According to Ian </a:t>
            </a:r>
            <a:r>
              <a:rPr lang="en-IN" dirty="0" err="1"/>
              <a:t>Goodfellow</a:t>
            </a:r>
            <a:r>
              <a:rPr lang="en-IN" dirty="0"/>
              <a:t>, </a:t>
            </a:r>
            <a:r>
              <a:rPr lang="en-IN" dirty="0" err="1"/>
              <a:t>Yoshua</a:t>
            </a:r>
            <a:r>
              <a:rPr lang="en-IN" dirty="0"/>
              <a:t> </a:t>
            </a:r>
            <a:r>
              <a:rPr lang="en-IN" dirty="0" err="1"/>
              <a:t>Bengio</a:t>
            </a:r>
            <a:r>
              <a:rPr lang="en-IN" dirty="0"/>
              <a:t> and Aaron </a:t>
            </a:r>
            <a:r>
              <a:rPr lang="en-IN" dirty="0" err="1"/>
              <a:t>Courville</a:t>
            </a:r>
            <a:r>
              <a:rPr lang="en-IN" dirty="0"/>
              <a:t> in their Deep Learning Book:</a:t>
            </a:r>
          </a:p>
          <a:p>
            <a:r>
              <a:rPr lang="en-IN" dirty="0"/>
              <a:t>“In the context of deep learning, most regularization strategies are based on regularizing estimators. Regularization of an estimator works by trading increased bias for reduced variance. An eﬀective </a:t>
            </a:r>
            <a:r>
              <a:rPr lang="en-IN" dirty="0" err="1"/>
              <a:t>regularizer</a:t>
            </a:r>
            <a:r>
              <a:rPr lang="en-IN" dirty="0"/>
              <a:t> is one that makes a proﬁtable trade, reducing variance signiﬁcantly while not overly increasing the bias.”</a:t>
            </a:r>
          </a:p>
          <a:p>
            <a:endParaRPr lang="en-IN" dirty="0"/>
          </a:p>
        </p:txBody>
      </p:sp>
    </p:spTree>
    <p:extLst>
      <p:ext uri="{BB962C8B-B14F-4D97-AF65-F5344CB8AC3E}">
        <p14:creationId xmlns:p14="http://schemas.microsoft.com/office/powerpoint/2010/main" val="754308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19509"/>
            <a:ext cx="10515600" cy="5357454"/>
          </a:xfrm>
        </p:spPr>
        <p:txBody>
          <a:bodyPr>
            <a:normAutofit/>
          </a:bodyPr>
          <a:lstStyle/>
          <a:p>
            <a:r>
              <a:rPr lang="en-IN" dirty="0"/>
              <a:t>The </a:t>
            </a:r>
            <a:r>
              <a:rPr lang="en-IN" b="1" dirty="0"/>
              <a:t>bias error</a:t>
            </a:r>
            <a:r>
              <a:rPr lang="en-IN" dirty="0"/>
              <a:t> is an error from wrong assumptions in the learning algorithm. High bias can cause an algorithm to miss the relevant relations between features and target outputs. This is called </a:t>
            </a:r>
            <a:r>
              <a:rPr lang="en-IN" b="1" dirty="0" err="1"/>
              <a:t>underfitting</a:t>
            </a:r>
            <a:r>
              <a:rPr lang="en-IN" b="1" dirty="0"/>
              <a:t>.</a:t>
            </a:r>
            <a:endParaRPr lang="en-IN" dirty="0"/>
          </a:p>
          <a:p>
            <a:r>
              <a:rPr lang="en-IN" dirty="0"/>
              <a:t>The </a:t>
            </a:r>
            <a:r>
              <a:rPr lang="en-IN" b="1" dirty="0"/>
              <a:t>variance</a:t>
            </a:r>
            <a:r>
              <a:rPr lang="en-IN" dirty="0"/>
              <a:t> is an error from sensitivity to small fluctuations in the training set. High variance may result in </a:t>
            </a:r>
            <a:r>
              <a:rPr lang="en-IN" dirty="0" err="1"/>
              <a:t>modeling</a:t>
            </a:r>
            <a:r>
              <a:rPr lang="en-IN" dirty="0"/>
              <a:t> the random noise in the training data. This is called </a:t>
            </a:r>
            <a:r>
              <a:rPr lang="en-IN" b="1" dirty="0"/>
              <a:t>overfitting.</a:t>
            </a:r>
            <a:endParaRPr lang="en-IN" dirty="0"/>
          </a:p>
          <a:p>
            <a:r>
              <a:rPr lang="en-IN" dirty="0"/>
              <a:t>The </a:t>
            </a:r>
            <a:r>
              <a:rPr lang="en-IN" b="1" dirty="0"/>
              <a:t>bias-variance </a:t>
            </a:r>
            <a:r>
              <a:rPr lang="en-IN" b="1" dirty="0" err="1"/>
              <a:t>tradeoff</a:t>
            </a:r>
            <a:r>
              <a:rPr lang="en-IN" dirty="0"/>
              <a:t> is a term to describe the fact that we can reduce the variance by increasing the bias. Good regularization techniques strive to simultaneously minimize the two sources of error. Hence, achieving better generalization.</a:t>
            </a:r>
          </a:p>
          <a:p>
            <a:endParaRPr lang="en-IN" dirty="0"/>
          </a:p>
        </p:txBody>
      </p:sp>
    </p:spTree>
    <p:extLst>
      <p:ext uri="{BB962C8B-B14F-4D97-AF65-F5344CB8AC3E}">
        <p14:creationId xmlns:p14="http://schemas.microsoft.com/office/powerpoint/2010/main" val="31562073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How to introduce regularization in deep learning models</a:t>
            </a:r>
          </a:p>
        </p:txBody>
      </p:sp>
      <p:sp>
        <p:nvSpPr>
          <p:cNvPr id="3" name="Content Placeholder 2"/>
          <p:cNvSpPr>
            <a:spLocks noGrp="1"/>
          </p:cNvSpPr>
          <p:nvPr>
            <p:ph idx="1"/>
          </p:nvPr>
        </p:nvSpPr>
        <p:spPr/>
        <p:txBody>
          <a:bodyPr>
            <a:normAutofit lnSpcReduction="10000"/>
          </a:bodyPr>
          <a:lstStyle/>
          <a:p>
            <a:r>
              <a:rPr lang="en-IN" dirty="0"/>
              <a:t>Modify the loss function: add regularization terms</a:t>
            </a:r>
          </a:p>
          <a:p>
            <a:r>
              <a:rPr lang="en-IN" dirty="0"/>
              <a:t>The most common family of approaches used before the Deep Learning era in estimators such as linear and logistic regression, are </a:t>
            </a:r>
            <a:r>
              <a:rPr lang="en-IN" b="1" dirty="0"/>
              <a:t>parameters norm penalties. </a:t>
            </a:r>
          </a:p>
          <a:p>
            <a:r>
              <a:rPr lang="en-IN" dirty="0"/>
              <a:t>Here we add a parameter norm penalty Ω(</a:t>
            </a:r>
            <a:r>
              <a:rPr lang="el-GR" dirty="0"/>
              <a:t>θ</a:t>
            </a:r>
            <a:r>
              <a:rPr lang="en-IN" dirty="0"/>
              <a:t>) to the loss function </a:t>
            </a:r>
            <a:r>
              <a:rPr lang="en-IN" i="1" dirty="0"/>
              <a:t>J</a:t>
            </a:r>
            <a:r>
              <a:rPr lang="en-IN" dirty="0"/>
              <a:t>(</a:t>
            </a:r>
            <a:r>
              <a:rPr lang="el-GR" dirty="0"/>
              <a:t>θ</a:t>
            </a:r>
            <a:r>
              <a:rPr lang="en-IN" dirty="0"/>
              <a:t>;</a:t>
            </a:r>
            <a:r>
              <a:rPr lang="en-IN" i="1" dirty="0" err="1"/>
              <a:t>X</a:t>
            </a:r>
            <a:r>
              <a:rPr lang="en-IN" dirty="0" err="1"/>
              <a:t>,</a:t>
            </a:r>
            <a:r>
              <a:rPr lang="en-IN" i="1" dirty="0" err="1"/>
              <a:t>y</a:t>
            </a:r>
            <a:r>
              <a:rPr lang="en-IN" dirty="0"/>
              <a:t>):</a:t>
            </a:r>
          </a:p>
          <a:p>
            <a:r>
              <a:rPr lang="en-IN" i="1" dirty="0"/>
              <a:t>J</a:t>
            </a:r>
            <a:r>
              <a:rPr lang="en-IN" dirty="0"/>
              <a:t>′(</a:t>
            </a:r>
            <a:r>
              <a:rPr lang="el-GR" dirty="0"/>
              <a:t>θ</a:t>
            </a:r>
            <a:r>
              <a:rPr lang="en-IN" dirty="0"/>
              <a:t>;</a:t>
            </a:r>
            <a:r>
              <a:rPr lang="en-IN" i="1" dirty="0"/>
              <a:t>X</a:t>
            </a:r>
            <a:r>
              <a:rPr lang="en-IN" dirty="0"/>
              <a:t>, </a:t>
            </a:r>
            <a:r>
              <a:rPr lang="en-IN" i="1" dirty="0"/>
              <a:t>y</a:t>
            </a:r>
            <a:r>
              <a:rPr lang="en-IN" dirty="0"/>
              <a:t>)=</a:t>
            </a:r>
            <a:r>
              <a:rPr lang="en-IN" i="1" dirty="0"/>
              <a:t>J</a:t>
            </a:r>
            <a:r>
              <a:rPr lang="en-IN" dirty="0"/>
              <a:t>(</a:t>
            </a:r>
            <a:r>
              <a:rPr lang="el-GR" dirty="0"/>
              <a:t>θ</a:t>
            </a:r>
            <a:r>
              <a:rPr lang="en-IN" dirty="0"/>
              <a:t>; </a:t>
            </a:r>
            <a:r>
              <a:rPr lang="en-IN" i="1" dirty="0"/>
              <a:t>X</a:t>
            </a:r>
            <a:r>
              <a:rPr lang="en-IN" dirty="0"/>
              <a:t>, </a:t>
            </a:r>
            <a:r>
              <a:rPr lang="en-IN" i="1" dirty="0"/>
              <a:t>y</a:t>
            </a:r>
            <a:r>
              <a:rPr lang="en-IN" dirty="0"/>
              <a:t>)+</a:t>
            </a:r>
            <a:r>
              <a:rPr lang="en-IN" i="1" dirty="0"/>
              <a:t>a </a:t>
            </a:r>
            <a:r>
              <a:rPr lang="en-IN" dirty="0"/>
              <a:t>Ω(</a:t>
            </a:r>
            <a:r>
              <a:rPr lang="el-GR" dirty="0"/>
              <a:t>θ</a:t>
            </a:r>
            <a:r>
              <a:rPr lang="en-IN" dirty="0"/>
              <a:t>)</a:t>
            </a:r>
          </a:p>
          <a:p>
            <a:r>
              <a:rPr lang="en-IN" dirty="0"/>
              <a:t>where </a:t>
            </a:r>
            <a:r>
              <a:rPr lang="el-GR" dirty="0"/>
              <a:t> θ </a:t>
            </a:r>
            <a:r>
              <a:rPr lang="en-IN" dirty="0"/>
              <a:t>denotes the trainable parameters, </a:t>
            </a:r>
            <a:r>
              <a:rPr lang="en-IN" i="1" dirty="0"/>
              <a:t>X</a:t>
            </a:r>
            <a:r>
              <a:rPr lang="en-IN" dirty="0"/>
              <a:t> the input, and </a:t>
            </a:r>
            <a:r>
              <a:rPr lang="en-IN" i="1" dirty="0"/>
              <a:t>y</a:t>
            </a:r>
            <a:r>
              <a:rPr lang="en-IN" dirty="0"/>
              <a:t> the target labels. </a:t>
            </a:r>
            <a:r>
              <a:rPr lang="en-IN" i="1" dirty="0"/>
              <a:t>a</a:t>
            </a:r>
            <a:r>
              <a:rPr lang="en-IN" dirty="0"/>
              <a:t> is a </a:t>
            </a:r>
            <a:r>
              <a:rPr lang="en-IN" dirty="0" err="1"/>
              <a:t>hyperparameter</a:t>
            </a:r>
            <a:r>
              <a:rPr lang="en-IN" dirty="0"/>
              <a:t> that weights the contribution of the norm penalty, hence the effect of the regularization.</a:t>
            </a:r>
          </a:p>
          <a:p>
            <a:endParaRPr lang="en-IN" dirty="0"/>
          </a:p>
        </p:txBody>
      </p:sp>
    </p:spTree>
    <p:extLst>
      <p:ext uri="{BB962C8B-B14F-4D97-AF65-F5344CB8AC3E}">
        <p14:creationId xmlns:p14="http://schemas.microsoft.com/office/powerpoint/2010/main" val="1659763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6577" y="948906"/>
            <a:ext cx="10515600" cy="5093120"/>
          </a:xfrm>
        </p:spPr>
        <p:txBody>
          <a:bodyPr/>
          <a:lstStyle/>
          <a:p>
            <a:r>
              <a:rPr lang="en-IN" dirty="0"/>
              <a:t>In deep learning, regularization actually penalizes the weight matrices of the nodes.</a:t>
            </a:r>
          </a:p>
          <a:p>
            <a:r>
              <a:rPr lang="en-IN" dirty="0"/>
              <a:t>Let’s consider a neural network which is overfitting on the training data.</a:t>
            </a:r>
          </a:p>
          <a:p>
            <a:endParaRPr lang="en-IN" dirty="0"/>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2785249" y="2463623"/>
            <a:ext cx="6296025" cy="3071722"/>
          </a:xfrm>
          <a:prstGeom prst="rect">
            <a:avLst/>
          </a:prstGeom>
          <a:noFill/>
          <a:ln>
            <a:noFill/>
          </a:ln>
        </p:spPr>
      </p:pic>
    </p:spTree>
    <p:extLst>
      <p:ext uri="{BB962C8B-B14F-4D97-AF65-F5344CB8AC3E}">
        <p14:creationId xmlns:p14="http://schemas.microsoft.com/office/powerpoint/2010/main" val="29594201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88521"/>
            <a:ext cx="10515600" cy="5288442"/>
          </a:xfrm>
        </p:spPr>
        <p:txBody>
          <a:bodyPr/>
          <a:lstStyle/>
          <a:p>
            <a:r>
              <a:rPr lang="en-IN" dirty="0"/>
              <a:t>Assume that our regularization coefficient is so high that some of the weight matrices are nearly equal to zero. This will result in a much simpler linear network and slight </a:t>
            </a:r>
            <a:r>
              <a:rPr lang="en-IN" dirty="0" err="1"/>
              <a:t>underfitting</a:t>
            </a:r>
            <a:r>
              <a:rPr lang="en-IN" dirty="0"/>
              <a:t> of the training data.</a:t>
            </a:r>
          </a:p>
          <a:p>
            <a:r>
              <a:rPr lang="en-IN" dirty="0"/>
              <a:t>Such a large value of the regularization coefficient is not that useful. We need to optimize the value of regularization coefficient in order to obtain a well-fitted model </a:t>
            </a:r>
          </a:p>
        </p:txBody>
      </p:sp>
      <p:pic>
        <p:nvPicPr>
          <p:cNvPr id="4" name="Picture 3">
            <a:extLst>
              <a:ext uri="{FF2B5EF4-FFF2-40B4-BE49-F238E27FC236}">
                <a16:creationId xmlns:a16="http://schemas.microsoft.com/office/drawing/2014/main" id="{FA95E306-D3E7-439F-9047-A248B2E32D19}"/>
              </a:ext>
            </a:extLst>
          </p:cNvPr>
          <p:cNvPicPr>
            <a:picLocks noChangeAspect="1"/>
          </p:cNvPicPr>
          <p:nvPr/>
        </p:nvPicPr>
        <p:blipFill>
          <a:blip r:embed="rId2"/>
          <a:stretch>
            <a:fillRect/>
          </a:stretch>
        </p:blipFill>
        <p:spPr>
          <a:xfrm>
            <a:off x="5570042" y="3429000"/>
            <a:ext cx="3029975" cy="2310584"/>
          </a:xfrm>
          <a:prstGeom prst="rect">
            <a:avLst/>
          </a:prstGeom>
        </p:spPr>
      </p:pic>
    </p:spTree>
    <p:extLst>
      <p:ext uri="{BB962C8B-B14F-4D97-AF65-F5344CB8AC3E}">
        <p14:creationId xmlns:p14="http://schemas.microsoft.com/office/powerpoint/2010/main" val="971868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Different Regularization Techniques in Deep Learning</a:t>
            </a:r>
          </a:p>
        </p:txBody>
      </p:sp>
      <p:sp>
        <p:nvSpPr>
          <p:cNvPr id="3" name="Content Placeholder 2"/>
          <p:cNvSpPr>
            <a:spLocks noGrp="1"/>
          </p:cNvSpPr>
          <p:nvPr>
            <p:ph idx="1"/>
          </p:nvPr>
        </p:nvSpPr>
        <p:spPr/>
        <p:txBody>
          <a:bodyPr>
            <a:normAutofit lnSpcReduction="10000"/>
          </a:bodyPr>
          <a:lstStyle/>
          <a:p>
            <a:pPr marL="0" indent="0">
              <a:buNone/>
            </a:pPr>
            <a:r>
              <a:rPr lang="en-IN" b="1" dirty="0"/>
              <a:t>L2 &amp; L1 regularization</a:t>
            </a:r>
          </a:p>
          <a:p>
            <a:r>
              <a:rPr lang="en-IN" dirty="0"/>
              <a:t>L1 and L2 are the most common types of regularization. These update the general cost function by adding another term known as the regularization term.</a:t>
            </a:r>
          </a:p>
          <a:p>
            <a:r>
              <a:rPr lang="en-IN" dirty="0"/>
              <a:t>Cost function = Loss + Regularization term</a:t>
            </a:r>
          </a:p>
          <a:p>
            <a:r>
              <a:rPr lang="en-IN" dirty="0"/>
              <a:t>Let Loss function is binary cross entropy</a:t>
            </a:r>
          </a:p>
          <a:p>
            <a:r>
              <a:rPr lang="en-IN" dirty="0"/>
              <a:t>Due to the addition of this regularization term, the values of weight matrices decrease because it assumes that a neural network with smaller weight matrices leads to simpler models. Therefore, it will also reduce overfitting to quite an extent.</a:t>
            </a:r>
          </a:p>
          <a:p>
            <a:endParaRPr lang="en-IN" dirty="0"/>
          </a:p>
        </p:txBody>
      </p:sp>
    </p:spTree>
    <p:extLst>
      <p:ext uri="{BB962C8B-B14F-4D97-AF65-F5344CB8AC3E}">
        <p14:creationId xmlns:p14="http://schemas.microsoft.com/office/powerpoint/2010/main" val="2965579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Regularization term differs in L1 and L2</a:t>
            </a:r>
          </a:p>
        </p:txBody>
      </p:sp>
      <p:sp>
        <p:nvSpPr>
          <p:cNvPr id="3" name="Content Placeholder 2"/>
          <p:cNvSpPr>
            <a:spLocks noGrp="1"/>
          </p:cNvSpPr>
          <p:nvPr>
            <p:ph idx="1"/>
          </p:nvPr>
        </p:nvSpPr>
        <p:spPr>
          <a:xfrm>
            <a:off x="838200" y="1690688"/>
            <a:ext cx="10515600" cy="4616904"/>
          </a:xfrm>
        </p:spPr>
        <p:txBody>
          <a:bodyPr>
            <a:normAutofit fontScale="92500" lnSpcReduction="10000"/>
          </a:bodyPr>
          <a:lstStyle/>
          <a:p>
            <a:pPr marL="0" indent="0">
              <a:buNone/>
            </a:pPr>
            <a:r>
              <a:rPr lang="en-IN" dirty="0"/>
              <a:t>					                </a:t>
            </a:r>
            <a:r>
              <a:rPr lang="en-IN" sz="1700" dirty="0"/>
              <a:t>squared norm</a:t>
            </a:r>
          </a:p>
          <a:p>
            <a:r>
              <a:rPr lang="en-IN" dirty="0"/>
              <a:t>In L2</a:t>
            </a:r>
          </a:p>
          <a:p>
            <a:r>
              <a:rPr lang="en-IN" dirty="0"/>
              <a:t>Here lambda is the regularization parameter. It is the hyperparameter whose value is optimized for better results. </a:t>
            </a:r>
            <a:r>
              <a:rPr lang="en-IN" dirty="0">
                <a:highlight>
                  <a:srgbClr val="FFFF00"/>
                </a:highlight>
              </a:rPr>
              <a:t>L2 regularization is also known as weight decay or ridge regression </a:t>
            </a:r>
            <a:r>
              <a:rPr lang="en-IN" dirty="0"/>
              <a:t>as it forces the weights to decay towards zero (but not exactly zero).</a:t>
            </a:r>
          </a:p>
          <a:p>
            <a:r>
              <a:rPr lang="en-IN" dirty="0"/>
              <a:t>In L1 </a:t>
            </a:r>
          </a:p>
          <a:p>
            <a:endParaRPr lang="en-IN" dirty="0"/>
          </a:p>
          <a:p>
            <a:r>
              <a:rPr lang="en-IN" dirty="0"/>
              <a:t>In this, we penalize the absolute value of the weights. Unlike L2, the </a:t>
            </a:r>
            <a:r>
              <a:rPr lang="en-IN" dirty="0">
                <a:highlight>
                  <a:srgbClr val="FFFF00"/>
                </a:highlight>
              </a:rPr>
              <a:t>weights may be reduced to zero here.</a:t>
            </a:r>
            <a:r>
              <a:rPr lang="en-IN" dirty="0"/>
              <a:t> </a:t>
            </a:r>
            <a:r>
              <a:rPr lang="en-IN" b="1" dirty="0"/>
              <a:t>Hence, it is very useful when we are trying to compress our model. Otherwise, we usually prefer L2 over it.</a:t>
            </a:r>
            <a:endParaRPr lang="en-IN" dirty="0"/>
          </a:p>
          <a:p>
            <a:endParaRPr lang="en-IN" dirty="0"/>
          </a:p>
        </p:txBody>
      </p:sp>
      <p:pic>
        <p:nvPicPr>
          <p:cNvPr id="9" name="Picture 8" descr="L2"/>
          <p:cNvPicPr/>
          <p:nvPr/>
        </p:nvPicPr>
        <p:blipFill>
          <a:blip r:embed="rId2">
            <a:extLst>
              <a:ext uri="{28A0092B-C50C-407E-A947-70E740481C1C}">
                <a14:useLocalDpi xmlns:a14="http://schemas.microsoft.com/office/drawing/2010/main" val="0"/>
              </a:ext>
            </a:extLst>
          </a:blip>
          <a:srcRect/>
          <a:stretch>
            <a:fillRect/>
          </a:stretch>
        </p:blipFill>
        <p:spPr bwMode="auto">
          <a:xfrm>
            <a:off x="2569433" y="1976485"/>
            <a:ext cx="3662498" cy="562063"/>
          </a:xfrm>
          <a:prstGeom prst="rect">
            <a:avLst/>
          </a:prstGeom>
          <a:noFill/>
          <a:ln>
            <a:noFill/>
          </a:ln>
        </p:spPr>
      </p:pic>
      <p:pic>
        <p:nvPicPr>
          <p:cNvPr id="10" name="Picture 9" descr="L2"/>
          <p:cNvPicPr/>
          <p:nvPr/>
        </p:nvPicPr>
        <p:blipFill>
          <a:blip r:embed="rId3">
            <a:extLst>
              <a:ext uri="{28A0092B-C50C-407E-A947-70E740481C1C}">
                <a14:useLocalDpi xmlns:a14="http://schemas.microsoft.com/office/drawing/2010/main" val="0"/>
              </a:ext>
            </a:extLst>
          </a:blip>
          <a:srcRect/>
          <a:stretch>
            <a:fillRect/>
          </a:stretch>
        </p:blipFill>
        <p:spPr bwMode="auto">
          <a:xfrm>
            <a:off x="1990710" y="3927567"/>
            <a:ext cx="3162300" cy="783771"/>
          </a:xfrm>
          <a:prstGeom prst="rect">
            <a:avLst/>
          </a:prstGeom>
          <a:noFill/>
          <a:ln>
            <a:noFill/>
          </a:ln>
        </p:spPr>
      </p:pic>
      <p:cxnSp>
        <p:nvCxnSpPr>
          <p:cNvPr id="5" name="Straight Arrow Connector 4">
            <a:extLst>
              <a:ext uri="{FF2B5EF4-FFF2-40B4-BE49-F238E27FC236}">
                <a16:creationId xmlns:a16="http://schemas.microsoft.com/office/drawing/2014/main" id="{1BADA939-08BF-4216-93EA-DA342F5EDF8B}"/>
              </a:ext>
            </a:extLst>
          </p:cNvPr>
          <p:cNvCxnSpPr>
            <a:cxnSpLocks/>
            <a:endCxn id="9" idx="3"/>
          </p:cNvCxnSpPr>
          <p:nvPr/>
        </p:nvCxnSpPr>
        <p:spPr>
          <a:xfrm flipH="1">
            <a:off x="6231931" y="1900985"/>
            <a:ext cx="434390" cy="3565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9656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Elastic net</a:t>
            </a:r>
          </a:p>
        </p:txBody>
      </p:sp>
      <p:sp>
        <p:nvSpPr>
          <p:cNvPr id="3" name="Content Placeholder 2"/>
          <p:cNvSpPr>
            <a:spLocks noGrp="1"/>
          </p:cNvSpPr>
          <p:nvPr>
            <p:ph idx="1"/>
          </p:nvPr>
        </p:nvSpPr>
        <p:spPr/>
        <p:txBody>
          <a:bodyPr>
            <a:normAutofit/>
          </a:bodyPr>
          <a:lstStyle/>
          <a:p>
            <a:r>
              <a:rPr lang="en-IN" dirty="0"/>
              <a:t>Elastic net is a method that linearly </a:t>
            </a:r>
            <a:r>
              <a:rPr lang="en-IN" dirty="0">
                <a:highlight>
                  <a:srgbClr val="FFFF00"/>
                </a:highlight>
              </a:rPr>
              <a:t>combines L1 and L2 </a:t>
            </a:r>
            <a:r>
              <a:rPr lang="en-IN" dirty="0"/>
              <a:t>regularization with the goal to acquire the best of both worlds .</a:t>
            </a:r>
          </a:p>
          <a:p>
            <a:r>
              <a:rPr lang="en-IN" dirty="0"/>
              <a:t>the penalty term is as follows:</a:t>
            </a:r>
          </a:p>
          <a:p>
            <a:r>
              <a:rPr lang="en-IN" dirty="0"/>
              <a:t>         Ω(</a:t>
            </a:r>
            <a:r>
              <a:rPr lang="el-GR" dirty="0"/>
              <a:t>θ</a:t>
            </a:r>
            <a:r>
              <a:rPr lang="en-IN" dirty="0"/>
              <a:t>)=λ</a:t>
            </a:r>
            <a:r>
              <a:rPr lang="en-IN" sz="2000" dirty="0"/>
              <a:t>1</a:t>
            </a:r>
            <a:r>
              <a:rPr lang="en-IN" dirty="0"/>
              <a:t>​∣∣w∣∣</a:t>
            </a:r>
            <a:r>
              <a:rPr lang="en-IN" sz="2000" dirty="0"/>
              <a:t>1</a:t>
            </a:r>
            <a:r>
              <a:rPr lang="en-IN" dirty="0"/>
              <a:t>​+λ</a:t>
            </a:r>
            <a:r>
              <a:rPr lang="en-IN" sz="2200" dirty="0"/>
              <a:t>2</a:t>
            </a:r>
            <a:r>
              <a:rPr lang="en-IN" dirty="0"/>
              <a:t>​∣∣w∣∣</a:t>
            </a:r>
            <a:r>
              <a:rPr lang="en-IN" sz="1600" dirty="0"/>
              <a:t>2</a:t>
            </a:r>
            <a:r>
              <a:rPr lang="en-IN" baseline="30000" dirty="0"/>
              <a:t>2 </a:t>
            </a:r>
          </a:p>
          <a:p>
            <a:r>
              <a:rPr lang="en-IN" dirty="0"/>
              <a:t>Elastic Net regularization reduces the effect of certain features, as L1 does, but at the same time, it does not eliminate them. So it combines feature elimination from L1 and feature coefficient reduction from the L2.</a:t>
            </a:r>
          </a:p>
          <a:p>
            <a:pPr marL="0" indent="0">
              <a:buNone/>
            </a:pPr>
            <a:br>
              <a:rPr lang="en-IN" baseline="30000" dirty="0"/>
            </a:br>
            <a:endParaRPr lang="en-IN" dirty="0"/>
          </a:p>
        </p:txBody>
      </p:sp>
    </p:spTree>
    <p:extLst>
      <p:ext uri="{BB962C8B-B14F-4D97-AF65-F5344CB8AC3E}">
        <p14:creationId xmlns:p14="http://schemas.microsoft.com/office/powerpoint/2010/main" val="2213790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Entropy Regularization</a:t>
            </a:r>
            <a:endParaRPr lang="en-IN" dirty="0"/>
          </a:p>
        </p:txBody>
      </p:sp>
      <p:sp>
        <p:nvSpPr>
          <p:cNvPr id="3" name="Content Placeholder 2"/>
          <p:cNvSpPr>
            <a:spLocks noGrp="1"/>
          </p:cNvSpPr>
          <p:nvPr>
            <p:ph idx="1"/>
          </p:nvPr>
        </p:nvSpPr>
        <p:spPr/>
        <p:txBody>
          <a:bodyPr/>
          <a:lstStyle/>
          <a:p>
            <a:r>
              <a:rPr lang="en-IN" dirty="0"/>
              <a:t>Entropy regularization is another norm penalty method that applies to probabilistic models. It has also been used in different Reinforcement Learning techniques.</a:t>
            </a:r>
          </a:p>
          <a:p>
            <a:r>
              <a:rPr lang="en-IN" dirty="0"/>
              <a:t>  </a:t>
            </a:r>
            <a:r>
              <a:rPr lang="el-GR" dirty="0"/>
              <a:t>Ω(</a:t>
            </a:r>
            <a:r>
              <a:rPr lang="en-IN" i="1" dirty="0"/>
              <a:t>X</a:t>
            </a:r>
            <a:r>
              <a:rPr lang="en-IN" dirty="0"/>
              <a:t>)=−∑</a:t>
            </a:r>
            <a:r>
              <a:rPr lang="en-IN" i="1" dirty="0"/>
              <a:t>p</a:t>
            </a:r>
            <a:r>
              <a:rPr lang="en-IN" dirty="0"/>
              <a:t>(</a:t>
            </a:r>
            <a:r>
              <a:rPr lang="en-IN" i="1" dirty="0"/>
              <a:t>x</a:t>
            </a:r>
            <a:r>
              <a:rPr lang="en-IN" dirty="0"/>
              <a:t>)log(</a:t>
            </a:r>
            <a:r>
              <a:rPr lang="en-IN" i="1" dirty="0"/>
              <a:t>p</a:t>
            </a:r>
            <a:r>
              <a:rPr lang="en-IN" dirty="0"/>
              <a:t>(</a:t>
            </a:r>
            <a:r>
              <a:rPr lang="en-IN" i="1" dirty="0"/>
              <a:t>x</a:t>
            </a:r>
            <a:r>
              <a:rPr lang="en-IN" dirty="0"/>
              <a:t>))</a:t>
            </a:r>
          </a:p>
          <a:p>
            <a:r>
              <a:rPr lang="en-IN" dirty="0"/>
              <a:t>it forces the probability distribution towards the uniform distribution to reduce variance.</a:t>
            </a:r>
          </a:p>
        </p:txBody>
      </p:sp>
    </p:spTree>
    <p:extLst>
      <p:ext uri="{BB962C8B-B14F-4D97-AF65-F5344CB8AC3E}">
        <p14:creationId xmlns:p14="http://schemas.microsoft.com/office/powerpoint/2010/main" val="1638869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Label smoothing</a:t>
            </a:r>
            <a:endParaRPr lang="en-IN" dirty="0"/>
          </a:p>
        </p:txBody>
      </p:sp>
      <p:sp>
        <p:nvSpPr>
          <p:cNvPr id="3" name="Content Placeholder 2"/>
          <p:cNvSpPr>
            <a:spLocks noGrp="1"/>
          </p:cNvSpPr>
          <p:nvPr>
            <p:ph idx="1"/>
          </p:nvPr>
        </p:nvSpPr>
        <p:spPr/>
        <p:txBody>
          <a:bodyPr/>
          <a:lstStyle/>
          <a:p>
            <a:r>
              <a:rPr lang="en-IN" dirty="0"/>
              <a:t>Noise injection is one of the most powerful regularization strategies. By adding randomness, we can reduce the variance of the models and lower the generalization error</a:t>
            </a:r>
          </a:p>
          <a:p>
            <a:r>
              <a:rPr lang="en-IN" dirty="0"/>
              <a:t>It is a way of adding noise at the output targets, aka labels. Let’s assume that we have a classification problem. In most of them, we use a form of cross-entropy loss and </a:t>
            </a:r>
            <a:r>
              <a:rPr lang="en-IN" dirty="0" err="1"/>
              <a:t>softmax</a:t>
            </a:r>
            <a:r>
              <a:rPr lang="en-IN" dirty="0"/>
              <a:t> to output the final probabilities.</a:t>
            </a:r>
          </a:p>
        </p:txBody>
      </p:sp>
    </p:spTree>
    <p:extLst>
      <p:ext uri="{BB962C8B-B14F-4D97-AF65-F5344CB8AC3E}">
        <p14:creationId xmlns:p14="http://schemas.microsoft.com/office/powerpoint/2010/main" val="3430868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08721"/>
            <a:ext cx="10515600" cy="1019718"/>
          </a:xfrm>
        </p:spPr>
        <p:txBody>
          <a:bodyPr/>
          <a:lstStyle/>
          <a:p>
            <a:r>
              <a:rPr lang="en-IN" b="1" dirty="0"/>
              <a:t>Dropout</a:t>
            </a:r>
          </a:p>
        </p:txBody>
      </p:sp>
      <p:sp>
        <p:nvSpPr>
          <p:cNvPr id="3" name="Content Placeholder 2"/>
          <p:cNvSpPr>
            <a:spLocks noGrp="1"/>
          </p:cNvSpPr>
          <p:nvPr>
            <p:ph idx="1"/>
          </p:nvPr>
        </p:nvSpPr>
        <p:spPr>
          <a:xfrm>
            <a:off x="838200" y="1475117"/>
            <a:ext cx="10515600" cy="4701846"/>
          </a:xfrm>
        </p:spPr>
        <p:txBody>
          <a:bodyPr/>
          <a:lstStyle/>
          <a:p>
            <a:r>
              <a:rPr lang="en-IN" dirty="0"/>
              <a:t>This is one of the most interesting types of regularization techniques. It also produces very good results and is consequently the most frequently used regularization technique in the field of deep learning.</a:t>
            </a:r>
          </a:p>
          <a:p>
            <a:r>
              <a:rPr lang="en-IN" dirty="0"/>
              <a:t>At every iteration, dropout  </a:t>
            </a:r>
            <a:r>
              <a:rPr lang="en-IN" dirty="0">
                <a:highlight>
                  <a:srgbClr val="FFFF00"/>
                </a:highlight>
              </a:rPr>
              <a:t>randomly selects some nodes and removes them along with all of their incoming and outgoing connections</a:t>
            </a:r>
          </a:p>
          <a:p>
            <a:endParaRPr lang="en-IN" dirty="0"/>
          </a:p>
        </p:txBody>
      </p:sp>
      <p:pic>
        <p:nvPicPr>
          <p:cNvPr id="4" name="Picture 3">
            <a:extLst>
              <a:ext uri="{FF2B5EF4-FFF2-40B4-BE49-F238E27FC236}">
                <a16:creationId xmlns:a16="http://schemas.microsoft.com/office/drawing/2014/main" id="{165CA53D-ECB4-9CE9-52AE-1A2A426CFCE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7841672" y="3826040"/>
            <a:ext cx="2821449" cy="2441197"/>
          </a:xfrm>
          <a:prstGeom prst="rect">
            <a:avLst/>
          </a:prstGeom>
          <a:noFill/>
          <a:ln>
            <a:noFill/>
          </a:ln>
        </p:spPr>
      </p:pic>
      <p:pic>
        <p:nvPicPr>
          <p:cNvPr id="5" name="Content Placeholder 3">
            <a:extLst>
              <a:ext uri="{FF2B5EF4-FFF2-40B4-BE49-F238E27FC236}">
                <a16:creationId xmlns:a16="http://schemas.microsoft.com/office/drawing/2014/main" id="{6F543C00-E73B-57EC-1E32-FB1EF4779F7B}"/>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3759200" y="3691937"/>
            <a:ext cx="3146961" cy="2780548"/>
          </a:xfrm>
          <a:prstGeom prst="rect">
            <a:avLst/>
          </a:prstGeom>
          <a:noFill/>
          <a:ln>
            <a:noFill/>
          </a:ln>
        </p:spPr>
      </p:pic>
    </p:spTree>
    <p:extLst>
      <p:ext uri="{BB962C8B-B14F-4D97-AF65-F5344CB8AC3E}">
        <p14:creationId xmlns:p14="http://schemas.microsoft.com/office/powerpoint/2010/main" val="4193524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06764"/>
            <a:ext cx="10515600" cy="5170199"/>
          </a:xfrm>
        </p:spPr>
        <p:txBody>
          <a:bodyPr/>
          <a:lstStyle/>
          <a:p>
            <a:r>
              <a:rPr lang="en-IN" dirty="0"/>
              <a:t>So each iteration has a different set of nodes and this results in a different set of outputs. </a:t>
            </a:r>
            <a:r>
              <a:rPr lang="en-IN" b="1" dirty="0"/>
              <a:t>It can also be thought of as an ensemble technique in machine learning.</a:t>
            </a:r>
            <a:endParaRPr lang="en-IN" dirty="0"/>
          </a:p>
          <a:p>
            <a:r>
              <a:rPr lang="en-IN" dirty="0"/>
              <a:t>Ensemble models usually perform better than a single model as they capture more randomness. Similarly, dropout also performs better than a normal neural network model.</a:t>
            </a:r>
          </a:p>
          <a:p>
            <a:r>
              <a:rPr lang="en-IN" dirty="0"/>
              <a:t>This probability of choosing how many nodes should be dropped is the hyperparameter of the dropout function. </a:t>
            </a:r>
          </a:p>
          <a:p>
            <a:r>
              <a:rPr lang="en-IN" dirty="0"/>
              <a:t>Dropout can be applied to both the hidden layers as well as the input layers.</a:t>
            </a:r>
          </a:p>
          <a:p>
            <a:endParaRPr lang="en-IN" dirty="0"/>
          </a:p>
        </p:txBody>
      </p:sp>
    </p:spTree>
    <p:extLst>
      <p:ext uri="{BB962C8B-B14F-4D97-AF65-F5344CB8AC3E}">
        <p14:creationId xmlns:p14="http://schemas.microsoft.com/office/powerpoint/2010/main" val="1143057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AB3DA-2483-45A6-A20C-A1B5782A5E22}"/>
              </a:ext>
            </a:extLst>
          </p:cNvPr>
          <p:cNvSpPr>
            <a:spLocks noGrp="1"/>
          </p:cNvSpPr>
          <p:nvPr>
            <p:ph type="title"/>
          </p:nvPr>
        </p:nvSpPr>
        <p:spPr/>
        <p:txBody>
          <a:bodyPr/>
          <a:lstStyle/>
          <a:p>
            <a:r>
              <a:rPr lang="en-IN" sz="4400" b="1" spc="10" dirty="0">
                <a:effectLst/>
                <a:ea typeface="Times New Roman" panose="02020603050405020304" pitchFamily="18" charset="0"/>
                <a:cs typeface="Times New Roman" panose="02020603050405020304" pitchFamily="18" charset="0"/>
              </a:rPr>
              <a:t>Other Dropout variations</a:t>
            </a:r>
            <a:endParaRPr lang="en-IN" dirty="0"/>
          </a:p>
        </p:txBody>
      </p:sp>
      <p:sp>
        <p:nvSpPr>
          <p:cNvPr id="3" name="Content Placeholder 2">
            <a:extLst>
              <a:ext uri="{FF2B5EF4-FFF2-40B4-BE49-F238E27FC236}">
                <a16:creationId xmlns:a16="http://schemas.microsoft.com/office/drawing/2014/main" id="{39BFC75C-B637-4415-A78E-E26F60AF849F}"/>
              </a:ext>
            </a:extLst>
          </p:cNvPr>
          <p:cNvSpPr>
            <a:spLocks noGrp="1"/>
          </p:cNvSpPr>
          <p:nvPr>
            <p:ph idx="1"/>
          </p:nvPr>
        </p:nvSpPr>
        <p:spPr/>
        <p:txBody>
          <a:bodyPr>
            <a:normAutofit/>
          </a:bodyPr>
          <a:lstStyle/>
          <a:p>
            <a:r>
              <a:rPr lang="en-IN" sz="2000" b="1" dirty="0">
                <a:solidFill>
                  <a:srgbClr val="000000"/>
                </a:solidFill>
                <a:effectLst/>
                <a:ea typeface="Times New Roman" panose="02020603050405020304" pitchFamily="18" charset="0"/>
                <a:cs typeface="Times New Roman" panose="02020603050405020304" pitchFamily="18" charset="0"/>
              </a:rPr>
              <a:t>Inverted dropout</a:t>
            </a:r>
            <a:r>
              <a:rPr lang="en-IN" sz="2000" dirty="0">
                <a:solidFill>
                  <a:srgbClr val="000000"/>
                </a:solidFill>
                <a:effectLst/>
                <a:ea typeface="Times New Roman" panose="02020603050405020304" pitchFamily="18" charset="0"/>
                <a:cs typeface="Times New Roman" panose="02020603050405020304" pitchFamily="18" charset="0"/>
              </a:rPr>
              <a:t> also randomly drops some units with a probability </a:t>
            </a:r>
            <a:r>
              <a:rPr lang="en-IN" sz="2000" i="1" dirty="0">
                <a:solidFill>
                  <a:srgbClr val="000000"/>
                </a:solidFill>
                <a:effectLst/>
                <a:ea typeface="Times New Roman" panose="02020603050405020304" pitchFamily="18" charset="0"/>
                <a:cs typeface="Times New Roman" panose="02020603050405020304" pitchFamily="18" charset="0"/>
              </a:rPr>
              <a:t>p</a:t>
            </a:r>
            <a:r>
              <a:rPr lang="en-IN" sz="2000" dirty="0">
                <a:solidFill>
                  <a:srgbClr val="000000"/>
                </a:solidFill>
                <a:effectLst/>
                <a:ea typeface="Times New Roman" panose="02020603050405020304" pitchFamily="18" charset="0"/>
                <a:cs typeface="Times New Roman" panose="02020603050405020304" pitchFamily="18" charset="0"/>
              </a:rPr>
              <a:t>. The difference with traditional dropout is: During training, it also scales the activations by the inverse of the keep probability 1−</a:t>
            </a:r>
            <a:r>
              <a:rPr lang="en-IN" sz="2000" i="1" dirty="0">
                <a:solidFill>
                  <a:srgbClr val="000000"/>
                </a:solidFill>
                <a:effectLst/>
                <a:ea typeface="Times New Roman" panose="02020603050405020304" pitchFamily="18" charset="0"/>
                <a:cs typeface="Times New Roman" panose="02020603050405020304" pitchFamily="18" charset="0"/>
              </a:rPr>
              <a:t>p</a:t>
            </a:r>
            <a:r>
              <a:rPr lang="en-IN" sz="2000" dirty="0">
                <a:solidFill>
                  <a:srgbClr val="000000"/>
                </a:solidFill>
                <a:effectLst/>
                <a:ea typeface="Times New Roman" panose="02020603050405020304" pitchFamily="18" charset="0"/>
                <a:cs typeface="Times New Roman" panose="02020603050405020304" pitchFamily="18" charset="0"/>
              </a:rPr>
              <a:t>. The reason behind this is: to prevent the activations from becoming too large thus the need to modify the network during the testing phase. The end result will be similar to the traditional dropout.</a:t>
            </a:r>
            <a:endParaRPr lang="en-IN" sz="2000" dirty="0">
              <a:effectLst/>
              <a:ea typeface="Calibri" panose="020F0502020204030204" pitchFamily="34" charset="0"/>
              <a:cs typeface="Times New Roman" panose="02020603050405020304" pitchFamily="18" charset="0"/>
            </a:endParaRPr>
          </a:p>
          <a:p>
            <a:pPr marL="342900" lvl="0" indent="-342900" algn="just">
              <a:lnSpc>
                <a:spcPct val="107000"/>
              </a:lnSpc>
              <a:spcAft>
                <a:spcPts val="800"/>
              </a:spcAft>
              <a:tabLst>
                <a:tab pos="457200" algn="l"/>
              </a:tabLst>
            </a:pPr>
            <a:r>
              <a:rPr lang="en-IN" sz="2000" b="1" dirty="0">
                <a:solidFill>
                  <a:srgbClr val="000000"/>
                </a:solidFill>
                <a:effectLst/>
                <a:ea typeface="Times New Roman" panose="02020603050405020304" pitchFamily="18" charset="0"/>
                <a:cs typeface="Times New Roman" panose="02020603050405020304" pitchFamily="18" charset="0"/>
              </a:rPr>
              <a:t>Gaussian dropout</a:t>
            </a:r>
            <a:r>
              <a:rPr lang="en-IN" sz="2000" dirty="0">
                <a:solidFill>
                  <a:srgbClr val="000000"/>
                </a:solidFill>
                <a:effectLst/>
                <a:ea typeface="Times New Roman" panose="02020603050405020304" pitchFamily="18" charset="0"/>
                <a:cs typeface="Times New Roman" panose="02020603050405020304" pitchFamily="18" charset="0"/>
              </a:rPr>
              <a:t>: instead of dropping units during training, is </a:t>
            </a:r>
            <a:r>
              <a:rPr lang="en-IN" sz="2000" dirty="0">
                <a:solidFill>
                  <a:srgbClr val="000000"/>
                </a:solidFill>
                <a:effectLst/>
                <a:highlight>
                  <a:srgbClr val="FFFF00"/>
                </a:highlight>
                <a:ea typeface="Times New Roman" panose="02020603050405020304" pitchFamily="18" charset="0"/>
                <a:cs typeface="Times New Roman" panose="02020603050405020304" pitchFamily="18" charset="0"/>
              </a:rPr>
              <a:t>injecting noise to the weights of each unit. </a:t>
            </a:r>
            <a:r>
              <a:rPr lang="en-IN" sz="2000" dirty="0">
                <a:solidFill>
                  <a:srgbClr val="000000"/>
                </a:solidFill>
                <a:effectLst/>
                <a:ea typeface="Times New Roman" panose="02020603050405020304" pitchFamily="18" charset="0"/>
                <a:cs typeface="Times New Roman" panose="02020603050405020304" pitchFamily="18" charset="0"/>
              </a:rPr>
              <a:t>The noise is, more often than not ,Gaussian. This results in:</a:t>
            </a:r>
          </a:p>
          <a:p>
            <a:pPr marL="800100" lvl="1" indent="-342900" algn="just">
              <a:lnSpc>
                <a:spcPct val="107000"/>
              </a:lnSpc>
              <a:spcAft>
                <a:spcPts val="800"/>
              </a:spcAft>
              <a:tabLst>
                <a:tab pos="457200" algn="l"/>
              </a:tabLst>
            </a:pPr>
            <a:r>
              <a:rPr lang="en-IN" sz="2000" dirty="0">
                <a:solidFill>
                  <a:srgbClr val="000000"/>
                </a:solidFill>
                <a:effectLst/>
                <a:ea typeface="Times New Roman" panose="02020603050405020304" pitchFamily="18" charset="0"/>
                <a:cs typeface="Times New Roman" panose="02020603050405020304" pitchFamily="18" charset="0"/>
              </a:rPr>
              <a:t>A reduction in the computational effort during testing time.</a:t>
            </a:r>
            <a:endParaRPr lang="en-IN" sz="2000" dirty="0">
              <a:ea typeface="Times New Roman" panose="02020603050405020304" pitchFamily="18" charset="0"/>
              <a:cs typeface="Times New Roman" panose="02020603050405020304" pitchFamily="18" charset="0"/>
            </a:endParaRPr>
          </a:p>
          <a:p>
            <a:pPr marL="800100" lvl="1" indent="-342900" algn="just">
              <a:lnSpc>
                <a:spcPct val="107000"/>
              </a:lnSpc>
              <a:spcAft>
                <a:spcPts val="800"/>
              </a:spcAft>
              <a:tabLst>
                <a:tab pos="457200" algn="l"/>
              </a:tabLst>
            </a:pPr>
            <a:r>
              <a:rPr lang="en-IN" sz="2000" dirty="0">
                <a:solidFill>
                  <a:srgbClr val="000000"/>
                </a:solidFill>
                <a:effectLst/>
                <a:ea typeface="Times New Roman" panose="02020603050405020304" pitchFamily="18" charset="0"/>
                <a:cs typeface="Times New Roman" panose="02020603050405020304" pitchFamily="18" charset="0"/>
              </a:rPr>
              <a:t>No weight scaling is required.</a:t>
            </a:r>
            <a:endParaRPr lang="en-IN" sz="2000" dirty="0">
              <a:effectLst/>
              <a:ea typeface="Calibri" panose="020F0502020204030204" pitchFamily="34" charset="0"/>
              <a:cs typeface="Times New Roman" panose="02020603050405020304" pitchFamily="18" charset="0"/>
            </a:endParaRPr>
          </a:p>
          <a:p>
            <a:pPr lvl="1"/>
            <a:r>
              <a:rPr lang="en-IN" sz="2000" dirty="0">
                <a:solidFill>
                  <a:srgbClr val="000000"/>
                </a:solidFill>
                <a:effectLst/>
                <a:ea typeface="Times New Roman" panose="02020603050405020304" pitchFamily="18" charset="0"/>
              </a:rPr>
              <a:t>  Faster training overall</a:t>
            </a:r>
            <a:endParaRPr lang="en-IN" sz="2000" dirty="0"/>
          </a:p>
        </p:txBody>
      </p:sp>
    </p:spTree>
    <p:extLst>
      <p:ext uri="{BB962C8B-B14F-4D97-AF65-F5344CB8AC3E}">
        <p14:creationId xmlns:p14="http://schemas.microsoft.com/office/powerpoint/2010/main" val="1099138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F091E2-B75C-45E8-A463-9FE1D814A22B}"/>
              </a:ext>
            </a:extLst>
          </p:cNvPr>
          <p:cNvSpPr>
            <a:spLocks noGrp="1"/>
          </p:cNvSpPr>
          <p:nvPr>
            <p:ph idx="1"/>
          </p:nvPr>
        </p:nvSpPr>
        <p:spPr>
          <a:xfrm>
            <a:off x="838200" y="879894"/>
            <a:ext cx="10515600" cy="5297069"/>
          </a:xfrm>
        </p:spPr>
        <p:txBody>
          <a:bodyPr>
            <a:noAutofit/>
          </a:bodyPr>
          <a:lstStyle/>
          <a:p>
            <a:r>
              <a:rPr lang="en-IN" sz="2400" b="1" dirty="0" err="1">
                <a:solidFill>
                  <a:srgbClr val="000000"/>
                </a:solidFill>
                <a:effectLst/>
                <a:ea typeface="Times New Roman" panose="02020603050405020304" pitchFamily="18" charset="0"/>
                <a:cs typeface="Times New Roman" panose="02020603050405020304" pitchFamily="18" charset="0"/>
              </a:rPr>
              <a:t>DropConnect</a:t>
            </a:r>
            <a:r>
              <a:rPr lang="en-IN" sz="2400" dirty="0">
                <a:solidFill>
                  <a:srgbClr val="000000"/>
                </a:solidFill>
                <a:effectLst/>
                <a:ea typeface="Times New Roman" panose="02020603050405020304" pitchFamily="18" charset="0"/>
                <a:cs typeface="Times New Roman" panose="02020603050405020304" pitchFamily="18" charset="0"/>
              </a:rPr>
              <a:t> follows a slightly different approach. Instead of zeroing out random activations (units), </a:t>
            </a:r>
            <a:r>
              <a:rPr lang="en-IN" sz="2400" b="1" dirty="0">
                <a:solidFill>
                  <a:srgbClr val="000000"/>
                </a:solidFill>
                <a:effectLst/>
                <a:ea typeface="Times New Roman" panose="02020603050405020304" pitchFamily="18" charset="0"/>
                <a:cs typeface="Times New Roman" panose="02020603050405020304" pitchFamily="18" charset="0"/>
              </a:rPr>
              <a:t>it zeros random weights during each forward pass</a:t>
            </a:r>
            <a:r>
              <a:rPr lang="en-IN" sz="2400" dirty="0">
                <a:solidFill>
                  <a:srgbClr val="000000"/>
                </a:solidFill>
                <a:effectLst/>
                <a:ea typeface="Times New Roman" panose="02020603050405020304" pitchFamily="18" charset="0"/>
                <a:cs typeface="Times New Roman" panose="02020603050405020304" pitchFamily="18" charset="0"/>
              </a:rPr>
              <a:t>. The weights are dropped with a probability of 1−</a:t>
            </a:r>
            <a:r>
              <a:rPr lang="en-IN" sz="2400" i="1" dirty="0">
                <a:solidFill>
                  <a:srgbClr val="000000"/>
                </a:solidFill>
                <a:effectLst/>
                <a:ea typeface="Times New Roman" panose="02020603050405020304" pitchFamily="18" charset="0"/>
                <a:cs typeface="Times New Roman" panose="02020603050405020304" pitchFamily="18" charset="0"/>
              </a:rPr>
              <a:t>p</a:t>
            </a:r>
            <a:r>
              <a:rPr lang="en-IN" sz="2400" dirty="0">
                <a:solidFill>
                  <a:srgbClr val="000000"/>
                </a:solidFill>
                <a:effectLst/>
                <a:ea typeface="Times New Roman" panose="02020603050405020304" pitchFamily="18" charset="0"/>
                <a:cs typeface="Times New Roman" panose="02020603050405020304" pitchFamily="18" charset="0"/>
              </a:rPr>
              <a:t>. This essentially transforms a fully connected layer to a sparsely connected layer. It can be seen as a generalization of Dropout to the full-connection structure of a layer.</a:t>
            </a:r>
          </a:p>
          <a:p>
            <a:pPr algn="just"/>
            <a:r>
              <a:rPr lang="en-US" sz="2400" b="1" i="0" dirty="0">
                <a:solidFill>
                  <a:srgbClr val="000000"/>
                </a:solidFill>
                <a:effectLst/>
              </a:rPr>
              <a:t>Variational Dropout</a:t>
            </a:r>
            <a:r>
              <a:rPr lang="en-US" sz="2400" b="0" i="0" dirty="0">
                <a:solidFill>
                  <a:srgbClr val="000000"/>
                </a:solidFill>
                <a:effectLst/>
              </a:rPr>
              <a:t>: we use the same dropout mask on each timestep. This means that we will </a:t>
            </a:r>
            <a:r>
              <a:rPr lang="en-US" sz="2400" b="0" i="0" dirty="0">
                <a:solidFill>
                  <a:srgbClr val="000000"/>
                </a:solidFill>
                <a:effectLst/>
                <a:highlight>
                  <a:srgbClr val="FFFF00"/>
                </a:highlight>
              </a:rPr>
              <a:t>drop the same network units each time</a:t>
            </a:r>
            <a:r>
              <a:rPr lang="en-US" sz="2400" b="0" i="0" dirty="0">
                <a:solidFill>
                  <a:srgbClr val="000000"/>
                </a:solidFill>
                <a:effectLst/>
              </a:rPr>
              <a:t>. This was initially introduced for </a:t>
            </a:r>
            <a:r>
              <a:rPr lang="en-US" sz="2400" dirty="0"/>
              <a:t>Recurrent Neural Networks</a:t>
            </a:r>
            <a:r>
              <a:rPr lang="en-US" sz="2400" b="0" i="0" dirty="0">
                <a:effectLst/>
              </a:rPr>
              <a:t> </a:t>
            </a:r>
            <a:r>
              <a:rPr lang="en-US" sz="2400" b="0" i="0" dirty="0">
                <a:solidFill>
                  <a:srgbClr val="000000"/>
                </a:solidFill>
                <a:effectLst/>
              </a:rPr>
              <a:t>and it follows the same principles as </a:t>
            </a:r>
            <a:r>
              <a:rPr lang="en-US" sz="2400" dirty="0"/>
              <a:t>variational inference</a:t>
            </a:r>
            <a:r>
              <a:rPr lang="en-US" sz="2400" b="0" i="0" dirty="0">
                <a:solidFill>
                  <a:srgbClr val="000000"/>
                </a:solidFill>
                <a:effectLst/>
              </a:rPr>
              <a:t>.</a:t>
            </a:r>
          </a:p>
          <a:p>
            <a:pPr algn="just"/>
            <a:r>
              <a:rPr lang="en-US" sz="2400" b="1" i="0" dirty="0">
                <a:solidFill>
                  <a:srgbClr val="000000"/>
                </a:solidFill>
                <a:effectLst/>
              </a:rPr>
              <a:t>Attention Dropout</a:t>
            </a:r>
            <a:r>
              <a:rPr lang="en-US" sz="2400" b="0" i="0" dirty="0">
                <a:solidFill>
                  <a:srgbClr val="000000"/>
                </a:solidFill>
                <a:effectLst/>
              </a:rPr>
              <a:t>: popular over the past years because of the rapid advancements of attention-based models like </a:t>
            </a:r>
            <a:r>
              <a:rPr lang="en-US" sz="2400" dirty="0"/>
              <a:t>Transformers</a:t>
            </a:r>
            <a:r>
              <a:rPr lang="en-US" sz="2400" b="0" i="0" dirty="0">
                <a:solidFill>
                  <a:srgbClr val="000000"/>
                </a:solidFill>
                <a:effectLst/>
              </a:rPr>
              <a:t>. As you may have guessed, we </a:t>
            </a:r>
            <a:r>
              <a:rPr lang="en-US" sz="2400" b="0" i="0" dirty="0">
                <a:solidFill>
                  <a:srgbClr val="000000"/>
                </a:solidFill>
                <a:effectLst/>
                <a:highlight>
                  <a:srgbClr val="FFFF00"/>
                </a:highlight>
              </a:rPr>
              <a:t>randomly dropped certain attention units with a probability </a:t>
            </a:r>
            <a:r>
              <a:rPr lang="en-US" sz="2400" b="0" i="1" dirty="0">
                <a:solidFill>
                  <a:srgbClr val="000000"/>
                </a:solidFill>
                <a:effectLst/>
                <a:highlight>
                  <a:srgbClr val="FFFF00"/>
                </a:highlight>
              </a:rPr>
              <a:t>p</a:t>
            </a:r>
            <a:r>
              <a:rPr lang="en-US" sz="2400" b="0" i="0" dirty="0">
                <a:solidFill>
                  <a:srgbClr val="000000"/>
                </a:solidFill>
                <a:effectLst/>
                <a:highlight>
                  <a:srgbClr val="FFFF00"/>
                </a:highlight>
              </a:rPr>
              <a:t>.</a:t>
            </a:r>
          </a:p>
          <a:p>
            <a:endParaRPr lang="en-IN" sz="1600" dirty="0">
              <a:effectLst/>
              <a:ea typeface="Calibri" panose="020F0502020204030204" pitchFamily="34" charset="0"/>
              <a:cs typeface="Times New Roman" panose="02020603050405020304" pitchFamily="18" charset="0"/>
            </a:endParaRPr>
          </a:p>
          <a:p>
            <a:pPr marL="0" indent="0">
              <a:buNone/>
            </a:pPr>
            <a:endParaRPr lang="en-IN" sz="1600" dirty="0">
              <a:solidFill>
                <a:srgbClr val="000000"/>
              </a:solidFill>
              <a:effectLs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8242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631D95-05DA-44F1-8C8B-35BCF897E970}"/>
              </a:ext>
            </a:extLst>
          </p:cNvPr>
          <p:cNvSpPr>
            <a:spLocks noGrp="1"/>
          </p:cNvSpPr>
          <p:nvPr>
            <p:ph idx="1"/>
          </p:nvPr>
        </p:nvSpPr>
        <p:spPr>
          <a:xfrm>
            <a:off x="838200" y="923026"/>
            <a:ext cx="10515600" cy="5253937"/>
          </a:xfrm>
        </p:spPr>
        <p:txBody>
          <a:bodyPr/>
          <a:lstStyle/>
          <a:p>
            <a:pPr algn="just"/>
            <a:r>
              <a:rPr lang="en-US" sz="2800" b="1" i="0" dirty="0">
                <a:solidFill>
                  <a:srgbClr val="000000"/>
                </a:solidFill>
                <a:effectLst/>
              </a:rPr>
              <a:t>Adaptive Dropout: </a:t>
            </a:r>
            <a:r>
              <a:rPr lang="en-US" sz="2800" b="0" i="0" dirty="0">
                <a:solidFill>
                  <a:srgbClr val="000000"/>
                </a:solidFill>
                <a:effectLst/>
              </a:rPr>
              <a:t>a technique that extends dropout by allowing the dropout probability to be different for different units. The intuition is that there may be hidden units that can individually make confident predictions for the presence or absence of an important feature or combination of features.</a:t>
            </a:r>
          </a:p>
          <a:p>
            <a:pPr algn="just"/>
            <a:r>
              <a:rPr lang="en-US" sz="2800" b="1" i="0" dirty="0">
                <a:solidFill>
                  <a:srgbClr val="000000"/>
                </a:solidFill>
                <a:effectLst/>
              </a:rPr>
              <a:t>Embedding Dropout</a:t>
            </a:r>
            <a:r>
              <a:rPr lang="en-US" sz="2800" b="0" i="0" dirty="0">
                <a:solidFill>
                  <a:srgbClr val="000000"/>
                </a:solidFill>
                <a:effectLst/>
              </a:rPr>
              <a:t>: a strategy that performs dropout on the embedding matrix and is used for a full forward and backward pass.</a:t>
            </a:r>
          </a:p>
          <a:p>
            <a:pPr algn="just"/>
            <a:r>
              <a:rPr lang="en-US" sz="2800" b="1" i="0" dirty="0" err="1">
                <a:solidFill>
                  <a:srgbClr val="000000"/>
                </a:solidFill>
                <a:effectLst/>
              </a:rPr>
              <a:t>DropBlock</a:t>
            </a:r>
            <a:r>
              <a:rPr lang="en-US" sz="2800" b="1" i="0" dirty="0">
                <a:solidFill>
                  <a:srgbClr val="000000"/>
                </a:solidFill>
                <a:effectLst/>
              </a:rPr>
              <a:t>: </a:t>
            </a:r>
            <a:r>
              <a:rPr lang="en-US" sz="2800" b="0" i="0" dirty="0">
                <a:solidFill>
                  <a:srgbClr val="000000"/>
                </a:solidFill>
                <a:effectLst/>
              </a:rPr>
              <a:t>is used in </a:t>
            </a:r>
            <a:r>
              <a:rPr lang="en-US" sz="2800" dirty="0"/>
              <a:t>Convolutional Neural networks </a:t>
            </a:r>
            <a:r>
              <a:rPr lang="en-US" sz="2800" b="0" i="0" dirty="0">
                <a:effectLst/>
              </a:rPr>
              <a:t>and </a:t>
            </a:r>
            <a:r>
              <a:rPr lang="en-US" sz="2800" b="0" i="0" dirty="0">
                <a:solidFill>
                  <a:srgbClr val="000000"/>
                </a:solidFill>
                <a:effectLst/>
              </a:rPr>
              <a:t>it discards all units in a continuous region of the feature map.</a:t>
            </a:r>
          </a:p>
          <a:p>
            <a:endParaRPr lang="en-IN" dirty="0"/>
          </a:p>
        </p:txBody>
      </p:sp>
    </p:spTree>
    <p:extLst>
      <p:ext uri="{BB962C8B-B14F-4D97-AF65-F5344CB8AC3E}">
        <p14:creationId xmlns:p14="http://schemas.microsoft.com/office/powerpoint/2010/main" val="156208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FFACE4-A039-4A6D-998D-AA5796671FB1}"/>
              </a:ext>
            </a:extLst>
          </p:cNvPr>
          <p:cNvSpPr>
            <a:spLocks noGrp="1"/>
          </p:cNvSpPr>
          <p:nvPr>
            <p:ph type="title"/>
          </p:nvPr>
        </p:nvSpPr>
        <p:spPr/>
        <p:txBody>
          <a:bodyPr/>
          <a:lstStyle/>
          <a:p>
            <a:r>
              <a:rPr lang="en-IN" sz="4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Stochastic Depth</a:t>
            </a:r>
            <a:endParaRPr lang="en-IN" dirty="0"/>
          </a:p>
        </p:txBody>
      </p:sp>
      <p:sp>
        <p:nvSpPr>
          <p:cNvPr id="3" name="Content Placeholder 2">
            <a:extLst>
              <a:ext uri="{FF2B5EF4-FFF2-40B4-BE49-F238E27FC236}">
                <a16:creationId xmlns:a16="http://schemas.microsoft.com/office/drawing/2014/main" id="{7659B077-6EB1-46ED-B753-B606119D6A2F}"/>
              </a:ext>
            </a:extLst>
          </p:cNvPr>
          <p:cNvSpPr>
            <a:spLocks noGrp="1"/>
          </p:cNvSpPr>
          <p:nvPr>
            <p:ph idx="1"/>
          </p:nvPr>
        </p:nvSpPr>
        <p:spPr/>
        <p:txBody>
          <a:bodyPr/>
          <a:lstStyle/>
          <a:p>
            <a:pPr algn="just">
              <a:lnSpc>
                <a:spcPct val="107000"/>
              </a:lnSpc>
              <a:spcAft>
                <a:spcPts val="800"/>
              </a:spcAft>
            </a:pP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Stochastic depth goes a step further. It drops entire network blocks while keeping the model intact during testing. The most popular application is in large </a:t>
            </a:r>
            <a:r>
              <a:rPr lang="en-IN"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ResNets</a:t>
            </a:r>
            <a:r>
              <a:rPr lang="en-IN"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where we bypass certain blocks through their skip connections.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3F0868D8-948F-4903-BBAC-41C637A9400E}"/>
              </a:ext>
            </a:extLst>
          </p:cNvPr>
          <p:cNvPicPr>
            <a:picLocks noChangeAspect="1"/>
          </p:cNvPicPr>
          <p:nvPr/>
        </p:nvPicPr>
        <p:blipFill>
          <a:blip r:embed="rId2"/>
          <a:stretch>
            <a:fillRect/>
          </a:stretch>
        </p:blipFill>
        <p:spPr>
          <a:xfrm>
            <a:off x="2799089" y="3429000"/>
            <a:ext cx="6023370" cy="2536156"/>
          </a:xfrm>
          <a:prstGeom prst="rect">
            <a:avLst/>
          </a:prstGeom>
        </p:spPr>
      </p:pic>
    </p:spTree>
    <p:extLst>
      <p:ext uri="{BB962C8B-B14F-4D97-AF65-F5344CB8AC3E}">
        <p14:creationId xmlns:p14="http://schemas.microsoft.com/office/powerpoint/2010/main" val="42527138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342CB-239B-47A2-96FF-530A902F7DE2}"/>
              </a:ext>
            </a:extLst>
          </p:cNvPr>
          <p:cNvSpPr>
            <a:spLocks noGrp="1"/>
          </p:cNvSpPr>
          <p:nvPr>
            <p:ph type="title"/>
          </p:nvPr>
        </p:nvSpPr>
        <p:spPr/>
        <p:txBody>
          <a:bodyPr/>
          <a:lstStyle/>
          <a:p>
            <a:r>
              <a:rPr lang="en-IN" sz="4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Early stopping</a:t>
            </a:r>
            <a:endParaRPr lang="en-IN" dirty="0"/>
          </a:p>
        </p:txBody>
      </p:sp>
      <p:sp>
        <p:nvSpPr>
          <p:cNvPr id="3" name="Content Placeholder 2">
            <a:extLst>
              <a:ext uri="{FF2B5EF4-FFF2-40B4-BE49-F238E27FC236}">
                <a16:creationId xmlns:a16="http://schemas.microsoft.com/office/drawing/2014/main" id="{AB6EB0CF-9218-4AFA-A93B-12748356A333}"/>
              </a:ext>
            </a:extLst>
          </p:cNvPr>
          <p:cNvSpPr>
            <a:spLocks noGrp="1"/>
          </p:cNvSpPr>
          <p:nvPr>
            <p:ph idx="1"/>
          </p:nvPr>
        </p:nvSpPr>
        <p:spPr/>
        <p:txBody>
          <a:bodyPr/>
          <a:lstStyle/>
          <a:p>
            <a:r>
              <a:rPr lang="en-IN" sz="1800" dirty="0">
                <a:solidFill>
                  <a:srgbClr val="000000"/>
                </a:solidFill>
                <a:effectLst/>
                <a:ea typeface="Times New Roman" panose="02020603050405020304" pitchFamily="18" charset="0"/>
                <a:cs typeface="Times New Roman" panose="02020603050405020304" pitchFamily="18" charset="0"/>
              </a:rPr>
              <a:t>Early stopping is one of the most commonly used strategies because it is very simple and quite effective. It refers to the process of </a:t>
            </a:r>
            <a:r>
              <a:rPr lang="en-IN" sz="1800" b="1" dirty="0">
                <a:solidFill>
                  <a:srgbClr val="000000"/>
                </a:solidFill>
                <a:effectLst/>
                <a:ea typeface="Times New Roman" panose="02020603050405020304" pitchFamily="18" charset="0"/>
                <a:cs typeface="Times New Roman" panose="02020603050405020304" pitchFamily="18" charset="0"/>
              </a:rPr>
              <a:t>stopping the training when the training error is no longer decreasing but the validation error is starting to rise</a:t>
            </a:r>
            <a:r>
              <a:rPr lang="en-IN" sz="1800" dirty="0">
                <a:solidFill>
                  <a:srgbClr val="000000"/>
                </a:solidFill>
                <a:effectLst/>
                <a:ea typeface="Times New Roman" panose="02020603050405020304" pitchFamily="18" charset="0"/>
                <a:cs typeface="Times New Roman" panose="02020603050405020304" pitchFamily="18" charset="0"/>
              </a:rPr>
              <a:t>.</a:t>
            </a:r>
            <a:endParaRPr lang="en-IN" sz="1800" dirty="0">
              <a:effectLst/>
              <a:ea typeface="Calibri" panose="020F0502020204030204" pitchFamily="34"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C9B64565-B293-4397-AA4E-E5BD9C3E7B34}"/>
              </a:ext>
            </a:extLst>
          </p:cNvPr>
          <p:cNvPicPr>
            <a:picLocks noChangeAspect="1"/>
          </p:cNvPicPr>
          <p:nvPr/>
        </p:nvPicPr>
        <p:blipFill>
          <a:blip r:embed="rId2"/>
          <a:stretch>
            <a:fillRect/>
          </a:stretch>
        </p:blipFill>
        <p:spPr>
          <a:xfrm>
            <a:off x="3559339" y="2910980"/>
            <a:ext cx="4670261" cy="3045204"/>
          </a:xfrm>
          <a:prstGeom prst="rect">
            <a:avLst/>
          </a:prstGeom>
        </p:spPr>
      </p:pic>
    </p:spTree>
    <p:extLst>
      <p:ext uri="{BB962C8B-B14F-4D97-AF65-F5344CB8AC3E}">
        <p14:creationId xmlns:p14="http://schemas.microsoft.com/office/powerpoint/2010/main" val="36211034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3E127E-5DE9-4B95-A52D-AAFC60BD6E26}"/>
              </a:ext>
            </a:extLst>
          </p:cNvPr>
          <p:cNvSpPr>
            <a:spLocks noGrp="1"/>
          </p:cNvSpPr>
          <p:nvPr>
            <p:ph idx="1"/>
          </p:nvPr>
        </p:nvSpPr>
        <p:spPr>
          <a:xfrm>
            <a:off x="838200" y="854015"/>
            <a:ext cx="10515600" cy="5322948"/>
          </a:xfrm>
        </p:spPr>
        <p:txBody>
          <a:bodyPr/>
          <a:lstStyle/>
          <a:p>
            <a:pPr algn="just">
              <a:lnSpc>
                <a:spcPct val="107000"/>
              </a:lnSpc>
              <a:spcAft>
                <a:spcPts val="800"/>
              </a:spcAft>
            </a:pPr>
            <a:r>
              <a:rPr lang="en-IN" sz="1800" dirty="0">
                <a:solidFill>
                  <a:srgbClr val="000000"/>
                </a:solidFill>
                <a:effectLst/>
                <a:ea typeface="Times New Roman" panose="02020603050405020304" pitchFamily="18" charset="0"/>
                <a:cs typeface="Times New Roman" panose="02020603050405020304" pitchFamily="18" charset="0"/>
              </a:rPr>
              <a:t>This implies that we store the trainable parameters periodically and track the validation error. After the training stopped, we return the trainable parameters to the exact point where the validation error started to rise, instead of the last ones.</a:t>
            </a:r>
            <a:endParaRPr lang="en-IN" sz="1800" dirty="0">
              <a:effectLst/>
              <a:ea typeface="Calibri" panose="020F0502020204030204" pitchFamily="34" charset="0"/>
              <a:cs typeface="Times New Roman" panose="02020603050405020304" pitchFamily="18" charset="0"/>
            </a:endParaRPr>
          </a:p>
          <a:p>
            <a:pPr algn="just">
              <a:lnSpc>
                <a:spcPct val="107000"/>
              </a:lnSpc>
              <a:spcAft>
                <a:spcPts val="800"/>
              </a:spcAft>
            </a:pPr>
            <a:r>
              <a:rPr lang="en-IN" sz="1800" dirty="0">
                <a:solidFill>
                  <a:srgbClr val="000000"/>
                </a:solidFill>
                <a:effectLst/>
                <a:ea typeface="Times New Roman" panose="02020603050405020304" pitchFamily="18" charset="0"/>
                <a:cs typeface="Times New Roman" panose="02020603050405020304" pitchFamily="18" charset="0"/>
              </a:rPr>
              <a:t>It is a very efficient hyperparameter selection algorithm, which sets the number of epochs to the absolute best. It essentially restricts the optimization procedure to a small volume of the trainable parameters space close to the initial parameters.</a:t>
            </a:r>
            <a:endParaRPr lang="en-IN" sz="1800" dirty="0">
              <a:effectLst/>
              <a:ea typeface="Calibri" panose="020F0502020204030204" pitchFamily="34" charset="0"/>
              <a:cs typeface="Times New Roman" panose="02020603050405020304" pitchFamily="18" charset="0"/>
            </a:endParaRPr>
          </a:p>
          <a:p>
            <a:pPr algn="just">
              <a:lnSpc>
                <a:spcPct val="107000"/>
              </a:lnSpc>
              <a:spcAft>
                <a:spcPts val="800"/>
              </a:spcAft>
            </a:pPr>
            <a:r>
              <a:rPr lang="en-IN" sz="1800" dirty="0">
                <a:solidFill>
                  <a:srgbClr val="000000"/>
                </a:solidFill>
                <a:effectLst/>
                <a:ea typeface="Times New Roman" panose="02020603050405020304" pitchFamily="18" charset="0"/>
                <a:cs typeface="Times New Roman" panose="02020603050405020304" pitchFamily="18" charset="0"/>
              </a:rPr>
              <a:t>It can also be proven that in the case of a simple linear model with a quadratic error function and simple gradient descent, early stopping is equivalent to L2 regularization.</a:t>
            </a:r>
            <a:endParaRPr lang="en-IN" sz="1800" dirty="0">
              <a:effectLst/>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9506971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796C67-5DDD-4E97-93E7-1600DCD4CD4B}"/>
              </a:ext>
            </a:extLst>
          </p:cNvPr>
          <p:cNvSpPr>
            <a:spLocks noGrp="1"/>
          </p:cNvSpPr>
          <p:nvPr>
            <p:ph idx="1"/>
          </p:nvPr>
        </p:nvSpPr>
        <p:spPr/>
        <p:txBody>
          <a:bodyPr/>
          <a:lstStyle/>
          <a:p>
            <a:pPr marL="0" indent="0">
              <a:buNone/>
            </a:pPr>
            <a:r>
              <a:rPr lang="en-IN" sz="1800" b="1" dirty="0">
                <a:solidFill>
                  <a:srgbClr val="000000"/>
                </a:solidFill>
                <a:effectLst/>
                <a:ea typeface="Times New Roman" panose="02020603050405020304" pitchFamily="18" charset="0"/>
                <a:cs typeface="Times New Roman" panose="02020603050405020304" pitchFamily="18" charset="0"/>
              </a:rPr>
              <a:t>Parameter sharing</a:t>
            </a:r>
            <a:endParaRPr lang="en-IN" sz="1800" dirty="0">
              <a:effectLst/>
              <a:ea typeface="Calibri" panose="020F0502020204030204" pitchFamily="34" charset="0"/>
              <a:cs typeface="Times New Roman" panose="02020603050405020304" pitchFamily="18" charset="0"/>
            </a:endParaRPr>
          </a:p>
          <a:p>
            <a:r>
              <a:rPr lang="en-IN" sz="1800" dirty="0">
                <a:solidFill>
                  <a:srgbClr val="000000"/>
                </a:solidFill>
                <a:effectLst/>
                <a:ea typeface="Times New Roman" panose="02020603050405020304" pitchFamily="18" charset="0"/>
              </a:rPr>
              <a:t>Parameter sharing follows a different approach. Instead of penalizing model parameters, it </a:t>
            </a:r>
            <a:r>
              <a:rPr lang="en-IN" sz="1800" b="1" dirty="0">
                <a:solidFill>
                  <a:srgbClr val="000000"/>
                </a:solidFill>
                <a:effectLst/>
                <a:ea typeface="Times New Roman" panose="02020603050405020304" pitchFamily="18" charset="0"/>
              </a:rPr>
              <a:t>forces a group of parameters to be equal.</a:t>
            </a:r>
          </a:p>
          <a:p>
            <a:pPr marL="0" indent="0">
              <a:lnSpc>
                <a:spcPts val="2400"/>
              </a:lnSpc>
              <a:spcAft>
                <a:spcPts val="800"/>
              </a:spcAft>
              <a:buNone/>
            </a:pPr>
            <a:r>
              <a:rPr lang="en-IN" sz="1800" b="1" dirty="0">
                <a:solidFill>
                  <a:srgbClr val="000000"/>
                </a:solidFill>
                <a:effectLst/>
                <a:ea typeface="Times New Roman" panose="02020603050405020304" pitchFamily="18" charset="0"/>
                <a:cs typeface="Times New Roman" panose="02020603050405020304" pitchFamily="18" charset="0"/>
              </a:rPr>
              <a:t>Batch normalization</a:t>
            </a:r>
            <a:endParaRPr lang="en-IN" sz="1800" dirty="0">
              <a:effectLst/>
              <a:ea typeface="Calibri" panose="020F0502020204030204" pitchFamily="34" charset="0"/>
              <a:cs typeface="Times New Roman" panose="02020603050405020304" pitchFamily="18" charset="0"/>
            </a:endParaRPr>
          </a:p>
          <a:p>
            <a:r>
              <a:rPr lang="en-IN" sz="1800" dirty="0">
                <a:ea typeface="Times New Roman" panose="02020603050405020304" pitchFamily="18" charset="0"/>
                <a:cs typeface="Times New Roman" panose="02020603050405020304" pitchFamily="18" charset="0"/>
              </a:rPr>
              <a:t>Batch normalization </a:t>
            </a:r>
            <a:r>
              <a:rPr lang="en-IN" sz="1800" dirty="0">
                <a:effectLst/>
                <a:ea typeface="Times New Roman" panose="02020603050405020304" pitchFamily="18" charset="0"/>
              </a:rPr>
              <a:t> </a:t>
            </a:r>
            <a:r>
              <a:rPr lang="en-IN" sz="1800" dirty="0">
                <a:solidFill>
                  <a:srgbClr val="000000"/>
                </a:solidFill>
                <a:effectLst/>
                <a:ea typeface="Times New Roman" panose="02020603050405020304" pitchFamily="18" charset="0"/>
              </a:rPr>
              <a:t>(BN) can also be used as a form of regularization. Batch normalization fixes the means and variances of the input by bringing the feature in the same range. </a:t>
            </a:r>
            <a:endParaRPr lang="en-IN" dirty="0"/>
          </a:p>
        </p:txBody>
      </p:sp>
    </p:spTree>
    <p:extLst>
      <p:ext uri="{BB962C8B-B14F-4D97-AF65-F5344CB8AC3E}">
        <p14:creationId xmlns:p14="http://schemas.microsoft.com/office/powerpoint/2010/main" val="8572028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AD7304-AB6B-4F51-920D-80F97AE8A199}"/>
              </a:ext>
            </a:extLst>
          </p:cNvPr>
          <p:cNvSpPr>
            <a:spLocks noGrp="1"/>
          </p:cNvSpPr>
          <p:nvPr>
            <p:ph idx="1"/>
          </p:nvPr>
        </p:nvSpPr>
        <p:spPr>
          <a:xfrm>
            <a:off x="838200" y="681487"/>
            <a:ext cx="10515600" cy="5495476"/>
          </a:xfrm>
        </p:spPr>
        <p:txBody>
          <a:bodyPr>
            <a:normAutofit/>
          </a:bodyPr>
          <a:lstStyle/>
          <a:p>
            <a:pPr marL="0" indent="0">
              <a:lnSpc>
                <a:spcPct val="100000"/>
              </a:lnSpc>
              <a:buNone/>
            </a:pPr>
            <a:r>
              <a:rPr lang="en-IN" sz="3600" b="1" dirty="0">
                <a:solidFill>
                  <a:srgbClr val="000000"/>
                </a:solidFill>
                <a:effectLst/>
                <a:ea typeface="Times New Roman" panose="02020603050405020304" pitchFamily="18" charset="0"/>
                <a:cs typeface="Times New Roman" panose="02020603050405020304" pitchFamily="18" charset="0"/>
              </a:rPr>
              <a:t>Data augmentation</a:t>
            </a:r>
            <a:endParaRPr lang="en-IN" sz="3600" dirty="0">
              <a:effectLst/>
              <a:ea typeface="Calibri" panose="020F0502020204030204" pitchFamily="34" charset="0"/>
              <a:cs typeface="Times New Roman" panose="02020603050405020304" pitchFamily="18" charset="0"/>
            </a:endParaRPr>
          </a:p>
          <a:p>
            <a:pPr>
              <a:lnSpc>
                <a:spcPct val="100000"/>
              </a:lnSpc>
            </a:pPr>
            <a:r>
              <a:rPr lang="en-IN" sz="2000" dirty="0">
                <a:solidFill>
                  <a:srgbClr val="000000"/>
                </a:solidFill>
                <a:effectLst/>
                <a:ea typeface="Times New Roman" panose="02020603050405020304" pitchFamily="18" charset="0"/>
              </a:rPr>
              <a:t>Data augmentation refers to the process of </a:t>
            </a:r>
            <a:r>
              <a:rPr lang="en-IN" sz="2000" b="1" dirty="0">
                <a:solidFill>
                  <a:srgbClr val="000000"/>
                </a:solidFill>
                <a:effectLst/>
                <a:highlight>
                  <a:srgbClr val="FFFF00"/>
                </a:highlight>
                <a:ea typeface="Times New Roman" panose="02020603050405020304" pitchFamily="18" charset="0"/>
              </a:rPr>
              <a:t>generating new training examples to our dataset</a:t>
            </a:r>
            <a:r>
              <a:rPr lang="en-IN" sz="2000" dirty="0">
                <a:solidFill>
                  <a:srgbClr val="000000"/>
                </a:solidFill>
                <a:effectLst/>
                <a:highlight>
                  <a:srgbClr val="FFFF00"/>
                </a:highlight>
                <a:ea typeface="Times New Roman" panose="02020603050405020304" pitchFamily="18" charset="0"/>
              </a:rPr>
              <a:t>. </a:t>
            </a:r>
            <a:r>
              <a:rPr lang="en-IN" sz="2000" dirty="0">
                <a:solidFill>
                  <a:srgbClr val="000000"/>
                </a:solidFill>
                <a:effectLst/>
                <a:ea typeface="Times New Roman" panose="02020603050405020304" pitchFamily="18" charset="0"/>
              </a:rPr>
              <a:t>More training data means </a:t>
            </a:r>
            <a:r>
              <a:rPr lang="en-IN" sz="2000" dirty="0">
                <a:solidFill>
                  <a:srgbClr val="000000"/>
                </a:solidFill>
                <a:effectLst/>
                <a:highlight>
                  <a:srgbClr val="FFFF00"/>
                </a:highlight>
                <a:ea typeface="Times New Roman" panose="02020603050405020304" pitchFamily="18" charset="0"/>
              </a:rPr>
              <a:t>lower model’s variance, </a:t>
            </a:r>
            <a:r>
              <a:rPr lang="en-IN" sz="2000" dirty="0" err="1">
                <a:solidFill>
                  <a:srgbClr val="000000"/>
                </a:solidFill>
                <a:effectLst/>
                <a:highlight>
                  <a:srgbClr val="FFFF00"/>
                </a:highlight>
                <a:ea typeface="Times New Roman" panose="02020603050405020304" pitchFamily="18" charset="0"/>
              </a:rPr>
              <a:t>a.k.a</a:t>
            </a:r>
            <a:r>
              <a:rPr lang="en-IN" sz="2000" dirty="0">
                <a:solidFill>
                  <a:srgbClr val="000000"/>
                </a:solidFill>
                <a:effectLst/>
                <a:highlight>
                  <a:srgbClr val="FFFF00"/>
                </a:highlight>
                <a:ea typeface="Times New Roman" panose="02020603050405020304" pitchFamily="18" charset="0"/>
              </a:rPr>
              <a:t> lower generalization error</a:t>
            </a:r>
            <a:r>
              <a:rPr lang="en-IN" sz="2000" dirty="0">
                <a:solidFill>
                  <a:srgbClr val="000000"/>
                </a:solidFill>
                <a:effectLst/>
                <a:ea typeface="Times New Roman" panose="02020603050405020304" pitchFamily="18" charset="0"/>
              </a:rPr>
              <a:t>. </a:t>
            </a:r>
            <a:r>
              <a:rPr lang="en-IN" sz="2000" dirty="0">
                <a:solidFill>
                  <a:srgbClr val="000000"/>
                </a:solidFill>
                <a:effectLst/>
                <a:ea typeface="Times New Roman" panose="02020603050405020304" pitchFamily="18" charset="0"/>
                <a:cs typeface="Times New Roman" panose="02020603050405020304" pitchFamily="18" charset="0"/>
              </a:rPr>
              <a:t>It can also be seen as a form of noise injection in the training dataset.</a:t>
            </a:r>
            <a:endParaRPr lang="en-IN" sz="2000" dirty="0">
              <a:effectLst/>
              <a:ea typeface="Calibri" panose="020F0502020204030204" pitchFamily="34" charset="0"/>
              <a:cs typeface="Times New Roman" panose="02020603050405020304" pitchFamily="18" charset="0"/>
            </a:endParaRPr>
          </a:p>
          <a:p>
            <a:pPr marL="0" indent="0">
              <a:lnSpc>
                <a:spcPct val="100000"/>
              </a:lnSpc>
              <a:buNone/>
            </a:pPr>
            <a:r>
              <a:rPr lang="en-IN" sz="2000" dirty="0">
                <a:solidFill>
                  <a:srgbClr val="000000"/>
                </a:solidFill>
                <a:effectLst/>
                <a:ea typeface="Times New Roman" panose="02020603050405020304" pitchFamily="18" charset="0"/>
              </a:rPr>
              <a:t>Data augmentation can be achieved in many different ways. </a:t>
            </a:r>
          </a:p>
          <a:p>
            <a:pPr>
              <a:lnSpc>
                <a:spcPct val="100000"/>
              </a:lnSpc>
            </a:pPr>
            <a:r>
              <a:rPr lang="en-IN" sz="2000" b="1" dirty="0">
                <a:solidFill>
                  <a:srgbClr val="000000"/>
                </a:solidFill>
                <a:effectLst/>
                <a:ea typeface="Times New Roman" panose="02020603050405020304" pitchFamily="18" charset="0"/>
                <a:cs typeface="Times New Roman" panose="02020603050405020304" pitchFamily="18" charset="0"/>
              </a:rPr>
              <a:t>Basic Data Manipulations</a:t>
            </a:r>
            <a:r>
              <a:rPr lang="en-IN" sz="2000" dirty="0">
                <a:solidFill>
                  <a:srgbClr val="000000"/>
                </a:solidFill>
                <a:effectLst/>
                <a:ea typeface="Times New Roman" panose="02020603050405020304" pitchFamily="18" charset="0"/>
                <a:cs typeface="Times New Roman" panose="02020603050405020304" pitchFamily="18" charset="0"/>
              </a:rPr>
              <a:t>: The first simple thing to do is to perform geometric transformations on data. Most notably, if we’re talking about images we have solutions such as: Image flipping, cropping, rotations, translations, image </a:t>
            </a:r>
            <a:r>
              <a:rPr lang="en-IN" sz="2000" dirty="0" err="1">
                <a:solidFill>
                  <a:srgbClr val="000000"/>
                </a:solidFill>
                <a:effectLst/>
                <a:ea typeface="Times New Roman" panose="02020603050405020304" pitchFamily="18" charset="0"/>
                <a:cs typeface="Times New Roman" panose="02020603050405020304" pitchFamily="18" charset="0"/>
              </a:rPr>
              <a:t>color</a:t>
            </a:r>
            <a:r>
              <a:rPr lang="en-IN" sz="2000" dirty="0">
                <a:solidFill>
                  <a:srgbClr val="000000"/>
                </a:solidFill>
                <a:effectLst/>
                <a:ea typeface="Times New Roman" panose="02020603050405020304" pitchFamily="18" charset="0"/>
                <a:cs typeface="Times New Roman" panose="02020603050405020304" pitchFamily="18" charset="0"/>
              </a:rPr>
              <a:t> modification, image mixing etc. </a:t>
            </a:r>
            <a:r>
              <a:rPr lang="en-IN" sz="2000" b="1" dirty="0" err="1">
                <a:solidFill>
                  <a:srgbClr val="000000"/>
                </a:solidFill>
                <a:effectLst/>
                <a:ea typeface="Times New Roman" panose="02020603050405020304" pitchFamily="18" charset="0"/>
                <a:cs typeface="Times New Roman" panose="02020603050405020304" pitchFamily="18" charset="0"/>
              </a:rPr>
              <a:t>Cutout</a:t>
            </a:r>
            <a:r>
              <a:rPr lang="en-IN" sz="2000" dirty="0">
                <a:solidFill>
                  <a:srgbClr val="000000"/>
                </a:solidFill>
                <a:effectLst/>
                <a:ea typeface="Times New Roman" panose="02020603050405020304" pitchFamily="18" charset="0"/>
                <a:cs typeface="Times New Roman" panose="02020603050405020304" pitchFamily="18" charset="0"/>
              </a:rPr>
              <a:t> is a commonly used idea where we remove certain image regions. Another idea, called </a:t>
            </a:r>
            <a:r>
              <a:rPr lang="en-IN" sz="2000" b="1" dirty="0" err="1">
                <a:solidFill>
                  <a:srgbClr val="000000"/>
                </a:solidFill>
                <a:effectLst/>
                <a:ea typeface="Times New Roman" panose="02020603050405020304" pitchFamily="18" charset="0"/>
                <a:cs typeface="Times New Roman" panose="02020603050405020304" pitchFamily="18" charset="0"/>
              </a:rPr>
              <a:t>Mixup</a:t>
            </a:r>
            <a:r>
              <a:rPr lang="en-IN" sz="2000" dirty="0">
                <a:solidFill>
                  <a:srgbClr val="000000"/>
                </a:solidFill>
                <a:effectLst/>
                <a:ea typeface="Times New Roman" panose="02020603050405020304" pitchFamily="18" charset="0"/>
                <a:cs typeface="Times New Roman" panose="02020603050405020304" pitchFamily="18" charset="0"/>
              </a:rPr>
              <a:t>, is the process of blending two images from the dataset into one image.</a:t>
            </a:r>
          </a:p>
          <a:p>
            <a:pPr>
              <a:lnSpc>
                <a:spcPct val="100000"/>
              </a:lnSpc>
            </a:pPr>
            <a:r>
              <a:rPr lang="en-IN" sz="2000" b="1" dirty="0">
                <a:solidFill>
                  <a:srgbClr val="000000"/>
                </a:solidFill>
                <a:effectLst/>
                <a:ea typeface="Times New Roman" panose="02020603050405020304" pitchFamily="18" charset="0"/>
                <a:cs typeface="Times New Roman" panose="02020603050405020304" pitchFamily="18" charset="0"/>
              </a:rPr>
              <a:t>Feature Space Augmentation : </a:t>
            </a:r>
            <a:r>
              <a:rPr lang="en-IN" sz="2000" dirty="0">
                <a:solidFill>
                  <a:srgbClr val="000000"/>
                </a:solidFill>
                <a:effectLst/>
                <a:ea typeface="Times New Roman" panose="02020603050405020304" pitchFamily="18" charset="0"/>
                <a:cs typeface="Times New Roman" panose="02020603050405020304" pitchFamily="18" charset="0"/>
              </a:rPr>
              <a:t>Instead of transforming data in the input space as above, we can apply transformations on the feature space. For example, an autoencoder might be used to extract the latent representation. Noise can then be added in the latent representation which results in a transformation of the original data point.</a:t>
            </a:r>
            <a:endParaRPr lang="en-IN" sz="2000" dirty="0">
              <a:effectLst/>
              <a:ea typeface="Calibri" panose="020F0502020204030204" pitchFamily="34" charset="0"/>
              <a:cs typeface="Times New Roman" panose="02020603050405020304" pitchFamily="18" charset="0"/>
            </a:endParaRP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7981659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AFD57F-2949-48E7-9DBE-2E7824AF384B}"/>
              </a:ext>
            </a:extLst>
          </p:cNvPr>
          <p:cNvSpPr>
            <a:spLocks noGrp="1"/>
          </p:cNvSpPr>
          <p:nvPr>
            <p:ph idx="1"/>
          </p:nvPr>
        </p:nvSpPr>
        <p:spPr>
          <a:xfrm>
            <a:off x="838200" y="733245"/>
            <a:ext cx="10515600" cy="5443718"/>
          </a:xfrm>
        </p:spPr>
        <p:txBody>
          <a:bodyPr>
            <a:normAutofit/>
          </a:bodyPr>
          <a:lstStyle/>
          <a:p>
            <a:pPr marL="0" indent="0">
              <a:buNone/>
            </a:pPr>
            <a:r>
              <a:rPr lang="en-IN" sz="1800" b="1" dirty="0">
                <a:solidFill>
                  <a:srgbClr val="000000"/>
                </a:solidFill>
                <a:effectLst/>
                <a:ea typeface="Times New Roman" panose="02020603050405020304" pitchFamily="18" charset="0"/>
                <a:cs typeface="Times New Roman" panose="02020603050405020304" pitchFamily="18" charset="0"/>
              </a:rPr>
              <a:t>GAN-based Augmentation:</a:t>
            </a:r>
          </a:p>
          <a:p>
            <a:r>
              <a:rPr lang="en-IN" sz="1800" b="1" dirty="0">
                <a:solidFill>
                  <a:srgbClr val="000000"/>
                </a:solidFill>
                <a:effectLst/>
                <a:ea typeface="Times New Roman" panose="02020603050405020304" pitchFamily="18" charset="0"/>
                <a:cs typeface="Times New Roman" panose="02020603050405020304" pitchFamily="18" charset="0"/>
              </a:rPr>
              <a:t> </a:t>
            </a:r>
            <a:r>
              <a:rPr lang="en-IN" sz="1800" dirty="0">
                <a:solidFill>
                  <a:srgbClr val="000000"/>
                </a:solidFill>
                <a:effectLst/>
                <a:ea typeface="Times New Roman" panose="02020603050405020304" pitchFamily="18" charset="0"/>
                <a:cs typeface="Times New Roman" panose="02020603050405020304" pitchFamily="18" charset="0"/>
              </a:rPr>
              <a:t>Generative Adversarial Networks have been proven to work extremely well on data generation so they are a natural choice for data augmentation.</a:t>
            </a:r>
          </a:p>
          <a:p>
            <a:endParaRPr lang="en-IN" sz="1800" dirty="0">
              <a:effectLst/>
              <a:ea typeface="Calibri" panose="020F0502020204030204" pitchFamily="34" charset="0"/>
              <a:cs typeface="Times New Roman" panose="02020603050405020304" pitchFamily="18" charset="0"/>
            </a:endParaRPr>
          </a:p>
          <a:p>
            <a:pPr marL="0" lvl="0" indent="0" algn="just">
              <a:lnSpc>
                <a:spcPct val="107000"/>
              </a:lnSpc>
              <a:spcAft>
                <a:spcPts val="800"/>
              </a:spcAft>
              <a:buNone/>
              <a:tabLst>
                <a:tab pos="457200" algn="l"/>
              </a:tabLst>
            </a:pPr>
            <a:r>
              <a:rPr lang="en-IN" sz="1800" b="1" dirty="0">
                <a:solidFill>
                  <a:srgbClr val="000000"/>
                </a:solidFill>
                <a:effectLst/>
                <a:ea typeface="Times New Roman" panose="02020603050405020304" pitchFamily="18" charset="0"/>
                <a:cs typeface="Times New Roman" panose="02020603050405020304" pitchFamily="18" charset="0"/>
              </a:rPr>
              <a:t>Meta-Learning: </a:t>
            </a:r>
          </a:p>
          <a:p>
            <a:pPr marL="342900" lvl="0" indent="-342900" algn="just">
              <a:lnSpc>
                <a:spcPct val="107000"/>
              </a:lnSpc>
              <a:spcAft>
                <a:spcPts val="800"/>
              </a:spcAft>
              <a:tabLst>
                <a:tab pos="457200" algn="l"/>
              </a:tabLst>
            </a:pPr>
            <a:r>
              <a:rPr lang="en-IN" sz="1800" dirty="0">
                <a:solidFill>
                  <a:srgbClr val="000000"/>
                </a:solidFill>
                <a:effectLst/>
                <a:ea typeface="Times New Roman" panose="02020603050405020304" pitchFamily="18" charset="0"/>
                <a:cs typeface="Times New Roman" panose="02020603050405020304" pitchFamily="18" charset="0"/>
              </a:rPr>
              <a:t>In meta-learning, we use neural networks to optimize other neural networks by tuning their hyperparameters, improving their layout, and more. </a:t>
            </a:r>
          </a:p>
          <a:p>
            <a:pPr marL="342900" lvl="0" indent="-342900" algn="just">
              <a:lnSpc>
                <a:spcPct val="107000"/>
              </a:lnSpc>
              <a:spcAft>
                <a:spcPts val="800"/>
              </a:spcAft>
              <a:tabLst>
                <a:tab pos="457200" algn="l"/>
              </a:tabLst>
            </a:pPr>
            <a:r>
              <a:rPr lang="en-IN" sz="1800" dirty="0">
                <a:solidFill>
                  <a:srgbClr val="000000"/>
                </a:solidFill>
                <a:effectLst/>
                <a:ea typeface="Times New Roman" panose="02020603050405020304" pitchFamily="18" charset="0"/>
                <a:cs typeface="Times New Roman" panose="02020603050405020304" pitchFamily="18" charset="0"/>
              </a:rPr>
              <a:t>A similar approach can also be applied in data augmentation. In simple terms, we use a classification network to tune an augmentation network into generating better images. </a:t>
            </a:r>
          </a:p>
          <a:p>
            <a:pPr marL="342900" lvl="0" indent="-342900" algn="just">
              <a:lnSpc>
                <a:spcPct val="107000"/>
              </a:lnSpc>
              <a:spcAft>
                <a:spcPts val="800"/>
              </a:spcAft>
              <a:tabLst>
                <a:tab pos="457200" algn="l"/>
              </a:tabLst>
            </a:pPr>
            <a:r>
              <a:rPr lang="en-IN" sz="1800" dirty="0">
                <a:solidFill>
                  <a:srgbClr val="000000"/>
                </a:solidFill>
                <a:effectLst/>
                <a:ea typeface="Times New Roman" panose="02020603050405020304" pitchFamily="18" charset="0"/>
                <a:cs typeface="Times New Roman" panose="02020603050405020304" pitchFamily="18" charset="0"/>
              </a:rPr>
              <a:t>Example: We feed random images to an Augmentation Network (most likely a GAN), which will generate augmented images. Both the augmented image and the original are passed into a second network, which compares them and tells us how good the augmented image is. After repeating the process the augmentation network becomes better and better at producing new images.</a:t>
            </a:r>
            <a:endParaRPr lang="en-IN" sz="1800" dirty="0">
              <a:effectLst/>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0887975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322</TotalTime>
  <Words>2071</Words>
  <Application>Microsoft Office PowerPoint</Application>
  <PresentationFormat>Widescreen</PresentationFormat>
  <Paragraphs>89</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Times New Roman</vt:lpstr>
      <vt:lpstr>Office Theme</vt:lpstr>
      <vt:lpstr>Regularization Techniques in Deep Learning</vt:lpstr>
      <vt:lpstr>PowerPoint Presentation</vt:lpstr>
      <vt:lpstr>PowerPoint Presentation</vt:lpstr>
      <vt:lpstr>Regularization</vt:lpstr>
      <vt:lpstr>PowerPoint Presentation</vt:lpstr>
      <vt:lpstr>How to introduce regularization in deep learning models</vt:lpstr>
      <vt:lpstr>PowerPoint Presentation</vt:lpstr>
      <vt:lpstr>PowerPoint Presentation</vt:lpstr>
      <vt:lpstr>Different Regularization Techniques in Deep Learning</vt:lpstr>
      <vt:lpstr>Regularization term differs in L1 and L2</vt:lpstr>
      <vt:lpstr>Elastic net</vt:lpstr>
      <vt:lpstr>Entropy Regularization</vt:lpstr>
      <vt:lpstr>Label smoothing</vt:lpstr>
      <vt:lpstr>Dropout</vt:lpstr>
      <vt:lpstr>PowerPoint Presentation</vt:lpstr>
      <vt:lpstr>Other Dropout variations</vt:lpstr>
      <vt:lpstr>PowerPoint Presentation</vt:lpstr>
      <vt:lpstr>PowerPoint Presentation</vt:lpstr>
      <vt:lpstr>Stochastic Depth</vt:lpstr>
      <vt:lpstr>Early stopping</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Regularization Techniques in Deep Learning</dc:title>
  <dc:creator>MSB</dc:creator>
  <cp:lastModifiedBy>Bunni Ranadeesh</cp:lastModifiedBy>
  <cp:revision>34</cp:revision>
  <dcterms:created xsi:type="dcterms:W3CDTF">2023-11-13T13:57:57Z</dcterms:created>
  <dcterms:modified xsi:type="dcterms:W3CDTF">2025-08-19T19:30:41Z</dcterms:modified>
</cp:coreProperties>
</file>