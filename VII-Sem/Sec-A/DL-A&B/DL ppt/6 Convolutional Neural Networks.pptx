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83" r:id="rId11"/>
    <p:sldId id="284" r:id="rId12"/>
    <p:sldId id="285" r:id="rId13"/>
    <p:sldId id="286" r:id="rId14"/>
    <p:sldId id="287" r:id="rId15"/>
    <p:sldId id="288" r:id="rId16"/>
    <p:sldId id="289" r:id="rId17"/>
    <p:sldId id="290" r:id="rId18"/>
    <p:sldId id="291" r:id="rId19"/>
    <p:sldId id="292" r:id="rId20"/>
    <p:sldId id="293"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9" r:id="rId34"/>
    <p:sldId id="278" r:id="rId35"/>
    <p:sldId id="277" r:id="rId36"/>
    <p:sldId id="280" r:id="rId37"/>
    <p:sldId id="281" r:id="rId38"/>
    <p:sldId id="28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98" d="100"/>
          <a:sy n="98" d="100"/>
        </p:scale>
        <p:origin x="11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nni Ranadeesh" userId="03c1ed1ded996da4" providerId="LiveId" clId="{22CC5FCA-52FB-4E38-BBB5-5F0B26CCB518}"/>
    <pc:docChg chg="modSld">
      <pc:chgData name="Bunni Ranadeesh" userId="03c1ed1ded996da4" providerId="LiveId" clId="{22CC5FCA-52FB-4E38-BBB5-5F0B26CCB518}" dt="2025-08-20T09:49:57.002" v="1" actId="13926"/>
      <pc:docMkLst>
        <pc:docMk/>
      </pc:docMkLst>
      <pc:sldChg chg="modSp mod">
        <pc:chgData name="Bunni Ranadeesh" userId="03c1ed1ded996da4" providerId="LiveId" clId="{22CC5FCA-52FB-4E38-BBB5-5F0B26CCB518}" dt="2025-08-19T19:18:32.144" v="0" actId="13926"/>
        <pc:sldMkLst>
          <pc:docMk/>
          <pc:sldMk cId="2572681287" sldId="263"/>
        </pc:sldMkLst>
        <pc:spChg chg="mod">
          <ac:chgData name="Bunni Ranadeesh" userId="03c1ed1ded996da4" providerId="LiveId" clId="{22CC5FCA-52FB-4E38-BBB5-5F0B26CCB518}" dt="2025-08-19T19:18:32.144" v="0" actId="13926"/>
          <ac:spMkLst>
            <pc:docMk/>
            <pc:sldMk cId="2572681287" sldId="263"/>
            <ac:spMk id="3" creationId="{00000000-0000-0000-0000-000000000000}"/>
          </ac:spMkLst>
        </pc:spChg>
      </pc:sldChg>
      <pc:sldChg chg="modSp mod">
        <pc:chgData name="Bunni Ranadeesh" userId="03c1ed1ded996da4" providerId="LiveId" clId="{22CC5FCA-52FB-4E38-BBB5-5F0B26CCB518}" dt="2025-08-20T09:49:57.002" v="1" actId="13926"/>
        <pc:sldMkLst>
          <pc:docMk/>
          <pc:sldMk cId="47649049" sldId="275"/>
        </pc:sldMkLst>
        <pc:spChg chg="mod">
          <ac:chgData name="Bunni Ranadeesh" userId="03c1ed1ded996da4" providerId="LiveId" clId="{22CC5FCA-52FB-4E38-BBB5-5F0B26CCB518}" dt="2025-08-20T09:49:57.002" v="1" actId="13926"/>
          <ac:spMkLst>
            <pc:docMk/>
            <pc:sldMk cId="47649049" sldId="275"/>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99F80EF-9D00-476B-99AB-19BEDD0985DD}"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DAAF0-B7A0-44A7-B4E8-6D7BBD443812}" type="slidenum">
              <a:rPr lang="en-IN" smtClean="0"/>
              <a:t>‹#›</a:t>
            </a:fld>
            <a:endParaRPr lang="en-IN"/>
          </a:p>
        </p:txBody>
      </p:sp>
    </p:spTree>
    <p:extLst>
      <p:ext uri="{BB962C8B-B14F-4D97-AF65-F5344CB8AC3E}">
        <p14:creationId xmlns:p14="http://schemas.microsoft.com/office/powerpoint/2010/main" val="4054764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9F80EF-9D00-476B-99AB-19BEDD0985DD}"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DAAF0-B7A0-44A7-B4E8-6D7BBD443812}" type="slidenum">
              <a:rPr lang="en-IN" smtClean="0"/>
              <a:t>‹#›</a:t>
            </a:fld>
            <a:endParaRPr lang="en-IN"/>
          </a:p>
        </p:txBody>
      </p:sp>
    </p:spTree>
    <p:extLst>
      <p:ext uri="{BB962C8B-B14F-4D97-AF65-F5344CB8AC3E}">
        <p14:creationId xmlns:p14="http://schemas.microsoft.com/office/powerpoint/2010/main" val="238501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99F80EF-9D00-476B-99AB-19BEDD0985DD}"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DAAF0-B7A0-44A7-B4E8-6D7BBD443812}" type="slidenum">
              <a:rPr lang="en-IN" smtClean="0"/>
              <a:t>‹#›</a:t>
            </a:fld>
            <a:endParaRPr lang="en-IN"/>
          </a:p>
        </p:txBody>
      </p:sp>
    </p:spTree>
    <p:extLst>
      <p:ext uri="{BB962C8B-B14F-4D97-AF65-F5344CB8AC3E}">
        <p14:creationId xmlns:p14="http://schemas.microsoft.com/office/powerpoint/2010/main" val="1462719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99F80EF-9D00-476B-99AB-19BEDD0985DD}"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2DAAF0-B7A0-44A7-B4E8-6D7BBD443812}" type="slidenum">
              <a:rPr lang="en-IN" smtClean="0"/>
              <a:t>‹#›</a:t>
            </a:fld>
            <a:endParaRPr lang="en-IN"/>
          </a:p>
        </p:txBody>
      </p:sp>
    </p:spTree>
    <p:extLst>
      <p:ext uri="{BB962C8B-B14F-4D97-AF65-F5344CB8AC3E}">
        <p14:creationId xmlns:p14="http://schemas.microsoft.com/office/powerpoint/2010/main" val="1129628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99F80EF-9D00-476B-99AB-19BEDD0985DD}" type="datetimeFigureOut">
              <a:rPr lang="en-IN" smtClean="0"/>
              <a:t>20-08-2025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82DAAF0-B7A0-44A7-B4E8-6D7BBD443812}" type="slidenum">
              <a:rPr lang="en-IN" smtClean="0"/>
              <a:t>‹#›</a:t>
            </a:fld>
            <a:endParaRPr lang="en-IN"/>
          </a:p>
        </p:txBody>
      </p:sp>
    </p:spTree>
    <p:extLst>
      <p:ext uri="{BB962C8B-B14F-4D97-AF65-F5344CB8AC3E}">
        <p14:creationId xmlns:p14="http://schemas.microsoft.com/office/powerpoint/2010/main" val="380598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99F80EF-9D00-476B-99AB-19BEDD0985DD}" type="datetimeFigureOut">
              <a:rPr lang="en-IN" smtClean="0"/>
              <a:t>20-08-2025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2DAAF0-B7A0-44A7-B4E8-6D7BBD443812}" type="slidenum">
              <a:rPr lang="en-IN" smtClean="0"/>
              <a:t>‹#›</a:t>
            </a:fld>
            <a:endParaRPr lang="en-IN"/>
          </a:p>
        </p:txBody>
      </p:sp>
    </p:spTree>
    <p:extLst>
      <p:ext uri="{BB962C8B-B14F-4D97-AF65-F5344CB8AC3E}">
        <p14:creationId xmlns:p14="http://schemas.microsoft.com/office/powerpoint/2010/main" val="1342336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9F80EF-9D00-476B-99AB-19BEDD0985DD}" type="datetimeFigureOut">
              <a:rPr lang="en-IN" smtClean="0"/>
              <a:t>20-08-2025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82DAAF0-B7A0-44A7-B4E8-6D7BBD443812}" type="slidenum">
              <a:rPr lang="en-IN" smtClean="0"/>
              <a:t>‹#›</a:t>
            </a:fld>
            <a:endParaRPr lang="en-IN"/>
          </a:p>
        </p:txBody>
      </p:sp>
    </p:spTree>
    <p:extLst>
      <p:ext uri="{BB962C8B-B14F-4D97-AF65-F5344CB8AC3E}">
        <p14:creationId xmlns:p14="http://schemas.microsoft.com/office/powerpoint/2010/main" val="792526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99F80EF-9D00-476B-99AB-19BEDD0985DD}"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2DAAF0-B7A0-44A7-B4E8-6D7BBD443812}" type="slidenum">
              <a:rPr lang="en-IN" smtClean="0"/>
              <a:t>‹#›</a:t>
            </a:fld>
            <a:endParaRPr lang="en-IN"/>
          </a:p>
        </p:txBody>
      </p:sp>
    </p:spTree>
    <p:extLst>
      <p:ext uri="{BB962C8B-B14F-4D97-AF65-F5344CB8AC3E}">
        <p14:creationId xmlns:p14="http://schemas.microsoft.com/office/powerpoint/2010/main" val="3849194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99F80EF-9D00-476B-99AB-19BEDD0985DD}"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2DAAF0-B7A0-44A7-B4E8-6D7BBD443812}" type="slidenum">
              <a:rPr lang="en-IN" smtClean="0"/>
              <a:t>‹#›</a:t>
            </a:fld>
            <a:endParaRPr lang="en-IN"/>
          </a:p>
        </p:txBody>
      </p:sp>
    </p:spTree>
    <p:extLst>
      <p:ext uri="{BB962C8B-B14F-4D97-AF65-F5344CB8AC3E}">
        <p14:creationId xmlns:p14="http://schemas.microsoft.com/office/powerpoint/2010/main" val="24859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9F80EF-9D00-476B-99AB-19BEDD0985DD}"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DAAF0-B7A0-44A7-B4E8-6D7BBD443812}" type="slidenum">
              <a:rPr lang="en-IN" smtClean="0"/>
              <a:t>‹#›</a:t>
            </a:fld>
            <a:endParaRPr lang="en-IN"/>
          </a:p>
        </p:txBody>
      </p:sp>
    </p:spTree>
    <p:extLst>
      <p:ext uri="{BB962C8B-B14F-4D97-AF65-F5344CB8AC3E}">
        <p14:creationId xmlns:p14="http://schemas.microsoft.com/office/powerpoint/2010/main" val="2579279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9F80EF-9D00-476B-99AB-19BEDD0985DD}"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DAAF0-B7A0-44A7-B4E8-6D7BBD443812}" type="slidenum">
              <a:rPr lang="en-IN" smtClean="0"/>
              <a:t>‹#›</a:t>
            </a:fld>
            <a:endParaRPr lang="en-IN"/>
          </a:p>
        </p:txBody>
      </p:sp>
    </p:spTree>
    <p:extLst>
      <p:ext uri="{BB962C8B-B14F-4D97-AF65-F5344CB8AC3E}">
        <p14:creationId xmlns:p14="http://schemas.microsoft.com/office/powerpoint/2010/main" val="4171537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9F80EF-9D00-476B-99AB-19BEDD0985DD}" type="datetimeFigureOut">
              <a:rPr lang="en-IN" smtClean="0"/>
              <a:t>20-08-2025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2DAAF0-B7A0-44A7-B4E8-6D7BBD443812}" type="slidenum">
              <a:rPr lang="en-IN" smtClean="0"/>
              <a:t>‹#›</a:t>
            </a:fld>
            <a:endParaRPr lang="en-IN"/>
          </a:p>
        </p:txBody>
      </p:sp>
    </p:spTree>
    <p:extLst>
      <p:ext uri="{BB962C8B-B14F-4D97-AF65-F5344CB8AC3E}">
        <p14:creationId xmlns:p14="http://schemas.microsoft.com/office/powerpoint/2010/main" val="7683468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3.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Convolutional Neural Networks</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568725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Neural networks</a:t>
            </a:r>
          </a:p>
        </p:txBody>
      </p:sp>
      <p:sp>
        <p:nvSpPr>
          <p:cNvPr id="3" name="Content Placeholder 2"/>
          <p:cNvSpPr>
            <a:spLocks noGrp="1"/>
          </p:cNvSpPr>
          <p:nvPr>
            <p:ph idx="1"/>
          </p:nvPr>
        </p:nvSpPr>
        <p:spPr/>
        <p:txBody>
          <a:bodyPr>
            <a:normAutofit lnSpcReduction="10000"/>
          </a:bodyPr>
          <a:lstStyle/>
          <a:p>
            <a:r>
              <a:rPr lang="en-IN" dirty="0"/>
              <a:t> NN are a subset of machine learning, and they are at the heart of deep learning algorithms. </a:t>
            </a:r>
          </a:p>
          <a:p>
            <a:r>
              <a:rPr lang="en-IN" dirty="0"/>
              <a:t>They are comprised of node layers, containing an input layer, one or more hidden layers, and an output layer. </a:t>
            </a:r>
          </a:p>
          <a:p>
            <a:r>
              <a:rPr lang="en-IN" dirty="0"/>
              <a:t>Each node connects to another and has an associated weight and threshold.</a:t>
            </a:r>
          </a:p>
          <a:p>
            <a:r>
              <a:rPr lang="en-IN" dirty="0"/>
              <a:t> If the output of any individual node is above the specified threshold value, that node is activated, sending data to the next layer of the network. </a:t>
            </a:r>
          </a:p>
          <a:p>
            <a:r>
              <a:rPr lang="en-IN" dirty="0"/>
              <a:t>Otherwise, no data is passed along to the next layer of the network.</a:t>
            </a:r>
          </a:p>
          <a:p>
            <a:endParaRPr lang="en-IN" dirty="0"/>
          </a:p>
        </p:txBody>
      </p:sp>
    </p:spTree>
    <p:extLst>
      <p:ext uri="{BB962C8B-B14F-4D97-AF65-F5344CB8AC3E}">
        <p14:creationId xmlns:p14="http://schemas.microsoft.com/office/powerpoint/2010/main" val="2049494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Convolutional neural networks</a:t>
            </a:r>
          </a:p>
        </p:txBody>
      </p:sp>
      <p:sp>
        <p:nvSpPr>
          <p:cNvPr id="3" name="Content Placeholder 2"/>
          <p:cNvSpPr>
            <a:spLocks noGrp="1"/>
          </p:cNvSpPr>
          <p:nvPr>
            <p:ph idx="1"/>
          </p:nvPr>
        </p:nvSpPr>
        <p:spPr/>
        <p:txBody>
          <a:bodyPr>
            <a:normAutofit/>
          </a:bodyPr>
          <a:lstStyle/>
          <a:p>
            <a:r>
              <a:rPr lang="en-IN" dirty="0"/>
              <a:t>Convolutional neural networks (</a:t>
            </a:r>
            <a:r>
              <a:rPr lang="en-IN" dirty="0" err="1"/>
              <a:t>ConvNets</a:t>
            </a:r>
            <a:r>
              <a:rPr lang="en-IN" dirty="0"/>
              <a:t> or CNNs) are more often utilized for classification and computer vision tasks.</a:t>
            </a:r>
          </a:p>
          <a:p>
            <a:r>
              <a:rPr lang="en-IN" dirty="0"/>
              <a:t>Prior to CNNs, manual, time-consuming feature extraction methods were used to identify objects in images.</a:t>
            </a:r>
          </a:p>
          <a:p>
            <a:r>
              <a:rPr lang="en-IN" dirty="0"/>
              <a:t>However, convolutional neural networks now provide a more scalable approach to image classification and object recognition tasks, leveraging principles from linear algebra, specifically matrix multiplication, to identify patterns within an image.</a:t>
            </a:r>
          </a:p>
          <a:p>
            <a:r>
              <a:rPr lang="en-IN" dirty="0"/>
              <a:t>They are specialized for data having grid-like topology </a:t>
            </a:r>
            <a:r>
              <a:rPr lang="en-IN" b="1" dirty="0"/>
              <a:t>1D grid – time series data ;2D grid – image data</a:t>
            </a:r>
          </a:p>
        </p:txBody>
      </p:sp>
    </p:spTree>
    <p:extLst>
      <p:ext uri="{BB962C8B-B14F-4D97-AF65-F5344CB8AC3E}">
        <p14:creationId xmlns:p14="http://schemas.microsoft.com/office/powerpoint/2010/main" val="1458228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name “convolutional neural network” indicates that the network employs a mathematical operation called </a:t>
            </a:r>
            <a:r>
              <a:rPr lang="en-IN" b="1" dirty="0"/>
              <a:t>convolution</a:t>
            </a:r>
            <a:r>
              <a:rPr lang="en-IN" dirty="0"/>
              <a:t>. </a:t>
            </a:r>
          </a:p>
          <a:p>
            <a:r>
              <a:rPr lang="en-IN" dirty="0"/>
              <a:t>Convolution is a specialized kind of linear operation. </a:t>
            </a:r>
          </a:p>
          <a:p>
            <a:r>
              <a:rPr lang="en-IN" i="1" dirty="0"/>
              <a:t>Convolutional networks are simply neural networks that use  convolution in place of general matrix multiplication in at least one of their layers.</a:t>
            </a:r>
          </a:p>
          <a:p>
            <a:endParaRPr lang="en-IN" dirty="0"/>
          </a:p>
        </p:txBody>
      </p:sp>
    </p:spTree>
    <p:extLst>
      <p:ext uri="{BB962C8B-B14F-4D97-AF65-F5344CB8AC3E}">
        <p14:creationId xmlns:p14="http://schemas.microsoft.com/office/powerpoint/2010/main" val="2780202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The Convolution Operation</a:t>
            </a:r>
            <a:endParaRPr lang="en-IN" dirty="0"/>
          </a:p>
        </p:txBody>
      </p:sp>
      <p:sp>
        <p:nvSpPr>
          <p:cNvPr id="3" name="Content Placeholder 2"/>
          <p:cNvSpPr>
            <a:spLocks noGrp="1"/>
          </p:cNvSpPr>
          <p:nvPr>
            <p:ph idx="1"/>
          </p:nvPr>
        </p:nvSpPr>
        <p:spPr/>
        <p:txBody>
          <a:bodyPr>
            <a:normAutofit fontScale="92500" lnSpcReduction="10000"/>
          </a:bodyPr>
          <a:lstStyle/>
          <a:p>
            <a:r>
              <a:rPr lang="en-IN" dirty="0"/>
              <a:t>Convolution is an operation on two functions of a real valued argument.</a:t>
            </a:r>
          </a:p>
          <a:p>
            <a:pPr marL="0" indent="0">
              <a:buNone/>
            </a:pPr>
            <a:r>
              <a:rPr lang="en-IN" dirty="0"/>
              <a:t>Examples:</a:t>
            </a:r>
          </a:p>
          <a:p>
            <a:r>
              <a:rPr lang="en-IN" dirty="0"/>
              <a:t>Tracking the location of a spaceship with a laser sensor. </a:t>
            </a:r>
          </a:p>
          <a:p>
            <a:r>
              <a:rPr lang="en-IN" dirty="0"/>
              <a:t>Laser sensor provides a single output </a:t>
            </a:r>
            <a:r>
              <a:rPr lang="en-IN" i="1" dirty="0"/>
              <a:t>x</a:t>
            </a:r>
            <a:r>
              <a:rPr lang="en-IN" dirty="0"/>
              <a:t>(</a:t>
            </a:r>
            <a:r>
              <a:rPr lang="en-IN" i="1" dirty="0"/>
              <a:t>t</a:t>
            </a:r>
            <a:r>
              <a:rPr lang="en-IN" dirty="0"/>
              <a:t>), the position of the spaceship at time </a:t>
            </a:r>
            <a:r>
              <a:rPr lang="en-IN" i="1" dirty="0"/>
              <a:t>t</a:t>
            </a:r>
            <a:r>
              <a:rPr lang="en-IN" dirty="0"/>
              <a:t>. Both </a:t>
            </a:r>
            <a:r>
              <a:rPr lang="en-IN" i="1" dirty="0"/>
              <a:t>x </a:t>
            </a:r>
            <a:r>
              <a:rPr lang="en-IN" dirty="0"/>
              <a:t>and </a:t>
            </a:r>
            <a:r>
              <a:rPr lang="en-IN" i="1" dirty="0"/>
              <a:t>t </a:t>
            </a:r>
            <a:r>
              <a:rPr lang="en-IN" dirty="0"/>
              <a:t>are real-valued, i.e., we can get a different reading from the laser sensor at any instant in time.</a:t>
            </a:r>
          </a:p>
          <a:p>
            <a:r>
              <a:rPr lang="en-IN" dirty="0"/>
              <a:t>Suppose that laser sensor is somewhat noisy. To obtain a less noisy estimate of the spaceship’s position, we would like to average together several measurements. </a:t>
            </a:r>
          </a:p>
          <a:p>
            <a:r>
              <a:rPr lang="en-IN" dirty="0"/>
              <a:t>More recent measurements are more relevant, so we will want this to be a weighted average that gives more weight to recent measurements.</a:t>
            </a:r>
          </a:p>
          <a:p>
            <a:endParaRPr lang="en-IN" dirty="0"/>
          </a:p>
          <a:p>
            <a:pPr marL="0" indent="0">
              <a:buNone/>
            </a:pPr>
            <a:endParaRPr lang="en-IN" dirty="0"/>
          </a:p>
        </p:txBody>
      </p:sp>
    </p:spTree>
    <p:extLst>
      <p:ext uri="{BB962C8B-B14F-4D97-AF65-F5344CB8AC3E}">
        <p14:creationId xmlns:p14="http://schemas.microsoft.com/office/powerpoint/2010/main" val="1381483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3245"/>
            <a:ext cx="10515600" cy="5443718"/>
          </a:xfrm>
        </p:spPr>
        <p:txBody>
          <a:bodyPr>
            <a:normAutofit/>
          </a:bodyPr>
          <a:lstStyle/>
          <a:p>
            <a:r>
              <a:rPr lang="en-IN" dirty="0"/>
              <a:t>We can do this with a weighting function </a:t>
            </a:r>
            <a:r>
              <a:rPr lang="en-IN" i="1" dirty="0"/>
              <a:t>w</a:t>
            </a:r>
            <a:r>
              <a:rPr lang="en-IN" dirty="0"/>
              <a:t>(</a:t>
            </a:r>
            <a:r>
              <a:rPr lang="en-IN" i="1" dirty="0"/>
              <a:t>a</a:t>
            </a:r>
            <a:r>
              <a:rPr lang="en-IN" dirty="0"/>
              <a:t>), where </a:t>
            </a:r>
            <a:r>
              <a:rPr lang="en-IN" b="1" i="1" dirty="0"/>
              <a:t>a</a:t>
            </a:r>
            <a:r>
              <a:rPr lang="en-IN" i="1" dirty="0"/>
              <a:t> </a:t>
            </a:r>
            <a:r>
              <a:rPr lang="en-IN" dirty="0"/>
              <a:t>is the age of a measurement. If we apply such a weighted average operation at every moment, we obtain a new function providing </a:t>
            </a:r>
            <a:r>
              <a:rPr lang="en-IN" b="1" i="1" dirty="0"/>
              <a:t>s</a:t>
            </a:r>
            <a:r>
              <a:rPr lang="en-IN" i="1" dirty="0"/>
              <a:t> </a:t>
            </a:r>
            <a:r>
              <a:rPr lang="en-IN" dirty="0"/>
              <a:t>a smoothed estimate of the position of the spaceship.</a:t>
            </a:r>
          </a:p>
          <a:p>
            <a:pPr marL="0" indent="0">
              <a:buNone/>
            </a:pPr>
            <a:r>
              <a:rPr lang="en-IN" i="1" dirty="0"/>
              <a:t>                 s</a:t>
            </a:r>
            <a:r>
              <a:rPr lang="en-IN" dirty="0"/>
              <a:t>(</a:t>
            </a:r>
            <a:r>
              <a:rPr lang="en-IN" i="1" dirty="0"/>
              <a:t>t</a:t>
            </a:r>
            <a:r>
              <a:rPr lang="en-IN" dirty="0"/>
              <a:t>) =  ∫ </a:t>
            </a:r>
            <a:r>
              <a:rPr lang="en-IN" i="1" dirty="0"/>
              <a:t>x</a:t>
            </a:r>
            <a:r>
              <a:rPr lang="en-IN" dirty="0"/>
              <a:t>(</a:t>
            </a:r>
            <a:r>
              <a:rPr lang="en-IN" i="1" dirty="0"/>
              <a:t>a</a:t>
            </a:r>
            <a:r>
              <a:rPr lang="en-IN" dirty="0"/>
              <a:t>) </a:t>
            </a:r>
            <a:r>
              <a:rPr lang="en-IN" i="1" dirty="0"/>
              <a:t>w</a:t>
            </a:r>
            <a:r>
              <a:rPr lang="en-IN" dirty="0"/>
              <a:t>(</a:t>
            </a:r>
            <a:r>
              <a:rPr lang="en-IN" i="1" dirty="0"/>
              <a:t>t </a:t>
            </a:r>
            <a:r>
              <a:rPr lang="en-US" i="1" dirty="0"/>
              <a:t>− </a:t>
            </a:r>
            <a:r>
              <a:rPr lang="en-IN" i="1" dirty="0"/>
              <a:t>a</a:t>
            </a:r>
            <a:r>
              <a:rPr lang="en-IN" dirty="0"/>
              <a:t>) </a:t>
            </a:r>
            <a:r>
              <a:rPr lang="en-IN" i="1" dirty="0"/>
              <a:t>da </a:t>
            </a:r>
          </a:p>
          <a:p>
            <a:r>
              <a:rPr lang="en-IN" dirty="0"/>
              <a:t>This operation is called </a:t>
            </a:r>
            <a:r>
              <a:rPr lang="en-IN" b="1" dirty="0"/>
              <a:t>convolution</a:t>
            </a:r>
            <a:r>
              <a:rPr lang="en-IN" dirty="0"/>
              <a:t>. The convolution operation is typically denoted with an asterisk:</a:t>
            </a:r>
          </a:p>
          <a:p>
            <a:pPr marL="0" indent="0">
              <a:buNone/>
            </a:pPr>
            <a:r>
              <a:rPr lang="en-IN" i="1" dirty="0"/>
              <a:t>                 s</a:t>
            </a:r>
            <a:r>
              <a:rPr lang="en-IN" dirty="0"/>
              <a:t>(</a:t>
            </a:r>
            <a:r>
              <a:rPr lang="en-IN" i="1" dirty="0"/>
              <a:t>t</a:t>
            </a:r>
            <a:r>
              <a:rPr lang="en-IN" dirty="0"/>
              <a:t>) = (</a:t>
            </a:r>
            <a:r>
              <a:rPr lang="en-IN" i="1" dirty="0"/>
              <a:t>x ∗ w</a:t>
            </a:r>
            <a:r>
              <a:rPr lang="en-IN" dirty="0"/>
              <a:t>)(</a:t>
            </a:r>
            <a:r>
              <a:rPr lang="en-IN" i="1" dirty="0"/>
              <a:t>t</a:t>
            </a:r>
            <a:r>
              <a:rPr lang="en-IN" dirty="0"/>
              <a:t>)</a:t>
            </a:r>
          </a:p>
          <a:p>
            <a:r>
              <a:rPr lang="en-IN" dirty="0"/>
              <a:t>In the example, </a:t>
            </a:r>
            <a:r>
              <a:rPr lang="en-IN" i="1" dirty="0"/>
              <a:t>w </a:t>
            </a:r>
            <a:r>
              <a:rPr lang="en-IN" dirty="0"/>
              <a:t>needs to be a valid probability density function, or the output is not a weighted average. Also, </a:t>
            </a:r>
            <a:r>
              <a:rPr lang="en-IN" i="1" dirty="0"/>
              <a:t>w </a:t>
            </a:r>
            <a:r>
              <a:rPr lang="en-IN" dirty="0"/>
              <a:t>needs to be 0 for all negative arguments. </a:t>
            </a:r>
          </a:p>
          <a:p>
            <a:endParaRPr lang="en-IN" dirty="0"/>
          </a:p>
        </p:txBody>
      </p:sp>
    </p:spTree>
    <p:extLst>
      <p:ext uri="{BB962C8B-B14F-4D97-AF65-F5344CB8AC3E}">
        <p14:creationId xmlns:p14="http://schemas.microsoft.com/office/powerpoint/2010/main" val="4062297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672860"/>
                <a:ext cx="10515600" cy="5504103"/>
              </a:xfrm>
            </p:spPr>
            <p:txBody>
              <a:bodyPr>
                <a:normAutofit/>
              </a:bodyPr>
              <a:lstStyle/>
              <a:p>
                <a:r>
                  <a:rPr lang="en-IN" dirty="0"/>
                  <a:t>In convolutional network terminology, the first argument (in this example, the function </a:t>
                </a:r>
                <a:r>
                  <a:rPr lang="en-IN" i="1" dirty="0"/>
                  <a:t>x</a:t>
                </a:r>
                <a:r>
                  <a:rPr lang="en-IN" dirty="0"/>
                  <a:t>) to the convolution is often referred to as the </a:t>
                </a:r>
                <a:r>
                  <a:rPr lang="en-IN" b="1" dirty="0"/>
                  <a:t>input </a:t>
                </a:r>
                <a:r>
                  <a:rPr lang="en-IN" dirty="0"/>
                  <a:t>and the second argument (in this example, the function </a:t>
                </a:r>
                <a:r>
                  <a:rPr lang="en-IN" i="1" dirty="0"/>
                  <a:t>w</a:t>
                </a:r>
                <a:r>
                  <a:rPr lang="en-IN" dirty="0"/>
                  <a:t>) as the </a:t>
                </a:r>
                <a:r>
                  <a:rPr lang="en-IN" b="1" dirty="0"/>
                  <a:t>kernel</a:t>
                </a:r>
                <a:r>
                  <a:rPr lang="en-IN" dirty="0"/>
                  <a:t>. The output is sometimes referred to as the </a:t>
                </a:r>
                <a:r>
                  <a:rPr lang="en-IN" b="1" dirty="0"/>
                  <a:t>feature map</a:t>
                </a:r>
                <a:r>
                  <a:rPr lang="en-IN" dirty="0"/>
                  <a:t>.</a:t>
                </a:r>
              </a:p>
              <a:p>
                <a:r>
                  <a:rPr lang="en-IN" dirty="0"/>
                  <a:t>In the example, sensor will provide data at regular intervals.</a:t>
                </a:r>
              </a:p>
              <a:p>
                <a:r>
                  <a:rPr lang="en-IN" dirty="0"/>
                  <a:t>The time index </a:t>
                </a:r>
                <a:r>
                  <a:rPr lang="en-IN" i="1" dirty="0"/>
                  <a:t>t </a:t>
                </a:r>
                <a:r>
                  <a:rPr lang="en-IN" dirty="0"/>
                  <a:t>can then take on only integer values. If we now assume that </a:t>
                </a:r>
                <a:r>
                  <a:rPr lang="en-IN" i="1" dirty="0"/>
                  <a:t>x </a:t>
                </a:r>
                <a:r>
                  <a:rPr lang="en-IN" dirty="0"/>
                  <a:t>and </a:t>
                </a:r>
                <a:r>
                  <a:rPr lang="en-IN" i="1" dirty="0"/>
                  <a:t>w </a:t>
                </a:r>
                <a:r>
                  <a:rPr lang="en-IN" dirty="0"/>
                  <a:t>are defined only on integer </a:t>
                </a:r>
                <a:r>
                  <a:rPr lang="en-IN" i="1" dirty="0"/>
                  <a:t>t</a:t>
                </a:r>
                <a:r>
                  <a:rPr lang="en-IN" dirty="0"/>
                  <a:t>, we can define the discrete convolution:</a:t>
                </a:r>
              </a:p>
              <a:p>
                <a:pPr marL="0" indent="0">
                  <a:buNone/>
                </a:pPr>
                <a:r>
                  <a:rPr lang="en-IN" i="1" dirty="0"/>
                  <a:t>                 s</a:t>
                </a:r>
                <a:r>
                  <a:rPr lang="en-IN" dirty="0"/>
                  <a:t>(</a:t>
                </a:r>
                <a:r>
                  <a:rPr lang="en-IN" i="1" dirty="0"/>
                  <a:t>t</a:t>
                </a:r>
                <a:r>
                  <a:rPr lang="en-IN" dirty="0"/>
                  <a:t>) = (</a:t>
                </a:r>
                <a:r>
                  <a:rPr lang="en-IN" i="1" dirty="0"/>
                  <a:t>x ∗ w</a:t>
                </a:r>
                <a:r>
                  <a:rPr lang="en-IN" dirty="0"/>
                  <a:t>)(</a:t>
                </a:r>
                <a:r>
                  <a:rPr lang="en-IN" i="1" dirty="0"/>
                  <a:t>t</a:t>
                </a:r>
                <a:r>
                  <a:rPr lang="en-IN" dirty="0"/>
                  <a:t>) = </a:t>
                </a:r>
                <a14:m>
                  <m:oMath xmlns:m="http://schemas.openxmlformats.org/officeDocument/2006/math">
                    <m:nary>
                      <m:naryPr>
                        <m:chr m:val="∑"/>
                        <m:limLoc m:val="undOvr"/>
                        <m:ctrlPr>
                          <a:rPr lang="en-IN" i="1">
                            <a:latin typeface="Cambria Math" panose="02040503050406030204" pitchFamily="18" charset="0"/>
                          </a:rPr>
                        </m:ctrlPr>
                      </m:naryPr>
                      <m:sub>
                        <m:r>
                          <a:rPr lang="en-IN" i="1">
                            <a:latin typeface="Cambria Math" panose="02040503050406030204" pitchFamily="18" charset="0"/>
                          </a:rPr>
                          <m:t>𝑎</m:t>
                        </m:r>
                        <m:r>
                          <a:rPr lang="en-IN" i="1">
                            <a:latin typeface="Cambria Math" panose="02040503050406030204" pitchFamily="18" charset="0"/>
                          </a:rPr>
                          <m:t>= − ∞</m:t>
                        </m:r>
                      </m:sub>
                      <m:sup>
                        <m:r>
                          <a:rPr lang="en-IN" i="1">
                            <a:latin typeface="Cambria Math" panose="02040503050406030204" pitchFamily="18" charset="0"/>
                          </a:rPr>
                          <m:t>∞</m:t>
                        </m:r>
                      </m:sup>
                      <m:e>
                        <m:r>
                          <a:rPr lang="en-IN" i="1">
                            <a:latin typeface="Cambria Math" panose="02040503050406030204" pitchFamily="18" charset="0"/>
                          </a:rPr>
                          <m:t>𝑥</m:t>
                        </m:r>
                        <m:r>
                          <a:rPr lang="en-IN">
                            <a:latin typeface="Cambria Math" panose="02040503050406030204" pitchFamily="18" charset="0"/>
                          </a:rPr>
                          <m:t>(</m:t>
                        </m:r>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𝑤</m:t>
                        </m:r>
                        <m:r>
                          <a:rPr lang="en-IN">
                            <a:latin typeface="Cambria Math" panose="02040503050406030204" pitchFamily="18" charset="0"/>
                          </a:rPr>
                          <m:t>(</m:t>
                        </m:r>
                        <m:r>
                          <a:rPr lang="en-IN" i="1">
                            <a:latin typeface="Cambria Math" panose="02040503050406030204" pitchFamily="18" charset="0"/>
                          </a:rPr>
                          <m:t>𝑡</m:t>
                        </m:r>
                        <m:r>
                          <a:rPr lang="en-IN" i="1">
                            <a:latin typeface="Cambria Math" panose="02040503050406030204" pitchFamily="18" charset="0"/>
                          </a:rPr>
                          <m:t> − </m:t>
                        </m:r>
                        <m:r>
                          <a:rPr lang="en-IN" i="1">
                            <a:latin typeface="Cambria Math" panose="02040503050406030204" pitchFamily="18" charset="0"/>
                          </a:rPr>
                          <m:t>𝑎</m:t>
                        </m:r>
                        <m:r>
                          <a:rPr lang="en-IN">
                            <a:latin typeface="Cambria Math" panose="02040503050406030204" pitchFamily="18" charset="0"/>
                          </a:rPr>
                          <m:t>)</m:t>
                        </m:r>
                      </m:e>
                    </m:nary>
                  </m:oMath>
                </a14:m>
                <a:endParaRPr lang="en-IN"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672860"/>
                <a:ext cx="10515600" cy="5504103"/>
              </a:xfrm>
              <a:blipFill>
                <a:blip r:embed="rId2"/>
                <a:stretch>
                  <a:fillRect l="-1043" t="-1772" r="-812"/>
                </a:stretch>
              </a:blipFill>
            </p:spPr>
            <p:txBody>
              <a:bodyPr/>
              <a:lstStyle/>
              <a:p>
                <a:r>
                  <a:rPr lang="en-IN">
                    <a:noFill/>
                  </a:rPr>
                  <a:t> </a:t>
                </a:r>
              </a:p>
            </p:txBody>
          </p:sp>
        </mc:Fallback>
      </mc:AlternateContent>
    </p:spTree>
    <p:extLst>
      <p:ext uri="{BB962C8B-B14F-4D97-AF65-F5344CB8AC3E}">
        <p14:creationId xmlns:p14="http://schemas.microsoft.com/office/powerpoint/2010/main" val="2035408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Tensors</a:t>
            </a:r>
            <a:endParaRPr lang="en-IN" dirty="0"/>
          </a:p>
        </p:txBody>
      </p:sp>
      <p:sp>
        <p:nvSpPr>
          <p:cNvPr id="3" name="Content Placeholder 2"/>
          <p:cNvSpPr>
            <a:spLocks noGrp="1"/>
          </p:cNvSpPr>
          <p:nvPr>
            <p:ph idx="1"/>
          </p:nvPr>
        </p:nvSpPr>
        <p:spPr/>
        <p:txBody>
          <a:bodyPr>
            <a:normAutofit/>
          </a:bodyPr>
          <a:lstStyle/>
          <a:p>
            <a:r>
              <a:rPr lang="en-IN" dirty="0"/>
              <a:t>In machine learning applications, the input is usually a multidimensional array of data and the kernel is usually a multidimensional array of parameters that are adapted by the learning algorithm. </a:t>
            </a:r>
          </a:p>
          <a:p>
            <a:r>
              <a:rPr lang="en-IN" dirty="0"/>
              <a:t>These </a:t>
            </a:r>
            <a:r>
              <a:rPr lang="en-IN" dirty="0">
                <a:highlight>
                  <a:srgbClr val="FFFF00"/>
                </a:highlight>
              </a:rPr>
              <a:t>multidimensional arrays are referred as tensors</a:t>
            </a:r>
            <a:r>
              <a:rPr lang="en-IN" dirty="0"/>
              <a:t>, because each element of the input and kernel must be explicitly stored separately.</a:t>
            </a:r>
          </a:p>
          <a:p>
            <a:r>
              <a:rPr lang="en-IN" dirty="0"/>
              <a:t>We usually assume that these functions are zero everywhere but the finite set of points for which we store the values. </a:t>
            </a:r>
          </a:p>
          <a:p>
            <a:r>
              <a:rPr lang="en-IN" dirty="0"/>
              <a:t>This means that in practice we can implement the infinite summation as a summation over a finite number of array elements.</a:t>
            </a:r>
          </a:p>
        </p:txBody>
      </p:sp>
    </p:spTree>
    <p:extLst>
      <p:ext uri="{BB962C8B-B14F-4D97-AF65-F5344CB8AC3E}">
        <p14:creationId xmlns:p14="http://schemas.microsoft.com/office/powerpoint/2010/main" val="2572681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879894"/>
                <a:ext cx="10515600" cy="5297069"/>
              </a:xfrm>
            </p:spPr>
            <p:txBody>
              <a:bodyPr>
                <a:normAutofit/>
              </a:bodyPr>
              <a:lstStyle/>
              <a:p>
                <a:r>
                  <a:rPr lang="en-IN" dirty="0"/>
                  <a:t>We often use convolutions over more than one axis at a time.</a:t>
                </a:r>
              </a:p>
              <a:p>
                <a:r>
                  <a:rPr lang="en-IN" dirty="0"/>
                  <a:t>For example, if we use a two-dimensional image </a:t>
                </a:r>
                <a:r>
                  <a:rPr lang="en-IN" i="1" dirty="0"/>
                  <a:t>I </a:t>
                </a:r>
                <a:r>
                  <a:rPr lang="en-IN" dirty="0"/>
                  <a:t>as our input, we probably also want to use a two-dimensional kernel </a:t>
                </a:r>
                <a:r>
                  <a:rPr lang="en-IN" i="1" dirty="0"/>
                  <a:t>K</a:t>
                </a:r>
                <a:r>
                  <a:rPr lang="en-IN" dirty="0"/>
                  <a:t>.</a:t>
                </a:r>
              </a:p>
              <a:p>
                <a:pPr marL="0" indent="0">
                  <a:buNone/>
                </a:pPr>
                <a:r>
                  <a:rPr lang="en-IN" i="1" dirty="0"/>
                  <a:t>           S </a:t>
                </a:r>
                <a:r>
                  <a:rPr lang="en-IN" dirty="0"/>
                  <a:t>(</a:t>
                </a:r>
                <a:r>
                  <a:rPr lang="en-IN" i="1" dirty="0" err="1"/>
                  <a:t>i</a:t>
                </a:r>
                <a:r>
                  <a:rPr lang="en-IN" i="1" dirty="0"/>
                  <a:t>, j</a:t>
                </a:r>
                <a:r>
                  <a:rPr lang="en-IN" dirty="0"/>
                  <a:t>) = (</a:t>
                </a:r>
                <a:r>
                  <a:rPr lang="en-IN" i="1" dirty="0"/>
                  <a:t>I </a:t>
                </a:r>
                <a:r>
                  <a:rPr lang="en-US" i="1" dirty="0"/>
                  <a:t>∗ </a:t>
                </a:r>
                <a:r>
                  <a:rPr lang="en-IN" i="1" dirty="0"/>
                  <a:t>K </a:t>
                </a:r>
                <a:r>
                  <a:rPr lang="en-IN" dirty="0"/>
                  <a:t>) (</a:t>
                </a:r>
                <a:r>
                  <a:rPr lang="en-IN" i="1" dirty="0" err="1"/>
                  <a:t>i</a:t>
                </a:r>
                <a:r>
                  <a:rPr lang="en-IN" i="1" dirty="0"/>
                  <a:t>, j</a:t>
                </a:r>
                <a:r>
                  <a:rPr lang="en-IN" dirty="0"/>
                  <a:t>) = </a:t>
                </a:r>
                <a14:m>
                  <m:oMath xmlns:m="http://schemas.openxmlformats.org/officeDocument/2006/math">
                    <m:nary>
                      <m:naryPr>
                        <m:chr m:val="∑"/>
                        <m:limLoc m:val="undOvr"/>
                        <m:supHide m:val="on"/>
                        <m:ctrlPr>
                          <a:rPr lang="en-IN" i="1">
                            <a:latin typeface="Cambria Math" panose="02040503050406030204" pitchFamily="18" charset="0"/>
                          </a:rPr>
                        </m:ctrlPr>
                      </m:naryPr>
                      <m:sub>
                        <m:r>
                          <a:rPr lang="en-IN" i="1">
                            <a:latin typeface="Cambria Math" panose="02040503050406030204" pitchFamily="18" charset="0"/>
                          </a:rPr>
                          <m:t>𝑚</m:t>
                        </m:r>
                      </m:sub>
                      <m:sup/>
                      <m:e>
                        <m:nary>
                          <m:naryPr>
                            <m:chr m:val="∑"/>
                            <m:limLoc m:val="undOvr"/>
                            <m:supHide m:val="on"/>
                            <m:ctrlPr>
                              <a:rPr lang="en-IN" i="1">
                                <a:latin typeface="Cambria Math" panose="02040503050406030204" pitchFamily="18" charset="0"/>
                              </a:rPr>
                            </m:ctrlPr>
                          </m:naryPr>
                          <m:sub>
                            <m:r>
                              <a:rPr lang="en-IN" i="1">
                                <a:latin typeface="Cambria Math" panose="02040503050406030204" pitchFamily="18" charset="0"/>
                              </a:rPr>
                              <m:t>𝑛</m:t>
                            </m:r>
                          </m:sub>
                          <m:sup/>
                          <m:e>
                            <m:r>
                              <a:rPr lang="en-IN" i="1">
                                <a:latin typeface="Cambria Math" panose="02040503050406030204" pitchFamily="18" charset="0"/>
                              </a:rPr>
                              <m:t>𝐼</m:t>
                            </m:r>
                            <m:r>
                              <a:rPr lang="en-IN">
                                <a:latin typeface="Cambria Math" panose="02040503050406030204" pitchFamily="18" charset="0"/>
                              </a:rPr>
                              <m:t>(</m:t>
                            </m:r>
                            <m:r>
                              <a:rPr lang="en-IN" i="1">
                                <a:latin typeface="Cambria Math" panose="02040503050406030204" pitchFamily="18" charset="0"/>
                              </a:rPr>
                              <m:t>𝑚</m:t>
                            </m:r>
                            <m:r>
                              <a:rPr lang="en-IN" i="1">
                                <a:latin typeface="Cambria Math" panose="02040503050406030204" pitchFamily="18" charset="0"/>
                              </a:rPr>
                              <m:t>, </m:t>
                            </m:r>
                            <m:r>
                              <a:rPr lang="en-IN" i="1">
                                <a:latin typeface="Cambria Math" panose="02040503050406030204" pitchFamily="18" charset="0"/>
                              </a:rPr>
                              <m:t>𝑛</m:t>
                            </m:r>
                            <m:r>
                              <a:rPr lang="en-IN">
                                <a:latin typeface="Cambria Math" panose="02040503050406030204" pitchFamily="18" charset="0"/>
                              </a:rPr>
                              <m:t>)</m:t>
                            </m:r>
                            <m:r>
                              <a:rPr lang="en-IN" i="1">
                                <a:latin typeface="Cambria Math" panose="02040503050406030204" pitchFamily="18" charset="0"/>
                              </a:rPr>
                              <m:t>𝐾</m:t>
                            </m:r>
                            <m:r>
                              <a:rPr lang="en-IN">
                                <a:latin typeface="Cambria Math" panose="02040503050406030204" pitchFamily="18" charset="0"/>
                              </a:rPr>
                              <m:t>(</m:t>
                            </m:r>
                            <m:r>
                              <a:rPr lang="en-IN" i="1">
                                <a:latin typeface="Cambria Math" panose="02040503050406030204" pitchFamily="18" charset="0"/>
                              </a:rPr>
                              <m:t>𝑖</m:t>
                            </m:r>
                            <m:r>
                              <a:rPr lang="en-IN" i="1">
                                <a:latin typeface="Cambria Math" panose="02040503050406030204" pitchFamily="18" charset="0"/>
                              </a:rPr>
                              <m:t> −</m:t>
                            </m:r>
                            <m:r>
                              <a:rPr lang="en-IN" i="1">
                                <a:latin typeface="Cambria Math" panose="02040503050406030204" pitchFamily="18" charset="0"/>
                              </a:rPr>
                              <m:t>𝑚</m:t>
                            </m:r>
                            <m:r>
                              <a:rPr lang="en-IN" i="1">
                                <a:latin typeface="Cambria Math" panose="02040503050406030204" pitchFamily="18" charset="0"/>
                              </a:rPr>
                              <m:t>, </m:t>
                            </m:r>
                            <m:r>
                              <a:rPr lang="en-IN" i="1">
                                <a:latin typeface="Cambria Math" panose="02040503050406030204" pitchFamily="18" charset="0"/>
                              </a:rPr>
                              <m:t>𝑗</m:t>
                            </m:r>
                            <m:r>
                              <a:rPr lang="en-IN" i="1">
                                <a:latin typeface="Cambria Math" panose="02040503050406030204" pitchFamily="18" charset="0"/>
                              </a:rPr>
                              <m:t> − </m:t>
                            </m:r>
                            <m:r>
                              <a:rPr lang="en-IN" i="1">
                                <a:latin typeface="Cambria Math" panose="02040503050406030204" pitchFamily="18" charset="0"/>
                              </a:rPr>
                              <m:t>𝑛</m:t>
                            </m:r>
                            <m:r>
                              <a:rPr lang="en-IN">
                                <a:latin typeface="Cambria Math" panose="02040503050406030204" pitchFamily="18" charset="0"/>
                              </a:rPr>
                              <m:t>)</m:t>
                            </m:r>
                          </m:e>
                        </m:nary>
                      </m:e>
                    </m:nary>
                  </m:oMath>
                </a14:m>
                <a:endParaRPr lang="en-IN" dirty="0"/>
              </a:p>
              <a:p>
                <a:pPr marL="0" indent="0">
                  <a:buNone/>
                </a:pPr>
                <a:r>
                  <a:rPr lang="en-IN" dirty="0"/>
                  <a:t>Convolution is commutative </a:t>
                </a:r>
              </a:p>
              <a:p>
                <a:pPr marL="0" indent="0">
                  <a:buNone/>
                </a:pPr>
                <a:r>
                  <a:rPr lang="en-IN" i="1" dirty="0"/>
                  <a:t>           S </a:t>
                </a:r>
                <a:r>
                  <a:rPr lang="en-IN" dirty="0"/>
                  <a:t>(</a:t>
                </a:r>
                <a:r>
                  <a:rPr lang="en-IN" i="1" dirty="0" err="1"/>
                  <a:t>i</a:t>
                </a:r>
                <a:r>
                  <a:rPr lang="en-IN" i="1" dirty="0"/>
                  <a:t>, j</a:t>
                </a:r>
                <a:r>
                  <a:rPr lang="en-IN" dirty="0"/>
                  <a:t>) = (K</a:t>
                </a:r>
                <a:r>
                  <a:rPr lang="en-US" i="1" dirty="0"/>
                  <a:t>∗ I</a:t>
                </a:r>
                <a:r>
                  <a:rPr lang="en-IN" i="1" dirty="0"/>
                  <a:t> </a:t>
                </a:r>
                <a:r>
                  <a:rPr lang="en-IN" dirty="0"/>
                  <a:t>) (</a:t>
                </a:r>
                <a:r>
                  <a:rPr lang="en-IN" i="1" dirty="0" err="1"/>
                  <a:t>i</a:t>
                </a:r>
                <a:r>
                  <a:rPr lang="en-IN" i="1" dirty="0"/>
                  <a:t>, j</a:t>
                </a:r>
                <a:r>
                  <a:rPr lang="en-IN" dirty="0"/>
                  <a:t>) = </a:t>
                </a:r>
                <a14:m>
                  <m:oMath xmlns:m="http://schemas.openxmlformats.org/officeDocument/2006/math">
                    <m:nary>
                      <m:naryPr>
                        <m:chr m:val="∑"/>
                        <m:limLoc m:val="undOvr"/>
                        <m:supHide m:val="on"/>
                        <m:ctrlPr>
                          <a:rPr lang="en-IN" i="1">
                            <a:latin typeface="Cambria Math" panose="02040503050406030204" pitchFamily="18" charset="0"/>
                          </a:rPr>
                        </m:ctrlPr>
                      </m:naryPr>
                      <m:sub>
                        <m:r>
                          <a:rPr lang="en-IN" i="1">
                            <a:latin typeface="Cambria Math" panose="02040503050406030204" pitchFamily="18" charset="0"/>
                          </a:rPr>
                          <m:t>𝑚</m:t>
                        </m:r>
                      </m:sub>
                      <m:sup/>
                      <m:e>
                        <m:nary>
                          <m:naryPr>
                            <m:chr m:val="∑"/>
                            <m:limLoc m:val="undOvr"/>
                            <m:supHide m:val="on"/>
                            <m:ctrlPr>
                              <a:rPr lang="en-IN" i="1">
                                <a:latin typeface="Cambria Math" panose="02040503050406030204" pitchFamily="18" charset="0"/>
                              </a:rPr>
                            </m:ctrlPr>
                          </m:naryPr>
                          <m:sub>
                            <m:r>
                              <a:rPr lang="en-IN" i="1">
                                <a:latin typeface="Cambria Math" panose="02040503050406030204" pitchFamily="18" charset="0"/>
                              </a:rPr>
                              <m:t>𝑛</m:t>
                            </m:r>
                          </m:sub>
                          <m:sup/>
                          <m:e>
                            <m:r>
                              <a:rPr lang="en-IN" i="1">
                                <a:latin typeface="Cambria Math" panose="02040503050406030204" pitchFamily="18" charset="0"/>
                              </a:rPr>
                              <m:t>𝐼</m:t>
                            </m:r>
                            <m:r>
                              <a:rPr lang="en-IN">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r>
                              <a:rPr lang="en-IN" i="1">
                                <a:latin typeface="Cambria Math" panose="02040503050406030204" pitchFamily="18" charset="0"/>
                              </a:rPr>
                              <m:t>𝑚</m:t>
                            </m:r>
                            <m:r>
                              <a:rPr lang="en-IN" i="1">
                                <a:latin typeface="Cambria Math" panose="02040503050406030204" pitchFamily="18" charset="0"/>
                              </a:rPr>
                              <m:t>, </m:t>
                            </m:r>
                            <m:r>
                              <a:rPr lang="en-IN" b="0" i="1" smtClean="0">
                                <a:latin typeface="Cambria Math" panose="02040503050406030204" pitchFamily="18" charset="0"/>
                              </a:rPr>
                              <m:t>𝑗</m:t>
                            </m:r>
                            <m:r>
                              <a:rPr lang="en-IN" b="0" i="1" smtClean="0">
                                <a:latin typeface="Cambria Math" panose="02040503050406030204" pitchFamily="18" charset="0"/>
                              </a:rPr>
                              <m:t>−</m:t>
                            </m:r>
                            <m:r>
                              <a:rPr lang="en-IN" i="1">
                                <a:latin typeface="Cambria Math" panose="02040503050406030204" pitchFamily="18" charset="0"/>
                              </a:rPr>
                              <m:t>𝑛</m:t>
                            </m:r>
                            <m:r>
                              <a:rPr lang="en-IN">
                                <a:latin typeface="Cambria Math" panose="02040503050406030204" pitchFamily="18" charset="0"/>
                              </a:rPr>
                              <m:t>)</m:t>
                            </m:r>
                            <m:r>
                              <a:rPr lang="en-IN" i="1">
                                <a:latin typeface="Cambria Math" panose="02040503050406030204" pitchFamily="18" charset="0"/>
                              </a:rPr>
                              <m:t>𝐾</m:t>
                            </m:r>
                            <m:r>
                              <a:rPr lang="en-IN">
                                <a:latin typeface="Cambria Math" panose="02040503050406030204" pitchFamily="18" charset="0"/>
                              </a:rPr>
                              <m:t>(</m:t>
                            </m:r>
                            <m:r>
                              <a:rPr lang="en-IN" i="1">
                                <a:latin typeface="Cambria Math" panose="02040503050406030204" pitchFamily="18" charset="0"/>
                              </a:rPr>
                              <m:t>𝑚</m:t>
                            </m:r>
                            <m:r>
                              <a:rPr lang="en-IN" i="1">
                                <a:latin typeface="Cambria Math" panose="02040503050406030204" pitchFamily="18" charset="0"/>
                              </a:rPr>
                              <m:t>, </m:t>
                            </m:r>
                            <m:r>
                              <a:rPr lang="en-IN" i="1">
                                <a:latin typeface="Cambria Math" panose="02040503050406030204" pitchFamily="18" charset="0"/>
                              </a:rPr>
                              <m:t>𝑛</m:t>
                            </m:r>
                            <m:r>
                              <a:rPr lang="en-IN">
                                <a:latin typeface="Cambria Math" panose="02040503050406030204" pitchFamily="18" charset="0"/>
                              </a:rPr>
                              <m:t>)</m:t>
                            </m:r>
                          </m:e>
                        </m:nary>
                      </m:e>
                    </m:nary>
                  </m:oMath>
                </a14:m>
                <a:endParaRPr lang="en-IN" dirty="0"/>
              </a:p>
              <a:p>
                <a:r>
                  <a:rPr lang="en-IN" dirty="0"/>
                  <a:t>The commutative property of convolution arises because we have </a:t>
                </a:r>
                <a:r>
                  <a:rPr lang="en-IN" b="1" dirty="0"/>
                  <a:t>flipped </a:t>
                </a:r>
                <a:r>
                  <a:rPr lang="en-IN" dirty="0"/>
                  <a:t>the kernel relative to the input, </a:t>
                </a:r>
              </a:p>
              <a:p>
                <a:r>
                  <a:rPr lang="en-IN" dirty="0"/>
                  <a:t>i.e. as </a:t>
                </a:r>
                <a:r>
                  <a:rPr lang="en-IN" i="1" dirty="0"/>
                  <a:t>m </a:t>
                </a:r>
                <a:r>
                  <a:rPr lang="en-IN" dirty="0"/>
                  <a:t>increases, the index into the input increases, but the index into the kernel decreases.</a:t>
                </a:r>
              </a:p>
              <a:p>
                <a:r>
                  <a:rPr lang="en-IN" dirty="0"/>
                  <a:t>To flip the kernel is to obtain the commutative property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879894"/>
                <a:ext cx="10515600" cy="5297069"/>
              </a:xfrm>
              <a:blipFill>
                <a:blip r:embed="rId2"/>
                <a:stretch>
                  <a:fillRect l="-1217" t="-1841" b="-1496"/>
                </a:stretch>
              </a:blipFill>
            </p:spPr>
            <p:txBody>
              <a:bodyPr/>
              <a:lstStyle/>
              <a:p>
                <a:r>
                  <a:rPr lang="en-IN">
                    <a:noFill/>
                  </a:rPr>
                  <a:t> </a:t>
                </a:r>
              </a:p>
            </p:txBody>
          </p:sp>
        </mc:Fallback>
      </mc:AlternateContent>
    </p:spTree>
    <p:extLst>
      <p:ext uri="{BB962C8B-B14F-4D97-AF65-F5344CB8AC3E}">
        <p14:creationId xmlns:p14="http://schemas.microsoft.com/office/powerpoint/2010/main" val="3717023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4CF5D-0B5E-4098-B8D8-784081572C69}"/>
              </a:ext>
            </a:extLst>
          </p:cNvPr>
          <p:cNvSpPr>
            <a:spLocks noGrp="1"/>
          </p:cNvSpPr>
          <p:nvPr>
            <p:ph type="title"/>
          </p:nvPr>
        </p:nvSpPr>
        <p:spPr/>
        <p:txBody>
          <a:bodyPr/>
          <a:lstStyle/>
          <a:p>
            <a:endParaRPr lang="en-IN" dirty="0"/>
          </a:p>
        </p:txBody>
      </p:sp>
      <p:pic>
        <p:nvPicPr>
          <p:cNvPr id="1026" name="Picture 2" descr="input">
            <a:extLst>
              <a:ext uri="{FF2B5EF4-FFF2-40B4-BE49-F238E27FC236}">
                <a16:creationId xmlns:a16="http://schemas.microsoft.com/office/drawing/2014/main" id="{0919EE8C-B860-4D22-A726-A7219545BB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45334" y="1953507"/>
            <a:ext cx="1552575"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ernel">
            <a:extLst>
              <a:ext uri="{FF2B5EF4-FFF2-40B4-BE49-F238E27FC236}">
                <a16:creationId xmlns:a16="http://schemas.microsoft.com/office/drawing/2014/main" id="{865800A1-D1C8-40D8-B861-E490B935EB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0538" y="2043943"/>
            <a:ext cx="1552575"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output">
            <a:extLst>
              <a:ext uri="{FF2B5EF4-FFF2-40B4-BE49-F238E27FC236}">
                <a16:creationId xmlns:a16="http://schemas.microsoft.com/office/drawing/2014/main" id="{AEA82895-6E72-489E-B5C3-E14EAA7980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2245" y="1968188"/>
            <a:ext cx="1552575" cy="15621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057123D-6579-449E-814B-649B27E0E6DE}"/>
              </a:ext>
            </a:extLst>
          </p:cNvPr>
          <p:cNvSpPr txBox="1"/>
          <p:nvPr/>
        </p:nvSpPr>
        <p:spPr>
          <a:xfrm>
            <a:off x="817707" y="2455661"/>
            <a:ext cx="987804" cy="369332"/>
          </a:xfrm>
          <a:prstGeom prst="rect">
            <a:avLst/>
          </a:prstGeom>
          <a:noFill/>
        </p:spPr>
        <p:txBody>
          <a:bodyPr wrap="square">
            <a:spAutoFit/>
          </a:bodyPr>
          <a:lstStyle/>
          <a:p>
            <a:r>
              <a:rPr lang="en-US" dirty="0"/>
              <a:t>input</a:t>
            </a:r>
            <a:endParaRPr lang="en-IN" dirty="0"/>
          </a:p>
        </p:txBody>
      </p:sp>
      <p:sp>
        <p:nvSpPr>
          <p:cNvPr id="11" name="TextBox 10">
            <a:extLst>
              <a:ext uri="{FF2B5EF4-FFF2-40B4-BE49-F238E27FC236}">
                <a16:creationId xmlns:a16="http://schemas.microsoft.com/office/drawing/2014/main" id="{9300C141-8852-4DCB-9C69-8226AB13369B}"/>
              </a:ext>
            </a:extLst>
          </p:cNvPr>
          <p:cNvSpPr txBox="1"/>
          <p:nvPr/>
        </p:nvSpPr>
        <p:spPr>
          <a:xfrm>
            <a:off x="9910589" y="2749238"/>
            <a:ext cx="1096860" cy="369332"/>
          </a:xfrm>
          <a:prstGeom prst="rect">
            <a:avLst/>
          </a:prstGeom>
          <a:noFill/>
        </p:spPr>
        <p:txBody>
          <a:bodyPr wrap="square">
            <a:spAutoFit/>
          </a:bodyPr>
          <a:lstStyle/>
          <a:p>
            <a:r>
              <a:rPr lang="en-US" dirty="0"/>
              <a:t>output</a:t>
            </a:r>
            <a:endParaRPr lang="en-IN" dirty="0"/>
          </a:p>
        </p:txBody>
      </p:sp>
      <p:sp>
        <p:nvSpPr>
          <p:cNvPr id="13" name="TextBox 12">
            <a:extLst>
              <a:ext uri="{FF2B5EF4-FFF2-40B4-BE49-F238E27FC236}">
                <a16:creationId xmlns:a16="http://schemas.microsoft.com/office/drawing/2014/main" id="{16E30FA5-789D-4D3B-A69E-14F68BEBE482}"/>
              </a:ext>
            </a:extLst>
          </p:cNvPr>
          <p:cNvSpPr txBox="1"/>
          <p:nvPr/>
        </p:nvSpPr>
        <p:spPr>
          <a:xfrm>
            <a:off x="3593678" y="2564572"/>
            <a:ext cx="978235" cy="369332"/>
          </a:xfrm>
          <a:prstGeom prst="rect">
            <a:avLst/>
          </a:prstGeom>
          <a:noFill/>
        </p:spPr>
        <p:txBody>
          <a:bodyPr wrap="square">
            <a:spAutoFit/>
          </a:bodyPr>
          <a:lstStyle/>
          <a:p>
            <a:r>
              <a:rPr lang="en-US" dirty="0"/>
              <a:t>kernel</a:t>
            </a:r>
            <a:endParaRPr lang="en-IN" dirty="0"/>
          </a:p>
        </p:txBody>
      </p:sp>
    </p:spTree>
    <p:extLst>
      <p:ext uri="{BB962C8B-B14F-4D97-AF65-F5344CB8AC3E}">
        <p14:creationId xmlns:p14="http://schemas.microsoft.com/office/powerpoint/2010/main" val="2803665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FBBE3-9C31-45D6-97FC-421A3E5A18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F347C00-6733-4AB6-B4CF-3E3415B17E81}"/>
              </a:ext>
            </a:extLst>
          </p:cNvPr>
          <p:cNvSpPr>
            <a:spLocks noGrp="1"/>
          </p:cNvSpPr>
          <p:nvPr>
            <p:ph idx="1"/>
          </p:nvPr>
        </p:nvSpPr>
        <p:spPr/>
        <p:txBody>
          <a:bodyPr/>
          <a:lstStyle/>
          <a:p>
            <a:r>
              <a:rPr lang="en-US" b="0" i="0" dirty="0">
                <a:solidFill>
                  <a:srgbClr val="000000"/>
                </a:solidFill>
                <a:effectLst/>
                <a:latin typeface="segoe ui" panose="020B0502040204020203" pitchFamily="34" charset="0"/>
              </a:rPr>
              <a:t>calculate each sample of the output one by one.</a:t>
            </a:r>
          </a:p>
          <a:p>
            <a:r>
              <a:rPr lang="en-US" dirty="0">
                <a:solidFill>
                  <a:srgbClr val="000000"/>
                </a:solidFill>
                <a:latin typeface="segoe ui" panose="020B0502040204020203" pitchFamily="34" charset="0"/>
              </a:rPr>
              <a:t> </a:t>
            </a:r>
            <a:r>
              <a:rPr lang="en-US" b="0" i="0" dirty="0">
                <a:solidFill>
                  <a:srgbClr val="000000"/>
                </a:solidFill>
                <a:effectLst/>
                <a:latin typeface="segoe ui" panose="020B0502040204020203" pitchFamily="34" charset="0"/>
              </a:rPr>
              <a:t>First, flip the kernel, which is the shaded box, in both horizontal and vertical direction. </a:t>
            </a:r>
          </a:p>
          <a:p>
            <a:r>
              <a:rPr lang="en-US" b="0" i="0" dirty="0">
                <a:solidFill>
                  <a:srgbClr val="000000"/>
                </a:solidFill>
                <a:effectLst/>
                <a:latin typeface="segoe ui" panose="020B0502040204020203" pitchFamily="34" charset="0"/>
              </a:rPr>
              <a:t>Then, move it over the input array. If the kernel is centered (aligned) exactly at the sample that we are interested in, multiply the kernel data by the overlapped input data.</a:t>
            </a:r>
          </a:p>
          <a:p>
            <a:r>
              <a:rPr lang="en-US" dirty="0">
                <a:solidFill>
                  <a:srgbClr val="000000"/>
                </a:solidFill>
                <a:latin typeface="segoe ui" panose="020B0502040204020203" pitchFamily="34" charset="0"/>
              </a:rPr>
              <a:t> </a:t>
            </a:r>
            <a:r>
              <a:rPr lang="en-US" b="0" i="0" dirty="0">
                <a:solidFill>
                  <a:srgbClr val="000000"/>
                </a:solidFill>
                <a:effectLst/>
                <a:latin typeface="segoe ui" panose="020B0502040204020203" pitchFamily="34" charset="0"/>
              </a:rPr>
              <a:t>The accumulation (adding these 9 multiplications) is the last thing to do to find out the output value.</a:t>
            </a:r>
            <a:endParaRPr lang="en-IN" dirty="0"/>
          </a:p>
        </p:txBody>
      </p:sp>
    </p:spTree>
    <p:extLst>
      <p:ext uri="{BB962C8B-B14F-4D97-AF65-F5344CB8AC3E}">
        <p14:creationId xmlns:p14="http://schemas.microsoft.com/office/powerpoint/2010/main" val="725454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55B8-6A02-456A-9E1E-816CFE3C0375}"/>
              </a:ext>
            </a:extLst>
          </p:cNvPr>
          <p:cNvSpPr>
            <a:spLocks noGrp="1"/>
          </p:cNvSpPr>
          <p:nvPr>
            <p:ph type="title"/>
          </p:nvPr>
        </p:nvSpPr>
        <p:spPr/>
        <p:txBody>
          <a:bodyPr/>
          <a:lstStyle/>
          <a:p>
            <a:endParaRPr lang="en-IN"/>
          </a:p>
        </p:txBody>
      </p:sp>
      <p:pic>
        <p:nvPicPr>
          <p:cNvPr id="2050" name="Picture 2" descr="y[0,0]">
            <a:extLst>
              <a:ext uri="{FF2B5EF4-FFF2-40B4-BE49-F238E27FC236}">
                <a16:creationId xmlns:a16="http://schemas.microsoft.com/office/drawing/2014/main" id="{E19A5C2F-4760-4CA5-A800-E658B91C447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27382" y="1825625"/>
            <a:ext cx="6900133" cy="43513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7DF168F-1014-4E26-A58E-AFC370E4D52A}"/>
              </a:ext>
            </a:extLst>
          </p:cNvPr>
          <p:cNvPicPr>
            <a:picLocks noChangeAspect="1"/>
          </p:cNvPicPr>
          <p:nvPr/>
        </p:nvPicPr>
        <p:blipFill>
          <a:blip r:embed="rId3"/>
          <a:stretch>
            <a:fillRect/>
          </a:stretch>
        </p:blipFill>
        <p:spPr>
          <a:xfrm>
            <a:off x="751514" y="2665427"/>
            <a:ext cx="3810000" cy="3238500"/>
          </a:xfrm>
          <a:prstGeom prst="rect">
            <a:avLst/>
          </a:prstGeom>
        </p:spPr>
      </p:pic>
    </p:spTree>
    <p:extLst>
      <p:ext uri="{BB962C8B-B14F-4D97-AF65-F5344CB8AC3E}">
        <p14:creationId xmlns:p14="http://schemas.microsoft.com/office/powerpoint/2010/main" val="416246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46AB3-FB10-4D30-BDC7-702114CA0AFD}"/>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39BA7510-7308-4964-B0A6-83BE396D9AC2}"/>
              </a:ext>
            </a:extLst>
          </p:cNvPr>
          <p:cNvPicPr>
            <a:picLocks noGrp="1" noChangeAspect="1"/>
          </p:cNvPicPr>
          <p:nvPr>
            <p:ph idx="1"/>
          </p:nvPr>
        </p:nvPicPr>
        <p:blipFill>
          <a:blip r:embed="rId2"/>
          <a:stretch>
            <a:fillRect/>
          </a:stretch>
        </p:blipFill>
        <p:spPr>
          <a:xfrm>
            <a:off x="4026716" y="1825625"/>
            <a:ext cx="6877346" cy="4351338"/>
          </a:xfrm>
          <a:prstGeom prst="rect">
            <a:avLst/>
          </a:prstGeom>
        </p:spPr>
      </p:pic>
      <p:pic>
        <p:nvPicPr>
          <p:cNvPr id="5" name="Picture 4">
            <a:extLst>
              <a:ext uri="{FF2B5EF4-FFF2-40B4-BE49-F238E27FC236}">
                <a16:creationId xmlns:a16="http://schemas.microsoft.com/office/drawing/2014/main" id="{93D409CA-579F-4DA7-8A14-F7CEDF93A425}"/>
              </a:ext>
            </a:extLst>
          </p:cNvPr>
          <p:cNvPicPr>
            <a:picLocks noChangeAspect="1"/>
          </p:cNvPicPr>
          <p:nvPr/>
        </p:nvPicPr>
        <p:blipFill>
          <a:blip r:embed="rId3"/>
          <a:stretch>
            <a:fillRect/>
          </a:stretch>
        </p:blipFill>
        <p:spPr>
          <a:xfrm>
            <a:off x="216716" y="2707372"/>
            <a:ext cx="3810000" cy="3238500"/>
          </a:xfrm>
          <a:prstGeom prst="rect">
            <a:avLst/>
          </a:prstGeom>
        </p:spPr>
      </p:pic>
    </p:spTree>
    <p:extLst>
      <p:ext uri="{BB962C8B-B14F-4D97-AF65-F5344CB8AC3E}">
        <p14:creationId xmlns:p14="http://schemas.microsoft.com/office/powerpoint/2010/main" val="4046129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9130D-DDD2-49D1-B607-707B4FB1662A}"/>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07AF4EA2-9F8C-4027-8C0A-8D5C4B042E65}"/>
              </a:ext>
            </a:extLst>
          </p:cNvPr>
          <p:cNvPicPr>
            <a:picLocks noGrp="1" noChangeAspect="1"/>
          </p:cNvPicPr>
          <p:nvPr>
            <p:ph idx="1"/>
          </p:nvPr>
        </p:nvPicPr>
        <p:blipFill>
          <a:blip r:embed="rId2"/>
          <a:stretch>
            <a:fillRect/>
          </a:stretch>
        </p:blipFill>
        <p:spPr>
          <a:xfrm>
            <a:off x="4337108" y="1825625"/>
            <a:ext cx="6557796" cy="4351338"/>
          </a:xfrm>
          <a:prstGeom prst="rect">
            <a:avLst/>
          </a:prstGeom>
        </p:spPr>
      </p:pic>
      <p:pic>
        <p:nvPicPr>
          <p:cNvPr id="5" name="Picture 4">
            <a:extLst>
              <a:ext uri="{FF2B5EF4-FFF2-40B4-BE49-F238E27FC236}">
                <a16:creationId xmlns:a16="http://schemas.microsoft.com/office/drawing/2014/main" id="{73EEE3B7-C19D-4CED-BEDE-710C89976E9A}"/>
              </a:ext>
            </a:extLst>
          </p:cNvPr>
          <p:cNvPicPr>
            <a:picLocks noChangeAspect="1"/>
          </p:cNvPicPr>
          <p:nvPr/>
        </p:nvPicPr>
        <p:blipFill>
          <a:blip r:embed="rId3"/>
          <a:stretch>
            <a:fillRect/>
          </a:stretch>
        </p:blipFill>
        <p:spPr>
          <a:xfrm>
            <a:off x="634068" y="2539592"/>
            <a:ext cx="3810000" cy="3238500"/>
          </a:xfrm>
          <a:prstGeom prst="rect">
            <a:avLst/>
          </a:prstGeom>
        </p:spPr>
      </p:pic>
    </p:spTree>
    <p:extLst>
      <p:ext uri="{BB962C8B-B14F-4D97-AF65-F5344CB8AC3E}">
        <p14:creationId xmlns:p14="http://schemas.microsoft.com/office/powerpoint/2010/main" val="2693364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F469F-62E3-4AB3-9939-A7ED8BC78ABE}"/>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C192CCC6-9EEA-40E5-8841-055FE21FD505}"/>
              </a:ext>
            </a:extLst>
          </p:cNvPr>
          <p:cNvPicPr>
            <a:picLocks noGrp="1" noChangeAspect="1"/>
          </p:cNvPicPr>
          <p:nvPr>
            <p:ph idx="1"/>
          </p:nvPr>
        </p:nvPicPr>
        <p:blipFill>
          <a:blip r:embed="rId2"/>
          <a:stretch>
            <a:fillRect/>
          </a:stretch>
        </p:blipFill>
        <p:spPr>
          <a:xfrm>
            <a:off x="4748168" y="1825625"/>
            <a:ext cx="6279347" cy="4351338"/>
          </a:xfrm>
          <a:prstGeom prst="rect">
            <a:avLst/>
          </a:prstGeom>
        </p:spPr>
      </p:pic>
      <p:pic>
        <p:nvPicPr>
          <p:cNvPr id="5" name="Picture 4">
            <a:extLst>
              <a:ext uri="{FF2B5EF4-FFF2-40B4-BE49-F238E27FC236}">
                <a16:creationId xmlns:a16="http://schemas.microsoft.com/office/drawing/2014/main" id="{DF8ADA03-53F4-4C18-9D08-E6E706181891}"/>
              </a:ext>
            </a:extLst>
          </p:cNvPr>
          <p:cNvPicPr>
            <a:picLocks noChangeAspect="1"/>
          </p:cNvPicPr>
          <p:nvPr/>
        </p:nvPicPr>
        <p:blipFill>
          <a:blip r:embed="rId3"/>
          <a:stretch>
            <a:fillRect/>
          </a:stretch>
        </p:blipFill>
        <p:spPr>
          <a:xfrm>
            <a:off x="1422633" y="2556370"/>
            <a:ext cx="3810000" cy="3238500"/>
          </a:xfrm>
          <a:prstGeom prst="rect">
            <a:avLst/>
          </a:prstGeom>
        </p:spPr>
      </p:pic>
    </p:spTree>
    <p:extLst>
      <p:ext uri="{BB962C8B-B14F-4D97-AF65-F5344CB8AC3E}">
        <p14:creationId xmlns:p14="http://schemas.microsoft.com/office/powerpoint/2010/main" val="1601332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8DB61-B3C7-4AC2-A61A-A695BFF5DDFB}"/>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0A30736F-BAB5-4D2C-B5FB-DC499C578AE8}"/>
              </a:ext>
            </a:extLst>
          </p:cNvPr>
          <p:cNvPicPr>
            <a:picLocks noGrp="1" noChangeAspect="1"/>
          </p:cNvPicPr>
          <p:nvPr>
            <p:ph idx="1"/>
          </p:nvPr>
        </p:nvPicPr>
        <p:blipFill>
          <a:blip r:embed="rId2"/>
          <a:stretch>
            <a:fillRect/>
          </a:stretch>
        </p:blipFill>
        <p:spPr>
          <a:xfrm>
            <a:off x="5159228" y="1825625"/>
            <a:ext cx="5735675" cy="4351338"/>
          </a:xfrm>
          <a:prstGeom prst="rect">
            <a:avLst/>
          </a:prstGeom>
        </p:spPr>
      </p:pic>
      <p:pic>
        <p:nvPicPr>
          <p:cNvPr id="5" name="Picture 4">
            <a:extLst>
              <a:ext uri="{FF2B5EF4-FFF2-40B4-BE49-F238E27FC236}">
                <a16:creationId xmlns:a16="http://schemas.microsoft.com/office/drawing/2014/main" id="{A05A63EA-7DF7-400F-A674-E34AA678A855}"/>
              </a:ext>
            </a:extLst>
          </p:cNvPr>
          <p:cNvPicPr>
            <a:picLocks noChangeAspect="1"/>
          </p:cNvPicPr>
          <p:nvPr/>
        </p:nvPicPr>
        <p:blipFill>
          <a:blip r:embed="rId3"/>
          <a:stretch>
            <a:fillRect/>
          </a:stretch>
        </p:blipFill>
        <p:spPr>
          <a:xfrm>
            <a:off x="1154186" y="2564759"/>
            <a:ext cx="3810000" cy="3238500"/>
          </a:xfrm>
          <a:prstGeom prst="rect">
            <a:avLst/>
          </a:prstGeom>
        </p:spPr>
      </p:pic>
    </p:spTree>
    <p:extLst>
      <p:ext uri="{BB962C8B-B14F-4D97-AF65-F5344CB8AC3E}">
        <p14:creationId xmlns:p14="http://schemas.microsoft.com/office/powerpoint/2010/main" val="3980585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84CA7-CC9D-4146-9192-482B21BF9886}"/>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E6761558-DEBE-4E55-9A99-E9D0E2435BE4}"/>
              </a:ext>
            </a:extLst>
          </p:cNvPr>
          <p:cNvPicPr>
            <a:picLocks noGrp="1" noChangeAspect="1"/>
          </p:cNvPicPr>
          <p:nvPr>
            <p:ph idx="1"/>
          </p:nvPr>
        </p:nvPicPr>
        <p:blipFill>
          <a:blip r:embed="rId2"/>
          <a:stretch>
            <a:fillRect/>
          </a:stretch>
        </p:blipFill>
        <p:spPr>
          <a:xfrm>
            <a:off x="4815280" y="1825625"/>
            <a:ext cx="6079623" cy="4351338"/>
          </a:xfrm>
          <a:prstGeom prst="rect">
            <a:avLst/>
          </a:prstGeom>
        </p:spPr>
      </p:pic>
      <p:pic>
        <p:nvPicPr>
          <p:cNvPr id="5" name="Picture 4">
            <a:extLst>
              <a:ext uri="{FF2B5EF4-FFF2-40B4-BE49-F238E27FC236}">
                <a16:creationId xmlns:a16="http://schemas.microsoft.com/office/drawing/2014/main" id="{573FCABC-0FA0-4201-8184-76DF65005884}"/>
              </a:ext>
            </a:extLst>
          </p:cNvPr>
          <p:cNvPicPr>
            <a:picLocks noChangeAspect="1"/>
          </p:cNvPicPr>
          <p:nvPr/>
        </p:nvPicPr>
        <p:blipFill>
          <a:blip r:embed="rId3"/>
          <a:stretch>
            <a:fillRect/>
          </a:stretch>
        </p:blipFill>
        <p:spPr>
          <a:xfrm>
            <a:off x="399177" y="2382044"/>
            <a:ext cx="3810000" cy="3238500"/>
          </a:xfrm>
          <a:prstGeom prst="rect">
            <a:avLst/>
          </a:prstGeom>
        </p:spPr>
      </p:pic>
    </p:spTree>
    <p:extLst>
      <p:ext uri="{BB962C8B-B14F-4D97-AF65-F5344CB8AC3E}">
        <p14:creationId xmlns:p14="http://schemas.microsoft.com/office/powerpoint/2010/main" val="2323242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5AF62-92B1-435E-8E29-F60D15B7AE22}"/>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D832D442-7BE8-44B1-BD93-DCFA675AF2EF}"/>
              </a:ext>
            </a:extLst>
          </p:cNvPr>
          <p:cNvPicPr>
            <a:picLocks noGrp="1" noChangeAspect="1"/>
          </p:cNvPicPr>
          <p:nvPr>
            <p:ph idx="1"/>
          </p:nvPr>
        </p:nvPicPr>
        <p:blipFill>
          <a:blip r:embed="rId2"/>
          <a:stretch>
            <a:fillRect/>
          </a:stretch>
        </p:blipFill>
        <p:spPr>
          <a:xfrm>
            <a:off x="5058560" y="1825625"/>
            <a:ext cx="5968955" cy="4351338"/>
          </a:xfrm>
          <a:prstGeom prst="rect">
            <a:avLst/>
          </a:prstGeom>
        </p:spPr>
      </p:pic>
      <p:pic>
        <p:nvPicPr>
          <p:cNvPr id="5" name="Picture 4">
            <a:extLst>
              <a:ext uri="{FF2B5EF4-FFF2-40B4-BE49-F238E27FC236}">
                <a16:creationId xmlns:a16="http://schemas.microsoft.com/office/drawing/2014/main" id="{8664A95E-559B-4A80-A11E-1F176210084D}"/>
              </a:ext>
            </a:extLst>
          </p:cNvPr>
          <p:cNvPicPr>
            <a:picLocks noChangeAspect="1"/>
          </p:cNvPicPr>
          <p:nvPr/>
        </p:nvPicPr>
        <p:blipFill>
          <a:blip r:embed="rId3"/>
          <a:stretch>
            <a:fillRect/>
          </a:stretch>
        </p:blipFill>
        <p:spPr>
          <a:xfrm>
            <a:off x="1011572" y="2287923"/>
            <a:ext cx="3810000" cy="3238500"/>
          </a:xfrm>
          <a:prstGeom prst="rect">
            <a:avLst/>
          </a:prstGeom>
        </p:spPr>
      </p:pic>
    </p:spTree>
    <p:extLst>
      <p:ext uri="{BB962C8B-B14F-4D97-AF65-F5344CB8AC3E}">
        <p14:creationId xmlns:p14="http://schemas.microsoft.com/office/powerpoint/2010/main" val="2944112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3C7C0-9678-4E23-B88C-8B8A8ADF2F89}"/>
              </a:ext>
            </a:extLst>
          </p:cNvPr>
          <p:cNvSpPr>
            <a:spLocks noGrp="1"/>
          </p:cNvSpPr>
          <p:nvPr>
            <p:ph type="title"/>
          </p:nvPr>
        </p:nvSpPr>
        <p:spPr/>
        <p:txBody>
          <a:bodyPr/>
          <a:lstStyle/>
          <a:p>
            <a:endParaRPr lang="en-IN"/>
          </a:p>
        </p:txBody>
      </p:sp>
      <p:pic>
        <p:nvPicPr>
          <p:cNvPr id="3074" name="Picture 2" descr="y[1,2]">
            <a:extLst>
              <a:ext uri="{FF2B5EF4-FFF2-40B4-BE49-F238E27FC236}">
                <a16:creationId xmlns:a16="http://schemas.microsoft.com/office/drawing/2014/main" id="{AE311642-3562-4355-8858-963DA313BA0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83728" y="1825625"/>
            <a:ext cx="5820334" cy="43513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D8485B6-FC2E-4C06-9438-F46C95368DF7}"/>
              </a:ext>
            </a:extLst>
          </p:cNvPr>
          <p:cNvPicPr>
            <a:picLocks noChangeAspect="1"/>
          </p:cNvPicPr>
          <p:nvPr/>
        </p:nvPicPr>
        <p:blipFill>
          <a:blip r:embed="rId3"/>
          <a:stretch>
            <a:fillRect/>
          </a:stretch>
        </p:blipFill>
        <p:spPr>
          <a:xfrm>
            <a:off x="457899" y="2094976"/>
            <a:ext cx="3810000" cy="3238500"/>
          </a:xfrm>
          <a:prstGeom prst="rect">
            <a:avLst/>
          </a:prstGeom>
        </p:spPr>
      </p:pic>
    </p:spTree>
    <p:extLst>
      <p:ext uri="{BB962C8B-B14F-4D97-AF65-F5344CB8AC3E}">
        <p14:creationId xmlns:p14="http://schemas.microsoft.com/office/powerpoint/2010/main" val="3013703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FAE9B-FCD3-43CA-A4C5-03CAB1E186B0}"/>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12EA7091-1098-41AD-9F6C-667B4F8BCCA3}"/>
              </a:ext>
            </a:extLst>
          </p:cNvPr>
          <p:cNvPicPr>
            <a:picLocks noGrp="1" noChangeAspect="1"/>
          </p:cNvPicPr>
          <p:nvPr>
            <p:ph idx="1"/>
          </p:nvPr>
        </p:nvPicPr>
        <p:blipFill>
          <a:blip r:embed="rId2"/>
          <a:stretch>
            <a:fillRect/>
          </a:stretch>
        </p:blipFill>
        <p:spPr>
          <a:xfrm>
            <a:off x="4764947" y="1943071"/>
            <a:ext cx="5897460" cy="4351338"/>
          </a:xfrm>
          <a:prstGeom prst="rect">
            <a:avLst/>
          </a:prstGeom>
        </p:spPr>
      </p:pic>
      <p:pic>
        <p:nvPicPr>
          <p:cNvPr id="5" name="Picture 4">
            <a:extLst>
              <a:ext uri="{FF2B5EF4-FFF2-40B4-BE49-F238E27FC236}">
                <a16:creationId xmlns:a16="http://schemas.microsoft.com/office/drawing/2014/main" id="{E59873F7-AAA1-4253-A813-74F8D1607D9A}"/>
              </a:ext>
            </a:extLst>
          </p:cNvPr>
          <p:cNvPicPr>
            <a:picLocks noChangeAspect="1"/>
          </p:cNvPicPr>
          <p:nvPr/>
        </p:nvPicPr>
        <p:blipFill>
          <a:blip r:embed="rId3"/>
          <a:stretch>
            <a:fillRect/>
          </a:stretch>
        </p:blipFill>
        <p:spPr>
          <a:xfrm>
            <a:off x="248174" y="2170476"/>
            <a:ext cx="3810000" cy="3238500"/>
          </a:xfrm>
          <a:prstGeom prst="rect">
            <a:avLst/>
          </a:prstGeom>
        </p:spPr>
      </p:pic>
    </p:spTree>
    <p:extLst>
      <p:ext uri="{BB962C8B-B14F-4D97-AF65-F5344CB8AC3E}">
        <p14:creationId xmlns:p14="http://schemas.microsoft.com/office/powerpoint/2010/main" val="2957583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IN" dirty="0"/>
                  <a:t>Many neural network libraries implement a related function called the </a:t>
                </a:r>
                <a:r>
                  <a:rPr lang="en-IN" b="1" dirty="0"/>
                  <a:t>cross-correlation</a:t>
                </a:r>
                <a:r>
                  <a:rPr lang="en-IN" dirty="0"/>
                  <a:t>, which is the same as convolution but without flipping the kernel</a:t>
                </a:r>
              </a:p>
              <a:p>
                <a:r>
                  <a:rPr lang="en-IN" i="1" dirty="0"/>
                  <a:t>S </a:t>
                </a:r>
                <a:r>
                  <a:rPr lang="en-IN" dirty="0"/>
                  <a:t>(</a:t>
                </a:r>
                <a:r>
                  <a:rPr lang="en-IN" i="1" dirty="0" err="1"/>
                  <a:t>i</a:t>
                </a:r>
                <a:r>
                  <a:rPr lang="en-IN" i="1" dirty="0"/>
                  <a:t>, j</a:t>
                </a:r>
                <a:r>
                  <a:rPr lang="en-IN" dirty="0"/>
                  <a:t>) = (</a:t>
                </a:r>
                <a:r>
                  <a:rPr lang="en-IN" i="1" dirty="0"/>
                  <a:t>I </a:t>
                </a:r>
                <a:r>
                  <a:rPr lang="en-US" i="1" dirty="0"/>
                  <a:t>∗ </a:t>
                </a:r>
                <a:r>
                  <a:rPr lang="en-IN" i="1" dirty="0"/>
                  <a:t>K </a:t>
                </a:r>
                <a:r>
                  <a:rPr lang="en-IN" dirty="0"/>
                  <a:t>) (</a:t>
                </a:r>
                <a:r>
                  <a:rPr lang="en-IN" i="1" dirty="0" err="1"/>
                  <a:t>i</a:t>
                </a:r>
                <a:r>
                  <a:rPr lang="en-IN" i="1" dirty="0"/>
                  <a:t>, j</a:t>
                </a:r>
                <a:r>
                  <a:rPr lang="en-IN" dirty="0"/>
                  <a:t>) = </a:t>
                </a:r>
                <a14:m>
                  <m:oMath xmlns:m="http://schemas.openxmlformats.org/officeDocument/2006/math">
                    <m:nary>
                      <m:naryPr>
                        <m:chr m:val="∑"/>
                        <m:limLoc m:val="undOvr"/>
                        <m:supHide m:val="on"/>
                        <m:ctrlPr>
                          <a:rPr lang="en-IN" i="1">
                            <a:latin typeface="Cambria Math" panose="02040503050406030204" pitchFamily="18" charset="0"/>
                          </a:rPr>
                        </m:ctrlPr>
                      </m:naryPr>
                      <m:sub>
                        <m:r>
                          <a:rPr lang="en-IN" i="1">
                            <a:latin typeface="Cambria Math" panose="02040503050406030204" pitchFamily="18" charset="0"/>
                          </a:rPr>
                          <m:t>𝑚</m:t>
                        </m:r>
                      </m:sub>
                      <m:sup/>
                      <m:e>
                        <m:nary>
                          <m:naryPr>
                            <m:chr m:val="∑"/>
                            <m:limLoc m:val="undOvr"/>
                            <m:supHide m:val="on"/>
                            <m:ctrlPr>
                              <a:rPr lang="en-IN" i="1">
                                <a:latin typeface="Cambria Math" panose="02040503050406030204" pitchFamily="18" charset="0"/>
                              </a:rPr>
                            </m:ctrlPr>
                          </m:naryPr>
                          <m:sub>
                            <m:r>
                              <a:rPr lang="en-IN" i="1">
                                <a:latin typeface="Cambria Math" panose="02040503050406030204" pitchFamily="18" charset="0"/>
                              </a:rPr>
                              <m:t>𝑛</m:t>
                            </m:r>
                          </m:sub>
                          <m:sup/>
                          <m:e>
                            <m:r>
                              <a:rPr lang="en-IN" i="1">
                                <a:latin typeface="Cambria Math" panose="02040503050406030204" pitchFamily="18" charset="0"/>
                              </a:rPr>
                              <m:t>𝐼</m:t>
                            </m:r>
                            <m:r>
                              <a:rPr lang="en-IN">
                                <a:latin typeface="Cambria Math" panose="02040503050406030204" pitchFamily="18" charset="0"/>
                              </a:rPr>
                              <m:t>(</m:t>
                            </m:r>
                            <m:r>
                              <a:rPr lang="en-IN" i="1">
                                <a:latin typeface="Cambria Math" panose="02040503050406030204" pitchFamily="18" charset="0"/>
                              </a:rPr>
                              <m:t>𝑚</m:t>
                            </m:r>
                            <m:r>
                              <a:rPr lang="en-IN" i="1">
                                <a:latin typeface="Cambria Math" panose="02040503050406030204" pitchFamily="18" charset="0"/>
                              </a:rPr>
                              <m:t>, </m:t>
                            </m:r>
                            <m:r>
                              <a:rPr lang="en-IN" i="1">
                                <a:latin typeface="Cambria Math" panose="02040503050406030204" pitchFamily="18" charset="0"/>
                              </a:rPr>
                              <m:t>𝑛</m:t>
                            </m:r>
                            <m:r>
                              <a:rPr lang="en-IN">
                                <a:latin typeface="Cambria Math" panose="02040503050406030204" pitchFamily="18" charset="0"/>
                              </a:rPr>
                              <m:t>)</m:t>
                            </m:r>
                            <m:r>
                              <a:rPr lang="en-IN" i="1">
                                <a:latin typeface="Cambria Math" panose="02040503050406030204" pitchFamily="18" charset="0"/>
                              </a:rPr>
                              <m:t>𝐾</m:t>
                            </m:r>
                            <m:r>
                              <a:rPr lang="en-IN">
                                <a:latin typeface="Cambria Math" panose="02040503050406030204" pitchFamily="18" charset="0"/>
                              </a:rPr>
                              <m:t>(</m:t>
                            </m:r>
                            <m:r>
                              <a:rPr lang="en-IN" i="1">
                                <a:latin typeface="Cambria Math" panose="02040503050406030204" pitchFamily="18" charset="0"/>
                              </a:rPr>
                              <m:t>𝑖</m:t>
                            </m:r>
                            <m:r>
                              <a:rPr lang="en-IN" b="0" i="1" smtClean="0">
                                <a:latin typeface="Cambria Math" panose="02040503050406030204" pitchFamily="18" charset="0"/>
                              </a:rPr>
                              <m:t>+</m:t>
                            </m:r>
                            <m:r>
                              <a:rPr lang="en-IN" i="1">
                                <a:latin typeface="Cambria Math" panose="02040503050406030204" pitchFamily="18" charset="0"/>
                              </a:rPr>
                              <m:t>𝑚</m:t>
                            </m:r>
                            <m:r>
                              <a:rPr lang="en-IN" i="1">
                                <a:latin typeface="Cambria Math" panose="02040503050406030204" pitchFamily="18" charset="0"/>
                              </a:rPr>
                              <m:t>, </m:t>
                            </m:r>
                            <m:r>
                              <a:rPr lang="en-IN" i="1">
                                <a:latin typeface="Cambria Math" panose="02040503050406030204" pitchFamily="18" charset="0"/>
                              </a:rPr>
                              <m:t>𝑗</m:t>
                            </m:r>
                            <m:r>
                              <a:rPr lang="en-IN" b="0" i="1" smtClean="0">
                                <a:latin typeface="Cambria Math" panose="02040503050406030204" pitchFamily="18" charset="0"/>
                              </a:rPr>
                              <m:t>+</m:t>
                            </m:r>
                            <m:r>
                              <a:rPr lang="en-IN" i="1">
                                <a:latin typeface="Cambria Math" panose="02040503050406030204" pitchFamily="18" charset="0"/>
                              </a:rPr>
                              <m:t>𝑛</m:t>
                            </m:r>
                            <m:r>
                              <a:rPr lang="en-IN">
                                <a:latin typeface="Cambria Math" panose="02040503050406030204" pitchFamily="18" charset="0"/>
                              </a:rPr>
                              <m:t>)</m:t>
                            </m:r>
                          </m:e>
                        </m:nary>
                      </m:e>
                    </m:nary>
                  </m:oMath>
                </a14:m>
                <a:endParaRPr lang="en-IN" dirty="0"/>
              </a:p>
              <a:p>
                <a:r>
                  <a:rPr lang="en-IN" dirty="0"/>
                  <a:t>Sometimes Cross-correlation is called as Convolution.</a:t>
                </a:r>
              </a:p>
              <a:p>
                <a:r>
                  <a:rPr lang="en-IN" dirty="0"/>
                  <a:t>In the context of machine learning, the learning algorithm will learn the appropriate values of the kernel in the appropriate place, so an algorithm based on convolution with kernel flipping will learn a kernel that is flipped relative to the kernel learned by an algorithm without the flipping.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1565" b="-3081"/>
                </a:stretch>
              </a:blipFill>
            </p:spPr>
            <p:txBody>
              <a:bodyPr/>
              <a:lstStyle/>
              <a:p>
                <a:r>
                  <a:rPr lang="en-IN">
                    <a:noFill/>
                  </a:rPr>
                  <a:t> </a:t>
                </a:r>
              </a:p>
            </p:txBody>
          </p:sp>
        </mc:Fallback>
      </mc:AlternateContent>
    </p:spTree>
    <p:extLst>
      <p:ext uri="{BB962C8B-B14F-4D97-AF65-F5344CB8AC3E}">
        <p14:creationId xmlns:p14="http://schemas.microsoft.com/office/powerpoint/2010/main" val="4095338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5" name="Content Placeholder 4"/>
          <p:cNvSpPr>
            <a:spLocks noGrp="1"/>
          </p:cNvSpPr>
          <p:nvPr>
            <p:ph idx="1"/>
          </p:nvPr>
        </p:nvSpPr>
        <p:spPr>
          <a:xfrm>
            <a:off x="777240" y="1790791"/>
            <a:ext cx="10515600" cy="4351338"/>
          </a:xfrm>
        </p:spPr>
        <p:txBody>
          <a:bodyPr>
            <a:normAutofit/>
          </a:bodyPr>
          <a:lstStyle/>
          <a:p>
            <a:r>
              <a:rPr lang="en-IN" dirty="0"/>
              <a:t>Input 			kernel </a:t>
            </a:r>
          </a:p>
          <a:p>
            <a:endParaRPr lang="en-IN" dirty="0"/>
          </a:p>
          <a:p>
            <a:endParaRPr lang="en-IN" dirty="0"/>
          </a:p>
          <a:p>
            <a:endParaRPr lang="en-IN" dirty="0"/>
          </a:p>
          <a:p>
            <a:r>
              <a:rPr lang="en-IN" dirty="0"/>
              <a:t>Output  </a:t>
            </a:r>
          </a:p>
          <a:p>
            <a:endParaRPr lang="en-IN" dirty="0"/>
          </a:p>
          <a:p>
            <a:endParaRPr lang="en-IN" dirty="0"/>
          </a:p>
          <a:p>
            <a:pPr marL="0" indent="0">
              <a:buNone/>
            </a:pPr>
            <a:r>
              <a:rPr lang="en-IN" dirty="0"/>
              <a:t>                </a:t>
            </a:r>
          </a:p>
        </p:txBody>
      </p:sp>
      <p:graphicFrame>
        <p:nvGraphicFramePr>
          <p:cNvPr id="6" name="Table 5"/>
          <p:cNvGraphicFramePr>
            <a:graphicFrameLocks noGrp="1"/>
          </p:cNvGraphicFramePr>
          <p:nvPr>
            <p:extLst>
              <p:ext uri="{D42A27DB-BD31-4B8C-83A1-F6EECF244321}">
                <p14:modId xmlns:p14="http://schemas.microsoft.com/office/powerpoint/2010/main" val="2220615990"/>
              </p:ext>
            </p:extLst>
          </p:nvPr>
        </p:nvGraphicFramePr>
        <p:xfrm>
          <a:off x="1066710" y="2429691"/>
          <a:ext cx="1780820" cy="1097280"/>
        </p:xfrm>
        <a:graphic>
          <a:graphicData uri="http://schemas.openxmlformats.org/drawingml/2006/table">
            <a:tbl>
              <a:tblPr firstRow="1" bandRow="1">
                <a:tableStyleId>{5C22544A-7EE6-4342-B048-85BDC9FD1C3A}</a:tableStyleId>
              </a:tblPr>
              <a:tblGrid>
                <a:gridCol w="388983">
                  <a:extLst>
                    <a:ext uri="{9D8B030D-6E8A-4147-A177-3AD203B41FA5}">
                      <a16:colId xmlns:a16="http://schemas.microsoft.com/office/drawing/2014/main" val="3107073216"/>
                    </a:ext>
                  </a:extLst>
                </a:gridCol>
                <a:gridCol w="444137">
                  <a:extLst>
                    <a:ext uri="{9D8B030D-6E8A-4147-A177-3AD203B41FA5}">
                      <a16:colId xmlns:a16="http://schemas.microsoft.com/office/drawing/2014/main" val="692423309"/>
                    </a:ext>
                  </a:extLst>
                </a:gridCol>
                <a:gridCol w="452846">
                  <a:extLst>
                    <a:ext uri="{9D8B030D-6E8A-4147-A177-3AD203B41FA5}">
                      <a16:colId xmlns:a16="http://schemas.microsoft.com/office/drawing/2014/main" val="4159946219"/>
                    </a:ext>
                  </a:extLst>
                </a:gridCol>
                <a:gridCol w="494854">
                  <a:extLst>
                    <a:ext uri="{9D8B030D-6E8A-4147-A177-3AD203B41FA5}">
                      <a16:colId xmlns:a16="http://schemas.microsoft.com/office/drawing/2014/main" val="2574902139"/>
                    </a:ext>
                  </a:extLst>
                </a:gridCol>
              </a:tblGrid>
              <a:tr h="356991">
                <a:tc>
                  <a:txBody>
                    <a:bodyPr/>
                    <a:lstStyle/>
                    <a:p>
                      <a:r>
                        <a:rPr lang="en-IN" b="0" dirty="0">
                          <a:solidFill>
                            <a:schemeClr val="tx1"/>
                          </a:solidFill>
                        </a:rPr>
                        <a:t> a</a:t>
                      </a:r>
                    </a:p>
                  </a:txBody>
                  <a:tcPr/>
                </a:tc>
                <a:tc>
                  <a:txBody>
                    <a:bodyPr/>
                    <a:lstStyle/>
                    <a:p>
                      <a:r>
                        <a:rPr lang="en-IN" b="0" dirty="0">
                          <a:solidFill>
                            <a:schemeClr val="tx1"/>
                          </a:solidFill>
                        </a:rPr>
                        <a:t>b</a:t>
                      </a:r>
                    </a:p>
                  </a:txBody>
                  <a:tcPr/>
                </a:tc>
                <a:tc>
                  <a:txBody>
                    <a:bodyPr/>
                    <a:lstStyle/>
                    <a:p>
                      <a:r>
                        <a:rPr lang="en-IN" b="0" dirty="0">
                          <a:solidFill>
                            <a:schemeClr val="tx1"/>
                          </a:solidFill>
                        </a:rPr>
                        <a:t>c</a:t>
                      </a:r>
                    </a:p>
                  </a:txBody>
                  <a:tcPr/>
                </a:tc>
                <a:tc>
                  <a:txBody>
                    <a:bodyPr/>
                    <a:lstStyle/>
                    <a:p>
                      <a:r>
                        <a:rPr lang="en-IN" b="0" dirty="0">
                          <a:solidFill>
                            <a:schemeClr val="tx1"/>
                          </a:solidFill>
                        </a:rPr>
                        <a:t>d</a:t>
                      </a:r>
                    </a:p>
                  </a:txBody>
                  <a:tcPr/>
                </a:tc>
                <a:extLst>
                  <a:ext uri="{0D108BD9-81ED-4DB2-BD59-A6C34878D82A}">
                    <a16:rowId xmlns:a16="http://schemas.microsoft.com/office/drawing/2014/main" val="1213604682"/>
                  </a:ext>
                </a:extLst>
              </a:tr>
              <a:tr h="356991">
                <a:tc>
                  <a:txBody>
                    <a:bodyPr/>
                    <a:lstStyle/>
                    <a:p>
                      <a:r>
                        <a:rPr lang="en-IN" dirty="0"/>
                        <a:t>e</a:t>
                      </a:r>
                    </a:p>
                  </a:txBody>
                  <a:tcPr/>
                </a:tc>
                <a:tc>
                  <a:txBody>
                    <a:bodyPr/>
                    <a:lstStyle/>
                    <a:p>
                      <a:r>
                        <a:rPr lang="en-IN" dirty="0"/>
                        <a:t>f</a:t>
                      </a:r>
                    </a:p>
                  </a:txBody>
                  <a:tcPr/>
                </a:tc>
                <a:tc>
                  <a:txBody>
                    <a:bodyPr/>
                    <a:lstStyle/>
                    <a:p>
                      <a:r>
                        <a:rPr lang="en-IN" dirty="0"/>
                        <a:t>g</a:t>
                      </a:r>
                    </a:p>
                  </a:txBody>
                  <a:tcPr/>
                </a:tc>
                <a:tc>
                  <a:txBody>
                    <a:bodyPr/>
                    <a:lstStyle/>
                    <a:p>
                      <a:r>
                        <a:rPr lang="en-IN" dirty="0"/>
                        <a:t>h</a:t>
                      </a:r>
                    </a:p>
                  </a:txBody>
                  <a:tcPr/>
                </a:tc>
                <a:extLst>
                  <a:ext uri="{0D108BD9-81ED-4DB2-BD59-A6C34878D82A}">
                    <a16:rowId xmlns:a16="http://schemas.microsoft.com/office/drawing/2014/main" val="702556400"/>
                  </a:ext>
                </a:extLst>
              </a:tr>
              <a:tr h="356991">
                <a:tc>
                  <a:txBody>
                    <a:bodyPr/>
                    <a:lstStyle/>
                    <a:p>
                      <a:r>
                        <a:rPr lang="en-IN" dirty="0" err="1"/>
                        <a:t>i</a:t>
                      </a:r>
                      <a:endParaRPr lang="en-IN" dirty="0"/>
                    </a:p>
                  </a:txBody>
                  <a:tcPr/>
                </a:tc>
                <a:tc>
                  <a:txBody>
                    <a:bodyPr/>
                    <a:lstStyle/>
                    <a:p>
                      <a:r>
                        <a:rPr lang="en-IN" dirty="0"/>
                        <a:t>j</a:t>
                      </a:r>
                    </a:p>
                  </a:txBody>
                  <a:tcPr/>
                </a:tc>
                <a:tc>
                  <a:txBody>
                    <a:bodyPr/>
                    <a:lstStyle/>
                    <a:p>
                      <a:r>
                        <a:rPr lang="en-IN" dirty="0"/>
                        <a:t>k</a:t>
                      </a:r>
                    </a:p>
                  </a:txBody>
                  <a:tcPr/>
                </a:tc>
                <a:tc>
                  <a:txBody>
                    <a:bodyPr/>
                    <a:lstStyle/>
                    <a:p>
                      <a:r>
                        <a:rPr lang="en-IN" dirty="0"/>
                        <a:t>l</a:t>
                      </a:r>
                    </a:p>
                  </a:txBody>
                  <a:tcPr/>
                </a:tc>
                <a:extLst>
                  <a:ext uri="{0D108BD9-81ED-4DB2-BD59-A6C34878D82A}">
                    <a16:rowId xmlns:a16="http://schemas.microsoft.com/office/drawing/2014/main" val="3373566736"/>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54193674"/>
              </p:ext>
            </p:extLst>
          </p:nvPr>
        </p:nvGraphicFramePr>
        <p:xfrm>
          <a:off x="4223656" y="2429691"/>
          <a:ext cx="1567544" cy="731520"/>
        </p:xfrm>
        <a:graphic>
          <a:graphicData uri="http://schemas.openxmlformats.org/drawingml/2006/table">
            <a:tbl>
              <a:tblPr firstRow="1" bandRow="1">
                <a:tableStyleId>{5C22544A-7EE6-4342-B048-85BDC9FD1C3A}</a:tableStyleId>
              </a:tblPr>
              <a:tblGrid>
                <a:gridCol w="783772">
                  <a:extLst>
                    <a:ext uri="{9D8B030D-6E8A-4147-A177-3AD203B41FA5}">
                      <a16:colId xmlns:a16="http://schemas.microsoft.com/office/drawing/2014/main" val="70198679"/>
                    </a:ext>
                  </a:extLst>
                </a:gridCol>
                <a:gridCol w="783772">
                  <a:extLst>
                    <a:ext uri="{9D8B030D-6E8A-4147-A177-3AD203B41FA5}">
                      <a16:colId xmlns:a16="http://schemas.microsoft.com/office/drawing/2014/main" val="4084880405"/>
                    </a:ext>
                  </a:extLst>
                </a:gridCol>
              </a:tblGrid>
              <a:tr h="352698">
                <a:tc>
                  <a:txBody>
                    <a:bodyPr/>
                    <a:lstStyle/>
                    <a:p>
                      <a:r>
                        <a:rPr lang="en-IN" b="0" dirty="0">
                          <a:solidFill>
                            <a:schemeClr val="tx1"/>
                          </a:solidFill>
                        </a:rPr>
                        <a:t>w</a:t>
                      </a:r>
                    </a:p>
                  </a:txBody>
                  <a:tcPr/>
                </a:tc>
                <a:tc>
                  <a:txBody>
                    <a:bodyPr/>
                    <a:lstStyle/>
                    <a:p>
                      <a:r>
                        <a:rPr lang="en-IN" b="0" dirty="0">
                          <a:solidFill>
                            <a:schemeClr val="tx1"/>
                          </a:solidFill>
                        </a:rPr>
                        <a:t>x</a:t>
                      </a:r>
                    </a:p>
                  </a:txBody>
                  <a:tcPr/>
                </a:tc>
                <a:extLst>
                  <a:ext uri="{0D108BD9-81ED-4DB2-BD59-A6C34878D82A}">
                    <a16:rowId xmlns:a16="http://schemas.microsoft.com/office/drawing/2014/main" val="3928431729"/>
                  </a:ext>
                </a:extLst>
              </a:tr>
              <a:tr h="352698">
                <a:tc>
                  <a:txBody>
                    <a:bodyPr/>
                    <a:lstStyle/>
                    <a:p>
                      <a:r>
                        <a:rPr lang="en-IN" dirty="0"/>
                        <a:t>y</a:t>
                      </a:r>
                    </a:p>
                  </a:txBody>
                  <a:tcPr/>
                </a:tc>
                <a:tc>
                  <a:txBody>
                    <a:bodyPr/>
                    <a:lstStyle/>
                    <a:p>
                      <a:r>
                        <a:rPr lang="en-IN" dirty="0"/>
                        <a:t>z</a:t>
                      </a:r>
                    </a:p>
                  </a:txBody>
                  <a:tcPr/>
                </a:tc>
                <a:extLst>
                  <a:ext uri="{0D108BD9-81ED-4DB2-BD59-A6C34878D82A}">
                    <a16:rowId xmlns:a16="http://schemas.microsoft.com/office/drawing/2014/main" val="3777278919"/>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412857217"/>
              </p:ext>
            </p:extLst>
          </p:nvPr>
        </p:nvGraphicFramePr>
        <p:xfrm>
          <a:off x="2493554" y="3909990"/>
          <a:ext cx="8127999" cy="10109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829893763"/>
                    </a:ext>
                  </a:extLst>
                </a:gridCol>
                <a:gridCol w="2709333">
                  <a:extLst>
                    <a:ext uri="{9D8B030D-6E8A-4147-A177-3AD203B41FA5}">
                      <a16:colId xmlns:a16="http://schemas.microsoft.com/office/drawing/2014/main" val="2455609407"/>
                    </a:ext>
                  </a:extLst>
                </a:gridCol>
                <a:gridCol w="2709333">
                  <a:extLst>
                    <a:ext uri="{9D8B030D-6E8A-4147-A177-3AD203B41FA5}">
                      <a16:colId xmlns:a16="http://schemas.microsoft.com/office/drawing/2014/main" val="1361097025"/>
                    </a:ext>
                  </a:extLst>
                </a:gridCol>
              </a:tblGrid>
              <a:tr h="370840">
                <a:tc>
                  <a:txBody>
                    <a:bodyPr/>
                    <a:lstStyle/>
                    <a:p>
                      <a:r>
                        <a:rPr lang="en-IN" b="0" dirty="0">
                          <a:solidFill>
                            <a:schemeClr val="tx1"/>
                          </a:solidFill>
                        </a:rPr>
                        <a:t>aw + </a:t>
                      </a:r>
                      <a:r>
                        <a:rPr lang="en-IN" b="0" dirty="0" err="1">
                          <a:solidFill>
                            <a:schemeClr val="tx1"/>
                          </a:solidFill>
                        </a:rPr>
                        <a:t>bx</a:t>
                      </a:r>
                      <a:r>
                        <a:rPr lang="en-IN" b="0" dirty="0">
                          <a:solidFill>
                            <a:schemeClr val="tx1"/>
                          </a:solidFill>
                        </a:rPr>
                        <a:t> + </a:t>
                      </a:r>
                      <a:r>
                        <a:rPr lang="en-IN" b="0" dirty="0" err="1">
                          <a:solidFill>
                            <a:schemeClr val="tx1"/>
                          </a:solidFill>
                        </a:rPr>
                        <a:t>ey</a:t>
                      </a:r>
                      <a:r>
                        <a:rPr lang="en-IN" b="0" dirty="0">
                          <a:solidFill>
                            <a:schemeClr val="tx1"/>
                          </a:solidFill>
                        </a:rPr>
                        <a:t> + </a:t>
                      </a:r>
                      <a:r>
                        <a:rPr lang="en-IN" b="0" dirty="0" err="1">
                          <a:solidFill>
                            <a:schemeClr val="tx1"/>
                          </a:solidFill>
                        </a:rPr>
                        <a:t>fz</a:t>
                      </a:r>
                      <a:r>
                        <a:rPr lang="en-IN" b="0" dirty="0">
                          <a:solidFill>
                            <a:schemeClr val="tx1"/>
                          </a:solidFill>
                        </a:rPr>
                        <a:t> </a:t>
                      </a:r>
                    </a:p>
                  </a:txBody>
                  <a:tcPr/>
                </a:tc>
                <a:tc>
                  <a:txBody>
                    <a:bodyPr/>
                    <a:lstStyle/>
                    <a:p>
                      <a:r>
                        <a:rPr lang="en-IN" b="0" dirty="0" err="1">
                          <a:solidFill>
                            <a:schemeClr val="tx1"/>
                          </a:solidFill>
                        </a:rPr>
                        <a:t>bw</a:t>
                      </a:r>
                      <a:r>
                        <a:rPr lang="en-IN" b="0" dirty="0">
                          <a:solidFill>
                            <a:schemeClr val="tx1"/>
                          </a:solidFill>
                        </a:rPr>
                        <a:t> + cx + </a:t>
                      </a:r>
                      <a:r>
                        <a:rPr lang="en-IN" b="0" dirty="0" err="1">
                          <a:solidFill>
                            <a:schemeClr val="tx1"/>
                          </a:solidFill>
                        </a:rPr>
                        <a:t>fy</a:t>
                      </a:r>
                      <a:r>
                        <a:rPr lang="en-IN" b="0" dirty="0">
                          <a:solidFill>
                            <a:schemeClr val="tx1"/>
                          </a:solidFill>
                        </a:rPr>
                        <a:t> + </a:t>
                      </a:r>
                      <a:r>
                        <a:rPr lang="en-IN" b="0" dirty="0" err="1">
                          <a:solidFill>
                            <a:schemeClr val="tx1"/>
                          </a:solidFill>
                        </a:rPr>
                        <a:t>gz</a:t>
                      </a:r>
                      <a:endParaRPr lang="en-IN"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0" dirty="0" err="1">
                          <a:solidFill>
                            <a:schemeClr val="tx1"/>
                          </a:solidFill>
                        </a:rPr>
                        <a:t>cw</a:t>
                      </a:r>
                      <a:r>
                        <a:rPr lang="en-IN" b="0" dirty="0">
                          <a:solidFill>
                            <a:schemeClr val="tx1"/>
                          </a:solidFill>
                        </a:rPr>
                        <a:t> + dx + </a:t>
                      </a:r>
                      <a:r>
                        <a:rPr lang="en-IN" b="0" dirty="0" err="1">
                          <a:solidFill>
                            <a:schemeClr val="tx1"/>
                          </a:solidFill>
                        </a:rPr>
                        <a:t>gy</a:t>
                      </a:r>
                      <a:r>
                        <a:rPr lang="en-IN" b="0" dirty="0">
                          <a:solidFill>
                            <a:schemeClr val="tx1"/>
                          </a:solidFill>
                        </a:rPr>
                        <a:t> + </a:t>
                      </a:r>
                      <a:r>
                        <a:rPr lang="en-IN" b="0" dirty="0" err="1">
                          <a:solidFill>
                            <a:schemeClr val="tx1"/>
                          </a:solidFill>
                        </a:rPr>
                        <a:t>hz</a:t>
                      </a:r>
                      <a:endParaRPr lang="en-IN" b="0" dirty="0">
                        <a:solidFill>
                          <a:schemeClr val="tx1"/>
                        </a:solidFill>
                      </a:endParaRPr>
                    </a:p>
                    <a:p>
                      <a:endParaRPr lang="en-IN" dirty="0"/>
                    </a:p>
                  </a:txBody>
                  <a:tcPr/>
                </a:tc>
                <a:extLst>
                  <a:ext uri="{0D108BD9-81ED-4DB2-BD59-A6C34878D82A}">
                    <a16:rowId xmlns:a16="http://schemas.microsoft.com/office/drawing/2014/main" val="350381441"/>
                  </a:ext>
                </a:extLst>
              </a:tr>
              <a:tr h="370840">
                <a:tc>
                  <a:txBody>
                    <a:bodyPr/>
                    <a:lstStyle/>
                    <a:p>
                      <a:r>
                        <a:rPr lang="en-IN" dirty="0" err="1"/>
                        <a:t>ew</a:t>
                      </a:r>
                      <a:r>
                        <a:rPr lang="en-IN" dirty="0"/>
                        <a:t> + </a:t>
                      </a:r>
                      <a:r>
                        <a:rPr lang="en-IN" dirty="0" err="1"/>
                        <a:t>fx</a:t>
                      </a:r>
                      <a:r>
                        <a:rPr lang="en-IN" dirty="0"/>
                        <a:t> + </a:t>
                      </a:r>
                      <a:r>
                        <a:rPr lang="en-IN" dirty="0" err="1"/>
                        <a:t>iy</a:t>
                      </a:r>
                      <a:r>
                        <a:rPr lang="en-IN" dirty="0"/>
                        <a:t> + </a:t>
                      </a:r>
                      <a:r>
                        <a:rPr lang="en-IN" dirty="0" err="1"/>
                        <a:t>jz</a:t>
                      </a:r>
                      <a:endParaRPr lang="en-IN" dirty="0"/>
                    </a:p>
                  </a:txBody>
                  <a:tcPr/>
                </a:tc>
                <a:tc>
                  <a:txBody>
                    <a:bodyPr/>
                    <a:lstStyle/>
                    <a:p>
                      <a:r>
                        <a:rPr lang="en-IN" dirty="0" err="1"/>
                        <a:t>fw</a:t>
                      </a:r>
                      <a:r>
                        <a:rPr lang="en-IN" dirty="0"/>
                        <a:t> + </a:t>
                      </a:r>
                      <a:r>
                        <a:rPr lang="en-IN" dirty="0" err="1"/>
                        <a:t>gx</a:t>
                      </a:r>
                      <a:r>
                        <a:rPr lang="en-IN" dirty="0"/>
                        <a:t>+ </a:t>
                      </a:r>
                      <a:r>
                        <a:rPr lang="en-IN" dirty="0" err="1"/>
                        <a:t>jy</a:t>
                      </a:r>
                      <a:r>
                        <a:rPr lang="en-IN" dirty="0"/>
                        <a:t>+ </a:t>
                      </a:r>
                      <a:r>
                        <a:rPr lang="en-IN" dirty="0" err="1"/>
                        <a:t>kz</a:t>
                      </a:r>
                      <a:endParaRPr lang="en-IN" dirty="0"/>
                    </a:p>
                  </a:txBody>
                  <a:tcPr/>
                </a:tc>
                <a:tc>
                  <a:txBody>
                    <a:bodyPr/>
                    <a:lstStyle/>
                    <a:p>
                      <a:r>
                        <a:rPr lang="en-IN" dirty="0" err="1"/>
                        <a:t>gw</a:t>
                      </a:r>
                      <a:r>
                        <a:rPr lang="en-IN" dirty="0"/>
                        <a:t> + </a:t>
                      </a:r>
                      <a:r>
                        <a:rPr lang="en-IN" dirty="0" err="1"/>
                        <a:t>hx</a:t>
                      </a:r>
                      <a:r>
                        <a:rPr lang="en-IN" dirty="0"/>
                        <a:t> + </a:t>
                      </a:r>
                      <a:r>
                        <a:rPr lang="en-IN" dirty="0" err="1"/>
                        <a:t>ky</a:t>
                      </a:r>
                      <a:r>
                        <a:rPr lang="en-IN" dirty="0"/>
                        <a:t> + </a:t>
                      </a:r>
                      <a:r>
                        <a:rPr lang="en-IN" dirty="0" err="1"/>
                        <a:t>lz</a:t>
                      </a:r>
                      <a:endParaRPr lang="en-IN" dirty="0"/>
                    </a:p>
                  </a:txBody>
                  <a:tcPr/>
                </a:tc>
                <a:extLst>
                  <a:ext uri="{0D108BD9-81ED-4DB2-BD59-A6C34878D82A}">
                    <a16:rowId xmlns:a16="http://schemas.microsoft.com/office/drawing/2014/main" val="3977095728"/>
                  </a:ext>
                </a:extLst>
              </a:tr>
            </a:tbl>
          </a:graphicData>
        </a:graphic>
      </p:graphicFrame>
    </p:spTree>
    <p:extLst>
      <p:ext uri="{BB962C8B-B14F-4D97-AF65-F5344CB8AC3E}">
        <p14:creationId xmlns:p14="http://schemas.microsoft.com/office/powerpoint/2010/main" val="1130490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Key Idea</a:t>
            </a:r>
          </a:p>
          <a:p>
            <a:r>
              <a:rPr lang="en-IN" dirty="0"/>
              <a:t>Replace matrix multiplication in neural nets with convolution</a:t>
            </a:r>
          </a:p>
          <a:p>
            <a:r>
              <a:rPr lang="en-IN" dirty="0"/>
              <a:t>Everything else stays the same</a:t>
            </a:r>
          </a:p>
          <a:p>
            <a:r>
              <a:rPr lang="en-IN" dirty="0"/>
              <a:t> Maximum likelihood</a:t>
            </a:r>
          </a:p>
          <a:p>
            <a:r>
              <a:rPr lang="en-IN" dirty="0"/>
              <a:t> Back-propagation etc.</a:t>
            </a:r>
          </a:p>
        </p:txBody>
      </p:sp>
    </p:spTree>
    <p:extLst>
      <p:ext uri="{BB962C8B-B14F-4D97-AF65-F5344CB8AC3E}">
        <p14:creationId xmlns:p14="http://schemas.microsoft.com/office/powerpoint/2010/main" val="2329504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IN" dirty="0"/>
                  <a:t>Matrix (Dot) Product</a:t>
                </a:r>
              </a:p>
              <a:p>
                <a:pPr marL="0" indent="0">
                  <a:buNone/>
                </a:pPr>
                <a:r>
                  <a:rPr lang="en-IN" dirty="0"/>
                  <a:t>     C = AB</a:t>
                </a:r>
              </a:p>
              <a:p>
                <a:pPr marL="0" indent="0">
                  <a:buNone/>
                </a:pPr>
                <a:r>
                  <a:rPr lang="en-IN" dirty="0"/>
                  <a:t>     C (</a:t>
                </a:r>
                <a:r>
                  <a:rPr lang="en-IN" dirty="0" err="1"/>
                  <a:t>i</a:t>
                </a:r>
                <a:r>
                  <a:rPr lang="en-IN" dirty="0"/>
                  <a:t>, j) = </a:t>
                </a:r>
                <a14:m>
                  <m:oMath xmlns:m="http://schemas.openxmlformats.org/officeDocument/2006/math">
                    <m:nary>
                      <m:naryPr>
                        <m:chr m:val="∑"/>
                        <m:limLoc m:val="undOvr"/>
                        <m:supHide m:val="on"/>
                        <m:ctrlPr>
                          <a:rPr lang="en-IN" i="1">
                            <a:latin typeface="Cambria Math" panose="02040503050406030204" pitchFamily="18" charset="0"/>
                          </a:rPr>
                        </m:ctrlPr>
                      </m:naryPr>
                      <m:sub>
                        <m:r>
                          <a:rPr lang="en-IN" i="1">
                            <a:latin typeface="Cambria Math" panose="02040503050406030204" pitchFamily="18" charset="0"/>
                          </a:rPr>
                          <m:t>𝑘</m:t>
                        </m:r>
                      </m:sub>
                      <m:sup/>
                      <m:e>
                        <m:r>
                          <a:rPr lang="en-IN" i="1">
                            <a:latin typeface="Cambria Math" panose="02040503050406030204" pitchFamily="18" charset="0"/>
                          </a:rPr>
                          <m:t>𝐴𝑖</m:t>
                        </m:r>
                        <m:r>
                          <a:rPr lang="en-IN" i="1">
                            <a:latin typeface="Cambria Math" panose="02040503050406030204" pitchFamily="18" charset="0"/>
                          </a:rPr>
                          <m:t>,</m:t>
                        </m:r>
                        <m:r>
                          <a:rPr lang="en-IN" i="1">
                            <a:latin typeface="Cambria Math" panose="02040503050406030204" pitchFamily="18" charset="0"/>
                          </a:rPr>
                          <m:t>𝑘</m:t>
                        </m:r>
                        <m:r>
                          <m:rPr>
                            <m:nor/>
                          </m:rPr>
                          <a:rPr lang="en-IN" dirty="0" smtClean="0"/>
                          <m:t>+ </m:t>
                        </m:r>
                        <m:r>
                          <m:rPr>
                            <m:nor/>
                          </m:rPr>
                          <a:rPr lang="en-IN" i="1" dirty="0" smtClean="0"/>
                          <m:t>B</m:t>
                        </m:r>
                        <m:r>
                          <m:rPr>
                            <m:nor/>
                          </m:rPr>
                          <a:rPr lang="en-IN" b="0" i="1" dirty="0" smtClean="0"/>
                          <m:t> </m:t>
                        </m:r>
                        <m:r>
                          <m:rPr>
                            <m:nor/>
                          </m:rPr>
                          <a:rPr lang="en-IN" i="1" dirty="0" smtClean="0"/>
                          <m:t>k</m:t>
                        </m:r>
                        <m:r>
                          <m:rPr>
                            <m:nor/>
                          </m:rPr>
                          <a:rPr lang="en-IN" i="1" dirty="0" smtClean="0"/>
                          <m:t>,</m:t>
                        </m:r>
                        <m:r>
                          <m:rPr>
                            <m:nor/>
                          </m:rPr>
                          <a:rPr lang="en-IN" i="1" dirty="0" smtClean="0"/>
                          <m:t>j</m:t>
                        </m:r>
                      </m:e>
                    </m:nary>
                  </m:oMath>
                </a14:m>
                <a:endParaRPr lang="en-IN" dirty="0"/>
              </a:p>
              <a:p>
                <a:r>
                  <a:rPr lang="en-IN" dirty="0"/>
                  <a:t>Matrix Transpose</a:t>
                </a:r>
              </a:p>
              <a:p>
                <a:r>
                  <a:rPr lang="en-IN" dirty="0"/>
                  <a:t>The transpose of the matrix can be thought of as a mirror image across the main diagonal.</a:t>
                </a:r>
              </a:p>
              <a:p>
                <a:r>
                  <a:rPr lang="en-IN" dirty="0"/>
                  <a:t>(AB) </a:t>
                </a:r>
                <a:r>
                  <a:rPr lang="en-IN" baseline="30000" dirty="0"/>
                  <a:t>T</a:t>
                </a:r>
                <a:r>
                  <a:rPr lang="en-IN" dirty="0"/>
                  <a:t> = B </a:t>
                </a:r>
                <a:r>
                  <a:rPr lang="en-IN" baseline="30000" dirty="0"/>
                  <a:t>T</a:t>
                </a:r>
                <a:r>
                  <a:rPr lang="en-IN" dirty="0"/>
                  <a:t> A </a:t>
                </a:r>
                <a:r>
                  <a:rPr lang="en-IN" baseline="30000" dirty="0"/>
                  <a:t>T</a:t>
                </a:r>
                <a:endParaRPr lang="en-IN" dirty="0"/>
              </a:p>
              <a:p>
                <a:endParaRPr lang="en-IN" dirty="0"/>
              </a:p>
              <a:p>
                <a:pPr marL="0" indent="0">
                  <a:buNone/>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562263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76377"/>
            <a:ext cx="10515600" cy="5400586"/>
          </a:xfrm>
        </p:spPr>
        <p:txBody>
          <a:bodyPr>
            <a:normAutofit/>
          </a:bodyPr>
          <a:lstStyle/>
          <a:p>
            <a:pPr marL="0" indent="0">
              <a:buNone/>
            </a:pPr>
            <a:r>
              <a:rPr lang="en-IN" b="1" dirty="0"/>
              <a:t>Three Operations</a:t>
            </a:r>
          </a:p>
          <a:p>
            <a:r>
              <a:rPr lang="en-IN" dirty="0"/>
              <a:t>Convolution: like matrix multiplication</a:t>
            </a:r>
          </a:p>
          <a:p>
            <a:pPr marL="0" indent="0">
              <a:buNone/>
            </a:pPr>
            <a:r>
              <a:rPr lang="en-IN" sz="2000" dirty="0"/>
              <a:t>       </a:t>
            </a:r>
            <a:r>
              <a:rPr lang="en-IN" dirty="0"/>
              <a:t>Take an input, produce an output (hidden layer)</a:t>
            </a:r>
          </a:p>
          <a:p>
            <a:r>
              <a:rPr lang="en-IN" dirty="0"/>
              <a:t>Deconvolution: like multiplication by transpose of a matrix</a:t>
            </a:r>
          </a:p>
          <a:p>
            <a:pPr marL="457200" lvl="1" indent="0">
              <a:buNone/>
            </a:pPr>
            <a:r>
              <a:rPr lang="en-IN" dirty="0"/>
              <a:t>Used to back-propagate error from output to input</a:t>
            </a:r>
          </a:p>
          <a:p>
            <a:pPr marL="457200" lvl="1" indent="0">
              <a:buNone/>
            </a:pPr>
            <a:r>
              <a:rPr lang="en-IN" sz="1600" dirty="0"/>
              <a:t> </a:t>
            </a:r>
            <a:r>
              <a:rPr lang="en-IN" dirty="0"/>
              <a:t>Reconstruction in </a:t>
            </a:r>
            <a:r>
              <a:rPr lang="en-IN" dirty="0" err="1"/>
              <a:t>autoencoder</a:t>
            </a:r>
            <a:r>
              <a:rPr lang="en-IN" dirty="0"/>
              <a:t> / RBM</a:t>
            </a:r>
          </a:p>
          <a:p>
            <a:r>
              <a:rPr lang="en-IN" sz="2000" dirty="0"/>
              <a:t> </a:t>
            </a:r>
            <a:r>
              <a:rPr lang="en-IN" dirty="0"/>
              <a:t>Weight gradient computation</a:t>
            </a:r>
          </a:p>
          <a:p>
            <a:pPr marL="457200" lvl="1" indent="0">
              <a:buNone/>
            </a:pPr>
            <a:r>
              <a:rPr lang="en-IN" dirty="0"/>
              <a:t>Used to back propagate error from output to weights</a:t>
            </a:r>
          </a:p>
          <a:p>
            <a:pPr marL="457200" lvl="1" indent="0">
              <a:buNone/>
            </a:pPr>
            <a:r>
              <a:rPr lang="en-IN" sz="1600" dirty="0"/>
              <a:t> </a:t>
            </a:r>
            <a:r>
              <a:rPr lang="en-IN" dirty="0"/>
              <a:t>Accounts for the parameter sharing</a:t>
            </a:r>
          </a:p>
        </p:txBody>
      </p:sp>
    </p:spTree>
    <p:extLst>
      <p:ext uri="{BB962C8B-B14F-4D97-AF65-F5344CB8AC3E}">
        <p14:creationId xmlns:p14="http://schemas.microsoft.com/office/powerpoint/2010/main" val="3682325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Convolution leverages three important ideas that can help improve a machine learning system: </a:t>
            </a:r>
          </a:p>
          <a:p>
            <a:pPr lvl="1"/>
            <a:r>
              <a:rPr lang="en-IN" dirty="0"/>
              <a:t>sparse interactions</a:t>
            </a:r>
          </a:p>
          <a:p>
            <a:pPr lvl="1"/>
            <a:r>
              <a:rPr lang="en-IN" dirty="0"/>
              <a:t>parameter sharing </a:t>
            </a:r>
          </a:p>
          <a:p>
            <a:pPr lvl="1"/>
            <a:r>
              <a:rPr lang="en-IN" dirty="0"/>
              <a:t>equivariant representations.</a:t>
            </a:r>
          </a:p>
        </p:txBody>
      </p:sp>
    </p:spTree>
    <p:extLst>
      <p:ext uri="{BB962C8B-B14F-4D97-AF65-F5344CB8AC3E}">
        <p14:creationId xmlns:p14="http://schemas.microsoft.com/office/powerpoint/2010/main" val="1269752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Sparse interactions</a:t>
            </a:r>
          </a:p>
        </p:txBody>
      </p:sp>
      <p:sp>
        <p:nvSpPr>
          <p:cNvPr id="3" name="Content Placeholder 2"/>
          <p:cNvSpPr>
            <a:spLocks noGrp="1"/>
          </p:cNvSpPr>
          <p:nvPr>
            <p:ph idx="1"/>
          </p:nvPr>
        </p:nvSpPr>
        <p:spPr/>
        <p:txBody>
          <a:bodyPr>
            <a:normAutofit/>
          </a:bodyPr>
          <a:lstStyle/>
          <a:p>
            <a:r>
              <a:rPr lang="en-IN" dirty="0"/>
              <a:t>Traditional neural network layers use matrix multiplication by a matrix of parameters with a separate parameter describing the interaction between each input unit and each output unit. </a:t>
            </a:r>
          </a:p>
          <a:p>
            <a:r>
              <a:rPr lang="en-IN" dirty="0"/>
              <a:t>This means every output unit interacts with every input unit. </a:t>
            </a:r>
          </a:p>
          <a:p>
            <a:r>
              <a:rPr lang="en-IN" dirty="0"/>
              <a:t>Convolutional networks, however, typically have </a:t>
            </a:r>
            <a:r>
              <a:rPr lang="en-IN" b="1" dirty="0"/>
              <a:t>sparse interactions </a:t>
            </a:r>
            <a:r>
              <a:rPr lang="en-IN" dirty="0"/>
              <a:t>(also referred to as </a:t>
            </a:r>
            <a:r>
              <a:rPr lang="en-IN" b="1" dirty="0"/>
              <a:t>sparse connectivity </a:t>
            </a:r>
            <a:r>
              <a:rPr lang="en-IN" dirty="0"/>
              <a:t>or </a:t>
            </a:r>
            <a:r>
              <a:rPr lang="en-IN" b="1" dirty="0"/>
              <a:t>sparse weights</a:t>
            </a:r>
            <a:r>
              <a:rPr lang="en-IN" dirty="0"/>
              <a:t>). </a:t>
            </a:r>
          </a:p>
          <a:p>
            <a:r>
              <a:rPr lang="en-IN" dirty="0"/>
              <a:t>This is accomplished by making the kernel smaller than the input.</a:t>
            </a:r>
          </a:p>
        </p:txBody>
      </p:sp>
    </p:spTree>
    <p:extLst>
      <p:ext uri="{BB962C8B-B14F-4D97-AF65-F5344CB8AC3E}">
        <p14:creationId xmlns:p14="http://schemas.microsoft.com/office/powerpoint/2010/main" val="3603746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For example, when processing an image, the input image might have thousands or millions of pixels, but we can detect small, meaningful features such as edges with kernels that occupy only tens or hundreds of pixels. </a:t>
            </a:r>
          </a:p>
          <a:p>
            <a:r>
              <a:rPr lang="en-IN" dirty="0"/>
              <a:t>This means that we need to store fewer parameters, which both reduces the memory requirements of the model and improves its statistical efficiency. </a:t>
            </a:r>
          </a:p>
          <a:p>
            <a:r>
              <a:rPr lang="en-IN" dirty="0"/>
              <a:t>It also means that computing the output requires fewer operations.</a:t>
            </a:r>
          </a:p>
        </p:txBody>
      </p:sp>
    </p:spTree>
    <p:extLst>
      <p:ext uri="{BB962C8B-B14F-4D97-AF65-F5344CB8AC3E}">
        <p14:creationId xmlns:p14="http://schemas.microsoft.com/office/powerpoint/2010/main" val="788506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If there are </a:t>
            </a:r>
            <a:r>
              <a:rPr lang="en-IN" i="1" dirty="0"/>
              <a:t>m </a:t>
            </a:r>
            <a:r>
              <a:rPr lang="en-IN" dirty="0"/>
              <a:t>inputs and </a:t>
            </a:r>
            <a:r>
              <a:rPr lang="en-IN" i="1" dirty="0"/>
              <a:t>n </a:t>
            </a:r>
            <a:r>
              <a:rPr lang="en-IN" dirty="0"/>
              <a:t>outputs, then matrix multiplication requires </a:t>
            </a:r>
            <a:r>
              <a:rPr lang="en-IN" i="1" dirty="0" err="1"/>
              <a:t>m×n</a:t>
            </a:r>
            <a:r>
              <a:rPr lang="en-IN" i="1" dirty="0"/>
              <a:t> </a:t>
            </a:r>
            <a:r>
              <a:rPr lang="en-IN" dirty="0"/>
              <a:t>parameters and the algorithms used in practice have </a:t>
            </a:r>
            <a:r>
              <a:rPr lang="en-IN" i="1" dirty="0"/>
              <a:t>O</a:t>
            </a:r>
            <a:r>
              <a:rPr lang="en-IN" dirty="0"/>
              <a:t>(</a:t>
            </a:r>
            <a:r>
              <a:rPr lang="en-IN" i="1" dirty="0"/>
              <a:t>m × n</a:t>
            </a:r>
            <a:r>
              <a:rPr lang="en-IN" dirty="0"/>
              <a:t>) runtime (per example). </a:t>
            </a:r>
          </a:p>
          <a:p>
            <a:r>
              <a:rPr lang="en-IN" dirty="0"/>
              <a:t>If we limit the number of connections each output may have to </a:t>
            </a:r>
            <a:r>
              <a:rPr lang="en-IN" i="1" dirty="0"/>
              <a:t>k</a:t>
            </a:r>
            <a:r>
              <a:rPr lang="en-IN" dirty="0"/>
              <a:t>, then the sparsely connected approach requires only </a:t>
            </a:r>
            <a:r>
              <a:rPr lang="en-IN" i="1" dirty="0"/>
              <a:t>k × n </a:t>
            </a:r>
            <a:r>
              <a:rPr lang="en-IN" dirty="0"/>
              <a:t>parameters and </a:t>
            </a:r>
            <a:r>
              <a:rPr lang="en-IN" i="1" dirty="0"/>
              <a:t>O</a:t>
            </a:r>
            <a:r>
              <a:rPr lang="en-IN" dirty="0"/>
              <a:t>(</a:t>
            </a:r>
            <a:r>
              <a:rPr lang="en-IN" i="1" dirty="0"/>
              <a:t>k × n</a:t>
            </a:r>
            <a:r>
              <a:rPr lang="en-IN" dirty="0"/>
              <a:t>) runtime.</a:t>
            </a:r>
          </a:p>
        </p:txBody>
      </p:sp>
    </p:spTree>
    <p:extLst>
      <p:ext uri="{BB962C8B-B14F-4D97-AF65-F5344CB8AC3E}">
        <p14:creationId xmlns:p14="http://schemas.microsoft.com/office/powerpoint/2010/main" val="1375735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426504" y="2061714"/>
            <a:ext cx="4526796" cy="4184486"/>
          </a:xfrm>
          <a:prstGeom prst="rect">
            <a:avLst/>
          </a:prstGeom>
        </p:spPr>
      </p:pic>
      <p:sp>
        <p:nvSpPr>
          <p:cNvPr id="5" name="Rectangle 4"/>
          <p:cNvSpPr/>
          <p:nvPr/>
        </p:nvSpPr>
        <p:spPr>
          <a:xfrm>
            <a:off x="968007" y="1447996"/>
            <a:ext cx="10515600" cy="923330"/>
          </a:xfrm>
          <a:prstGeom prst="rect">
            <a:avLst/>
          </a:prstGeom>
        </p:spPr>
        <p:txBody>
          <a:bodyPr wrap="square">
            <a:spAutoFit/>
          </a:bodyPr>
          <a:lstStyle/>
          <a:p>
            <a:r>
              <a:rPr lang="en-IN" dirty="0">
                <a:latin typeface="ComputerModernRoman"/>
              </a:rPr>
              <a:t>Top - When </a:t>
            </a:r>
            <a:r>
              <a:rPr lang="en-IN" i="1" dirty="0">
                <a:latin typeface="CMMIB10"/>
              </a:rPr>
              <a:t>s </a:t>
            </a:r>
            <a:r>
              <a:rPr lang="en-IN" dirty="0">
                <a:latin typeface="ComputerModernRoman"/>
              </a:rPr>
              <a:t>is formed by convolution with a kernel of width </a:t>
            </a:r>
            <a:r>
              <a:rPr lang="en-IN" dirty="0">
                <a:latin typeface="CMR10"/>
              </a:rPr>
              <a:t>3</a:t>
            </a:r>
            <a:r>
              <a:rPr lang="en-IN" dirty="0">
                <a:latin typeface="ComputerModernRoman"/>
              </a:rPr>
              <a:t>, only three outputs are affected by </a:t>
            </a:r>
            <a:r>
              <a:rPr lang="en-IN" i="1" dirty="0">
                <a:latin typeface="CMMIB10"/>
              </a:rPr>
              <a:t>x</a:t>
            </a:r>
            <a:r>
              <a:rPr lang="en-IN" dirty="0">
                <a:latin typeface="ComputerModernRoman"/>
              </a:rPr>
              <a:t>.</a:t>
            </a:r>
          </a:p>
          <a:p>
            <a:r>
              <a:rPr lang="en-IN" i="1" dirty="0">
                <a:latin typeface="ComputerModernItalic"/>
              </a:rPr>
              <a:t>(Bottom)</a:t>
            </a:r>
            <a:r>
              <a:rPr lang="en-IN" dirty="0">
                <a:latin typeface="ComputerModernRoman"/>
              </a:rPr>
              <a:t>When </a:t>
            </a:r>
            <a:r>
              <a:rPr lang="en-IN" i="1" dirty="0">
                <a:latin typeface="CMMIB10"/>
              </a:rPr>
              <a:t>s </a:t>
            </a:r>
            <a:r>
              <a:rPr lang="en-IN" dirty="0">
                <a:latin typeface="ComputerModernRoman"/>
              </a:rPr>
              <a:t>is formed by matrix multiplication, connectivity is no longer sparse, so all of the outputs are affected by </a:t>
            </a:r>
            <a:r>
              <a:rPr lang="en-IN" i="1" dirty="0">
                <a:latin typeface="CMMI10"/>
              </a:rPr>
              <a:t>x</a:t>
            </a:r>
            <a:r>
              <a:rPr lang="en-IN" sz="1050" b="0" i="0" u="none" strike="noStrike" baseline="0" dirty="0">
                <a:latin typeface="CMR7"/>
              </a:rPr>
              <a:t>3</a:t>
            </a:r>
            <a:r>
              <a:rPr lang="en-IN" dirty="0">
                <a:latin typeface="ComputerModernRoman"/>
              </a:rPr>
              <a:t>.</a:t>
            </a:r>
          </a:p>
        </p:txBody>
      </p:sp>
    </p:spTree>
    <p:extLst>
      <p:ext uri="{BB962C8B-B14F-4D97-AF65-F5344CB8AC3E}">
        <p14:creationId xmlns:p14="http://schemas.microsoft.com/office/powerpoint/2010/main" val="3670344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Parameter sharing</a:t>
            </a:r>
            <a:endParaRPr lang="en-IN" dirty="0"/>
          </a:p>
        </p:txBody>
      </p:sp>
      <p:sp>
        <p:nvSpPr>
          <p:cNvPr id="3" name="Content Placeholder 2"/>
          <p:cNvSpPr>
            <a:spLocks noGrp="1"/>
          </p:cNvSpPr>
          <p:nvPr>
            <p:ph idx="1"/>
          </p:nvPr>
        </p:nvSpPr>
        <p:spPr/>
        <p:txBody>
          <a:bodyPr>
            <a:normAutofit/>
          </a:bodyPr>
          <a:lstStyle/>
          <a:p>
            <a:r>
              <a:rPr lang="en-IN" b="1" dirty="0"/>
              <a:t>Parameter sharing </a:t>
            </a:r>
            <a:r>
              <a:rPr lang="en-IN" dirty="0"/>
              <a:t>refers to </a:t>
            </a:r>
            <a:r>
              <a:rPr lang="en-IN" dirty="0">
                <a:highlight>
                  <a:srgbClr val="FFFF00"/>
                </a:highlight>
              </a:rPr>
              <a:t>using the same parameter for more than one function in a model</a:t>
            </a:r>
            <a:r>
              <a:rPr lang="en-IN" dirty="0"/>
              <a:t>. </a:t>
            </a:r>
          </a:p>
          <a:p>
            <a:r>
              <a:rPr lang="en-IN" dirty="0"/>
              <a:t>In a traditional neural net, each element of the weight matrix is used exactly once when computing the output of a layer. </a:t>
            </a:r>
          </a:p>
          <a:p>
            <a:r>
              <a:rPr lang="en-IN" dirty="0"/>
              <a:t>It is multiplied by one element of the input and then never revisited. </a:t>
            </a:r>
          </a:p>
          <a:p>
            <a:r>
              <a:rPr lang="en-IN" dirty="0"/>
              <a:t>As a synonym for parameter sharing, one can say that a network has </a:t>
            </a:r>
            <a:r>
              <a:rPr lang="en-IN" b="1" dirty="0"/>
              <a:t>tied weights</a:t>
            </a:r>
            <a:r>
              <a:rPr lang="en-IN" dirty="0"/>
              <a:t>, because the value of the weight applied to one input is tied to the value of a weight applied elsewhere.</a:t>
            </a:r>
          </a:p>
        </p:txBody>
      </p:sp>
    </p:spTree>
    <p:extLst>
      <p:ext uri="{BB962C8B-B14F-4D97-AF65-F5344CB8AC3E}">
        <p14:creationId xmlns:p14="http://schemas.microsoft.com/office/powerpoint/2010/main" val="47649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In a convolutional neural net, each member of the kernel is used at every position of the input (except perhaps some of the boundary pixels, depending on the design decisions regarding the boundary). </a:t>
            </a:r>
          </a:p>
          <a:p>
            <a:r>
              <a:rPr lang="en-IN" dirty="0"/>
              <a:t>The parameter sharing used by the convolution operation means that rather than learning a separate set of parameters for every location, we learn only one set. </a:t>
            </a:r>
          </a:p>
          <a:p>
            <a:r>
              <a:rPr lang="en-IN" dirty="0"/>
              <a:t>This does not affect the runtime of forward propagation—it is still</a:t>
            </a:r>
          </a:p>
          <a:p>
            <a:r>
              <a:rPr lang="en-IN" dirty="0"/>
              <a:t> </a:t>
            </a:r>
            <a:r>
              <a:rPr lang="en-IN" i="1" dirty="0"/>
              <a:t>O</a:t>
            </a:r>
            <a:r>
              <a:rPr lang="en-IN" dirty="0"/>
              <a:t>(</a:t>
            </a:r>
            <a:r>
              <a:rPr lang="en-IN" i="1" dirty="0"/>
              <a:t>k × n</a:t>
            </a:r>
            <a:r>
              <a:rPr lang="en-IN" dirty="0"/>
              <a:t>)—but it does further reduce the storage requirements of the model to </a:t>
            </a:r>
            <a:r>
              <a:rPr lang="en-IN" i="1" dirty="0"/>
              <a:t>k </a:t>
            </a:r>
            <a:r>
              <a:rPr lang="en-IN" dirty="0"/>
              <a:t>parameters.</a:t>
            </a:r>
          </a:p>
        </p:txBody>
      </p:sp>
    </p:spTree>
    <p:extLst>
      <p:ext uri="{BB962C8B-B14F-4D97-AF65-F5344CB8AC3E}">
        <p14:creationId xmlns:p14="http://schemas.microsoft.com/office/powerpoint/2010/main" val="27247980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How sparse connectivity and parameter sharing can dramatically improve the efficiency of a linear function for detecting edges in an image.</a:t>
            </a:r>
          </a:p>
          <a:p>
            <a:r>
              <a:rPr lang="en-IN" dirty="0"/>
              <a:t>Example:</a:t>
            </a:r>
          </a:p>
          <a:p>
            <a:r>
              <a:rPr lang="en-IN" i="1" dirty="0"/>
              <a:t>Efficiency of edge detection</a:t>
            </a:r>
            <a:endParaRPr lang="en-IN" dirty="0"/>
          </a:p>
        </p:txBody>
      </p:sp>
    </p:spTree>
    <p:extLst>
      <p:ext uri="{BB962C8B-B14F-4D97-AF65-F5344CB8AC3E}">
        <p14:creationId xmlns:p14="http://schemas.microsoft.com/office/powerpoint/2010/main" val="109181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2477554" y="2250404"/>
            <a:ext cx="2064000" cy="1794900"/>
          </a:xfrm>
          <a:prstGeom prst="rect">
            <a:avLst/>
          </a:prstGeom>
        </p:spPr>
      </p:pic>
      <p:pic>
        <p:nvPicPr>
          <p:cNvPr id="5" name="Picture 4"/>
          <p:cNvPicPr>
            <a:picLocks noChangeAspect="1"/>
          </p:cNvPicPr>
          <p:nvPr/>
        </p:nvPicPr>
        <p:blipFill>
          <a:blip r:embed="rId3"/>
          <a:stretch>
            <a:fillRect/>
          </a:stretch>
        </p:blipFill>
        <p:spPr>
          <a:xfrm>
            <a:off x="6814423" y="2331253"/>
            <a:ext cx="2064000" cy="1794900"/>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887662004"/>
              </p:ext>
            </p:extLst>
          </p:nvPr>
        </p:nvGraphicFramePr>
        <p:xfrm>
          <a:off x="1371566" y="5178455"/>
          <a:ext cx="2521166" cy="365760"/>
        </p:xfrm>
        <a:graphic>
          <a:graphicData uri="http://schemas.openxmlformats.org/drawingml/2006/table">
            <a:tbl>
              <a:tblPr firstRow="1" bandRow="1">
                <a:tableStyleId>{5C22544A-7EE6-4342-B048-85BDC9FD1C3A}</a:tableStyleId>
              </a:tblPr>
              <a:tblGrid>
                <a:gridCol w="1260583">
                  <a:extLst>
                    <a:ext uri="{9D8B030D-6E8A-4147-A177-3AD203B41FA5}">
                      <a16:colId xmlns:a16="http://schemas.microsoft.com/office/drawing/2014/main" val="1898562250"/>
                    </a:ext>
                  </a:extLst>
                </a:gridCol>
                <a:gridCol w="1260583">
                  <a:extLst>
                    <a:ext uri="{9D8B030D-6E8A-4147-A177-3AD203B41FA5}">
                      <a16:colId xmlns:a16="http://schemas.microsoft.com/office/drawing/2014/main" val="1433318718"/>
                    </a:ext>
                  </a:extLst>
                </a:gridCol>
              </a:tblGrid>
              <a:tr h="334071">
                <a:tc>
                  <a:txBody>
                    <a:bodyPr/>
                    <a:lstStyle/>
                    <a:p>
                      <a:r>
                        <a:rPr lang="en-IN" b="0" dirty="0">
                          <a:solidFill>
                            <a:schemeClr val="tx1"/>
                          </a:solidFill>
                        </a:rPr>
                        <a:t>1</a:t>
                      </a:r>
                    </a:p>
                  </a:txBody>
                  <a:tcPr/>
                </a:tc>
                <a:tc>
                  <a:txBody>
                    <a:bodyPr/>
                    <a:lstStyle/>
                    <a:p>
                      <a:r>
                        <a:rPr lang="en-IN" b="0" dirty="0">
                          <a:solidFill>
                            <a:schemeClr val="tx1"/>
                          </a:solidFill>
                        </a:rPr>
                        <a:t>-1</a:t>
                      </a:r>
                    </a:p>
                  </a:txBody>
                  <a:tcPr/>
                </a:tc>
                <a:extLst>
                  <a:ext uri="{0D108BD9-81ED-4DB2-BD59-A6C34878D82A}">
                    <a16:rowId xmlns:a16="http://schemas.microsoft.com/office/drawing/2014/main" val="1866359417"/>
                  </a:ext>
                </a:extLst>
              </a:tr>
            </a:tbl>
          </a:graphicData>
        </a:graphic>
      </p:graphicFrame>
      <p:sp>
        <p:nvSpPr>
          <p:cNvPr id="7" name="Rectangle 6"/>
          <p:cNvSpPr/>
          <p:nvPr/>
        </p:nvSpPr>
        <p:spPr>
          <a:xfrm>
            <a:off x="2403566" y="5787237"/>
            <a:ext cx="786434" cy="369332"/>
          </a:xfrm>
          <a:prstGeom prst="rect">
            <a:avLst/>
          </a:prstGeom>
        </p:spPr>
        <p:txBody>
          <a:bodyPr wrap="none">
            <a:spAutoFit/>
          </a:bodyPr>
          <a:lstStyle/>
          <a:p>
            <a:r>
              <a:rPr lang="en-IN" dirty="0"/>
              <a:t>Kernel</a:t>
            </a:r>
          </a:p>
        </p:txBody>
      </p:sp>
      <p:sp>
        <p:nvSpPr>
          <p:cNvPr id="8" name="Rectangle 7"/>
          <p:cNvSpPr/>
          <p:nvPr/>
        </p:nvSpPr>
        <p:spPr>
          <a:xfrm>
            <a:off x="1029164" y="2556357"/>
            <a:ext cx="684803" cy="369332"/>
          </a:xfrm>
          <a:prstGeom prst="rect">
            <a:avLst/>
          </a:prstGeom>
        </p:spPr>
        <p:txBody>
          <a:bodyPr wrap="none">
            <a:spAutoFit/>
          </a:bodyPr>
          <a:lstStyle/>
          <a:p>
            <a:r>
              <a:rPr lang="en-IN" dirty="0"/>
              <a:t>Input</a:t>
            </a:r>
          </a:p>
        </p:txBody>
      </p:sp>
      <p:sp>
        <p:nvSpPr>
          <p:cNvPr id="9" name="Rectangle 8"/>
          <p:cNvSpPr/>
          <p:nvPr/>
        </p:nvSpPr>
        <p:spPr>
          <a:xfrm>
            <a:off x="9778283" y="2925689"/>
            <a:ext cx="856325" cy="369332"/>
          </a:xfrm>
          <a:prstGeom prst="rect">
            <a:avLst/>
          </a:prstGeom>
        </p:spPr>
        <p:txBody>
          <a:bodyPr wrap="none">
            <a:spAutoFit/>
          </a:bodyPr>
          <a:lstStyle/>
          <a:p>
            <a:r>
              <a:rPr lang="en-IN" dirty="0"/>
              <a:t>Output</a:t>
            </a:r>
          </a:p>
        </p:txBody>
      </p:sp>
    </p:spTree>
    <p:extLst>
      <p:ext uri="{BB962C8B-B14F-4D97-AF65-F5344CB8AC3E}">
        <p14:creationId xmlns:p14="http://schemas.microsoft.com/office/powerpoint/2010/main" val="3300367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dirty="0"/>
              <a:t>The image on the right was formed by taking each pixel in the original image and subtracting the value of its </a:t>
            </a:r>
            <a:r>
              <a:rPr lang="en-IN" dirty="0" err="1"/>
              <a:t>neighboring</a:t>
            </a:r>
            <a:r>
              <a:rPr lang="en-IN" dirty="0"/>
              <a:t> pixel on the left. </a:t>
            </a:r>
          </a:p>
          <a:p>
            <a:r>
              <a:rPr lang="en-IN" dirty="0"/>
              <a:t>This shows the strength of all of the vertically oriented edges in the input image, which can be a useful operation for object detection. </a:t>
            </a:r>
          </a:p>
          <a:p>
            <a:r>
              <a:rPr lang="en-IN" dirty="0"/>
              <a:t>Both images are 280 pixels tall. </a:t>
            </a:r>
          </a:p>
          <a:p>
            <a:r>
              <a:rPr lang="en-IN" dirty="0"/>
              <a:t>The input image is 320 pixels wide while the output image is 319 pixels wide. </a:t>
            </a:r>
          </a:p>
          <a:p>
            <a:r>
              <a:rPr lang="en-IN" dirty="0"/>
              <a:t>This transformation can be described by a convolution kernel containing two elements, and requires 319 </a:t>
            </a:r>
            <a:r>
              <a:rPr lang="en-IN" i="1" dirty="0"/>
              <a:t>× </a:t>
            </a:r>
            <a:r>
              <a:rPr lang="en-IN" dirty="0"/>
              <a:t>280 </a:t>
            </a:r>
            <a:r>
              <a:rPr lang="en-IN" i="1" dirty="0"/>
              <a:t>× </a:t>
            </a:r>
            <a:r>
              <a:rPr lang="en-IN" dirty="0"/>
              <a:t>3 = 267</a:t>
            </a:r>
            <a:r>
              <a:rPr lang="en-IN" i="1" dirty="0"/>
              <a:t>,</a:t>
            </a:r>
            <a:r>
              <a:rPr lang="en-IN" dirty="0"/>
              <a:t>960 floating point operations (two multiplications and one addition per output pixel) to compute using convolution. </a:t>
            </a:r>
          </a:p>
        </p:txBody>
      </p:sp>
    </p:spTree>
    <p:extLst>
      <p:ext uri="{BB962C8B-B14F-4D97-AF65-F5344CB8AC3E}">
        <p14:creationId xmlns:p14="http://schemas.microsoft.com/office/powerpoint/2010/main" val="741716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0113"/>
            <a:ext cx="10515600" cy="5486850"/>
          </a:xfrm>
        </p:spPr>
        <p:txBody>
          <a:bodyPr>
            <a:normAutofit fontScale="92500" lnSpcReduction="10000"/>
          </a:bodyPr>
          <a:lstStyle/>
          <a:p>
            <a:r>
              <a:rPr lang="en-IN" dirty="0"/>
              <a:t>To describe the same transformation with a matrix multiplication would take 320 </a:t>
            </a:r>
            <a:r>
              <a:rPr lang="en-IN" i="1" dirty="0"/>
              <a:t>× </a:t>
            </a:r>
            <a:r>
              <a:rPr lang="en-IN" dirty="0"/>
              <a:t>280 </a:t>
            </a:r>
            <a:r>
              <a:rPr lang="en-IN" i="1" dirty="0"/>
              <a:t>× </a:t>
            </a:r>
            <a:r>
              <a:rPr lang="en-IN" dirty="0"/>
              <a:t>319 </a:t>
            </a:r>
            <a:r>
              <a:rPr lang="en-IN" i="1" dirty="0"/>
              <a:t>× </a:t>
            </a:r>
            <a:r>
              <a:rPr lang="en-IN" dirty="0"/>
              <a:t>280, or over eight billion, entries in the matrix, making convolution four billion times more efficient for representing this transformation. </a:t>
            </a:r>
          </a:p>
          <a:p>
            <a:r>
              <a:rPr lang="en-IN" dirty="0"/>
              <a:t>The straightforward matrix multiplication algorithm performs over sixteen billion floating point operations, making convolution roughly 60,000 times more efficient computationally, even though most of the entries of the matrix would be zero. </a:t>
            </a:r>
          </a:p>
          <a:p>
            <a:r>
              <a:rPr lang="en-IN" dirty="0"/>
              <a:t>If we stored only the nonzero entries of the matrix, then both matrix multiplication and convolution would require the same number of floating point operations to compute. </a:t>
            </a:r>
          </a:p>
          <a:p>
            <a:r>
              <a:rPr lang="en-IN" dirty="0"/>
              <a:t>The matrix would still need to contain 2 </a:t>
            </a:r>
            <a:r>
              <a:rPr lang="en-IN" i="1" dirty="0"/>
              <a:t>× </a:t>
            </a:r>
            <a:r>
              <a:rPr lang="en-IN" dirty="0"/>
              <a:t>319 </a:t>
            </a:r>
            <a:r>
              <a:rPr lang="en-IN" i="1" dirty="0"/>
              <a:t>× </a:t>
            </a:r>
            <a:r>
              <a:rPr lang="en-IN" dirty="0"/>
              <a:t>280 = 178</a:t>
            </a:r>
            <a:r>
              <a:rPr lang="en-IN" i="1" dirty="0"/>
              <a:t>, </a:t>
            </a:r>
            <a:r>
              <a:rPr lang="en-IN" dirty="0"/>
              <a:t>640 entries. </a:t>
            </a:r>
          </a:p>
          <a:p>
            <a:r>
              <a:rPr lang="en-IN" dirty="0"/>
              <a:t>Convolution is an extremely efficient way of describing transformations that apply the same linear transformation of a small, local region across the entire input. </a:t>
            </a:r>
          </a:p>
          <a:p>
            <a:endParaRPr lang="en-IN" dirty="0"/>
          </a:p>
        </p:txBody>
      </p:sp>
    </p:spTree>
    <p:extLst>
      <p:ext uri="{BB962C8B-B14F-4D97-AF65-F5344CB8AC3E}">
        <p14:creationId xmlns:p14="http://schemas.microsoft.com/office/powerpoint/2010/main" val="306717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Equivariant representations</a:t>
            </a:r>
          </a:p>
        </p:txBody>
      </p:sp>
      <p:sp>
        <p:nvSpPr>
          <p:cNvPr id="3" name="Content Placeholder 2"/>
          <p:cNvSpPr>
            <a:spLocks noGrp="1"/>
          </p:cNvSpPr>
          <p:nvPr>
            <p:ph idx="1"/>
          </p:nvPr>
        </p:nvSpPr>
        <p:spPr/>
        <p:txBody>
          <a:bodyPr/>
          <a:lstStyle/>
          <a:p>
            <a:r>
              <a:rPr lang="en-IN" dirty="0"/>
              <a:t>In the case of convolution, the particular form of parameter sharing causes the layer to have a property called </a:t>
            </a:r>
            <a:r>
              <a:rPr lang="en-IN" b="1" dirty="0"/>
              <a:t>equivariance </a:t>
            </a:r>
            <a:r>
              <a:rPr lang="en-IN" dirty="0"/>
              <a:t>to translation. </a:t>
            </a:r>
          </a:p>
          <a:p>
            <a:r>
              <a:rPr lang="en-IN" dirty="0"/>
              <a:t>To say a function is equivariant means that if the input changes, the output changes in the same way.</a:t>
            </a:r>
          </a:p>
          <a:p>
            <a:r>
              <a:rPr lang="en-IN" dirty="0"/>
              <a:t>Specifically, a function </a:t>
            </a:r>
            <a:r>
              <a:rPr lang="en-IN" i="1" dirty="0"/>
              <a:t>f </a:t>
            </a:r>
            <a:r>
              <a:rPr lang="en-IN" dirty="0"/>
              <a:t>(</a:t>
            </a:r>
            <a:r>
              <a:rPr lang="en-IN" i="1" dirty="0"/>
              <a:t>x</a:t>
            </a:r>
            <a:r>
              <a:rPr lang="en-IN" dirty="0"/>
              <a:t>) is equivariant to a function </a:t>
            </a:r>
            <a:r>
              <a:rPr lang="en-IN" i="1" dirty="0"/>
              <a:t>g </a:t>
            </a:r>
            <a:r>
              <a:rPr lang="en-IN" dirty="0"/>
              <a:t>if </a:t>
            </a:r>
            <a:r>
              <a:rPr lang="en-IN" i="1" dirty="0"/>
              <a:t>f</a:t>
            </a:r>
            <a:r>
              <a:rPr lang="en-IN" dirty="0"/>
              <a:t>(</a:t>
            </a:r>
            <a:r>
              <a:rPr lang="en-IN" i="1" dirty="0"/>
              <a:t>g</a:t>
            </a:r>
            <a:r>
              <a:rPr lang="en-IN" dirty="0"/>
              <a:t>(</a:t>
            </a:r>
            <a:r>
              <a:rPr lang="en-IN" i="1" dirty="0"/>
              <a:t>x</a:t>
            </a:r>
            <a:r>
              <a:rPr lang="en-IN" dirty="0"/>
              <a:t>)) = </a:t>
            </a:r>
            <a:r>
              <a:rPr lang="en-IN" i="1" dirty="0"/>
              <a:t>g</a:t>
            </a:r>
            <a:r>
              <a:rPr lang="en-IN" dirty="0"/>
              <a:t>(</a:t>
            </a:r>
            <a:r>
              <a:rPr lang="en-IN" i="1" dirty="0"/>
              <a:t>f </a:t>
            </a:r>
            <a:r>
              <a:rPr lang="en-IN" dirty="0"/>
              <a:t>(</a:t>
            </a:r>
            <a:r>
              <a:rPr lang="en-IN" i="1" dirty="0"/>
              <a:t>x</a:t>
            </a:r>
            <a:r>
              <a:rPr lang="en-IN" dirty="0"/>
              <a:t>)).</a:t>
            </a:r>
          </a:p>
          <a:p>
            <a:r>
              <a:rPr lang="en-IN" dirty="0"/>
              <a:t>In the case of convolution, if we let </a:t>
            </a:r>
            <a:r>
              <a:rPr lang="en-IN" i="1" dirty="0"/>
              <a:t>g </a:t>
            </a:r>
            <a:r>
              <a:rPr lang="en-IN" dirty="0"/>
              <a:t>be any function that translates the input, i.e., shifts it, then the convolution function is equivariant to </a:t>
            </a:r>
            <a:r>
              <a:rPr lang="en-IN" i="1" dirty="0"/>
              <a:t>g</a:t>
            </a:r>
            <a:r>
              <a:rPr lang="en-IN" dirty="0"/>
              <a:t>.</a:t>
            </a:r>
          </a:p>
        </p:txBody>
      </p:sp>
    </p:spTree>
    <p:extLst>
      <p:ext uri="{BB962C8B-B14F-4D97-AF65-F5344CB8AC3E}">
        <p14:creationId xmlns:p14="http://schemas.microsoft.com/office/powerpoint/2010/main" val="11784204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31653"/>
            <a:ext cx="10515600" cy="5245310"/>
          </a:xfrm>
        </p:spPr>
        <p:txBody>
          <a:bodyPr>
            <a:normAutofit/>
          </a:bodyPr>
          <a:lstStyle/>
          <a:p>
            <a:r>
              <a:rPr lang="en-IN" dirty="0"/>
              <a:t>When processing time series data, this means that convolution produces a sort of timeline that shows when different features appear in the input. </a:t>
            </a:r>
          </a:p>
          <a:p>
            <a:r>
              <a:rPr lang="en-IN" dirty="0"/>
              <a:t>If we move an event later in time in the input, the exact same representation of it will appear in the output, just later in time. </a:t>
            </a:r>
          </a:p>
          <a:p>
            <a:r>
              <a:rPr lang="en-IN" dirty="0"/>
              <a:t>Similarly with images, convolution creates a 2-D map of where certain features appear in the input.</a:t>
            </a:r>
          </a:p>
          <a:p>
            <a:r>
              <a:rPr lang="en-IN" dirty="0"/>
              <a:t>If we move the object in the input, its representation will move the same amount in the output. This is useful for when we know that some function of a small number of </a:t>
            </a:r>
            <a:r>
              <a:rPr lang="en-IN" dirty="0" err="1"/>
              <a:t>neighboring</a:t>
            </a:r>
            <a:r>
              <a:rPr lang="en-IN" dirty="0"/>
              <a:t> pixels is useful when applied to multiple input locations.</a:t>
            </a:r>
          </a:p>
        </p:txBody>
      </p:sp>
    </p:spTree>
    <p:extLst>
      <p:ext uri="{BB962C8B-B14F-4D97-AF65-F5344CB8AC3E}">
        <p14:creationId xmlns:p14="http://schemas.microsoft.com/office/powerpoint/2010/main" val="30402086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TotalTime>
  <Words>2257</Words>
  <Application>Microsoft Office PowerPoint</Application>
  <PresentationFormat>Widescreen</PresentationFormat>
  <Paragraphs>157</Paragraphs>
  <Slides>38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38</vt:i4>
      </vt:variant>
    </vt:vector>
  </HeadingPairs>
  <TitlesOfParts>
    <vt:vector size="50" baseType="lpstr">
      <vt:lpstr>Arial</vt:lpstr>
      <vt:lpstr>Calibri</vt:lpstr>
      <vt:lpstr>Calibri Light</vt:lpstr>
      <vt:lpstr>Cambria Math</vt:lpstr>
      <vt:lpstr>CMMI10</vt:lpstr>
      <vt:lpstr>CMMIB10</vt:lpstr>
      <vt:lpstr>CMR10</vt:lpstr>
      <vt:lpstr>CMR7</vt:lpstr>
      <vt:lpstr>ComputerModernItalic</vt:lpstr>
      <vt:lpstr>ComputerModernRoman</vt:lpstr>
      <vt:lpstr>segoe ui</vt:lpstr>
      <vt:lpstr>Office Theme</vt:lpstr>
      <vt:lpstr>Convolutional Neural Networks</vt:lpstr>
      <vt:lpstr>Neural networks</vt:lpstr>
      <vt:lpstr>Convolutional neural networks</vt:lpstr>
      <vt:lpstr>PowerPoint Presentation</vt:lpstr>
      <vt:lpstr>The Convolution Operation</vt:lpstr>
      <vt:lpstr>PowerPoint Presentation</vt:lpstr>
      <vt:lpstr>PowerPoint Presentation</vt:lpstr>
      <vt:lpstr>Tensors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Sparse interactions</vt:lpstr>
      <vt:lpstr>PowerPoint Presentation</vt:lpstr>
      <vt:lpstr>PowerPoint Presentation</vt:lpstr>
      <vt:lpstr>PowerPoint Presentation</vt:lpstr>
      <vt:lpstr>Parameter sharing</vt:lpstr>
      <vt:lpstr>PowerPoint Presentation</vt:lpstr>
      <vt:lpstr>PowerPoint Presentation</vt:lpstr>
      <vt:lpstr>PowerPoint Presentation</vt:lpstr>
      <vt:lpstr>PowerPoint Presentation</vt:lpstr>
      <vt:lpstr>PowerPoint Presentation</vt:lpstr>
      <vt:lpstr>Equivariant representations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Convolutional Neural Networks</dc:title>
  <dc:creator>MSB</dc:creator>
  <cp:lastModifiedBy>Bunni Ranadeesh</cp:lastModifiedBy>
  <cp:revision>43</cp:revision>
  <dcterms:created xsi:type="dcterms:W3CDTF">2023-11-27T15:05:17Z</dcterms:created>
  <dcterms:modified xsi:type="dcterms:W3CDTF">2025-08-20T10:12:18Z</dcterms:modified>
</cp:coreProperties>
</file>