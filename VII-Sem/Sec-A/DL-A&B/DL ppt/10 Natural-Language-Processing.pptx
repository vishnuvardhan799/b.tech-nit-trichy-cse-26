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735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43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4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1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7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8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5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3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65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28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233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9227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0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548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7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5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5399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Natural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Processing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6966" y="4751628"/>
            <a:ext cx="1895043" cy="1632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Natural</a:t>
            </a:r>
            <a:r>
              <a:rPr spc="-180" dirty="0"/>
              <a:t> </a:t>
            </a:r>
            <a:r>
              <a:rPr spc="-10" dirty="0"/>
              <a:t>Language</a:t>
            </a:r>
            <a:r>
              <a:rPr spc="-16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101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7662"/>
            <a:ext cx="7747634" cy="341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45" dirty="0">
                <a:latin typeface="Microsoft Sans Serif"/>
                <a:cs typeface="Microsoft Sans Serif"/>
              </a:rPr>
              <a:t>Natural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Language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Processing(NLP)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defined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branch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Artificial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Intelligence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30" dirty="0">
                <a:latin typeface="Microsoft Sans Serif"/>
                <a:cs typeface="Microsoft Sans Serif"/>
              </a:rPr>
              <a:t>that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provides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computers </a:t>
            </a:r>
            <a:r>
              <a:rPr sz="2400" spc="120" dirty="0">
                <a:latin typeface="Microsoft Sans Serif"/>
                <a:cs typeface="Microsoft Sans Serif"/>
              </a:rPr>
              <a:t>with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capability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understanding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150" dirty="0">
                <a:latin typeface="Microsoft Sans Serif"/>
                <a:cs typeface="Microsoft Sans Serif"/>
              </a:rPr>
              <a:t>text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spoken </a:t>
            </a:r>
            <a:r>
              <a:rPr sz="2400" dirty="0">
                <a:latin typeface="Microsoft Sans Serif"/>
                <a:cs typeface="Microsoft Sans Serif"/>
              </a:rPr>
              <a:t>words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same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way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human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being</a:t>
            </a:r>
            <a:r>
              <a:rPr sz="2400" spc="-20" dirty="0">
                <a:latin typeface="Microsoft Sans Serif"/>
                <a:cs typeface="Microsoft Sans Serif"/>
              </a:rPr>
              <a:t> can.</a:t>
            </a:r>
            <a:endParaRPr sz="2400">
              <a:latin typeface="Microsoft Sans Serif"/>
              <a:cs typeface="Microsoft Sans Serif"/>
            </a:endParaRPr>
          </a:p>
          <a:p>
            <a:pPr marL="12700" marR="115570">
              <a:lnSpc>
                <a:spcPct val="100000"/>
              </a:lnSpc>
              <a:spcBef>
                <a:spcPts val="800"/>
              </a:spcBef>
            </a:pPr>
            <a:r>
              <a:rPr sz="2400" spc="135" dirty="0">
                <a:latin typeface="Microsoft Sans Serif"/>
                <a:cs typeface="Microsoft Sans Serif"/>
              </a:rPr>
              <a:t>It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incorporates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machine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learning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models,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statistics,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and </a:t>
            </a:r>
            <a:r>
              <a:rPr sz="2400" dirty="0">
                <a:latin typeface="Microsoft Sans Serif"/>
                <a:cs typeface="Microsoft Sans Serif"/>
              </a:rPr>
              <a:t>deep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learning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models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110" dirty="0">
                <a:latin typeface="Microsoft Sans Serif"/>
                <a:cs typeface="Microsoft Sans Serif"/>
              </a:rPr>
              <a:t>into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computational </a:t>
            </a:r>
            <a:r>
              <a:rPr sz="2400" dirty="0">
                <a:latin typeface="Microsoft Sans Serif"/>
                <a:cs typeface="Microsoft Sans Serif"/>
              </a:rPr>
              <a:t>linguistics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i.e. </a:t>
            </a:r>
            <a:r>
              <a:rPr sz="2400" dirty="0">
                <a:latin typeface="Microsoft Sans Serif"/>
                <a:cs typeface="Microsoft Sans Serif"/>
              </a:rPr>
              <a:t>rule-</a:t>
            </a:r>
            <a:r>
              <a:rPr sz="2400" spc="-30" dirty="0">
                <a:latin typeface="Microsoft Sans Serif"/>
                <a:cs typeface="Microsoft Sans Serif"/>
              </a:rPr>
              <a:t>based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modeling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of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human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language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allow computers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understand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text,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spoken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words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and </a:t>
            </a:r>
            <a:r>
              <a:rPr sz="2400" dirty="0">
                <a:latin typeface="Microsoft Sans Serif"/>
                <a:cs typeface="Microsoft Sans Serif"/>
              </a:rPr>
              <a:t>understands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human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language,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intent,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sentiment.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065665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Natural</a:t>
            </a:r>
            <a:r>
              <a:rPr spc="-180" dirty="0"/>
              <a:t> </a:t>
            </a:r>
            <a:r>
              <a:rPr spc="-10" dirty="0"/>
              <a:t>Language</a:t>
            </a:r>
            <a:r>
              <a:rPr spc="-16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3629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2858" y="1519110"/>
            <a:ext cx="7736205" cy="45237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2150" dirty="0">
                <a:latin typeface="Microsoft Sans Serif"/>
                <a:cs typeface="Microsoft Sans Serif"/>
              </a:rPr>
              <a:t>Humans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communicate </a:t>
            </a:r>
            <a:r>
              <a:rPr sz="2150" spc="125" dirty="0">
                <a:latin typeface="Microsoft Sans Serif"/>
                <a:cs typeface="Microsoft Sans Serif"/>
              </a:rPr>
              <a:t>with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each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other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using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words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text.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way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that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humans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convey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information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175" dirty="0">
                <a:latin typeface="Microsoft Sans Serif"/>
                <a:cs typeface="Microsoft Sans Serif"/>
              </a:rPr>
              <a:t>to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each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other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is </a:t>
            </a:r>
            <a:r>
              <a:rPr sz="2150" dirty="0">
                <a:latin typeface="Microsoft Sans Serif"/>
                <a:cs typeface="Microsoft Sans Serif"/>
              </a:rPr>
              <a:t>called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Natural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Language.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Every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day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humans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share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-80" dirty="0">
                <a:latin typeface="Microsoft Sans Serif"/>
                <a:cs typeface="Microsoft Sans Serif"/>
              </a:rPr>
              <a:t>a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large </a:t>
            </a:r>
            <a:r>
              <a:rPr sz="2150" spc="65" dirty="0">
                <a:latin typeface="Microsoft Sans Serif"/>
                <a:cs typeface="Microsoft Sans Serif"/>
              </a:rPr>
              <a:t>quality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155" dirty="0">
                <a:latin typeface="Microsoft Sans Serif"/>
                <a:cs typeface="Microsoft Sans Serif"/>
              </a:rPr>
              <a:t>of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information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with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each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other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in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various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languages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as </a:t>
            </a:r>
            <a:r>
              <a:rPr sz="2150" dirty="0">
                <a:latin typeface="Microsoft Sans Serif"/>
                <a:cs typeface="Microsoft Sans Serif"/>
              </a:rPr>
              <a:t>speech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or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spc="95" dirty="0">
                <a:latin typeface="Microsoft Sans Serif"/>
                <a:cs typeface="Microsoft Sans Serif"/>
              </a:rPr>
              <a:t>text.</a:t>
            </a:r>
            <a:endParaRPr sz="2150">
              <a:latin typeface="Microsoft Sans Serif"/>
              <a:cs typeface="Microsoft Sans Serif"/>
            </a:endParaRPr>
          </a:p>
          <a:p>
            <a:pPr marL="12700" marR="69215">
              <a:lnSpc>
                <a:spcPct val="101600"/>
              </a:lnSpc>
              <a:spcBef>
                <a:spcPts val="670"/>
              </a:spcBef>
            </a:pPr>
            <a:r>
              <a:rPr sz="2150" dirty="0">
                <a:latin typeface="Microsoft Sans Serif"/>
                <a:cs typeface="Microsoft Sans Serif"/>
              </a:rPr>
              <a:t>However,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computers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cannot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interpret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spc="65" dirty="0">
                <a:latin typeface="Microsoft Sans Serif"/>
                <a:cs typeface="Microsoft Sans Serif"/>
              </a:rPr>
              <a:t>this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data,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which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is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spc="30" dirty="0">
                <a:latin typeface="Microsoft Sans Serif"/>
                <a:cs typeface="Microsoft Sans Serif"/>
              </a:rPr>
              <a:t>in </a:t>
            </a:r>
            <a:r>
              <a:rPr sz="2150" spc="60" dirty="0">
                <a:latin typeface="Microsoft Sans Serif"/>
                <a:cs typeface="Microsoft Sans Serif"/>
              </a:rPr>
              <a:t>natural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language,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-85" dirty="0">
                <a:latin typeface="Microsoft Sans Serif"/>
                <a:cs typeface="Microsoft Sans Serif"/>
              </a:rPr>
              <a:t>as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they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communicate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in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1s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-45" dirty="0">
                <a:latin typeface="Microsoft Sans Serif"/>
                <a:cs typeface="Microsoft Sans Serif"/>
              </a:rPr>
              <a:t>0s.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data </a:t>
            </a:r>
            <a:r>
              <a:rPr sz="2150" spc="50" dirty="0">
                <a:latin typeface="Microsoft Sans Serif"/>
                <a:cs typeface="Microsoft Sans Serif"/>
              </a:rPr>
              <a:t>produced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is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precious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dirty="0">
                <a:latin typeface="Microsoft Sans Serif"/>
                <a:cs typeface="Microsoft Sans Serif"/>
              </a:rPr>
              <a:t> </a:t>
            </a:r>
            <a:r>
              <a:rPr sz="2150" spc="135" dirty="0">
                <a:latin typeface="Microsoft Sans Serif"/>
                <a:cs typeface="Microsoft Sans Serif"/>
              </a:rPr>
              <a:t>offer</a:t>
            </a:r>
            <a:r>
              <a:rPr sz="2150" dirty="0">
                <a:latin typeface="Microsoft Sans Serif"/>
                <a:cs typeface="Microsoft Sans Serif"/>
              </a:rPr>
              <a:t> valuable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insights.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Hence, </a:t>
            </a: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need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computers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spc="180" dirty="0">
                <a:latin typeface="Microsoft Sans Serif"/>
                <a:cs typeface="Microsoft Sans Serif"/>
              </a:rPr>
              <a:t>to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be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able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175" dirty="0">
                <a:latin typeface="Microsoft Sans Serif"/>
                <a:cs typeface="Microsoft Sans Serif"/>
              </a:rPr>
              <a:t>to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understand,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emulate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and </a:t>
            </a:r>
            <a:r>
              <a:rPr sz="2150" dirty="0">
                <a:latin typeface="Microsoft Sans Serif"/>
                <a:cs typeface="Microsoft Sans Serif"/>
              </a:rPr>
              <a:t>respond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85" dirty="0">
                <a:latin typeface="Microsoft Sans Serif"/>
                <a:cs typeface="Microsoft Sans Serif"/>
              </a:rPr>
              <a:t>intelligently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spc="175" dirty="0">
                <a:latin typeface="Microsoft Sans Serif"/>
                <a:cs typeface="Microsoft Sans Serif"/>
              </a:rPr>
              <a:t>to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human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speech.</a:t>
            </a:r>
            <a:endParaRPr sz="2150">
              <a:latin typeface="Microsoft Sans Serif"/>
              <a:cs typeface="Microsoft Sans Serif"/>
            </a:endParaRPr>
          </a:p>
          <a:p>
            <a:pPr marL="12700" marR="26034">
              <a:lnSpc>
                <a:spcPct val="101600"/>
              </a:lnSpc>
              <a:spcBef>
                <a:spcPts val="670"/>
              </a:spcBef>
            </a:pPr>
            <a:r>
              <a:rPr sz="2150" spc="60" dirty="0">
                <a:latin typeface="Microsoft Sans Serif"/>
                <a:cs typeface="Microsoft Sans Serif"/>
              </a:rPr>
              <a:t>Natural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Language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Processing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or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NLP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65" dirty="0">
                <a:latin typeface="Microsoft Sans Serif"/>
                <a:cs typeface="Microsoft Sans Serif"/>
              </a:rPr>
              <a:t>refers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175" dirty="0">
                <a:latin typeface="Microsoft Sans Serif"/>
                <a:cs typeface="Microsoft Sans Serif"/>
              </a:rPr>
              <a:t>to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branch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130" dirty="0">
                <a:latin typeface="Microsoft Sans Serif"/>
                <a:cs typeface="Microsoft Sans Serif"/>
              </a:rPr>
              <a:t>of </a:t>
            </a:r>
            <a:r>
              <a:rPr sz="2150" spc="75" dirty="0">
                <a:latin typeface="Microsoft Sans Serif"/>
                <a:cs typeface="Microsoft Sans Serif"/>
              </a:rPr>
              <a:t>Artificial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Intelligence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that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gives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machines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ability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155" dirty="0">
                <a:latin typeface="Microsoft Sans Serif"/>
                <a:cs typeface="Microsoft Sans Serif"/>
              </a:rPr>
              <a:t>to </a:t>
            </a:r>
            <a:r>
              <a:rPr sz="2150" dirty="0">
                <a:latin typeface="Microsoft Sans Serif"/>
                <a:cs typeface="Microsoft Sans Serif"/>
              </a:rPr>
              <a:t>read,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45" dirty="0">
                <a:latin typeface="Microsoft Sans Serif"/>
                <a:cs typeface="Microsoft Sans Serif"/>
              </a:rPr>
              <a:t>understand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derive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meaning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from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human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languages.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253943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003901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8281" y="3808082"/>
            <a:ext cx="3051721" cy="25275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Natural</a:t>
            </a:r>
            <a:r>
              <a:rPr spc="-180" dirty="0"/>
              <a:t> </a:t>
            </a:r>
            <a:r>
              <a:rPr spc="-10" dirty="0"/>
              <a:t>Language</a:t>
            </a:r>
            <a:r>
              <a:rPr spc="-16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5080">
              <a:lnSpc>
                <a:spcPct val="100099"/>
              </a:lnSpc>
              <a:spcBef>
                <a:spcPts val="95"/>
              </a:spcBef>
            </a:pPr>
            <a:r>
              <a:rPr spc="-100" dirty="0"/>
              <a:t>NLP</a:t>
            </a:r>
            <a:r>
              <a:rPr spc="-20" dirty="0"/>
              <a:t> </a:t>
            </a:r>
            <a:r>
              <a:rPr dirty="0"/>
              <a:t>combines</a:t>
            </a:r>
            <a:r>
              <a:rPr spc="-20" dirty="0"/>
              <a:t> </a:t>
            </a:r>
            <a:r>
              <a:rPr spc="110" dirty="0"/>
              <a:t>the</a:t>
            </a:r>
            <a:r>
              <a:rPr spc="-30" dirty="0"/>
              <a:t> </a:t>
            </a:r>
            <a:r>
              <a:rPr spc="105" dirty="0"/>
              <a:t>field</a:t>
            </a:r>
            <a:r>
              <a:rPr spc="-15" dirty="0"/>
              <a:t> </a:t>
            </a:r>
            <a:r>
              <a:rPr spc="165" dirty="0"/>
              <a:t>of</a:t>
            </a:r>
            <a:r>
              <a:rPr spc="-25" dirty="0"/>
              <a:t> </a:t>
            </a:r>
            <a:r>
              <a:rPr dirty="0"/>
              <a:t>linguistics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60" dirty="0"/>
              <a:t>computer </a:t>
            </a:r>
            <a:r>
              <a:rPr spc="-35" dirty="0"/>
              <a:t>science </a:t>
            </a:r>
            <a:r>
              <a:rPr spc="190" dirty="0"/>
              <a:t>to</a:t>
            </a:r>
            <a:r>
              <a:rPr spc="-20" dirty="0"/>
              <a:t> </a:t>
            </a:r>
            <a:r>
              <a:rPr dirty="0"/>
              <a:t>decipher</a:t>
            </a:r>
            <a:r>
              <a:rPr spc="-20" dirty="0"/>
              <a:t> </a:t>
            </a:r>
            <a:r>
              <a:rPr dirty="0"/>
              <a:t>language</a:t>
            </a:r>
            <a:r>
              <a:rPr spc="-30" dirty="0"/>
              <a:t> </a:t>
            </a:r>
            <a:r>
              <a:rPr spc="80" dirty="0"/>
              <a:t>structure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guidelines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195" dirty="0"/>
              <a:t>to</a:t>
            </a:r>
            <a:r>
              <a:rPr spc="15" dirty="0"/>
              <a:t> </a:t>
            </a:r>
            <a:r>
              <a:rPr dirty="0"/>
              <a:t>make</a:t>
            </a:r>
            <a:r>
              <a:rPr spc="20" dirty="0"/>
              <a:t> </a:t>
            </a:r>
            <a:r>
              <a:rPr dirty="0"/>
              <a:t>models</a:t>
            </a:r>
            <a:r>
              <a:rPr spc="15" dirty="0"/>
              <a:t> </a:t>
            </a:r>
            <a:r>
              <a:rPr dirty="0"/>
              <a:t>which</a:t>
            </a:r>
            <a:r>
              <a:rPr spc="25" dirty="0"/>
              <a:t> </a:t>
            </a:r>
            <a:r>
              <a:rPr spc="-25" dirty="0"/>
              <a:t>can </a:t>
            </a:r>
            <a:r>
              <a:rPr dirty="0"/>
              <a:t>comprehend,</a:t>
            </a:r>
            <a:r>
              <a:rPr spc="30" dirty="0"/>
              <a:t> </a:t>
            </a:r>
            <a:r>
              <a:rPr dirty="0"/>
              <a:t>break</a:t>
            </a:r>
            <a:r>
              <a:rPr spc="30" dirty="0"/>
              <a:t> </a:t>
            </a:r>
            <a:r>
              <a:rPr spc="75" dirty="0"/>
              <a:t>down</a:t>
            </a:r>
            <a:r>
              <a:rPr spc="45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separate</a:t>
            </a:r>
            <a:r>
              <a:rPr spc="30" dirty="0"/>
              <a:t> </a:t>
            </a:r>
            <a:r>
              <a:rPr spc="40" dirty="0"/>
              <a:t>significant </a:t>
            </a:r>
            <a:r>
              <a:rPr dirty="0"/>
              <a:t>details</a:t>
            </a:r>
            <a:r>
              <a:rPr spc="-5" dirty="0"/>
              <a:t> </a:t>
            </a:r>
            <a:r>
              <a:rPr spc="135" dirty="0"/>
              <a:t>from</a:t>
            </a:r>
            <a:r>
              <a:rPr spc="-15" dirty="0"/>
              <a:t> </a:t>
            </a:r>
            <a:r>
              <a:rPr spc="160" dirty="0"/>
              <a:t>text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speech.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2969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Phases</a:t>
            </a:r>
            <a:r>
              <a:rPr spc="-110" dirty="0"/>
              <a:t> </a:t>
            </a:r>
            <a:r>
              <a:rPr spc="245" dirty="0"/>
              <a:t>of</a:t>
            </a:r>
            <a:r>
              <a:rPr spc="-114" dirty="0"/>
              <a:t> </a:t>
            </a:r>
            <a:r>
              <a:rPr spc="-75" dirty="0"/>
              <a:t>NLP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3002" y="1734121"/>
            <a:ext cx="3824998" cy="4169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Lexical</a:t>
            </a:r>
            <a:r>
              <a:rPr spc="-240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764145" cy="4296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30" dirty="0">
                <a:latin typeface="Microsoft Sans Serif"/>
                <a:cs typeface="Microsoft Sans Serif"/>
              </a:rPr>
              <a:t>first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phase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lexical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analysis/morphological </a:t>
            </a:r>
            <a:r>
              <a:rPr sz="2600" dirty="0">
                <a:latin typeface="Microsoft Sans Serif"/>
                <a:cs typeface="Microsoft Sans Serif"/>
              </a:rPr>
              <a:t>processing.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this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phase,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sentences,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paragraphs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broken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into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tokens.</a:t>
            </a:r>
            <a:endParaRPr sz="2600">
              <a:latin typeface="Microsoft Sans Serif"/>
              <a:cs typeface="Microsoft Sans Serif"/>
            </a:endParaRPr>
          </a:p>
          <a:p>
            <a:pPr marL="12700" marR="257175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latin typeface="Microsoft Sans Serif"/>
                <a:cs typeface="Microsoft Sans Serif"/>
              </a:rPr>
              <a:t>These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tokens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smallest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unit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text.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It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scans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entire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source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60" dirty="0">
                <a:latin typeface="Microsoft Sans Serif"/>
                <a:cs typeface="Microsoft Sans Serif"/>
              </a:rPr>
              <a:t>text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divides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into </a:t>
            </a:r>
            <a:r>
              <a:rPr sz="2600" spc="55" dirty="0">
                <a:latin typeface="Microsoft Sans Serif"/>
                <a:cs typeface="Microsoft Sans Serif"/>
              </a:rPr>
              <a:t>meaningful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lexemes.</a:t>
            </a:r>
            <a:endParaRPr sz="2600">
              <a:latin typeface="Microsoft Sans Serif"/>
              <a:cs typeface="Microsoft Sans Serif"/>
            </a:endParaRPr>
          </a:p>
          <a:p>
            <a:pPr marL="12700" marR="212725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latin typeface="Microsoft Sans Serif"/>
                <a:cs typeface="Microsoft Sans Serif"/>
              </a:rPr>
              <a:t>For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example,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sentence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“He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goes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195" dirty="0">
                <a:latin typeface="Microsoft Sans Serif"/>
                <a:cs typeface="Microsoft Sans Serif"/>
              </a:rPr>
              <a:t>to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college.”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is </a:t>
            </a:r>
            <a:r>
              <a:rPr sz="2600" spc="45" dirty="0">
                <a:latin typeface="Microsoft Sans Serif"/>
                <a:cs typeface="Microsoft Sans Serif"/>
              </a:rPr>
              <a:t>divided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into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[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‘He’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‘goes’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‘to’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‘college’,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‘.’]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12700" marR="207645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latin typeface="Microsoft Sans Serif"/>
                <a:cs typeface="Microsoft Sans Serif"/>
              </a:rPr>
              <a:t>There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five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tokens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sentence.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paragraph </a:t>
            </a:r>
            <a:r>
              <a:rPr sz="2600" dirty="0">
                <a:latin typeface="Microsoft Sans Serif"/>
                <a:cs typeface="Microsoft Sans Serif"/>
              </a:rPr>
              <a:t>may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divided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into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sentences.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978336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Lexical</a:t>
            </a:r>
            <a:r>
              <a:rPr spc="-240" dirty="0"/>
              <a:t> </a:t>
            </a:r>
            <a:r>
              <a:rPr spc="-25" dirty="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958" y="2602455"/>
            <a:ext cx="8013210" cy="21842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Syntactic</a:t>
            </a:r>
            <a:r>
              <a:rPr spc="5" dirty="0"/>
              <a:t> </a:t>
            </a:r>
            <a:r>
              <a:rPr spc="-10" dirty="0"/>
              <a:t>Analysis/Parsing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369809" cy="3401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second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phase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Syntactic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analysis.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this </a:t>
            </a:r>
            <a:r>
              <a:rPr sz="2600" spc="-35" dirty="0">
                <a:latin typeface="Microsoft Sans Serif"/>
                <a:cs typeface="Microsoft Sans Serif"/>
              </a:rPr>
              <a:t>phase,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sentence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checked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whether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well- </a:t>
            </a:r>
            <a:r>
              <a:rPr sz="2600" spc="100" dirty="0">
                <a:latin typeface="Microsoft Sans Serif"/>
                <a:cs typeface="Microsoft Sans Serif"/>
              </a:rPr>
              <a:t>formed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or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not.</a:t>
            </a:r>
            <a:endParaRPr sz="2600">
              <a:latin typeface="Microsoft Sans Serif"/>
              <a:cs typeface="Microsoft Sans Serif"/>
            </a:endParaRPr>
          </a:p>
          <a:p>
            <a:pPr marL="12700" marR="16510" algn="just">
              <a:lnSpc>
                <a:spcPct val="100000"/>
              </a:lnSpc>
              <a:spcBef>
                <a:spcPts val="800"/>
              </a:spcBef>
            </a:pPr>
            <a:r>
              <a:rPr sz="2600" spc="-35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word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arrangement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studied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and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05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syntactic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relationship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found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between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them.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It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checked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55" dirty="0">
                <a:latin typeface="Microsoft Sans Serif"/>
                <a:cs typeface="Microsoft Sans Serif"/>
              </a:rPr>
              <a:t>for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word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arrangements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and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grammar.</a:t>
            </a:r>
            <a:endParaRPr sz="2600">
              <a:latin typeface="Microsoft Sans Serif"/>
              <a:cs typeface="Microsoft Sans Serif"/>
            </a:endParaRPr>
          </a:p>
          <a:p>
            <a:pPr marL="12700" marR="118110" algn="just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latin typeface="Microsoft Sans Serif"/>
                <a:cs typeface="Microsoft Sans Serif"/>
              </a:rPr>
              <a:t>For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example,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sentence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“Delhi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goes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95" dirty="0">
                <a:latin typeface="Microsoft Sans Serif"/>
                <a:cs typeface="Microsoft Sans Serif"/>
              </a:rPr>
              <a:t>to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him”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is </a:t>
            </a:r>
            <a:r>
              <a:rPr sz="2600" spc="55" dirty="0">
                <a:latin typeface="Microsoft Sans Serif"/>
                <a:cs typeface="Microsoft Sans Serif"/>
              </a:rPr>
              <a:t>rejected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syntactic </a:t>
            </a:r>
            <a:r>
              <a:rPr sz="2600" spc="-10" dirty="0">
                <a:latin typeface="Microsoft Sans Serif"/>
                <a:cs typeface="Microsoft Sans Serif"/>
              </a:rPr>
              <a:t>parser.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229" dirty="0"/>
              <a:t> </a:t>
            </a:r>
            <a:r>
              <a:rPr spc="-2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729855" cy="3798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22885" algn="just">
              <a:lnSpc>
                <a:spcPct val="100200"/>
              </a:lnSpc>
              <a:spcBef>
                <a:spcPts val="9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third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phase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Semantic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Analysis.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this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phase,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sentence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checked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55" dirty="0">
                <a:latin typeface="Microsoft Sans Serif"/>
                <a:cs typeface="Microsoft Sans Serif"/>
              </a:rPr>
              <a:t>for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literal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meaning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of </a:t>
            </a:r>
            <a:r>
              <a:rPr sz="2600" spc="-40" dirty="0">
                <a:latin typeface="Microsoft Sans Serif"/>
                <a:cs typeface="Microsoft Sans Serif"/>
              </a:rPr>
              <a:t>each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word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their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arrangement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together.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latin typeface="Microsoft Sans Serif"/>
                <a:cs typeface="Microsoft Sans Serif"/>
              </a:rPr>
              <a:t>For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example,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sentence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“I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ate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hot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ice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cream”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will </a:t>
            </a:r>
            <a:r>
              <a:rPr sz="2600" spc="114" dirty="0">
                <a:latin typeface="Microsoft Sans Serif"/>
                <a:cs typeface="Microsoft Sans Serif"/>
              </a:rPr>
              <a:t>get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rejected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semantic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analyzer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because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it </a:t>
            </a:r>
            <a:r>
              <a:rPr sz="2600" spc="50" dirty="0">
                <a:latin typeface="Microsoft Sans Serif"/>
                <a:cs typeface="Microsoft Sans Serif"/>
              </a:rPr>
              <a:t>doesn’t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make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sense.</a:t>
            </a:r>
            <a:endParaRPr sz="2600">
              <a:latin typeface="Microsoft Sans Serif"/>
              <a:cs typeface="Microsoft Sans Serif"/>
            </a:endParaRPr>
          </a:p>
          <a:p>
            <a:pPr marL="12700" marR="200660">
              <a:lnSpc>
                <a:spcPct val="100000"/>
              </a:lnSpc>
              <a:spcBef>
                <a:spcPts val="810"/>
              </a:spcBef>
            </a:pPr>
            <a:r>
              <a:rPr sz="2600" spc="-105" dirty="0">
                <a:latin typeface="Microsoft Sans Serif"/>
                <a:cs typeface="Microsoft Sans Serif"/>
              </a:rPr>
              <a:t>E.g..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“colorless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green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idea.”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This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would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rejected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Symantec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analysis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colorless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Here;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green </a:t>
            </a:r>
            <a:r>
              <a:rPr sz="2600" spc="50" dirty="0">
                <a:latin typeface="Microsoft Sans Serif"/>
                <a:cs typeface="Microsoft Sans Serif"/>
              </a:rPr>
              <a:t>doesn’t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make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any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sense.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Discourse</a:t>
            </a:r>
            <a:r>
              <a:rPr spc="-165" dirty="0"/>
              <a:t> </a:t>
            </a:r>
            <a:r>
              <a:rPr spc="105" dirty="0"/>
              <a:t>Integration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102870">
              <a:lnSpc>
                <a:spcPct val="100099"/>
              </a:lnSpc>
              <a:spcBef>
                <a:spcPts val="95"/>
              </a:spcBef>
            </a:pPr>
            <a:r>
              <a:rPr spc="-10" dirty="0"/>
              <a:t>The</a:t>
            </a:r>
            <a:r>
              <a:rPr spc="-105" dirty="0"/>
              <a:t> </a:t>
            </a:r>
            <a:r>
              <a:rPr spc="140" dirty="0"/>
              <a:t>fourth</a:t>
            </a:r>
            <a:r>
              <a:rPr spc="-110" dirty="0"/>
              <a:t> </a:t>
            </a:r>
            <a:r>
              <a:rPr spc="-25" dirty="0"/>
              <a:t>phase</a:t>
            </a:r>
            <a:r>
              <a:rPr spc="-120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dirty="0"/>
              <a:t>discourse</a:t>
            </a:r>
            <a:r>
              <a:rPr spc="-114" dirty="0"/>
              <a:t> </a:t>
            </a:r>
            <a:r>
              <a:rPr spc="70" dirty="0"/>
              <a:t>integration.</a:t>
            </a:r>
            <a:r>
              <a:rPr spc="-114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45" dirty="0"/>
              <a:t>this </a:t>
            </a:r>
            <a:r>
              <a:rPr spc="-35" dirty="0"/>
              <a:t>phase,</a:t>
            </a:r>
            <a:r>
              <a:rPr spc="-100" dirty="0"/>
              <a:t> </a:t>
            </a:r>
            <a:r>
              <a:rPr spc="110" dirty="0"/>
              <a:t>the</a:t>
            </a:r>
            <a:r>
              <a:rPr spc="-105" dirty="0"/>
              <a:t> </a:t>
            </a:r>
            <a:r>
              <a:rPr spc="55" dirty="0"/>
              <a:t>impact</a:t>
            </a:r>
            <a:r>
              <a:rPr spc="-90" dirty="0"/>
              <a:t> </a:t>
            </a:r>
            <a:r>
              <a:rPr spc="165" dirty="0"/>
              <a:t>of</a:t>
            </a:r>
            <a:r>
              <a:rPr spc="-95" dirty="0"/>
              <a:t> </a:t>
            </a:r>
            <a:r>
              <a:rPr spc="110" dirty="0"/>
              <a:t>the</a:t>
            </a:r>
            <a:r>
              <a:rPr spc="-90" dirty="0"/>
              <a:t> </a:t>
            </a:r>
            <a:r>
              <a:rPr dirty="0"/>
              <a:t>sentences</a:t>
            </a:r>
            <a:r>
              <a:rPr spc="-85" dirty="0"/>
              <a:t> </a:t>
            </a:r>
            <a:r>
              <a:rPr spc="90" dirty="0"/>
              <a:t>before</a:t>
            </a:r>
            <a:r>
              <a:rPr spc="-100" dirty="0"/>
              <a:t> </a:t>
            </a:r>
            <a:r>
              <a:rPr spc="-60" dirty="0"/>
              <a:t>a </a:t>
            </a:r>
            <a:r>
              <a:rPr spc="55" dirty="0"/>
              <a:t>particular</a:t>
            </a:r>
            <a:r>
              <a:rPr spc="-65" dirty="0"/>
              <a:t> </a:t>
            </a:r>
            <a:r>
              <a:rPr dirty="0"/>
              <a:t>sentence</a:t>
            </a:r>
            <a:r>
              <a:rPr spc="-6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114" dirty="0"/>
              <a:t>the</a:t>
            </a:r>
            <a:r>
              <a:rPr spc="-65" dirty="0"/>
              <a:t> </a:t>
            </a:r>
            <a:r>
              <a:rPr spc="125" dirty="0"/>
              <a:t>effect</a:t>
            </a:r>
            <a:r>
              <a:rPr spc="-60" dirty="0"/>
              <a:t> </a:t>
            </a:r>
            <a:r>
              <a:rPr spc="165" dirty="0"/>
              <a:t>of</a:t>
            </a:r>
            <a:r>
              <a:rPr spc="-60" dirty="0"/>
              <a:t> </a:t>
            </a:r>
            <a:r>
              <a:rPr spc="110" dirty="0"/>
              <a:t>the</a:t>
            </a:r>
            <a:r>
              <a:rPr spc="-70" dirty="0"/>
              <a:t> </a:t>
            </a:r>
            <a:r>
              <a:rPr spc="70" dirty="0"/>
              <a:t>current </a:t>
            </a:r>
            <a:r>
              <a:rPr dirty="0"/>
              <a:t>sentence</a:t>
            </a:r>
            <a:r>
              <a:rPr spc="-20" dirty="0"/>
              <a:t> </a:t>
            </a:r>
            <a:r>
              <a:rPr spc="50" dirty="0"/>
              <a:t>on</a:t>
            </a:r>
            <a:r>
              <a:rPr dirty="0"/>
              <a:t> </a:t>
            </a:r>
            <a:r>
              <a:rPr spc="110" dirty="0"/>
              <a:t>the</a:t>
            </a:r>
            <a:r>
              <a:rPr spc="-10" dirty="0"/>
              <a:t> </a:t>
            </a:r>
            <a:r>
              <a:rPr dirty="0"/>
              <a:t>upcoming</a:t>
            </a:r>
            <a:r>
              <a:rPr spc="-10" dirty="0"/>
              <a:t> </a:t>
            </a:r>
            <a:r>
              <a:rPr dirty="0"/>
              <a:t>sentences</a:t>
            </a:r>
            <a:r>
              <a:rPr spc="-10" dirty="0"/>
              <a:t> </a:t>
            </a:r>
            <a:r>
              <a:rPr spc="-25" dirty="0"/>
              <a:t>is </a:t>
            </a:r>
            <a:r>
              <a:rPr spc="50" dirty="0"/>
              <a:t>determined.</a:t>
            </a:r>
          </a:p>
          <a:p>
            <a:pPr marL="20320" marR="5080">
              <a:lnSpc>
                <a:spcPct val="100000"/>
              </a:lnSpc>
              <a:spcBef>
                <a:spcPts val="810"/>
              </a:spcBef>
            </a:pPr>
            <a:r>
              <a:rPr dirty="0"/>
              <a:t>For</a:t>
            </a:r>
            <a:r>
              <a:rPr spc="-55" dirty="0"/>
              <a:t> </a:t>
            </a:r>
            <a:r>
              <a:rPr dirty="0"/>
              <a:t>example,</a:t>
            </a:r>
            <a:r>
              <a:rPr spc="-70" dirty="0"/>
              <a:t> </a:t>
            </a:r>
            <a:r>
              <a:rPr spc="114" dirty="0"/>
              <a:t>the</a:t>
            </a:r>
            <a:r>
              <a:rPr spc="-60" dirty="0"/>
              <a:t> </a:t>
            </a:r>
            <a:r>
              <a:rPr spc="100" dirty="0"/>
              <a:t>word</a:t>
            </a:r>
            <a:r>
              <a:rPr spc="-55" dirty="0"/>
              <a:t> </a:t>
            </a:r>
            <a:r>
              <a:rPr spc="160" dirty="0"/>
              <a:t>“that”</a:t>
            </a:r>
            <a:r>
              <a:rPr spc="-65" dirty="0"/>
              <a:t> </a:t>
            </a:r>
            <a:r>
              <a:rPr spc="50" dirty="0"/>
              <a:t>in</a:t>
            </a:r>
            <a:r>
              <a:rPr spc="-45" dirty="0"/>
              <a:t> </a:t>
            </a:r>
            <a:r>
              <a:rPr spc="110" dirty="0"/>
              <a:t>the</a:t>
            </a:r>
            <a:r>
              <a:rPr spc="-60" dirty="0"/>
              <a:t> </a:t>
            </a:r>
            <a:r>
              <a:rPr dirty="0"/>
              <a:t>sentence</a:t>
            </a:r>
            <a:r>
              <a:rPr spc="-60" dirty="0"/>
              <a:t> </a:t>
            </a:r>
            <a:r>
              <a:rPr spc="-25" dirty="0"/>
              <a:t>“He </a:t>
            </a:r>
            <a:r>
              <a:rPr spc="70" dirty="0"/>
              <a:t>wanted</a:t>
            </a:r>
            <a:r>
              <a:rPr spc="-70" dirty="0"/>
              <a:t> </a:t>
            </a:r>
            <a:r>
              <a:rPr spc="150" dirty="0"/>
              <a:t>that”</a:t>
            </a:r>
            <a:r>
              <a:rPr spc="-70" dirty="0"/>
              <a:t> </a:t>
            </a:r>
            <a:r>
              <a:rPr dirty="0"/>
              <a:t>depends</a:t>
            </a:r>
            <a:r>
              <a:rPr spc="-70" dirty="0"/>
              <a:t> </a:t>
            </a:r>
            <a:r>
              <a:rPr spc="50" dirty="0"/>
              <a:t>upon</a:t>
            </a:r>
            <a:r>
              <a:rPr spc="-55" dirty="0"/>
              <a:t> </a:t>
            </a:r>
            <a:r>
              <a:rPr spc="114" dirty="0"/>
              <a:t>the</a:t>
            </a:r>
            <a:r>
              <a:rPr spc="-70" dirty="0"/>
              <a:t> </a:t>
            </a:r>
            <a:r>
              <a:rPr spc="95" dirty="0"/>
              <a:t>prior</a:t>
            </a:r>
            <a:r>
              <a:rPr spc="-60" dirty="0"/>
              <a:t> </a:t>
            </a:r>
            <a:r>
              <a:rPr spc="-10" dirty="0"/>
              <a:t>discourse </a:t>
            </a:r>
            <a:r>
              <a:rPr spc="60" dirty="0"/>
              <a:t>context.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58513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391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Pragmatic</a:t>
            </a:r>
            <a:r>
              <a:rPr spc="7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77470">
              <a:lnSpc>
                <a:spcPct val="100099"/>
              </a:lnSpc>
              <a:spcBef>
                <a:spcPts val="95"/>
              </a:spcBef>
            </a:pPr>
            <a:r>
              <a:rPr spc="-10" dirty="0"/>
              <a:t>The</a:t>
            </a:r>
            <a:r>
              <a:rPr spc="-60" dirty="0"/>
              <a:t> </a:t>
            </a:r>
            <a:r>
              <a:rPr dirty="0"/>
              <a:t>last</a:t>
            </a:r>
            <a:r>
              <a:rPr spc="-60" dirty="0"/>
              <a:t> </a:t>
            </a:r>
            <a:r>
              <a:rPr spc="-25" dirty="0"/>
              <a:t>phase</a:t>
            </a:r>
            <a:r>
              <a:rPr spc="-65" dirty="0"/>
              <a:t> </a:t>
            </a:r>
            <a:r>
              <a:rPr spc="170" dirty="0"/>
              <a:t>of</a:t>
            </a:r>
            <a:r>
              <a:rPr spc="-60" dirty="0"/>
              <a:t> </a:t>
            </a:r>
            <a:r>
              <a:rPr spc="5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6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25" dirty="0"/>
              <a:t>is </a:t>
            </a:r>
            <a:r>
              <a:rPr dirty="0"/>
              <a:t>Pragmatic</a:t>
            </a:r>
            <a:r>
              <a:rPr spc="-45" dirty="0"/>
              <a:t> </a:t>
            </a:r>
            <a:r>
              <a:rPr spc="-40" dirty="0"/>
              <a:t>analysis.</a:t>
            </a:r>
            <a:r>
              <a:rPr spc="-55" dirty="0"/>
              <a:t> </a:t>
            </a:r>
            <a:r>
              <a:rPr dirty="0"/>
              <a:t>Sometimes</a:t>
            </a:r>
            <a:r>
              <a:rPr spc="-30" dirty="0"/>
              <a:t> </a:t>
            </a:r>
            <a:r>
              <a:rPr spc="110" dirty="0"/>
              <a:t>the</a:t>
            </a:r>
            <a:r>
              <a:rPr spc="-45" dirty="0"/>
              <a:t> </a:t>
            </a:r>
            <a:r>
              <a:rPr spc="-10" dirty="0"/>
              <a:t>discourse </a:t>
            </a:r>
            <a:r>
              <a:rPr spc="85" dirty="0"/>
              <a:t>integration</a:t>
            </a:r>
            <a:r>
              <a:rPr spc="-35" dirty="0"/>
              <a:t> </a:t>
            </a:r>
            <a:r>
              <a:rPr spc="-25" dirty="0"/>
              <a:t>phase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pragmatic</a:t>
            </a:r>
            <a:r>
              <a:rPr spc="-45" dirty="0"/>
              <a:t> </a:t>
            </a:r>
            <a:r>
              <a:rPr spc="-30" dirty="0"/>
              <a:t>analysis</a:t>
            </a:r>
            <a:r>
              <a:rPr spc="-35" dirty="0"/>
              <a:t> </a:t>
            </a:r>
            <a:r>
              <a:rPr spc="-25" dirty="0"/>
              <a:t>phase</a:t>
            </a:r>
            <a:r>
              <a:rPr spc="-40" dirty="0"/>
              <a:t> </a:t>
            </a:r>
            <a:r>
              <a:rPr spc="-25" dirty="0"/>
              <a:t>are </a:t>
            </a:r>
            <a:r>
              <a:rPr spc="-10" dirty="0"/>
              <a:t>combined.</a:t>
            </a:r>
          </a:p>
          <a:p>
            <a:pPr marL="20320" marR="1052195">
              <a:lnSpc>
                <a:spcPct val="100000"/>
              </a:lnSpc>
              <a:spcBef>
                <a:spcPts val="800"/>
              </a:spcBef>
            </a:pPr>
            <a:r>
              <a:rPr spc="-10" dirty="0"/>
              <a:t>The</a:t>
            </a:r>
            <a:r>
              <a:rPr spc="-60" dirty="0"/>
              <a:t> </a:t>
            </a:r>
            <a:r>
              <a:rPr dirty="0"/>
              <a:t>actual</a:t>
            </a:r>
            <a:r>
              <a:rPr spc="-65" dirty="0"/>
              <a:t> </a:t>
            </a:r>
            <a:r>
              <a:rPr spc="125" dirty="0"/>
              <a:t>effect</a:t>
            </a:r>
            <a:r>
              <a:rPr spc="-60" dirty="0"/>
              <a:t> </a:t>
            </a:r>
            <a:r>
              <a:rPr spc="165" dirty="0"/>
              <a:t>of</a:t>
            </a:r>
            <a:r>
              <a:rPr spc="-60" dirty="0"/>
              <a:t> </a:t>
            </a:r>
            <a:r>
              <a:rPr spc="110" dirty="0"/>
              <a:t>the</a:t>
            </a:r>
            <a:r>
              <a:rPr spc="-70" dirty="0"/>
              <a:t> </a:t>
            </a:r>
            <a:r>
              <a:rPr spc="160" dirty="0"/>
              <a:t>text</a:t>
            </a:r>
            <a:r>
              <a:rPr spc="-6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discovered</a:t>
            </a:r>
            <a:r>
              <a:rPr spc="-55" dirty="0"/>
              <a:t> </a:t>
            </a:r>
            <a:r>
              <a:rPr spc="-25" dirty="0"/>
              <a:t>by </a:t>
            </a:r>
            <a:r>
              <a:rPr dirty="0"/>
              <a:t>applying</a:t>
            </a:r>
            <a:r>
              <a:rPr spc="-20" dirty="0"/>
              <a:t> </a:t>
            </a:r>
            <a:r>
              <a:rPr spc="110" dirty="0"/>
              <a:t>the</a:t>
            </a:r>
            <a:r>
              <a:rPr spc="-15" dirty="0"/>
              <a:t> </a:t>
            </a:r>
            <a:r>
              <a:rPr spc="55" dirty="0"/>
              <a:t>set</a:t>
            </a:r>
            <a:r>
              <a:rPr spc="-20" dirty="0"/>
              <a:t> </a:t>
            </a:r>
            <a:r>
              <a:rPr spc="170" dirty="0"/>
              <a:t>of</a:t>
            </a:r>
            <a:r>
              <a:rPr spc="-10" dirty="0"/>
              <a:t> </a:t>
            </a:r>
            <a:r>
              <a:rPr dirty="0"/>
              <a:t>rules</a:t>
            </a:r>
            <a:r>
              <a:rPr spc="-15" dirty="0"/>
              <a:t> </a:t>
            </a:r>
            <a:r>
              <a:rPr spc="135" dirty="0"/>
              <a:t>that</a:t>
            </a:r>
            <a:r>
              <a:rPr spc="-20" dirty="0"/>
              <a:t> </a:t>
            </a:r>
            <a:r>
              <a:rPr spc="-10" dirty="0"/>
              <a:t>characterize </a:t>
            </a:r>
            <a:r>
              <a:rPr spc="45" dirty="0"/>
              <a:t>cooperative</a:t>
            </a:r>
            <a:r>
              <a:rPr spc="-65" dirty="0"/>
              <a:t> </a:t>
            </a:r>
            <a:r>
              <a:rPr spc="-10" dirty="0"/>
              <a:t>dialogues.</a:t>
            </a:r>
          </a:p>
          <a:p>
            <a:pPr marL="20320" marR="5080">
              <a:lnSpc>
                <a:spcPct val="100000"/>
              </a:lnSpc>
              <a:spcBef>
                <a:spcPts val="810"/>
              </a:spcBef>
            </a:pPr>
            <a:r>
              <a:rPr spc="-105" dirty="0"/>
              <a:t>E.g.,</a:t>
            </a:r>
            <a:r>
              <a:rPr spc="-10" dirty="0"/>
              <a:t> </a:t>
            </a:r>
            <a:r>
              <a:rPr dirty="0"/>
              <a:t>“close</a:t>
            </a:r>
            <a:r>
              <a:rPr spc="10" dirty="0"/>
              <a:t> </a:t>
            </a:r>
            <a:r>
              <a:rPr spc="110" dirty="0"/>
              <a:t>the</a:t>
            </a:r>
            <a:r>
              <a:rPr spc="5" dirty="0"/>
              <a:t> </a:t>
            </a:r>
            <a:r>
              <a:rPr dirty="0"/>
              <a:t>window?”</a:t>
            </a:r>
            <a:r>
              <a:rPr spc="10" dirty="0"/>
              <a:t> </a:t>
            </a:r>
            <a:r>
              <a:rPr dirty="0"/>
              <a:t>should</a:t>
            </a:r>
            <a:r>
              <a:rPr spc="20" dirty="0"/>
              <a:t> </a:t>
            </a:r>
            <a:r>
              <a:rPr dirty="0"/>
              <a:t>be </a:t>
            </a:r>
            <a:r>
              <a:rPr spc="100" dirty="0"/>
              <a:t>interpreted</a:t>
            </a:r>
            <a:r>
              <a:rPr spc="20" dirty="0"/>
              <a:t> </a:t>
            </a:r>
            <a:r>
              <a:rPr spc="-130" dirty="0"/>
              <a:t>as</a:t>
            </a:r>
            <a:r>
              <a:rPr spc="15" dirty="0"/>
              <a:t> </a:t>
            </a:r>
            <a:r>
              <a:rPr spc="-50" dirty="0"/>
              <a:t>a </a:t>
            </a:r>
            <a:r>
              <a:rPr spc="55" dirty="0"/>
              <a:t>request</a:t>
            </a:r>
            <a:r>
              <a:rPr spc="-45" dirty="0"/>
              <a:t> </a:t>
            </a:r>
            <a:r>
              <a:rPr dirty="0"/>
              <a:t>instead</a:t>
            </a:r>
            <a:r>
              <a:rPr spc="-35" dirty="0"/>
              <a:t> </a:t>
            </a:r>
            <a:r>
              <a:rPr spc="165" dirty="0"/>
              <a:t>of</a:t>
            </a:r>
            <a:r>
              <a:rPr spc="-4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spc="40" dirty="0"/>
              <a:t>order.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1891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48081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NLP</a:t>
            </a:r>
            <a:r>
              <a:rPr spc="-110" dirty="0"/>
              <a:t> </a:t>
            </a:r>
            <a:r>
              <a:rPr spc="9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3840">
              <a:lnSpc>
                <a:spcPct val="100000"/>
              </a:lnSpc>
              <a:spcBef>
                <a:spcPts val="100"/>
              </a:spcBef>
            </a:pPr>
            <a:r>
              <a:rPr sz="2550" dirty="0"/>
              <a:t>Below,</a:t>
            </a:r>
            <a:r>
              <a:rPr sz="2550" spc="-40" dirty="0"/>
              <a:t> </a:t>
            </a:r>
            <a:r>
              <a:rPr sz="2550" dirty="0"/>
              <a:t>given</a:t>
            </a:r>
            <a:r>
              <a:rPr sz="2550" spc="-45" dirty="0"/>
              <a:t> </a:t>
            </a:r>
            <a:r>
              <a:rPr sz="2550" dirty="0"/>
              <a:t>are</a:t>
            </a:r>
            <a:r>
              <a:rPr sz="2550" spc="-40" dirty="0"/>
              <a:t> </a:t>
            </a:r>
            <a:r>
              <a:rPr sz="2550" spc="60" dirty="0"/>
              <a:t>popular</a:t>
            </a:r>
            <a:r>
              <a:rPr sz="2550" spc="-40" dirty="0"/>
              <a:t> </a:t>
            </a:r>
            <a:r>
              <a:rPr sz="2550" spc="60" dirty="0"/>
              <a:t>methods</a:t>
            </a:r>
            <a:r>
              <a:rPr sz="2550" spc="-40" dirty="0"/>
              <a:t> </a:t>
            </a:r>
            <a:r>
              <a:rPr sz="2550" dirty="0"/>
              <a:t>used</a:t>
            </a:r>
            <a:r>
              <a:rPr sz="2550" spc="-45" dirty="0"/>
              <a:t> </a:t>
            </a:r>
            <a:r>
              <a:rPr sz="2550" spc="160" dirty="0"/>
              <a:t>for</a:t>
            </a:r>
            <a:r>
              <a:rPr sz="2550" spc="-40" dirty="0"/>
              <a:t> </a:t>
            </a:r>
            <a:r>
              <a:rPr sz="2550" spc="45" dirty="0"/>
              <a:t>Natural </a:t>
            </a:r>
            <a:r>
              <a:rPr sz="2550" dirty="0"/>
              <a:t>Learning</a:t>
            </a:r>
            <a:r>
              <a:rPr sz="2550" spc="30" dirty="0"/>
              <a:t> </a:t>
            </a:r>
            <a:r>
              <a:rPr sz="2550" spc="-10" dirty="0"/>
              <a:t>Process:</a:t>
            </a:r>
            <a:endParaRPr sz="2550"/>
          </a:p>
          <a:p>
            <a:pPr marL="404495" marR="250190" indent="-279400">
              <a:lnSpc>
                <a:spcPct val="100099"/>
              </a:lnSpc>
              <a:spcBef>
                <a:spcPts val="685"/>
              </a:spcBef>
            </a:pPr>
            <a:r>
              <a:rPr sz="3825" baseline="3267" dirty="0">
                <a:solidFill>
                  <a:srgbClr val="6697CC"/>
                </a:solidFill>
                <a:latin typeface="Arial MT"/>
                <a:cs typeface="Arial MT"/>
              </a:rPr>
              <a:t>–</a:t>
            </a:r>
            <a:r>
              <a:rPr sz="3825" spc="284" baseline="3267" dirty="0">
                <a:solidFill>
                  <a:srgbClr val="6697CC"/>
                </a:solidFill>
                <a:latin typeface="Arial MT"/>
                <a:cs typeface="Arial MT"/>
              </a:rPr>
              <a:t> </a:t>
            </a:r>
            <a:r>
              <a:rPr sz="2550" dirty="0"/>
              <a:t>Machine</a:t>
            </a:r>
            <a:r>
              <a:rPr sz="2550" spc="-20" dirty="0"/>
              <a:t> </a:t>
            </a:r>
            <a:r>
              <a:rPr sz="2550" dirty="0"/>
              <a:t>learning:</a:t>
            </a:r>
            <a:r>
              <a:rPr sz="2550" spc="-10" dirty="0"/>
              <a:t> The</a:t>
            </a:r>
            <a:r>
              <a:rPr sz="2550" spc="-5" dirty="0"/>
              <a:t> </a:t>
            </a:r>
            <a:r>
              <a:rPr sz="2550" dirty="0"/>
              <a:t>learning </a:t>
            </a:r>
            <a:r>
              <a:rPr sz="2550" spc="75" dirty="0"/>
              <a:t>nlp</a:t>
            </a:r>
            <a:r>
              <a:rPr sz="2550" spc="-10" dirty="0"/>
              <a:t> procedures </a:t>
            </a:r>
            <a:r>
              <a:rPr sz="2550" dirty="0"/>
              <a:t>used</a:t>
            </a:r>
            <a:r>
              <a:rPr sz="2550" spc="-45" dirty="0"/>
              <a:t> </a:t>
            </a:r>
            <a:r>
              <a:rPr sz="2550" spc="60" dirty="0"/>
              <a:t>during</a:t>
            </a:r>
            <a:r>
              <a:rPr sz="2550" spc="-45" dirty="0"/>
              <a:t> </a:t>
            </a:r>
            <a:r>
              <a:rPr sz="2550" dirty="0"/>
              <a:t>machine</a:t>
            </a:r>
            <a:r>
              <a:rPr sz="2550" spc="-40" dirty="0"/>
              <a:t> </a:t>
            </a:r>
            <a:r>
              <a:rPr sz="2550" dirty="0"/>
              <a:t>learning.</a:t>
            </a:r>
            <a:r>
              <a:rPr sz="2550" spc="-35" dirty="0"/>
              <a:t> </a:t>
            </a:r>
            <a:r>
              <a:rPr sz="2550" spc="130" dirty="0"/>
              <a:t>It</a:t>
            </a:r>
            <a:r>
              <a:rPr sz="2550" spc="-40" dirty="0"/>
              <a:t> </a:t>
            </a:r>
            <a:r>
              <a:rPr sz="2550" spc="40" dirty="0"/>
              <a:t>automatically </a:t>
            </a:r>
            <a:r>
              <a:rPr sz="2550" dirty="0"/>
              <a:t>focuses</a:t>
            </a:r>
            <a:r>
              <a:rPr sz="2550" spc="-50" dirty="0"/>
              <a:t> </a:t>
            </a:r>
            <a:r>
              <a:rPr sz="2550" spc="60" dirty="0"/>
              <a:t>on</a:t>
            </a:r>
            <a:r>
              <a:rPr sz="2550" spc="-45" dirty="0"/>
              <a:t> </a:t>
            </a:r>
            <a:r>
              <a:rPr sz="2550" spc="114" dirty="0"/>
              <a:t>the</a:t>
            </a:r>
            <a:r>
              <a:rPr sz="2550" spc="-45" dirty="0"/>
              <a:t> </a:t>
            </a:r>
            <a:r>
              <a:rPr sz="2550" spc="75" dirty="0"/>
              <a:t>most</a:t>
            </a:r>
            <a:r>
              <a:rPr sz="2550" spc="-50" dirty="0"/>
              <a:t> </a:t>
            </a:r>
            <a:r>
              <a:rPr sz="2550" dirty="0"/>
              <a:t>common</a:t>
            </a:r>
            <a:r>
              <a:rPr sz="2550" spc="-50" dirty="0"/>
              <a:t> </a:t>
            </a:r>
            <a:r>
              <a:rPr sz="2550" spc="-95" dirty="0"/>
              <a:t>cases.</a:t>
            </a:r>
            <a:r>
              <a:rPr sz="2550" spc="-55" dirty="0"/>
              <a:t> </a:t>
            </a:r>
            <a:r>
              <a:rPr sz="2550" spc="-150" dirty="0"/>
              <a:t>So</a:t>
            </a:r>
            <a:r>
              <a:rPr sz="2550" spc="-45" dirty="0"/>
              <a:t> </a:t>
            </a:r>
            <a:r>
              <a:rPr sz="2550" spc="50" dirty="0"/>
              <a:t>when</a:t>
            </a:r>
            <a:r>
              <a:rPr sz="2550" spc="-60" dirty="0"/>
              <a:t> </a:t>
            </a:r>
            <a:r>
              <a:rPr sz="2550" spc="45" dirty="0"/>
              <a:t>we </a:t>
            </a:r>
            <a:r>
              <a:rPr sz="2550" spc="120" dirty="0"/>
              <a:t>write</a:t>
            </a:r>
            <a:r>
              <a:rPr sz="2550" spc="-80" dirty="0"/>
              <a:t> </a:t>
            </a:r>
            <a:r>
              <a:rPr sz="2550" dirty="0"/>
              <a:t>rules</a:t>
            </a:r>
            <a:r>
              <a:rPr sz="2550" spc="-70" dirty="0"/>
              <a:t> </a:t>
            </a:r>
            <a:r>
              <a:rPr sz="2550" dirty="0"/>
              <a:t>by</a:t>
            </a:r>
            <a:r>
              <a:rPr sz="2550" spc="-75" dirty="0"/>
              <a:t> </a:t>
            </a:r>
            <a:r>
              <a:rPr sz="2550" dirty="0"/>
              <a:t>hand,</a:t>
            </a:r>
            <a:r>
              <a:rPr sz="2550" spc="-80" dirty="0"/>
              <a:t> </a:t>
            </a:r>
            <a:r>
              <a:rPr sz="2550" spc="175" dirty="0"/>
              <a:t>it</a:t>
            </a:r>
            <a:r>
              <a:rPr sz="2550" spc="-70" dirty="0"/>
              <a:t> </a:t>
            </a:r>
            <a:r>
              <a:rPr sz="2550" spc="-10" dirty="0"/>
              <a:t>is</a:t>
            </a:r>
            <a:r>
              <a:rPr sz="2550" spc="-75" dirty="0"/>
              <a:t> </a:t>
            </a:r>
            <a:r>
              <a:rPr sz="2550" spc="135" dirty="0"/>
              <a:t>often</a:t>
            </a:r>
            <a:r>
              <a:rPr sz="2550" spc="-70" dirty="0"/>
              <a:t> </a:t>
            </a:r>
            <a:r>
              <a:rPr sz="2550" spc="140" dirty="0"/>
              <a:t>not</a:t>
            </a:r>
            <a:r>
              <a:rPr sz="2550" spc="-75" dirty="0"/>
              <a:t> </a:t>
            </a:r>
            <a:r>
              <a:rPr sz="2550" spc="65" dirty="0"/>
              <a:t>correct</a:t>
            </a:r>
            <a:r>
              <a:rPr sz="2550" spc="-80" dirty="0"/>
              <a:t> </a:t>
            </a:r>
            <a:r>
              <a:rPr sz="2550" spc="110" dirty="0"/>
              <a:t>at</a:t>
            </a:r>
            <a:r>
              <a:rPr sz="2550" spc="-70" dirty="0"/>
              <a:t> </a:t>
            </a:r>
            <a:r>
              <a:rPr sz="2550" spc="-25" dirty="0"/>
              <a:t>all </a:t>
            </a:r>
            <a:r>
              <a:rPr sz="2550" dirty="0"/>
              <a:t>concerned</a:t>
            </a:r>
            <a:r>
              <a:rPr sz="2550" spc="-5" dirty="0"/>
              <a:t> </a:t>
            </a:r>
            <a:r>
              <a:rPr sz="2550" spc="85" dirty="0"/>
              <a:t>about</a:t>
            </a:r>
            <a:r>
              <a:rPr sz="2550" spc="5" dirty="0"/>
              <a:t> </a:t>
            </a:r>
            <a:r>
              <a:rPr sz="2550" dirty="0"/>
              <a:t>human</a:t>
            </a:r>
            <a:r>
              <a:rPr sz="2550" spc="-5" dirty="0"/>
              <a:t> </a:t>
            </a:r>
            <a:r>
              <a:rPr sz="2550" spc="-10" dirty="0"/>
              <a:t>errors.</a:t>
            </a:r>
            <a:endParaRPr sz="2550">
              <a:latin typeface="Arial MT"/>
              <a:cs typeface="Arial MT"/>
            </a:endParaRPr>
          </a:p>
          <a:p>
            <a:pPr marL="404495" marR="5080">
              <a:lnSpc>
                <a:spcPct val="100000"/>
              </a:lnSpc>
              <a:spcBef>
                <a:spcPts val="680"/>
              </a:spcBef>
            </a:pPr>
            <a:r>
              <a:rPr sz="2550" dirty="0"/>
              <a:t>Statistical</a:t>
            </a:r>
            <a:r>
              <a:rPr sz="2550" spc="15" dirty="0"/>
              <a:t> </a:t>
            </a:r>
            <a:r>
              <a:rPr sz="2550" dirty="0"/>
              <a:t>inference:</a:t>
            </a:r>
            <a:r>
              <a:rPr sz="2550" spc="10" dirty="0"/>
              <a:t> </a:t>
            </a:r>
            <a:r>
              <a:rPr sz="2550" spc="-90" dirty="0"/>
              <a:t>NLP</a:t>
            </a:r>
            <a:r>
              <a:rPr sz="2550" spc="25" dirty="0"/>
              <a:t> </a:t>
            </a:r>
            <a:r>
              <a:rPr sz="2550" spc="-45" dirty="0"/>
              <a:t>can</a:t>
            </a:r>
            <a:r>
              <a:rPr sz="2550" spc="10" dirty="0"/>
              <a:t> </a:t>
            </a:r>
            <a:r>
              <a:rPr sz="2550" dirty="0"/>
              <a:t>make</a:t>
            </a:r>
            <a:r>
              <a:rPr sz="2550" spc="20" dirty="0"/>
              <a:t> </a:t>
            </a:r>
            <a:r>
              <a:rPr sz="2550" spc="-10" dirty="0"/>
              <a:t>use</a:t>
            </a:r>
            <a:r>
              <a:rPr sz="2550" spc="20" dirty="0"/>
              <a:t> </a:t>
            </a:r>
            <a:r>
              <a:rPr sz="2550" spc="150" dirty="0"/>
              <a:t>of </a:t>
            </a:r>
            <a:r>
              <a:rPr sz="2550" spc="50" dirty="0"/>
              <a:t>statistical</a:t>
            </a:r>
            <a:r>
              <a:rPr sz="2550" spc="-50" dirty="0"/>
              <a:t> </a:t>
            </a:r>
            <a:r>
              <a:rPr sz="2550" spc="45" dirty="0"/>
              <a:t>inference</a:t>
            </a:r>
            <a:r>
              <a:rPr sz="2550" spc="-50" dirty="0"/>
              <a:t> </a:t>
            </a:r>
            <a:r>
              <a:rPr sz="2550" spc="45" dirty="0"/>
              <a:t>algorithms.</a:t>
            </a:r>
            <a:r>
              <a:rPr sz="2550" spc="-65" dirty="0"/>
              <a:t> </a:t>
            </a:r>
            <a:r>
              <a:rPr sz="2550" spc="135" dirty="0"/>
              <a:t>It</a:t>
            </a:r>
            <a:r>
              <a:rPr sz="2550" spc="-50" dirty="0"/>
              <a:t> </a:t>
            </a:r>
            <a:r>
              <a:rPr sz="2550" dirty="0"/>
              <a:t>helps</a:t>
            </a:r>
            <a:r>
              <a:rPr sz="2550" spc="-50" dirty="0"/>
              <a:t> </a:t>
            </a:r>
            <a:r>
              <a:rPr sz="2550" dirty="0"/>
              <a:t>you</a:t>
            </a:r>
            <a:r>
              <a:rPr sz="2550" spc="-55" dirty="0"/>
              <a:t> </a:t>
            </a:r>
            <a:r>
              <a:rPr sz="2550" spc="170" dirty="0"/>
              <a:t>to </a:t>
            </a:r>
            <a:r>
              <a:rPr sz="2550" spc="45" dirty="0"/>
              <a:t>produce</a:t>
            </a:r>
            <a:r>
              <a:rPr sz="2550" spc="-55" dirty="0"/>
              <a:t> </a:t>
            </a:r>
            <a:r>
              <a:rPr sz="2550" dirty="0"/>
              <a:t>models</a:t>
            </a:r>
            <a:r>
              <a:rPr sz="2550" spc="-50" dirty="0"/>
              <a:t> </a:t>
            </a:r>
            <a:r>
              <a:rPr sz="2550" spc="140" dirty="0"/>
              <a:t>that</a:t>
            </a:r>
            <a:r>
              <a:rPr sz="2550" spc="-50" dirty="0"/>
              <a:t> </a:t>
            </a:r>
            <a:r>
              <a:rPr sz="2550" dirty="0"/>
              <a:t>are</a:t>
            </a:r>
            <a:r>
              <a:rPr sz="2550" spc="-60" dirty="0"/>
              <a:t> </a:t>
            </a:r>
            <a:r>
              <a:rPr sz="2550" spc="55" dirty="0"/>
              <a:t>robust.</a:t>
            </a:r>
            <a:r>
              <a:rPr sz="2550" spc="-50" dirty="0"/>
              <a:t> </a:t>
            </a:r>
            <a:r>
              <a:rPr sz="2550" spc="-40" dirty="0"/>
              <a:t>e.g.,</a:t>
            </a:r>
            <a:r>
              <a:rPr sz="2550" spc="-60" dirty="0"/>
              <a:t> </a:t>
            </a:r>
            <a:r>
              <a:rPr sz="2550" spc="35" dirty="0"/>
              <a:t>containing </a:t>
            </a:r>
            <a:r>
              <a:rPr sz="2550" spc="55" dirty="0"/>
              <a:t>words</a:t>
            </a:r>
            <a:r>
              <a:rPr sz="2550" spc="-65" dirty="0"/>
              <a:t> </a:t>
            </a:r>
            <a:r>
              <a:rPr sz="2550" spc="110" dirty="0"/>
              <a:t>or</a:t>
            </a:r>
            <a:r>
              <a:rPr sz="2550" spc="-55" dirty="0"/>
              <a:t> </a:t>
            </a:r>
            <a:r>
              <a:rPr sz="2550" spc="55" dirty="0"/>
              <a:t>structures</a:t>
            </a:r>
            <a:r>
              <a:rPr sz="2550" spc="-55" dirty="0"/>
              <a:t> </a:t>
            </a:r>
            <a:r>
              <a:rPr sz="2550" dirty="0"/>
              <a:t>which</a:t>
            </a:r>
            <a:r>
              <a:rPr sz="2550" spc="-50" dirty="0"/>
              <a:t> </a:t>
            </a:r>
            <a:r>
              <a:rPr sz="2550" dirty="0"/>
              <a:t>are</a:t>
            </a:r>
            <a:r>
              <a:rPr sz="2550" spc="-55" dirty="0"/>
              <a:t> </a:t>
            </a:r>
            <a:r>
              <a:rPr sz="2550" spc="70" dirty="0"/>
              <a:t>known</a:t>
            </a:r>
            <a:r>
              <a:rPr sz="2550" spc="-55" dirty="0"/>
              <a:t> </a:t>
            </a:r>
            <a:r>
              <a:rPr sz="2550" spc="195" dirty="0"/>
              <a:t>to</a:t>
            </a:r>
            <a:r>
              <a:rPr sz="2550" spc="-55" dirty="0"/>
              <a:t> </a:t>
            </a:r>
            <a:r>
              <a:rPr sz="2550" spc="-10" dirty="0"/>
              <a:t>everyone.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535940" y="1501102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2134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NLP</a:t>
            </a:r>
            <a:r>
              <a:rPr spc="-120" dirty="0"/>
              <a:t>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30322"/>
            <a:ext cx="3895725" cy="39077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600" dirty="0">
                <a:latin typeface="Microsoft Sans Serif"/>
                <a:cs typeface="Microsoft Sans Serif"/>
              </a:rPr>
              <a:t>How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Perform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NLP?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Segmentation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Tokenizing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dirty="0">
                <a:latin typeface="Microsoft Sans Serif"/>
                <a:cs typeface="Microsoft Sans Serif"/>
              </a:rPr>
              <a:t>Removing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Stop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Words: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Stemming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Lemmatization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dirty="0">
                <a:latin typeface="Microsoft Sans Serif"/>
                <a:cs typeface="Microsoft Sans Serif"/>
              </a:rPr>
              <a:t>Part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65" dirty="0">
                <a:latin typeface="Microsoft Sans Serif"/>
                <a:cs typeface="Microsoft Sans Serif"/>
              </a:rPr>
              <a:t>Speech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Tagging</a:t>
            </a:r>
            <a:endParaRPr sz="2600">
              <a:latin typeface="Microsoft Sans Serif"/>
              <a:cs typeface="Microsoft Sans Serif"/>
            </a:endParaRPr>
          </a:p>
          <a:p>
            <a:pPr marL="412115" indent="-285750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dirty="0">
                <a:latin typeface="Microsoft Sans Serif"/>
                <a:cs typeface="Microsoft Sans Serif"/>
              </a:rPr>
              <a:t>Named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Entity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Tagging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49895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You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first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need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210" dirty="0">
                <a:latin typeface="Microsoft Sans Serif"/>
                <a:cs typeface="Microsoft Sans Serif"/>
              </a:rPr>
              <a:t>to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break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entire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document </a:t>
            </a:r>
            <a:r>
              <a:rPr sz="2800" spc="75" dirty="0">
                <a:latin typeface="Microsoft Sans Serif"/>
                <a:cs typeface="Microsoft Sans Serif"/>
              </a:rPr>
              <a:t>down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into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its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constituent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sentences.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You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do </a:t>
            </a:r>
            <a:r>
              <a:rPr sz="2800" spc="70" dirty="0">
                <a:latin typeface="Microsoft Sans Serif"/>
                <a:cs typeface="Microsoft Sans Serif"/>
              </a:rPr>
              <a:t>this</a:t>
            </a:r>
            <a:r>
              <a:rPr sz="2800" dirty="0">
                <a:latin typeface="Microsoft Sans Serif"/>
                <a:cs typeface="Microsoft Sans Serif"/>
              </a:rPr>
              <a:t> by segmenting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article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along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with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its </a:t>
            </a:r>
            <a:r>
              <a:rPr sz="2800" spc="70" dirty="0">
                <a:latin typeface="Microsoft Sans Serif"/>
                <a:cs typeface="Microsoft Sans Serif"/>
              </a:rPr>
              <a:t>punctuation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like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full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stops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commas.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043" y="3815638"/>
            <a:ext cx="6438963" cy="14835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Tokenizing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101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7662"/>
            <a:ext cx="7432675" cy="232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algorithm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understand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these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sentences,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you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need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14" dirty="0">
                <a:latin typeface="Microsoft Sans Serif"/>
                <a:cs typeface="Microsoft Sans Serif"/>
              </a:rPr>
              <a:t>get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words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in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 </a:t>
            </a:r>
            <a:r>
              <a:rPr sz="2400" spc="15" dirty="0">
                <a:latin typeface="Microsoft Sans Serif"/>
                <a:cs typeface="Microsoft Sans Serif"/>
              </a:rPr>
              <a:t>sentence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explain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them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individually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75" dirty="0">
                <a:latin typeface="Microsoft Sans Serif"/>
                <a:cs typeface="Microsoft Sans Serif"/>
              </a:rPr>
              <a:t>to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our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algorithm.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2400" spc="-125" dirty="0">
                <a:latin typeface="Microsoft Sans Serif"/>
                <a:cs typeface="Microsoft Sans Serif"/>
              </a:rPr>
              <a:t>So,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break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down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your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sentence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110" dirty="0">
                <a:latin typeface="Microsoft Sans Serif"/>
                <a:cs typeface="Microsoft Sans Serif"/>
              </a:rPr>
              <a:t>into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its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constituent </a:t>
            </a:r>
            <a:r>
              <a:rPr sz="2400" dirty="0">
                <a:latin typeface="Microsoft Sans Serif"/>
                <a:cs typeface="Microsoft Sans Serif"/>
              </a:rPr>
              <a:t>words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store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them.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This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 tokenizing, </a:t>
            </a:r>
            <a:r>
              <a:rPr sz="2400" spc="-25" dirty="0">
                <a:latin typeface="Microsoft Sans Serif"/>
                <a:cs typeface="Microsoft Sans Serif"/>
              </a:rPr>
              <a:t>and </a:t>
            </a:r>
            <a:r>
              <a:rPr sz="2400" spc="-40" dirty="0">
                <a:latin typeface="Microsoft Sans Serif"/>
                <a:cs typeface="Microsoft Sans Serif"/>
              </a:rPr>
              <a:t>each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world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token.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99905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93" y="4055402"/>
            <a:ext cx="7848003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Removing</a:t>
            </a:r>
            <a:r>
              <a:rPr spc="-10" dirty="0"/>
              <a:t> </a:t>
            </a:r>
            <a:r>
              <a:rPr dirty="0"/>
              <a:t>Stop</a:t>
            </a:r>
            <a:r>
              <a:rPr spc="10" dirty="0"/>
              <a:t> </a:t>
            </a:r>
            <a:r>
              <a:rPr spc="-10" dirty="0"/>
              <a:t>Words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You</a:t>
            </a:r>
            <a:r>
              <a:rPr sz="2400" spc="-60" dirty="0"/>
              <a:t> </a:t>
            </a:r>
            <a:r>
              <a:rPr sz="2400" spc="-50" dirty="0"/>
              <a:t>can</a:t>
            </a:r>
            <a:r>
              <a:rPr sz="2400" spc="-60" dirty="0"/>
              <a:t> </a:t>
            </a:r>
            <a:r>
              <a:rPr sz="2400" dirty="0"/>
              <a:t>make</a:t>
            </a:r>
            <a:r>
              <a:rPr sz="2400" spc="-55" dirty="0"/>
              <a:t> </a:t>
            </a:r>
            <a:r>
              <a:rPr sz="2400" spc="105" dirty="0"/>
              <a:t>the</a:t>
            </a:r>
            <a:r>
              <a:rPr sz="2400" spc="-65" dirty="0"/>
              <a:t> </a:t>
            </a:r>
            <a:r>
              <a:rPr sz="2400" dirty="0"/>
              <a:t>learning</a:t>
            </a:r>
            <a:r>
              <a:rPr sz="2400" spc="-60" dirty="0"/>
              <a:t> </a:t>
            </a:r>
            <a:r>
              <a:rPr sz="2400" spc="-10" dirty="0"/>
              <a:t>process</a:t>
            </a:r>
            <a:r>
              <a:rPr sz="2400" spc="-55" dirty="0"/>
              <a:t> </a:t>
            </a:r>
            <a:r>
              <a:rPr sz="2400" spc="70" dirty="0"/>
              <a:t>faster</a:t>
            </a:r>
            <a:r>
              <a:rPr sz="2400" spc="-60" dirty="0"/>
              <a:t> </a:t>
            </a:r>
            <a:r>
              <a:rPr sz="2400" dirty="0"/>
              <a:t>by</a:t>
            </a:r>
            <a:r>
              <a:rPr sz="2400" spc="-65" dirty="0"/>
              <a:t> </a:t>
            </a:r>
            <a:r>
              <a:rPr sz="2400" spc="105" dirty="0"/>
              <a:t>getting</a:t>
            </a:r>
            <a:r>
              <a:rPr sz="2400" spc="-55" dirty="0"/>
              <a:t> </a:t>
            </a:r>
            <a:r>
              <a:rPr sz="2400" spc="55" dirty="0"/>
              <a:t>rid </a:t>
            </a:r>
            <a:r>
              <a:rPr sz="2400" spc="160" dirty="0"/>
              <a:t>of</a:t>
            </a:r>
            <a:r>
              <a:rPr sz="2400" spc="-15" dirty="0"/>
              <a:t> </a:t>
            </a:r>
            <a:r>
              <a:rPr sz="2400" dirty="0"/>
              <a:t>non-essential</a:t>
            </a:r>
            <a:r>
              <a:rPr sz="2400" spc="-10" dirty="0"/>
              <a:t> </a:t>
            </a:r>
            <a:r>
              <a:rPr sz="2400" dirty="0"/>
              <a:t>words,</a:t>
            </a:r>
            <a:r>
              <a:rPr sz="2400" spc="-15" dirty="0"/>
              <a:t> </a:t>
            </a:r>
            <a:r>
              <a:rPr sz="2400" dirty="0"/>
              <a:t>which</a:t>
            </a:r>
            <a:r>
              <a:rPr sz="2400" spc="-10" dirty="0"/>
              <a:t> </a:t>
            </a:r>
            <a:r>
              <a:rPr sz="2400" dirty="0"/>
              <a:t>add</a:t>
            </a:r>
            <a:r>
              <a:rPr sz="2400" spc="-10" dirty="0"/>
              <a:t> </a:t>
            </a:r>
            <a:r>
              <a:rPr sz="2400" spc="140" dirty="0"/>
              <a:t>little</a:t>
            </a:r>
            <a:r>
              <a:rPr sz="2400" spc="-15" dirty="0"/>
              <a:t> </a:t>
            </a:r>
            <a:r>
              <a:rPr sz="2400" dirty="0"/>
              <a:t>meaning</a:t>
            </a:r>
            <a:r>
              <a:rPr sz="2400" spc="-10" dirty="0"/>
              <a:t> </a:t>
            </a:r>
            <a:r>
              <a:rPr sz="2400" spc="180" dirty="0"/>
              <a:t>to</a:t>
            </a:r>
            <a:r>
              <a:rPr sz="2400" spc="-15" dirty="0"/>
              <a:t> </a:t>
            </a:r>
            <a:r>
              <a:rPr sz="2400" spc="45" dirty="0"/>
              <a:t>our </a:t>
            </a:r>
            <a:r>
              <a:rPr sz="2400" spc="80" dirty="0"/>
              <a:t>statement</a:t>
            </a:r>
            <a:r>
              <a:rPr sz="2400" spc="-90" dirty="0"/>
              <a:t> </a:t>
            </a:r>
            <a:r>
              <a:rPr sz="2400" dirty="0"/>
              <a:t>and</a:t>
            </a:r>
            <a:r>
              <a:rPr sz="2400" spc="-90" dirty="0"/>
              <a:t> </a:t>
            </a:r>
            <a:r>
              <a:rPr sz="2400" dirty="0"/>
              <a:t>are</a:t>
            </a:r>
            <a:r>
              <a:rPr sz="2400" spc="-85" dirty="0"/>
              <a:t> </a:t>
            </a:r>
            <a:r>
              <a:rPr sz="2400" spc="65" dirty="0"/>
              <a:t>just</a:t>
            </a:r>
            <a:r>
              <a:rPr sz="2400" spc="-90" dirty="0"/>
              <a:t> </a:t>
            </a:r>
            <a:r>
              <a:rPr sz="2400" spc="85" dirty="0"/>
              <a:t>there</a:t>
            </a:r>
            <a:r>
              <a:rPr sz="2400" spc="-75" dirty="0"/>
              <a:t> </a:t>
            </a:r>
            <a:r>
              <a:rPr sz="2400" spc="180" dirty="0"/>
              <a:t>to</a:t>
            </a:r>
            <a:r>
              <a:rPr sz="2400" spc="-80" dirty="0"/>
              <a:t> </a:t>
            </a:r>
            <a:r>
              <a:rPr sz="2400" dirty="0"/>
              <a:t>make</a:t>
            </a:r>
            <a:r>
              <a:rPr sz="2400" spc="-80" dirty="0"/>
              <a:t> </a:t>
            </a:r>
            <a:r>
              <a:rPr sz="2400" spc="70" dirty="0"/>
              <a:t>our</a:t>
            </a:r>
            <a:r>
              <a:rPr sz="2400" spc="-85" dirty="0"/>
              <a:t> </a:t>
            </a:r>
            <a:r>
              <a:rPr sz="2400" spc="70" dirty="0"/>
              <a:t>statement </a:t>
            </a:r>
            <a:r>
              <a:rPr sz="2400" dirty="0"/>
              <a:t>sound</a:t>
            </a:r>
            <a:r>
              <a:rPr sz="2400" spc="-75" dirty="0"/>
              <a:t> </a:t>
            </a:r>
            <a:r>
              <a:rPr sz="2400" spc="55" dirty="0"/>
              <a:t>more</a:t>
            </a:r>
            <a:r>
              <a:rPr sz="2400" spc="-70" dirty="0"/>
              <a:t> </a:t>
            </a:r>
            <a:r>
              <a:rPr sz="2400" spc="-20" dirty="0"/>
              <a:t>cohesive.</a:t>
            </a:r>
            <a:r>
              <a:rPr sz="2400" spc="-80" dirty="0"/>
              <a:t> </a:t>
            </a:r>
            <a:r>
              <a:rPr sz="2400" dirty="0"/>
              <a:t>Words</a:t>
            </a:r>
            <a:r>
              <a:rPr sz="2400" spc="-80" dirty="0"/>
              <a:t> </a:t>
            </a:r>
            <a:r>
              <a:rPr sz="2400" spc="-40" dirty="0"/>
              <a:t>such</a:t>
            </a:r>
            <a:r>
              <a:rPr sz="2400" spc="-80" dirty="0"/>
              <a:t> </a:t>
            </a:r>
            <a:r>
              <a:rPr sz="2400" spc="-125" dirty="0"/>
              <a:t>as</a:t>
            </a:r>
            <a:r>
              <a:rPr sz="2400" spc="-75" dirty="0"/>
              <a:t> </a:t>
            </a:r>
            <a:r>
              <a:rPr sz="2400" spc="-50" dirty="0"/>
              <a:t>was,</a:t>
            </a:r>
            <a:r>
              <a:rPr sz="2400" spc="-85" dirty="0"/>
              <a:t> </a:t>
            </a:r>
            <a:r>
              <a:rPr sz="2400" dirty="0"/>
              <a:t>in,</a:t>
            </a:r>
            <a:r>
              <a:rPr sz="2400" spc="-80" dirty="0"/>
              <a:t> </a:t>
            </a:r>
            <a:r>
              <a:rPr sz="2400" spc="-45" dirty="0"/>
              <a:t>is,</a:t>
            </a:r>
            <a:r>
              <a:rPr sz="2400" spc="-80" dirty="0"/>
              <a:t> </a:t>
            </a:r>
            <a:r>
              <a:rPr sz="2400" spc="-10" dirty="0"/>
              <a:t>and,</a:t>
            </a:r>
            <a:r>
              <a:rPr sz="2400" spc="-75" dirty="0"/>
              <a:t> </a:t>
            </a:r>
            <a:r>
              <a:rPr sz="2400" spc="40" dirty="0"/>
              <a:t>the, </a:t>
            </a:r>
            <a:r>
              <a:rPr sz="2400" dirty="0"/>
              <a:t>are</a:t>
            </a:r>
            <a:r>
              <a:rPr sz="2400" spc="-30" dirty="0"/>
              <a:t> </a:t>
            </a:r>
            <a:r>
              <a:rPr sz="2400" dirty="0"/>
              <a:t>called</a:t>
            </a:r>
            <a:r>
              <a:rPr sz="2400" spc="-30" dirty="0"/>
              <a:t> </a:t>
            </a:r>
            <a:r>
              <a:rPr sz="2400" spc="70" dirty="0"/>
              <a:t>stop</a:t>
            </a:r>
            <a:r>
              <a:rPr sz="2400" spc="-35" dirty="0"/>
              <a:t> </a:t>
            </a:r>
            <a:r>
              <a:rPr sz="2400" dirty="0"/>
              <a:t>words</a:t>
            </a:r>
            <a:r>
              <a:rPr sz="2400" spc="-35" dirty="0"/>
              <a:t> </a:t>
            </a:r>
            <a:r>
              <a:rPr sz="2400" dirty="0"/>
              <a:t>and</a:t>
            </a:r>
            <a:r>
              <a:rPr sz="2400" spc="-25" dirty="0"/>
              <a:t> </a:t>
            </a:r>
            <a:r>
              <a:rPr sz="2400" spc="-50" dirty="0"/>
              <a:t>can</a:t>
            </a:r>
            <a:r>
              <a:rPr sz="2400" spc="-35" dirty="0"/>
              <a:t> </a:t>
            </a:r>
            <a:r>
              <a:rPr sz="2400" dirty="0"/>
              <a:t>be</a:t>
            </a:r>
            <a:r>
              <a:rPr sz="2400" spc="-40" dirty="0"/>
              <a:t> </a:t>
            </a:r>
            <a:r>
              <a:rPr sz="2400" spc="-10" dirty="0"/>
              <a:t>removed.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01101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1998" y="3743629"/>
            <a:ext cx="6314757" cy="22856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101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7662"/>
            <a:ext cx="75438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135" dirty="0">
                <a:latin typeface="Microsoft Sans Serif"/>
                <a:cs typeface="Microsoft Sans Serif"/>
              </a:rPr>
              <a:t>It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process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of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obtaining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Word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Stem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word. </a:t>
            </a:r>
            <a:r>
              <a:rPr sz="2400" spc="50" dirty="0">
                <a:latin typeface="Microsoft Sans Serif"/>
                <a:cs typeface="Microsoft Sans Serif"/>
              </a:rPr>
              <a:t>Word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Stem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gives new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words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upon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adding </a:t>
            </a:r>
            <a:r>
              <a:rPr sz="2400" spc="50" dirty="0">
                <a:latin typeface="Microsoft Sans Serif"/>
                <a:cs typeface="Microsoft Sans Serif"/>
              </a:rPr>
              <a:t>affixes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to </a:t>
            </a:r>
            <a:r>
              <a:rPr sz="2400" spc="70" dirty="0">
                <a:latin typeface="Microsoft Sans Serif"/>
                <a:cs typeface="Microsoft Sans Serif"/>
              </a:rPr>
              <a:t>them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38" y="3228124"/>
            <a:ext cx="4876558" cy="21715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0120" y="3779646"/>
            <a:ext cx="5933884" cy="26571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Lemmatization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01101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1517662"/>
            <a:ext cx="776859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8740" algn="just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process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obtaining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Root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Stem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 </a:t>
            </a:r>
            <a:r>
              <a:rPr sz="2400" spc="55" dirty="0">
                <a:latin typeface="Microsoft Sans Serif"/>
                <a:cs typeface="Microsoft Sans Serif"/>
              </a:rPr>
              <a:t>word.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Root</a:t>
            </a:r>
            <a:r>
              <a:rPr sz="2400" spc="2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Stem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gives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new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base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form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of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 </a:t>
            </a:r>
            <a:r>
              <a:rPr sz="2400" spc="90" dirty="0">
                <a:latin typeface="Microsoft Sans Serif"/>
                <a:cs typeface="Microsoft Sans Serif"/>
              </a:rPr>
              <a:t>word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30" dirty="0">
                <a:latin typeface="Microsoft Sans Serif"/>
                <a:cs typeface="Microsoft Sans Serif"/>
              </a:rPr>
              <a:t>that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present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in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dictionary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from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which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word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derived.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10" dirty="0">
                <a:latin typeface="Microsoft Sans Serif"/>
                <a:cs typeface="Microsoft Sans Serif"/>
              </a:rPr>
              <a:t>You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can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also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identify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base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words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different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words based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tense,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mood,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gender,etc.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Part</a:t>
            </a:r>
            <a:r>
              <a:rPr spc="-12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spc="-80" dirty="0"/>
              <a:t>Speech</a:t>
            </a:r>
            <a:r>
              <a:rPr spc="-130" dirty="0"/>
              <a:t> </a:t>
            </a:r>
            <a:r>
              <a:rPr spc="-10" dirty="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723505" cy="1611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sz="2600" dirty="0">
                <a:latin typeface="Microsoft Sans Serif"/>
                <a:cs typeface="Microsoft Sans Serif"/>
              </a:rPr>
              <a:t>Now,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you </a:t>
            </a:r>
            <a:r>
              <a:rPr sz="2600" spc="70" dirty="0">
                <a:latin typeface="Microsoft Sans Serif"/>
                <a:cs typeface="Microsoft Sans Serif"/>
              </a:rPr>
              <a:t>must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explain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concept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nouns,</a:t>
            </a:r>
            <a:r>
              <a:rPr sz="2600" spc="-10" dirty="0">
                <a:latin typeface="Microsoft Sans Serif"/>
                <a:cs typeface="Microsoft Sans Serif"/>
              </a:rPr>
              <a:t> verbs, </a:t>
            </a:r>
            <a:r>
              <a:rPr sz="2600" dirty="0">
                <a:latin typeface="Microsoft Sans Serif"/>
                <a:cs typeface="Microsoft Sans Serif"/>
              </a:rPr>
              <a:t>articles,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other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parts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speech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machine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adding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these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tags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95" dirty="0">
                <a:latin typeface="Microsoft Sans Serif"/>
                <a:cs typeface="Microsoft Sans Serif"/>
              </a:rPr>
              <a:t>to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our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words.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This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0" dirty="0">
                <a:latin typeface="Microsoft Sans Serif"/>
                <a:cs typeface="Microsoft Sans Serif"/>
              </a:rPr>
              <a:t> called </a:t>
            </a:r>
            <a:r>
              <a:rPr sz="2600" spc="90" dirty="0">
                <a:latin typeface="Microsoft Sans Serif"/>
                <a:cs typeface="Microsoft Sans Serif"/>
              </a:rPr>
              <a:t>‘part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of’.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93" y="3527640"/>
            <a:ext cx="7991995" cy="17906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Named</a:t>
            </a:r>
            <a:r>
              <a:rPr spc="-70" dirty="0"/>
              <a:t> </a:t>
            </a:r>
            <a:r>
              <a:rPr spc="105" dirty="0"/>
              <a:t>Entity</a:t>
            </a:r>
            <a:r>
              <a:rPr spc="-85" dirty="0"/>
              <a:t> </a:t>
            </a:r>
            <a:r>
              <a:rPr spc="-10" dirty="0"/>
              <a:t>Tagging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457200" y="1524000"/>
            <a:ext cx="7848601" cy="46499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 marR="9461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Next,</a:t>
            </a:r>
            <a:r>
              <a:rPr sz="2400" spc="-30" dirty="0"/>
              <a:t> </a:t>
            </a:r>
            <a:r>
              <a:rPr sz="2400" spc="60" dirty="0"/>
              <a:t>introduce</a:t>
            </a:r>
            <a:r>
              <a:rPr sz="2400" spc="-20" dirty="0"/>
              <a:t> </a:t>
            </a:r>
            <a:r>
              <a:rPr sz="2400" dirty="0"/>
              <a:t>your</a:t>
            </a:r>
            <a:r>
              <a:rPr sz="2400" spc="-25" dirty="0"/>
              <a:t> </a:t>
            </a:r>
            <a:r>
              <a:rPr sz="2400" dirty="0"/>
              <a:t>machine</a:t>
            </a:r>
            <a:r>
              <a:rPr sz="2400" spc="-30" dirty="0"/>
              <a:t> </a:t>
            </a:r>
            <a:r>
              <a:rPr sz="2400" spc="180" dirty="0"/>
              <a:t>to</a:t>
            </a:r>
            <a:r>
              <a:rPr sz="2400" spc="-25" dirty="0"/>
              <a:t> </a:t>
            </a:r>
            <a:r>
              <a:rPr sz="2400" spc="60" dirty="0"/>
              <a:t>pop</a:t>
            </a:r>
            <a:r>
              <a:rPr sz="2400" spc="-25" dirty="0"/>
              <a:t> </a:t>
            </a:r>
            <a:r>
              <a:rPr sz="2400" spc="65" dirty="0"/>
              <a:t>culture</a:t>
            </a:r>
            <a:r>
              <a:rPr sz="2400" spc="-20" dirty="0"/>
              <a:t> </a:t>
            </a:r>
            <a:r>
              <a:rPr sz="2400" spc="-10" dirty="0"/>
              <a:t>references </a:t>
            </a:r>
            <a:r>
              <a:rPr sz="2400" dirty="0"/>
              <a:t>and</a:t>
            </a:r>
            <a:r>
              <a:rPr sz="2400" spc="-90" dirty="0"/>
              <a:t> </a:t>
            </a:r>
            <a:r>
              <a:rPr sz="2400" dirty="0"/>
              <a:t>everyday</a:t>
            </a:r>
            <a:r>
              <a:rPr sz="2400" spc="-85" dirty="0"/>
              <a:t> </a:t>
            </a:r>
            <a:r>
              <a:rPr sz="2400" spc="-20" dirty="0"/>
              <a:t>names</a:t>
            </a:r>
            <a:r>
              <a:rPr sz="2400" spc="-80" dirty="0"/>
              <a:t> </a:t>
            </a:r>
            <a:r>
              <a:rPr sz="2400" dirty="0"/>
              <a:t>by</a:t>
            </a:r>
            <a:r>
              <a:rPr sz="2400" spc="-85" dirty="0"/>
              <a:t> </a:t>
            </a:r>
            <a:r>
              <a:rPr sz="2400" spc="60" dirty="0"/>
              <a:t>flagging</a:t>
            </a:r>
            <a:r>
              <a:rPr sz="2400" spc="-85" dirty="0"/>
              <a:t> </a:t>
            </a:r>
            <a:r>
              <a:rPr sz="2400" spc="-25" dirty="0"/>
              <a:t>names</a:t>
            </a:r>
            <a:r>
              <a:rPr sz="2400" spc="-80" dirty="0"/>
              <a:t> </a:t>
            </a:r>
            <a:r>
              <a:rPr sz="2400" spc="160" dirty="0"/>
              <a:t>of</a:t>
            </a:r>
            <a:r>
              <a:rPr sz="2400" spc="-90" dirty="0"/>
              <a:t> </a:t>
            </a:r>
            <a:r>
              <a:rPr sz="2400" spc="-10" dirty="0"/>
              <a:t>movies, </a:t>
            </a:r>
            <a:r>
              <a:rPr sz="2400" spc="95" dirty="0"/>
              <a:t>important</a:t>
            </a:r>
            <a:r>
              <a:rPr sz="2400" spc="-10" dirty="0"/>
              <a:t> </a:t>
            </a:r>
            <a:r>
              <a:rPr sz="2400" dirty="0"/>
              <a:t>personalities</a:t>
            </a:r>
            <a:r>
              <a:rPr sz="2400" spc="-15" dirty="0"/>
              <a:t> </a:t>
            </a:r>
            <a:r>
              <a:rPr sz="2400" spc="90" dirty="0"/>
              <a:t>or</a:t>
            </a:r>
            <a:r>
              <a:rPr sz="2400" dirty="0"/>
              <a:t> locations,</a:t>
            </a:r>
            <a:r>
              <a:rPr sz="2400" spc="-5" dirty="0"/>
              <a:t> </a:t>
            </a:r>
            <a:r>
              <a:rPr sz="2400" spc="70" dirty="0"/>
              <a:t>etc</a:t>
            </a:r>
            <a:r>
              <a:rPr sz="2400" spc="-5" dirty="0"/>
              <a:t> </a:t>
            </a:r>
            <a:r>
              <a:rPr sz="2400" spc="125" dirty="0"/>
              <a:t>that</a:t>
            </a:r>
            <a:r>
              <a:rPr sz="2400" spc="-10" dirty="0"/>
              <a:t> </a:t>
            </a:r>
            <a:r>
              <a:rPr sz="2400" dirty="0"/>
              <a:t>may</a:t>
            </a:r>
            <a:r>
              <a:rPr sz="2400" spc="-10" dirty="0"/>
              <a:t> occur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spc="105" dirty="0"/>
              <a:t>the</a:t>
            </a:r>
            <a:r>
              <a:rPr sz="2400" spc="-35" dirty="0"/>
              <a:t> </a:t>
            </a:r>
            <a:r>
              <a:rPr sz="2400" spc="-10" dirty="0"/>
              <a:t>document.</a:t>
            </a:r>
            <a:endParaRPr sz="2400" dirty="0"/>
          </a:p>
          <a:p>
            <a:pPr marL="20320" marR="151765">
              <a:lnSpc>
                <a:spcPct val="100000"/>
              </a:lnSpc>
              <a:spcBef>
                <a:spcPts val="800"/>
              </a:spcBef>
            </a:pPr>
            <a:r>
              <a:rPr sz="2400" spc="-10" dirty="0"/>
              <a:t>You</a:t>
            </a:r>
            <a:r>
              <a:rPr sz="2400" spc="-50" dirty="0"/>
              <a:t> </a:t>
            </a:r>
            <a:r>
              <a:rPr sz="2400" spc="60" dirty="0"/>
              <a:t>do</a:t>
            </a:r>
            <a:r>
              <a:rPr sz="2400" spc="-50" dirty="0"/>
              <a:t> </a:t>
            </a:r>
            <a:r>
              <a:rPr sz="2400" spc="55" dirty="0"/>
              <a:t>this</a:t>
            </a:r>
            <a:r>
              <a:rPr sz="2400" spc="-50" dirty="0"/>
              <a:t> </a:t>
            </a:r>
            <a:r>
              <a:rPr sz="2400" dirty="0"/>
              <a:t>by</a:t>
            </a:r>
            <a:r>
              <a:rPr sz="2400" spc="-60" dirty="0"/>
              <a:t> </a:t>
            </a:r>
            <a:r>
              <a:rPr sz="2400" dirty="0"/>
              <a:t>classifying</a:t>
            </a:r>
            <a:r>
              <a:rPr sz="2400" spc="-40" dirty="0"/>
              <a:t> </a:t>
            </a:r>
            <a:r>
              <a:rPr sz="2400" spc="100" dirty="0"/>
              <a:t>the</a:t>
            </a:r>
            <a:r>
              <a:rPr sz="2400" spc="-45" dirty="0"/>
              <a:t> </a:t>
            </a:r>
            <a:r>
              <a:rPr sz="2400" dirty="0"/>
              <a:t>words</a:t>
            </a:r>
            <a:r>
              <a:rPr sz="2400" spc="-55" dirty="0"/>
              <a:t> </a:t>
            </a:r>
            <a:r>
              <a:rPr sz="2400" spc="110" dirty="0"/>
              <a:t>into</a:t>
            </a:r>
            <a:r>
              <a:rPr sz="2400" spc="-50" dirty="0"/>
              <a:t> </a:t>
            </a:r>
            <a:r>
              <a:rPr sz="2400" spc="-10" dirty="0"/>
              <a:t>subcategories. </a:t>
            </a:r>
            <a:r>
              <a:rPr sz="2400" spc="-45" dirty="0"/>
              <a:t>This</a:t>
            </a:r>
            <a:r>
              <a:rPr sz="2400" spc="-35" dirty="0"/>
              <a:t> </a:t>
            </a:r>
            <a:r>
              <a:rPr sz="2400" dirty="0"/>
              <a:t>helps</a:t>
            </a:r>
            <a:r>
              <a:rPr sz="2400" spc="-30" dirty="0"/>
              <a:t> </a:t>
            </a:r>
            <a:r>
              <a:rPr sz="2400" dirty="0"/>
              <a:t>you</a:t>
            </a:r>
            <a:r>
              <a:rPr sz="2400" spc="-35" dirty="0"/>
              <a:t> </a:t>
            </a:r>
            <a:r>
              <a:rPr sz="2400" spc="105" dirty="0"/>
              <a:t>find</a:t>
            </a:r>
            <a:r>
              <a:rPr sz="2400" spc="-35" dirty="0"/>
              <a:t> </a:t>
            </a:r>
            <a:r>
              <a:rPr sz="2400" spc="-10" dirty="0"/>
              <a:t>any</a:t>
            </a:r>
            <a:r>
              <a:rPr sz="2400" spc="-40" dirty="0"/>
              <a:t> </a:t>
            </a:r>
            <a:r>
              <a:rPr sz="2400" dirty="0"/>
              <a:t>keywords</a:t>
            </a:r>
            <a:r>
              <a:rPr sz="2400" spc="-30" dirty="0"/>
              <a:t> </a:t>
            </a:r>
            <a:r>
              <a:rPr sz="2400" dirty="0"/>
              <a:t>in</a:t>
            </a:r>
            <a:r>
              <a:rPr sz="2400" spc="-35" dirty="0"/>
              <a:t> </a:t>
            </a:r>
            <a:r>
              <a:rPr sz="2400" spc="-100" dirty="0"/>
              <a:t>a</a:t>
            </a:r>
            <a:r>
              <a:rPr sz="2400" spc="-35" dirty="0"/>
              <a:t> </a:t>
            </a:r>
            <a:r>
              <a:rPr sz="2400" dirty="0"/>
              <a:t>sentence.</a:t>
            </a:r>
            <a:r>
              <a:rPr sz="2400" spc="-35" dirty="0"/>
              <a:t> </a:t>
            </a:r>
            <a:r>
              <a:rPr sz="2400" spc="-25" dirty="0"/>
              <a:t>The </a:t>
            </a:r>
            <a:r>
              <a:rPr sz="2400" dirty="0"/>
              <a:t>subcategories</a:t>
            </a:r>
            <a:r>
              <a:rPr sz="2400" spc="30" dirty="0"/>
              <a:t> </a:t>
            </a:r>
            <a:r>
              <a:rPr sz="2400" dirty="0"/>
              <a:t>are</a:t>
            </a:r>
            <a:r>
              <a:rPr sz="2400" spc="40" dirty="0"/>
              <a:t> </a:t>
            </a:r>
            <a:r>
              <a:rPr sz="2400" dirty="0"/>
              <a:t>person,</a:t>
            </a:r>
            <a:r>
              <a:rPr sz="2400" spc="35" dirty="0"/>
              <a:t> </a:t>
            </a:r>
            <a:r>
              <a:rPr sz="2400" dirty="0"/>
              <a:t>location,</a:t>
            </a:r>
            <a:r>
              <a:rPr sz="2400" spc="35" dirty="0"/>
              <a:t> </a:t>
            </a:r>
            <a:r>
              <a:rPr sz="2400" spc="55" dirty="0"/>
              <a:t>monetary</a:t>
            </a:r>
            <a:r>
              <a:rPr sz="2400" spc="30" dirty="0"/>
              <a:t> </a:t>
            </a:r>
            <a:r>
              <a:rPr sz="2400" spc="-10" dirty="0"/>
              <a:t>value, </a:t>
            </a:r>
            <a:r>
              <a:rPr sz="2400" spc="60" dirty="0"/>
              <a:t>quantity,</a:t>
            </a:r>
            <a:r>
              <a:rPr sz="2400" spc="130" dirty="0"/>
              <a:t> </a:t>
            </a:r>
            <a:r>
              <a:rPr sz="2400" dirty="0"/>
              <a:t>organization,</a:t>
            </a:r>
            <a:r>
              <a:rPr sz="2400" spc="135" dirty="0"/>
              <a:t> </a:t>
            </a:r>
            <a:r>
              <a:rPr sz="2400" spc="-10" dirty="0"/>
              <a:t>movie.</a:t>
            </a:r>
            <a:endParaRPr sz="2400" dirty="0"/>
          </a:p>
          <a:p>
            <a:pPr marL="20320" marR="5080">
              <a:lnSpc>
                <a:spcPct val="100000"/>
              </a:lnSpc>
              <a:spcBef>
                <a:spcPts val="800"/>
              </a:spcBef>
            </a:pPr>
            <a:r>
              <a:rPr sz="2400" spc="125" dirty="0"/>
              <a:t>After</a:t>
            </a:r>
            <a:r>
              <a:rPr sz="2400" spc="-40" dirty="0"/>
              <a:t> </a:t>
            </a:r>
            <a:r>
              <a:rPr sz="2400" spc="75" dirty="0"/>
              <a:t>performing</a:t>
            </a:r>
            <a:r>
              <a:rPr sz="2400" spc="-20" dirty="0"/>
              <a:t> </a:t>
            </a:r>
            <a:r>
              <a:rPr sz="2400" spc="105" dirty="0"/>
              <a:t>the</a:t>
            </a:r>
            <a:r>
              <a:rPr sz="2400" spc="-45" dirty="0"/>
              <a:t> </a:t>
            </a:r>
            <a:r>
              <a:rPr sz="2400" dirty="0"/>
              <a:t>preprocessing</a:t>
            </a:r>
            <a:r>
              <a:rPr sz="2400" spc="-35" dirty="0"/>
              <a:t> </a:t>
            </a:r>
            <a:r>
              <a:rPr sz="2400" dirty="0"/>
              <a:t>steps,</a:t>
            </a:r>
            <a:r>
              <a:rPr sz="2400" spc="-35" dirty="0"/>
              <a:t> </a:t>
            </a:r>
            <a:r>
              <a:rPr sz="2400" dirty="0"/>
              <a:t>you</a:t>
            </a:r>
            <a:r>
              <a:rPr sz="2400" spc="-35" dirty="0"/>
              <a:t> </a:t>
            </a:r>
            <a:r>
              <a:rPr sz="2400" spc="85" dirty="0"/>
              <a:t>then</a:t>
            </a:r>
            <a:r>
              <a:rPr sz="2400" spc="-35" dirty="0"/>
              <a:t> </a:t>
            </a:r>
            <a:r>
              <a:rPr sz="2400" spc="-20" dirty="0"/>
              <a:t>give </a:t>
            </a:r>
            <a:r>
              <a:rPr sz="2400" dirty="0"/>
              <a:t>your</a:t>
            </a:r>
            <a:r>
              <a:rPr sz="2400" spc="-10" dirty="0"/>
              <a:t> </a:t>
            </a:r>
            <a:r>
              <a:rPr sz="2400" spc="70" dirty="0"/>
              <a:t>resultant</a:t>
            </a:r>
            <a:r>
              <a:rPr sz="2400" spc="-10" dirty="0"/>
              <a:t> </a:t>
            </a:r>
            <a:r>
              <a:rPr sz="2400" dirty="0"/>
              <a:t>data</a:t>
            </a:r>
            <a:r>
              <a:rPr sz="2400" spc="-10" dirty="0"/>
              <a:t> </a:t>
            </a:r>
            <a:r>
              <a:rPr sz="2400" spc="180" dirty="0"/>
              <a:t>to</a:t>
            </a:r>
            <a:r>
              <a:rPr sz="2400" spc="-5" dirty="0"/>
              <a:t> </a:t>
            </a:r>
            <a:r>
              <a:rPr sz="2400" spc="-100" dirty="0"/>
              <a:t>a</a:t>
            </a:r>
            <a:r>
              <a:rPr sz="2400" spc="-10" dirty="0"/>
              <a:t> </a:t>
            </a:r>
            <a:r>
              <a:rPr sz="2400" dirty="0"/>
              <a:t>machine</a:t>
            </a:r>
            <a:r>
              <a:rPr sz="2400" spc="-10" dirty="0"/>
              <a:t> </a:t>
            </a:r>
            <a:r>
              <a:rPr sz="2400" dirty="0"/>
              <a:t>learning</a:t>
            </a:r>
            <a:r>
              <a:rPr sz="2400" spc="-5" dirty="0"/>
              <a:t> </a:t>
            </a:r>
            <a:r>
              <a:rPr sz="2400" spc="70" dirty="0"/>
              <a:t>algorithm</a:t>
            </a:r>
            <a:r>
              <a:rPr sz="2400" spc="-5" dirty="0"/>
              <a:t> </a:t>
            </a:r>
            <a:r>
              <a:rPr sz="2400" spc="30" dirty="0"/>
              <a:t>like </a:t>
            </a:r>
            <a:r>
              <a:rPr sz="2400" dirty="0"/>
              <a:t>Naive</a:t>
            </a:r>
            <a:r>
              <a:rPr sz="2400" spc="-20" dirty="0"/>
              <a:t> </a:t>
            </a:r>
            <a:r>
              <a:rPr sz="2400" spc="-75" dirty="0"/>
              <a:t>Bayes,</a:t>
            </a:r>
            <a:r>
              <a:rPr sz="2400" spc="-20" dirty="0"/>
              <a:t> </a:t>
            </a:r>
            <a:r>
              <a:rPr sz="2400" dirty="0"/>
              <a:t>etc.,</a:t>
            </a:r>
            <a:r>
              <a:rPr sz="2400" spc="-25" dirty="0"/>
              <a:t> </a:t>
            </a:r>
            <a:r>
              <a:rPr sz="2400" spc="180" dirty="0"/>
              <a:t>to</a:t>
            </a:r>
            <a:r>
              <a:rPr sz="2400" spc="-20" dirty="0"/>
              <a:t> </a:t>
            </a:r>
            <a:r>
              <a:rPr sz="2400" dirty="0"/>
              <a:t>create</a:t>
            </a:r>
            <a:r>
              <a:rPr sz="2400" spc="-20" dirty="0"/>
              <a:t> </a:t>
            </a:r>
            <a:r>
              <a:rPr sz="2400" dirty="0"/>
              <a:t>your</a:t>
            </a:r>
            <a:r>
              <a:rPr sz="2400" spc="-20" dirty="0"/>
              <a:t> </a:t>
            </a:r>
            <a:r>
              <a:rPr sz="2400" spc="-80" dirty="0"/>
              <a:t>NLP</a:t>
            </a:r>
            <a:r>
              <a:rPr sz="2400" spc="-25" dirty="0"/>
              <a:t> </a:t>
            </a:r>
            <a:r>
              <a:rPr sz="2400" spc="-10" dirty="0"/>
              <a:t>application.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3065665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3022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4712" y="1421151"/>
            <a:ext cx="4931616" cy="49085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10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Applications</a:t>
            </a:r>
            <a:r>
              <a:rPr spc="-114" dirty="0"/>
              <a:t> </a:t>
            </a:r>
            <a:r>
              <a:rPr spc="250" dirty="0"/>
              <a:t>of</a:t>
            </a:r>
            <a:r>
              <a:rPr spc="-100" dirty="0"/>
              <a:t> </a:t>
            </a:r>
            <a:r>
              <a:rPr spc="-60" dirty="0"/>
              <a:t>NLP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10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Applications</a:t>
            </a:r>
            <a:r>
              <a:rPr spc="-114" dirty="0"/>
              <a:t> </a:t>
            </a:r>
            <a:r>
              <a:rPr spc="250" dirty="0"/>
              <a:t>of</a:t>
            </a:r>
            <a:r>
              <a:rPr spc="-100" dirty="0"/>
              <a:t> </a:t>
            </a:r>
            <a:r>
              <a:rPr spc="-60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20380" cy="449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7620" indent="-315595">
              <a:lnSpc>
                <a:spcPct val="100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spc="-80" dirty="0">
                <a:latin typeface="Microsoft Sans Serif"/>
                <a:cs typeface="Microsoft Sans Serif"/>
              </a:rPr>
              <a:t>NLP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is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spc="50" dirty="0">
                <a:latin typeface="Microsoft Sans Serif"/>
                <a:cs typeface="Microsoft Sans Serif"/>
              </a:rPr>
              <a:t>one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spc="190" dirty="0">
                <a:latin typeface="Microsoft Sans Serif"/>
                <a:cs typeface="Microsoft Sans Serif"/>
              </a:rPr>
              <a:t>of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ways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150" dirty="0">
                <a:latin typeface="Microsoft Sans Serif"/>
                <a:cs typeface="Microsoft Sans Serif"/>
              </a:rPr>
              <a:t>that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people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have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humanized </a:t>
            </a:r>
            <a:r>
              <a:rPr sz="2550" dirty="0">
                <a:latin typeface="Microsoft Sans Serif"/>
                <a:cs typeface="Microsoft Sans Serif"/>
              </a:rPr>
              <a:t>machines</a:t>
            </a:r>
            <a:r>
              <a:rPr sz="2550" spc="-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and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reduced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need </a:t>
            </a:r>
            <a:r>
              <a:rPr sz="2550" spc="165" dirty="0">
                <a:latin typeface="Microsoft Sans Serif"/>
                <a:cs typeface="Microsoft Sans Serif"/>
              </a:rPr>
              <a:t>for</a:t>
            </a:r>
            <a:r>
              <a:rPr sz="2550" spc="-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labor.</a:t>
            </a:r>
            <a:r>
              <a:rPr sz="2550" spc="5" dirty="0">
                <a:latin typeface="Microsoft Sans Serif"/>
                <a:cs typeface="Microsoft Sans Serif"/>
              </a:rPr>
              <a:t> </a:t>
            </a:r>
            <a:r>
              <a:rPr sz="2550" spc="145" dirty="0">
                <a:latin typeface="Microsoft Sans Serif"/>
                <a:cs typeface="Microsoft Sans Serif"/>
              </a:rPr>
              <a:t>It</a:t>
            </a:r>
            <a:r>
              <a:rPr sz="2550" spc="-10" dirty="0">
                <a:latin typeface="Microsoft Sans Serif"/>
                <a:cs typeface="Microsoft Sans Serif"/>
              </a:rPr>
              <a:t> </a:t>
            </a:r>
            <a:r>
              <a:rPr sz="2550" spc="-50" dirty="0">
                <a:latin typeface="Microsoft Sans Serif"/>
                <a:cs typeface="Microsoft Sans Serif"/>
              </a:rPr>
              <a:t>has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spc="45" dirty="0">
                <a:latin typeface="Microsoft Sans Serif"/>
                <a:cs typeface="Microsoft Sans Serif"/>
              </a:rPr>
              <a:t>led </a:t>
            </a:r>
            <a:r>
              <a:rPr sz="2550" spc="204" dirty="0">
                <a:latin typeface="Microsoft Sans Serif"/>
                <a:cs typeface="Microsoft Sans Serif"/>
              </a:rPr>
              <a:t>to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90" dirty="0">
                <a:latin typeface="Microsoft Sans Serif"/>
                <a:cs typeface="Microsoft Sans Serif"/>
              </a:rPr>
              <a:t>automation</a:t>
            </a:r>
            <a:r>
              <a:rPr sz="2550" spc="-70" dirty="0">
                <a:latin typeface="Microsoft Sans Serif"/>
                <a:cs typeface="Microsoft Sans Serif"/>
              </a:rPr>
              <a:t> </a:t>
            </a:r>
            <a:r>
              <a:rPr sz="2550" spc="180" dirty="0">
                <a:latin typeface="Microsoft Sans Serif"/>
                <a:cs typeface="Microsoft Sans Serif"/>
              </a:rPr>
              <a:t>of</a:t>
            </a:r>
            <a:r>
              <a:rPr sz="2550" spc="-7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speech-</a:t>
            </a:r>
            <a:r>
              <a:rPr sz="2550" spc="70" dirty="0">
                <a:latin typeface="Microsoft Sans Serif"/>
                <a:cs typeface="Microsoft Sans Serif"/>
              </a:rPr>
              <a:t>related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tasks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-25" dirty="0">
                <a:latin typeface="Microsoft Sans Serif"/>
                <a:cs typeface="Microsoft Sans Serif"/>
              </a:rPr>
              <a:t>and </a:t>
            </a:r>
            <a:r>
              <a:rPr sz="2550" dirty="0">
                <a:latin typeface="Microsoft Sans Serif"/>
                <a:cs typeface="Microsoft Sans Serif"/>
              </a:rPr>
              <a:t>human</a:t>
            </a:r>
            <a:r>
              <a:rPr sz="2550" spc="2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interaction.</a:t>
            </a:r>
            <a:r>
              <a:rPr sz="2550" spc="15" dirty="0">
                <a:latin typeface="Microsoft Sans Serif"/>
                <a:cs typeface="Microsoft Sans Serif"/>
              </a:rPr>
              <a:t> </a:t>
            </a:r>
            <a:r>
              <a:rPr sz="2550" spc="-30" dirty="0">
                <a:latin typeface="Microsoft Sans Serif"/>
                <a:cs typeface="Microsoft Sans Serif"/>
              </a:rPr>
              <a:t>Some</a:t>
            </a:r>
            <a:r>
              <a:rPr sz="2550" spc="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applications</a:t>
            </a:r>
            <a:r>
              <a:rPr sz="2550" spc="20" dirty="0">
                <a:latin typeface="Microsoft Sans Serif"/>
                <a:cs typeface="Microsoft Sans Serif"/>
              </a:rPr>
              <a:t> </a:t>
            </a:r>
            <a:r>
              <a:rPr sz="2550" spc="180" dirty="0">
                <a:latin typeface="Microsoft Sans Serif"/>
                <a:cs typeface="Microsoft Sans Serif"/>
              </a:rPr>
              <a:t>of</a:t>
            </a:r>
            <a:r>
              <a:rPr sz="2550" spc="30" dirty="0">
                <a:latin typeface="Microsoft Sans Serif"/>
                <a:cs typeface="Microsoft Sans Serif"/>
              </a:rPr>
              <a:t> </a:t>
            </a:r>
            <a:r>
              <a:rPr sz="2550" spc="-80" dirty="0">
                <a:latin typeface="Microsoft Sans Serif"/>
                <a:cs typeface="Microsoft Sans Serif"/>
              </a:rPr>
              <a:t>NLP</a:t>
            </a:r>
            <a:r>
              <a:rPr sz="2550" spc="2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include</a:t>
            </a:r>
            <a:endParaRPr sz="2550">
              <a:latin typeface="Microsoft Sans Serif"/>
              <a:cs typeface="Microsoft Sans Serif"/>
            </a:endParaRPr>
          </a:p>
          <a:p>
            <a:pPr marL="327660">
              <a:lnSpc>
                <a:spcPct val="100000"/>
              </a:lnSpc>
              <a:spcBef>
                <a:spcPts val="20"/>
              </a:spcBef>
            </a:pPr>
            <a:r>
              <a:rPr sz="2550" spc="-50" dirty="0">
                <a:latin typeface="Microsoft Sans Serif"/>
                <a:cs typeface="Microsoft Sans Serif"/>
              </a:rPr>
              <a:t>:</a:t>
            </a:r>
            <a:endParaRPr sz="2550">
              <a:latin typeface="Microsoft Sans Serif"/>
              <a:cs typeface="Microsoft Sans Serif"/>
            </a:endParaRPr>
          </a:p>
          <a:p>
            <a:pPr marL="695960" marR="103505" lvl="1" indent="-262890">
              <a:lnSpc>
                <a:spcPct val="100600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–"/>
              <a:tabLst>
                <a:tab pos="695960" algn="l"/>
              </a:tabLst>
            </a:pPr>
            <a:r>
              <a:rPr sz="2550" dirty="0">
                <a:latin typeface="Microsoft Sans Serif"/>
                <a:cs typeface="Microsoft Sans Serif"/>
              </a:rPr>
              <a:t>Translation</a:t>
            </a:r>
            <a:r>
              <a:rPr sz="2550" spc="-3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Tools:</a:t>
            </a:r>
            <a:r>
              <a:rPr sz="2550" spc="-2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Tools</a:t>
            </a:r>
            <a:r>
              <a:rPr sz="2550" spc="-25" dirty="0">
                <a:latin typeface="Microsoft Sans Serif"/>
                <a:cs typeface="Microsoft Sans Serif"/>
              </a:rPr>
              <a:t> </a:t>
            </a:r>
            <a:r>
              <a:rPr sz="2550" spc="-30" dirty="0">
                <a:latin typeface="Microsoft Sans Serif"/>
                <a:cs typeface="Microsoft Sans Serif"/>
              </a:rPr>
              <a:t>such</a:t>
            </a:r>
            <a:r>
              <a:rPr sz="2550" spc="-35" dirty="0">
                <a:latin typeface="Microsoft Sans Serif"/>
                <a:cs typeface="Microsoft Sans Serif"/>
              </a:rPr>
              <a:t> </a:t>
            </a:r>
            <a:r>
              <a:rPr sz="2550" spc="-105" dirty="0">
                <a:latin typeface="Microsoft Sans Serif"/>
                <a:cs typeface="Microsoft Sans Serif"/>
              </a:rPr>
              <a:t>as</a:t>
            </a:r>
            <a:r>
              <a:rPr sz="2550" spc="-3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Google</a:t>
            </a:r>
            <a:r>
              <a:rPr sz="2550" spc="-2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Translate, </a:t>
            </a:r>
            <a:r>
              <a:rPr sz="2550" dirty="0">
                <a:latin typeface="Microsoft Sans Serif"/>
                <a:cs typeface="Microsoft Sans Serif"/>
              </a:rPr>
              <a:t>Amazon</a:t>
            </a:r>
            <a:r>
              <a:rPr sz="2550" spc="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Translate,</a:t>
            </a:r>
            <a:r>
              <a:rPr sz="2550" spc="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etc.</a:t>
            </a:r>
            <a:r>
              <a:rPr sz="2550" spc="10" dirty="0">
                <a:latin typeface="Microsoft Sans Serif"/>
                <a:cs typeface="Microsoft Sans Serif"/>
              </a:rPr>
              <a:t> </a:t>
            </a:r>
            <a:r>
              <a:rPr sz="2550" spc="70" dirty="0">
                <a:latin typeface="Microsoft Sans Serif"/>
                <a:cs typeface="Microsoft Sans Serif"/>
              </a:rPr>
              <a:t>translate</a:t>
            </a:r>
            <a:r>
              <a:rPr sz="2550" spc="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sentences</a:t>
            </a:r>
            <a:r>
              <a:rPr sz="2550" spc="5" dirty="0">
                <a:latin typeface="Microsoft Sans Serif"/>
                <a:cs typeface="Microsoft Sans Serif"/>
              </a:rPr>
              <a:t> </a:t>
            </a:r>
            <a:r>
              <a:rPr sz="2550" spc="125" dirty="0">
                <a:latin typeface="Microsoft Sans Serif"/>
                <a:cs typeface="Microsoft Sans Serif"/>
              </a:rPr>
              <a:t>from </a:t>
            </a:r>
            <a:r>
              <a:rPr sz="2550" spc="50" dirty="0">
                <a:latin typeface="Microsoft Sans Serif"/>
                <a:cs typeface="Microsoft Sans Serif"/>
              </a:rPr>
              <a:t>one</a:t>
            </a:r>
            <a:r>
              <a:rPr sz="2550" spc="-3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language</a:t>
            </a:r>
            <a:r>
              <a:rPr sz="2550" spc="-30" dirty="0">
                <a:latin typeface="Microsoft Sans Serif"/>
                <a:cs typeface="Microsoft Sans Serif"/>
              </a:rPr>
              <a:t> </a:t>
            </a:r>
            <a:r>
              <a:rPr sz="2550" spc="210" dirty="0">
                <a:latin typeface="Microsoft Sans Serif"/>
                <a:cs typeface="Microsoft Sans Serif"/>
              </a:rPr>
              <a:t>to</a:t>
            </a:r>
            <a:r>
              <a:rPr sz="2550" spc="-30" dirty="0">
                <a:latin typeface="Microsoft Sans Serif"/>
                <a:cs typeface="Microsoft Sans Serif"/>
              </a:rPr>
              <a:t> </a:t>
            </a:r>
            <a:r>
              <a:rPr sz="2550" spc="80" dirty="0">
                <a:latin typeface="Microsoft Sans Serif"/>
                <a:cs typeface="Microsoft Sans Serif"/>
              </a:rPr>
              <a:t>another</a:t>
            </a:r>
            <a:r>
              <a:rPr sz="2550" spc="-1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using</a:t>
            </a:r>
            <a:r>
              <a:rPr sz="2550" spc="-25" dirty="0">
                <a:latin typeface="Microsoft Sans Serif"/>
                <a:cs typeface="Microsoft Sans Serif"/>
              </a:rPr>
              <a:t> </a:t>
            </a:r>
            <a:r>
              <a:rPr sz="2550" spc="-20" dirty="0">
                <a:latin typeface="Microsoft Sans Serif"/>
                <a:cs typeface="Microsoft Sans Serif"/>
              </a:rPr>
              <a:t>NLP.</a:t>
            </a:r>
            <a:endParaRPr sz="2550">
              <a:latin typeface="Microsoft Sans Serif"/>
              <a:cs typeface="Microsoft Sans Serif"/>
            </a:endParaRPr>
          </a:p>
          <a:p>
            <a:pPr marL="695960" marR="5080" lvl="1" indent="-262890">
              <a:lnSpc>
                <a:spcPct val="100800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–"/>
              <a:tabLst>
                <a:tab pos="695960" algn="l"/>
              </a:tabLst>
            </a:pPr>
            <a:r>
              <a:rPr sz="2550" dirty="0">
                <a:latin typeface="Microsoft Sans Serif"/>
                <a:cs typeface="Microsoft Sans Serif"/>
              </a:rPr>
              <a:t>Chatbots:</a:t>
            </a:r>
            <a:r>
              <a:rPr sz="2550" spc="-45" dirty="0">
                <a:latin typeface="Microsoft Sans Serif"/>
                <a:cs typeface="Microsoft Sans Serif"/>
              </a:rPr>
              <a:t> </a:t>
            </a:r>
            <a:r>
              <a:rPr sz="2550" spc="45" dirty="0">
                <a:latin typeface="Microsoft Sans Serif"/>
                <a:cs typeface="Microsoft Sans Serif"/>
              </a:rPr>
              <a:t>Chatbots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-20" dirty="0">
                <a:latin typeface="Microsoft Sans Serif"/>
                <a:cs typeface="Microsoft Sans Serif"/>
              </a:rPr>
              <a:t>can</a:t>
            </a:r>
            <a:r>
              <a:rPr sz="2550" spc="-40" dirty="0">
                <a:latin typeface="Microsoft Sans Serif"/>
                <a:cs typeface="Microsoft Sans Serif"/>
              </a:rPr>
              <a:t> </a:t>
            </a:r>
            <a:r>
              <a:rPr sz="2550" spc="50" dirty="0">
                <a:latin typeface="Microsoft Sans Serif"/>
                <a:cs typeface="Microsoft Sans Serif"/>
              </a:rPr>
              <a:t>be</a:t>
            </a:r>
            <a:r>
              <a:rPr sz="2550" spc="-35" dirty="0">
                <a:latin typeface="Microsoft Sans Serif"/>
                <a:cs typeface="Microsoft Sans Serif"/>
              </a:rPr>
              <a:t> </a:t>
            </a:r>
            <a:r>
              <a:rPr sz="2550" spc="110" dirty="0">
                <a:latin typeface="Microsoft Sans Serif"/>
                <a:cs typeface="Microsoft Sans Serif"/>
              </a:rPr>
              <a:t>found</a:t>
            </a:r>
            <a:r>
              <a:rPr sz="2550" spc="-40" dirty="0">
                <a:latin typeface="Microsoft Sans Serif"/>
                <a:cs typeface="Microsoft Sans Serif"/>
              </a:rPr>
              <a:t> </a:t>
            </a:r>
            <a:r>
              <a:rPr sz="2550" spc="70" dirty="0">
                <a:latin typeface="Microsoft Sans Serif"/>
                <a:cs typeface="Microsoft Sans Serif"/>
              </a:rPr>
              <a:t>on</a:t>
            </a:r>
            <a:r>
              <a:rPr sz="2550" spc="-30" dirty="0">
                <a:latin typeface="Microsoft Sans Serif"/>
                <a:cs typeface="Microsoft Sans Serif"/>
              </a:rPr>
              <a:t> </a:t>
            </a:r>
            <a:r>
              <a:rPr sz="2550" spc="60" dirty="0">
                <a:latin typeface="Microsoft Sans Serif"/>
                <a:cs typeface="Microsoft Sans Serif"/>
              </a:rPr>
              <a:t>most</a:t>
            </a:r>
            <a:r>
              <a:rPr sz="2550" spc="63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websites</a:t>
            </a:r>
            <a:r>
              <a:rPr sz="2550" spc="-1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and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are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way</a:t>
            </a:r>
            <a:r>
              <a:rPr sz="2550" spc="-10" dirty="0">
                <a:latin typeface="Microsoft Sans Serif"/>
                <a:cs typeface="Microsoft Sans Serif"/>
              </a:rPr>
              <a:t> </a:t>
            </a:r>
            <a:r>
              <a:rPr sz="2550" spc="165" dirty="0">
                <a:latin typeface="Microsoft Sans Serif"/>
                <a:cs typeface="Microsoft Sans Serif"/>
              </a:rPr>
              <a:t>for</a:t>
            </a:r>
            <a:r>
              <a:rPr sz="2550" dirty="0">
                <a:latin typeface="Microsoft Sans Serif"/>
                <a:cs typeface="Microsoft Sans Serif"/>
              </a:rPr>
              <a:t> companies</a:t>
            </a:r>
            <a:r>
              <a:rPr sz="2550" spc="-20" dirty="0">
                <a:latin typeface="Microsoft Sans Serif"/>
                <a:cs typeface="Microsoft Sans Serif"/>
              </a:rPr>
              <a:t> </a:t>
            </a:r>
            <a:r>
              <a:rPr sz="2550" spc="210" dirty="0">
                <a:latin typeface="Microsoft Sans Serif"/>
                <a:cs typeface="Microsoft Sans Serif"/>
              </a:rPr>
              <a:t>to</a:t>
            </a:r>
            <a:r>
              <a:rPr sz="2550" spc="-1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deal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spc="114" dirty="0">
                <a:latin typeface="Microsoft Sans Serif"/>
                <a:cs typeface="Microsoft Sans Serif"/>
              </a:rPr>
              <a:t>with </a:t>
            </a:r>
            <a:r>
              <a:rPr sz="2550" spc="50" dirty="0">
                <a:latin typeface="Microsoft Sans Serif"/>
                <a:cs typeface="Microsoft Sans Serif"/>
              </a:rPr>
              <a:t>common</a:t>
            </a:r>
            <a:r>
              <a:rPr sz="2550" spc="3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queries</a:t>
            </a:r>
            <a:r>
              <a:rPr sz="2550" spc="3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quickly.</a:t>
            </a:r>
            <a:endParaRPr sz="2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10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Applications</a:t>
            </a:r>
            <a:r>
              <a:rPr spc="-114" dirty="0"/>
              <a:t> </a:t>
            </a:r>
            <a:r>
              <a:rPr spc="250" dirty="0"/>
              <a:t>of</a:t>
            </a:r>
            <a:r>
              <a:rPr spc="-100" dirty="0"/>
              <a:t> </a:t>
            </a:r>
            <a:r>
              <a:rPr spc="-60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30209" cy="4432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6545" marR="633730" indent="-284480">
              <a:lnSpc>
                <a:spcPct val="100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</a:tabLst>
            </a:pPr>
            <a:r>
              <a:rPr sz="2300" spc="75" dirty="0">
                <a:latin typeface="Microsoft Sans Serif"/>
                <a:cs typeface="Microsoft Sans Serif"/>
              </a:rPr>
              <a:t>Virtual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Assistants: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70" dirty="0">
                <a:latin typeface="Microsoft Sans Serif"/>
                <a:cs typeface="Microsoft Sans Serif"/>
              </a:rPr>
              <a:t>Virtual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Assistants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like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Siri,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Cortana, </a:t>
            </a:r>
            <a:r>
              <a:rPr sz="2300" dirty="0">
                <a:latin typeface="Microsoft Sans Serif"/>
                <a:cs typeface="Microsoft Sans Serif"/>
              </a:rPr>
              <a:t>Google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Home,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Alexa,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70" dirty="0">
                <a:latin typeface="Microsoft Sans Serif"/>
                <a:cs typeface="Microsoft Sans Serif"/>
              </a:rPr>
              <a:t>etc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can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140" dirty="0">
                <a:latin typeface="Microsoft Sans Serif"/>
                <a:cs typeface="Microsoft Sans Serif"/>
              </a:rPr>
              <a:t>not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only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talk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190" dirty="0">
                <a:latin typeface="Microsoft Sans Serif"/>
                <a:cs typeface="Microsoft Sans Serif"/>
              </a:rPr>
              <a:t>to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you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but </a:t>
            </a:r>
            <a:r>
              <a:rPr sz="2300" spc="50" dirty="0">
                <a:latin typeface="Microsoft Sans Serif"/>
                <a:cs typeface="Microsoft Sans Serif"/>
              </a:rPr>
              <a:t>understand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commands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given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190" dirty="0">
                <a:latin typeface="Microsoft Sans Serif"/>
                <a:cs typeface="Microsoft Sans Serif"/>
              </a:rPr>
              <a:t>to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45" dirty="0">
                <a:latin typeface="Microsoft Sans Serif"/>
                <a:cs typeface="Microsoft Sans Serif"/>
              </a:rPr>
              <a:t>them.</a:t>
            </a:r>
            <a:endParaRPr sz="2300">
              <a:latin typeface="Microsoft Sans Serif"/>
              <a:cs typeface="Microsoft Sans Serif"/>
            </a:endParaRPr>
          </a:p>
          <a:p>
            <a:pPr marL="296545" marR="5080" indent="-284480">
              <a:lnSpc>
                <a:spcPct val="100699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</a:tabLst>
            </a:pPr>
            <a:r>
              <a:rPr sz="2300" spc="50" dirty="0">
                <a:latin typeface="Microsoft Sans Serif"/>
                <a:cs typeface="Microsoft Sans Serif"/>
              </a:rPr>
              <a:t>Targeted</a:t>
            </a:r>
            <a:r>
              <a:rPr sz="2300" spc="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Advertising: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Have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you</a:t>
            </a:r>
            <a:r>
              <a:rPr sz="2300" spc="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ever</a:t>
            </a:r>
            <a:r>
              <a:rPr sz="2300" spc="35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talked</a:t>
            </a:r>
            <a:r>
              <a:rPr sz="2300" spc="30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about</a:t>
            </a:r>
            <a:r>
              <a:rPr sz="2300" spc="45" dirty="0">
                <a:latin typeface="Microsoft Sans Serif"/>
                <a:cs typeface="Microsoft Sans Serif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a </a:t>
            </a:r>
            <a:r>
              <a:rPr sz="2300" spc="90" dirty="0">
                <a:latin typeface="Microsoft Sans Serif"/>
                <a:cs typeface="Microsoft Sans Serif"/>
              </a:rPr>
              <a:t>product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or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service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or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just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70" dirty="0">
                <a:latin typeface="Microsoft Sans Serif"/>
                <a:cs typeface="Microsoft Sans Serif"/>
              </a:rPr>
              <a:t>googled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something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then </a:t>
            </a:r>
            <a:r>
              <a:rPr sz="2300" spc="85" dirty="0">
                <a:latin typeface="Microsoft Sans Serif"/>
                <a:cs typeface="Microsoft Sans Serif"/>
              </a:rPr>
              <a:t>started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seeing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ads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150" dirty="0">
                <a:latin typeface="Microsoft Sans Serif"/>
                <a:cs typeface="Microsoft Sans Serif"/>
              </a:rPr>
              <a:t>for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it?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This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is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called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90" dirty="0">
                <a:latin typeface="Microsoft Sans Serif"/>
                <a:cs typeface="Microsoft Sans Serif"/>
              </a:rPr>
              <a:t>targeted </a:t>
            </a:r>
            <a:r>
              <a:rPr sz="2300" dirty="0">
                <a:latin typeface="Microsoft Sans Serif"/>
                <a:cs typeface="Microsoft Sans Serif"/>
              </a:rPr>
              <a:t>advertising,</a:t>
            </a:r>
            <a:r>
              <a:rPr sz="2300" spc="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45" dirty="0">
                <a:latin typeface="Microsoft Sans Serif"/>
                <a:cs typeface="Microsoft Sans Serif"/>
              </a:rPr>
              <a:t> </a:t>
            </a:r>
            <a:r>
              <a:rPr sz="2300" spc="170" dirty="0">
                <a:latin typeface="Microsoft Sans Serif"/>
                <a:cs typeface="Microsoft Sans Serif"/>
              </a:rPr>
              <a:t>it</a:t>
            </a:r>
            <a:r>
              <a:rPr sz="2300" spc="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helps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generate</a:t>
            </a:r>
            <a:r>
              <a:rPr sz="2300" spc="45" dirty="0">
                <a:latin typeface="Microsoft Sans Serif"/>
                <a:cs typeface="Microsoft Sans Serif"/>
              </a:rPr>
              <a:t> </a:t>
            </a:r>
            <a:r>
              <a:rPr sz="2300" spc="70" dirty="0">
                <a:latin typeface="Microsoft Sans Serif"/>
                <a:cs typeface="Microsoft Sans Serif"/>
              </a:rPr>
              <a:t>tons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spc="170" dirty="0">
                <a:latin typeface="Microsoft Sans Serif"/>
                <a:cs typeface="Microsoft Sans Serif"/>
              </a:rPr>
              <a:t>of</a:t>
            </a:r>
            <a:r>
              <a:rPr sz="2300" spc="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revenue</a:t>
            </a:r>
            <a:r>
              <a:rPr sz="2300" spc="45" dirty="0">
                <a:latin typeface="Microsoft Sans Serif"/>
                <a:cs typeface="Microsoft Sans Serif"/>
              </a:rPr>
              <a:t> </a:t>
            </a:r>
            <a:r>
              <a:rPr sz="2300" spc="125" dirty="0">
                <a:latin typeface="Microsoft Sans Serif"/>
                <a:cs typeface="Microsoft Sans Serif"/>
              </a:rPr>
              <a:t>for </a:t>
            </a:r>
            <a:r>
              <a:rPr sz="2300" dirty="0">
                <a:latin typeface="Microsoft Sans Serif"/>
                <a:cs typeface="Microsoft Sans Serif"/>
              </a:rPr>
              <a:t>sellers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0" dirty="0">
                <a:latin typeface="Microsoft Sans Serif"/>
                <a:cs typeface="Microsoft Sans Serif"/>
              </a:rPr>
              <a:t>as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they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can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reach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niche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audiences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at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the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right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time.</a:t>
            </a:r>
            <a:endParaRPr sz="2300">
              <a:latin typeface="Microsoft Sans Serif"/>
              <a:cs typeface="Microsoft Sans Serif"/>
            </a:endParaRPr>
          </a:p>
          <a:p>
            <a:pPr marL="296545" marR="61594" indent="-284480">
              <a:lnSpc>
                <a:spcPct val="100899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</a:tabLst>
            </a:pPr>
            <a:r>
              <a:rPr sz="2300" spc="65" dirty="0">
                <a:latin typeface="Microsoft Sans Serif"/>
                <a:cs typeface="Microsoft Sans Serif"/>
              </a:rPr>
              <a:t>Autocorrect: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Autocorrect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will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automatically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correct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any </a:t>
            </a:r>
            <a:r>
              <a:rPr sz="2300" dirty="0">
                <a:latin typeface="Microsoft Sans Serif"/>
                <a:cs typeface="Microsoft Sans Serif"/>
              </a:rPr>
              <a:t>spelling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mistakes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you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make,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apart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125" dirty="0">
                <a:latin typeface="Microsoft Sans Serif"/>
                <a:cs typeface="Microsoft Sans Serif"/>
              </a:rPr>
              <a:t>from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this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grammar </a:t>
            </a:r>
            <a:r>
              <a:rPr sz="2300" dirty="0">
                <a:latin typeface="Microsoft Sans Serif"/>
                <a:cs typeface="Microsoft Sans Serif"/>
              </a:rPr>
              <a:t>checkers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also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come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120" dirty="0">
                <a:latin typeface="Microsoft Sans Serif"/>
                <a:cs typeface="Microsoft Sans Serif"/>
              </a:rPr>
              <a:t>into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the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picture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which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helps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you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write </a:t>
            </a:r>
            <a:r>
              <a:rPr sz="2300" spc="-10" dirty="0">
                <a:latin typeface="Microsoft Sans Serif"/>
                <a:cs typeface="Microsoft Sans Serif"/>
              </a:rPr>
              <a:t>flawlessly.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10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Applications</a:t>
            </a:r>
            <a:r>
              <a:rPr spc="-114" dirty="0"/>
              <a:t> </a:t>
            </a:r>
            <a:r>
              <a:rPr spc="250" dirty="0"/>
              <a:t>of</a:t>
            </a:r>
            <a:r>
              <a:rPr spc="-100" dirty="0"/>
              <a:t> </a:t>
            </a:r>
            <a:r>
              <a:rPr spc="-60" dirty="0"/>
              <a:t>NLP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5080">
              <a:lnSpc>
                <a:spcPct val="100099"/>
              </a:lnSpc>
              <a:spcBef>
                <a:spcPts val="95"/>
              </a:spcBef>
            </a:pPr>
            <a:r>
              <a:rPr spc="80" dirty="0"/>
              <a:t>Information</a:t>
            </a:r>
            <a:r>
              <a:rPr spc="-70" dirty="0"/>
              <a:t> </a:t>
            </a:r>
            <a:r>
              <a:rPr spc="70" dirty="0"/>
              <a:t>retrieval</a:t>
            </a:r>
            <a:r>
              <a:rPr spc="-8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Web</a:t>
            </a:r>
            <a:r>
              <a:rPr spc="-80" dirty="0"/>
              <a:t> Search: </a:t>
            </a:r>
            <a:r>
              <a:rPr spc="-10" dirty="0"/>
              <a:t>Google,</a:t>
            </a:r>
            <a:r>
              <a:rPr spc="-75" dirty="0"/>
              <a:t> </a:t>
            </a:r>
            <a:r>
              <a:rPr spc="-10" dirty="0"/>
              <a:t>Yahoo, </a:t>
            </a:r>
            <a:r>
              <a:rPr dirty="0"/>
              <a:t>Bing,</a:t>
            </a:r>
            <a:r>
              <a:rPr spc="-10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105" dirty="0"/>
              <a:t>other</a:t>
            </a:r>
            <a:r>
              <a:rPr spc="-80" dirty="0"/>
              <a:t> </a:t>
            </a:r>
            <a:r>
              <a:rPr spc="-20" dirty="0"/>
              <a:t>search</a:t>
            </a:r>
            <a:r>
              <a:rPr spc="-85" dirty="0"/>
              <a:t> </a:t>
            </a:r>
            <a:r>
              <a:rPr dirty="0"/>
              <a:t>engines</a:t>
            </a:r>
            <a:r>
              <a:rPr spc="-90" dirty="0"/>
              <a:t> </a:t>
            </a:r>
            <a:r>
              <a:rPr spc="-40" dirty="0"/>
              <a:t>base</a:t>
            </a:r>
            <a:r>
              <a:rPr spc="-95" dirty="0"/>
              <a:t> </a:t>
            </a:r>
            <a:r>
              <a:rPr spc="105" dirty="0"/>
              <a:t>their</a:t>
            </a:r>
            <a:r>
              <a:rPr spc="-90" dirty="0"/>
              <a:t> </a:t>
            </a:r>
            <a:r>
              <a:rPr spc="-10" dirty="0"/>
              <a:t>machine </a:t>
            </a:r>
            <a:r>
              <a:rPr spc="65" dirty="0"/>
              <a:t>translation</a:t>
            </a:r>
            <a:r>
              <a:rPr spc="-30" dirty="0"/>
              <a:t> </a:t>
            </a:r>
            <a:r>
              <a:rPr spc="50" dirty="0"/>
              <a:t>technology</a:t>
            </a:r>
            <a:r>
              <a:rPr spc="-25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spc="-90" dirty="0"/>
              <a:t>NLP</a:t>
            </a:r>
            <a:r>
              <a:rPr spc="-40" dirty="0"/>
              <a:t> </a:t>
            </a:r>
            <a:r>
              <a:rPr dirty="0"/>
              <a:t>deep</a:t>
            </a:r>
            <a:r>
              <a:rPr spc="-35" dirty="0"/>
              <a:t> </a:t>
            </a:r>
            <a:r>
              <a:rPr spc="-10" dirty="0"/>
              <a:t>learning </a:t>
            </a:r>
            <a:r>
              <a:rPr dirty="0"/>
              <a:t>models.</a:t>
            </a:r>
            <a:r>
              <a:rPr spc="-40" dirty="0"/>
              <a:t> </a:t>
            </a:r>
            <a:r>
              <a:rPr spc="145" dirty="0"/>
              <a:t>It</a:t>
            </a:r>
            <a:r>
              <a:rPr spc="-25" dirty="0"/>
              <a:t> </a:t>
            </a:r>
            <a:r>
              <a:rPr dirty="0"/>
              <a:t>allows</a:t>
            </a:r>
            <a:r>
              <a:rPr spc="-25" dirty="0"/>
              <a:t> </a:t>
            </a:r>
            <a:r>
              <a:rPr spc="55" dirty="0"/>
              <a:t>algorithms</a:t>
            </a:r>
            <a:r>
              <a:rPr spc="-30" dirty="0"/>
              <a:t> </a:t>
            </a:r>
            <a:r>
              <a:rPr spc="195" dirty="0"/>
              <a:t>to</a:t>
            </a:r>
            <a:r>
              <a:rPr spc="-30" dirty="0"/>
              <a:t> </a:t>
            </a:r>
            <a:r>
              <a:rPr dirty="0"/>
              <a:t>read</a:t>
            </a:r>
            <a:r>
              <a:rPr spc="-35" dirty="0"/>
              <a:t> </a:t>
            </a:r>
            <a:r>
              <a:rPr spc="160" dirty="0"/>
              <a:t>text</a:t>
            </a:r>
            <a:r>
              <a:rPr spc="-2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50" dirty="0"/>
              <a:t>a </a:t>
            </a:r>
            <a:r>
              <a:rPr dirty="0"/>
              <a:t>webpage,</a:t>
            </a:r>
            <a:r>
              <a:rPr spc="-60" dirty="0"/>
              <a:t> </a:t>
            </a:r>
            <a:r>
              <a:rPr spc="114" dirty="0"/>
              <a:t>interpret</a:t>
            </a:r>
            <a:r>
              <a:rPr spc="-45" dirty="0"/>
              <a:t> </a:t>
            </a:r>
            <a:r>
              <a:rPr spc="75" dirty="0"/>
              <a:t>its</a:t>
            </a:r>
            <a:r>
              <a:rPr spc="-35" dirty="0"/>
              <a:t> </a:t>
            </a:r>
            <a:r>
              <a:rPr dirty="0"/>
              <a:t>meaning</a:t>
            </a:r>
            <a:r>
              <a:rPr spc="-5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65" dirty="0"/>
              <a:t>translate</a:t>
            </a:r>
            <a:r>
              <a:rPr spc="-50" dirty="0"/>
              <a:t> </a:t>
            </a:r>
            <a:r>
              <a:rPr spc="190" dirty="0"/>
              <a:t>it</a:t>
            </a:r>
            <a:r>
              <a:rPr spc="-45" dirty="0"/>
              <a:t> </a:t>
            </a:r>
            <a:r>
              <a:rPr spc="165" dirty="0"/>
              <a:t>to </a:t>
            </a:r>
            <a:r>
              <a:rPr spc="65" dirty="0"/>
              <a:t>another</a:t>
            </a:r>
            <a:r>
              <a:rPr spc="-80" dirty="0"/>
              <a:t> </a:t>
            </a:r>
            <a:r>
              <a:rPr spc="-10" dirty="0"/>
              <a:t>language.</a:t>
            </a:r>
          </a:p>
          <a:p>
            <a:pPr marL="20320">
              <a:lnSpc>
                <a:spcPct val="100000"/>
              </a:lnSpc>
              <a:spcBef>
                <a:spcPts val="800"/>
              </a:spcBef>
            </a:pPr>
            <a:r>
              <a:rPr spc="-10" dirty="0"/>
              <a:t>Grammar</a:t>
            </a:r>
            <a:r>
              <a:rPr spc="-120" dirty="0"/>
              <a:t> </a:t>
            </a:r>
            <a:r>
              <a:rPr spc="-10" dirty="0"/>
              <a:t>Correction:</a:t>
            </a:r>
          </a:p>
          <a:p>
            <a:pPr marL="20320" marR="514984">
              <a:lnSpc>
                <a:spcPct val="100000"/>
              </a:lnSpc>
              <a:spcBef>
                <a:spcPts val="800"/>
              </a:spcBef>
            </a:pPr>
            <a:r>
              <a:rPr spc="-100" dirty="0"/>
              <a:t>NLP</a:t>
            </a:r>
            <a:r>
              <a:rPr spc="-85" dirty="0"/>
              <a:t> </a:t>
            </a:r>
            <a:r>
              <a:rPr spc="45" dirty="0"/>
              <a:t>technique</a:t>
            </a:r>
            <a:r>
              <a:rPr spc="-90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spc="65" dirty="0"/>
              <a:t>widely</a:t>
            </a:r>
            <a:r>
              <a:rPr spc="-90" dirty="0"/>
              <a:t> </a:t>
            </a:r>
            <a:r>
              <a:rPr dirty="0"/>
              <a:t>used</a:t>
            </a:r>
            <a:r>
              <a:rPr spc="-100" dirty="0"/>
              <a:t> </a:t>
            </a:r>
            <a:r>
              <a:rPr dirty="0"/>
              <a:t>by</a:t>
            </a:r>
            <a:r>
              <a:rPr spc="-80" dirty="0"/>
              <a:t> </a:t>
            </a:r>
            <a:r>
              <a:rPr spc="100" dirty="0"/>
              <a:t>word</a:t>
            </a:r>
            <a:r>
              <a:rPr spc="-80" dirty="0"/>
              <a:t> </a:t>
            </a:r>
            <a:r>
              <a:rPr spc="-10" dirty="0"/>
              <a:t>processor </a:t>
            </a:r>
            <a:r>
              <a:rPr spc="80" dirty="0"/>
              <a:t>software</a:t>
            </a:r>
            <a:r>
              <a:rPr spc="-30" dirty="0"/>
              <a:t> </a:t>
            </a:r>
            <a:r>
              <a:rPr spc="50" dirty="0"/>
              <a:t>like</a:t>
            </a:r>
            <a:r>
              <a:rPr spc="-25" dirty="0"/>
              <a:t> </a:t>
            </a:r>
            <a:r>
              <a:rPr spc="-95" dirty="0"/>
              <a:t>MS-</a:t>
            </a:r>
            <a:r>
              <a:rPr spc="75" dirty="0"/>
              <a:t>word</a:t>
            </a:r>
            <a:r>
              <a:rPr spc="-15" dirty="0"/>
              <a:t> </a:t>
            </a:r>
            <a:r>
              <a:rPr spc="155" dirty="0"/>
              <a:t>for</a:t>
            </a:r>
            <a:r>
              <a:rPr spc="-25" dirty="0"/>
              <a:t> </a:t>
            </a:r>
            <a:r>
              <a:rPr dirty="0"/>
              <a:t>spelling</a:t>
            </a:r>
            <a:r>
              <a:rPr spc="-25" dirty="0"/>
              <a:t> </a:t>
            </a:r>
            <a:r>
              <a:rPr spc="60" dirty="0"/>
              <a:t>correction</a:t>
            </a:r>
            <a:r>
              <a:rPr spc="-15" dirty="0"/>
              <a:t> </a:t>
            </a:r>
            <a:r>
              <a:rPr spc="-50" dirty="0"/>
              <a:t>&amp; </a:t>
            </a:r>
            <a:r>
              <a:rPr dirty="0"/>
              <a:t>grammar</a:t>
            </a:r>
            <a:r>
              <a:rPr spc="125" dirty="0"/>
              <a:t> </a:t>
            </a:r>
            <a:r>
              <a:rPr spc="-10" dirty="0"/>
              <a:t>check.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10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Applications</a:t>
            </a:r>
            <a:r>
              <a:rPr spc="-114" dirty="0"/>
              <a:t> </a:t>
            </a:r>
            <a:r>
              <a:rPr spc="250" dirty="0"/>
              <a:t>of</a:t>
            </a:r>
            <a:r>
              <a:rPr spc="-100" dirty="0"/>
              <a:t> </a:t>
            </a:r>
            <a:r>
              <a:rPr spc="-60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6144"/>
            <a:ext cx="8104505" cy="45478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34010" indent="-321310">
              <a:lnSpc>
                <a:spcPct val="100000"/>
              </a:lnSpc>
              <a:spcBef>
                <a:spcPts val="77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</a:tabLst>
            </a:pPr>
            <a:r>
              <a:rPr sz="2600" spc="60" dirty="0">
                <a:latin typeface="Microsoft Sans Serif"/>
                <a:cs typeface="Microsoft Sans Serif"/>
              </a:rPr>
              <a:t>Question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Answering</a:t>
            </a:r>
            <a:endParaRPr sz="2600">
              <a:latin typeface="Microsoft Sans Serif"/>
              <a:cs typeface="Microsoft Sans Serif"/>
            </a:endParaRPr>
          </a:p>
          <a:p>
            <a:pPr marL="709295" marR="591820" lvl="1" indent="-268605">
              <a:lnSpc>
                <a:spcPct val="101000"/>
              </a:lnSpc>
              <a:spcBef>
                <a:spcPts val="650"/>
              </a:spcBef>
              <a:buClr>
                <a:srgbClr val="6697CC"/>
              </a:buClr>
              <a:buFont typeface="Arial MT"/>
              <a:buChar char="–"/>
              <a:tabLst>
                <a:tab pos="7105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Type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in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keywords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204" dirty="0">
                <a:latin typeface="Microsoft Sans Serif"/>
                <a:cs typeface="Microsoft Sans Serif"/>
              </a:rPr>
              <a:t>to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ask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Questions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in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Natural 	</a:t>
            </a:r>
            <a:r>
              <a:rPr sz="2600" spc="-10" dirty="0">
                <a:latin typeface="Microsoft Sans Serif"/>
                <a:cs typeface="Microsoft Sans Serif"/>
              </a:rPr>
              <a:t>Language.</a:t>
            </a:r>
            <a:endParaRPr sz="2600">
              <a:latin typeface="Microsoft Sans Serif"/>
              <a:cs typeface="Microsoft Sans Serif"/>
            </a:endParaRPr>
          </a:p>
          <a:p>
            <a:pPr marL="334010" indent="-321310">
              <a:lnSpc>
                <a:spcPct val="100000"/>
              </a:lnSpc>
              <a:spcBef>
                <a:spcPts val="775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Text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Summarization</a:t>
            </a:r>
            <a:endParaRPr sz="2600">
              <a:latin typeface="Microsoft Sans Serif"/>
              <a:cs typeface="Microsoft Sans Serif"/>
            </a:endParaRPr>
          </a:p>
          <a:p>
            <a:pPr marL="709295" marR="1439545" lvl="1" indent="-268605">
              <a:lnSpc>
                <a:spcPct val="1008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–"/>
              <a:tabLst>
                <a:tab pos="7105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process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summarising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important 	information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from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source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204" dirty="0">
                <a:latin typeface="Microsoft Sans Serif"/>
                <a:cs typeface="Microsoft Sans Serif"/>
              </a:rPr>
              <a:t>to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produce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a 	</a:t>
            </a:r>
            <a:r>
              <a:rPr sz="2600" spc="70" dirty="0">
                <a:latin typeface="Microsoft Sans Serif"/>
                <a:cs typeface="Microsoft Sans Serif"/>
              </a:rPr>
              <a:t>shortened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version</a:t>
            </a:r>
            <a:endParaRPr sz="2600">
              <a:latin typeface="Microsoft Sans Serif"/>
              <a:cs typeface="Microsoft Sans Serif"/>
            </a:endParaRPr>
          </a:p>
          <a:p>
            <a:pPr marL="334010" indent="-321310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</a:tabLst>
            </a:pPr>
            <a:r>
              <a:rPr sz="2600" dirty="0">
                <a:latin typeface="Microsoft Sans Serif"/>
                <a:cs typeface="Microsoft Sans Serif"/>
              </a:rPr>
              <a:t>Machine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Translation</a:t>
            </a:r>
            <a:endParaRPr sz="2600">
              <a:latin typeface="Microsoft Sans Serif"/>
              <a:cs typeface="Microsoft Sans Serif"/>
            </a:endParaRPr>
          </a:p>
          <a:p>
            <a:pPr marL="709295" marR="5080" lvl="1" indent="-268605">
              <a:lnSpc>
                <a:spcPct val="101000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–"/>
              <a:tabLst>
                <a:tab pos="710565" algn="l"/>
              </a:tabLst>
            </a:pPr>
            <a:r>
              <a:rPr sz="2600" spc="-65" dirty="0">
                <a:latin typeface="Microsoft Sans Serif"/>
                <a:cs typeface="Microsoft Sans Serif"/>
              </a:rPr>
              <a:t>Use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computer</a:t>
            </a:r>
            <a:r>
              <a:rPr sz="2600" dirty="0">
                <a:latin typeface="Microsoft Sans Serif"/>
                <a:cs typeface="Microsoft Sans Serif"/>
              </a:rPr>
              <a:t> applications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204" dirty="0">
                <a:latin typeface="Microsoft Sans Serif"/>
                <a:cs typeface="Microsoft Sans Serif"/>
              </a:rPr>
              <a:t>to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translate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text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or 	</a:t>
            </a:r>
            <a:r>
              <a:rPr sz="2600" dirty="0">
                <a:latin typeface="Microsoft Sans Serif"/>
                <a:cs typeface="Microsoft Sans Serif"/>
              </a:rPr>
              <a:t>speech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from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one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natural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language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204" dirty="0">
                <a:latin typeface="Microsoft Sans Serif"/>
                <a:cs typeface="Microsoft Sans Serif"/>
              </a:rPr>
              <a:t>to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another.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2915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Future</a:t>
            </a:r>
            <a:r>
              <a:rPr spc="-114" dirty="0"/>
              <a:t> </a:t>
            </a:r>
            <a:r>
              <a:rPr spc="245" dirty="0"/>
              <a:t>of</a:t>
            </a:r>
            <a:r>
              <a:rPr spc="-110" dirty="0"/>
              <a:t> </a:t>
            </a:r>
            <a:r>
              <a:rPr spc="-75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6583"/>
            <a:ext cx="8105775" cy="446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3370" marR="5080" indent="-281305">
              <a:lnSpc>
                <a:spcPct val="995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293370" algn="l"/>
              </a:tabLst>
            </a:pPr>
            <a:r>
              <a:rPr sz="2300" dirty="0">
                <a:latin typeface="Microsoft Sans Serif"/>
                <a:cs typeface="Microsoft Sans Serif"/>
              </a:rPr>
              <a:t>Human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readable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natural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language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processing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is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the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35" dirty="0">
                <a:latin typeface="Microsoft Sans Serif"/>
                <a:cs typeface="Microsoft Sans Serif"/>
              </a:rPr>
              <a:t>biggest </a:t>
            </a:r>
            <a:r>
              <a:rPr sz="2300" dirty="0">
                <a:latin typeface="Microsoft Sans Serif"/>
                <a:cs typeface="Microsoft Sans Serif"/>
              </a:rPr>
              <a:t>Al-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45" dirty="0">
                <a:latin typeface="Microsoft Sans Serif"/>
                <a:cs typeface="Microsoft Sans Serif"/>
              </a:rPr>
              <a:t>problem.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125" dirty="0">
                <a:latin typeface="Microsoft Sans Serif"/>
                <a:cs typeface="Microsoft Sans Serif"/>
              </a:rPr>
              <a:t>It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is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all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most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45" dirty="0">
                <a:latin typeface="Microsoft Sans Serif"/>
                <a:cs typeface="Microsoft Sans Serif"/>
              </a:rPr>
              <a:t>same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14" dirty="0">
                <a:latin typeface="Microsoft Sans Serif"/>
                <a:cs typeface="Microsoft Sans Serif"/>
              </a:rPr>
              <a:t>as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solving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00" dirty="0">
                <a:latin typeface="Microsoft Sans Serif"/>
                <a:cs typeface="Microsoft Sans Serif"/>
              </a:rPr>
              <a:t>the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central </a:t>
            </a:r>
            <a:r>
              <a:rPr sz="2300" spc="60" dirty="0">
                <a:latin typeface="Microsoft Sans Serif"/>
                <a:cs typeface="Microsoft Sans Serif"/>
              </a:rPr>
              <a:t>artificial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10" dirty="0">
                <a:latin typeface="Microsoft Sans Serif"/>
                <a:cs typeface="Microsoft Sans Serif"/>
              </a:rPr>
              <a:t>intelligence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problem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10" dirty="0">
                <a:latin typeface="Microsoft Sans Serif"/>
                <a:cs typeface="Microsoft Sans Serif"/>
              </a:rPr>
              <a:t>and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10" dirty="0">
                <a:latin typeface="Microsoft Sans Serif"/>
                <a:cs typeface="Microsoft Sans Serif"/>
              </a:rPr>
              <a:t>making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45" dirty="0">
                <a:latin typeface="Microsoft Sans Serif"/>
                <a:cs typeface="Microsoft Sans Serif"/>
              </a:rPr>
              <a:t>computers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as </a:t>
            </a:r>
            <a:r>
              <a:rPr sz="2300" spc="85" dirty="0">
                <a:latin typeface="Microsoft Sans Serif"/>
                <a:cs typeface="Microsoft Sans Serif"/>
              </a:rPr>
              <a:t>intelligent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14" dirty="0">
                <a:latin typeface="Microsoft Sans Serif"/>
                <a:cs typeface="Microsoft Sans Serif"/>
              </a:rPr>
              <a:t>as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people.</a:t>
            </a:r>
            <a:endParaRPr sz="2300">
              <a:latin typeface="Microsoft Sans Serif"/>
              <a:cs typeface="Microsoft Sans Serif"/>
            </a:endParaRPr>
          </a:p>
          <a:p>
            <a:pPr marL="293370" marR="118110" indent="-281305">
              <a:lnSpc>
                <a:spcPct val="99500"/>
              </a:lnSpc>
              <a:spcBef>
                <a:spcPts val="665"/>
              </a:spcBef>
              <a:buClr>
                <a:srgbClr val="6697CC"/>
              </a:buClr>
              <a:buFont typeface="Arial MT"/>
              <a:buChar char="•"/>
              <a:tabLst>
                <a:tab pos="293370" algn="l"/>
              </a:tabLst>
            </a:pPr>
            <a:r>
              <a:rPr sz="2300" spc="50" dirty="0">
                <a:latin typeface="Microsoft Sans Serif"/>
                <a:cs typeface="Microsoft Sans Serif"/>
              </a:rPr>
              <a:t>Future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computers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spc="100" dirty="0">
                <a:latin typeface="Microsoft Sans Serif"/>
                <a:cs typeface="Microsoft Sans Serif"/>
              </a:rPr>
              <a:t>or</a:t>
            </a:r>
            <a:r>
              <a:rPr sz="2300" spc="-20" dirty="0">
                <a:latin typeface="Microsoft Sans Serif"/>
                <a:cs typeface="Microsoft Sans Serif"/>
              </a:rPr>
              <a:t> machines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with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the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help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155" dirty="0">
                <a:latin typeface="Microsoft Sans Serif"/>
                <a:cs typeface="Microsoft Sans Serif"/>
              </a:rPr>
              <a:t>of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spc="-90" dirty="0">
                <a:latin typeface="Microsoft Sans Serif"/>
                <a:cs typeface="Microsoft Sans Serif"/>
              </a:rPr>
              <a:t>NLP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will </a:t>
            </a:r>
            <a:r>
              <a:rPr sz="2300" dirty="0">
                <a:latin typeface="Microsoft Sans Serif"/>
                <a:cs typeface="Microsoft Sans Serif"/>
              </a:rPr>
              <a:t>able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spc="175" dirty="0">
                <a:latin typeface="Microsoft Sans Serif"/>
                <a:cs typeface="Microsoft Sans Serif"/>
              </a:rPr>
              <a:t>to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learn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125" dirty="0">
                <a:latin typeface="Microsoft Sans Serif"/>
                <a:cs typeface="Microsoft Sans Serif"/>
              </a:rPr>
              <a:t>from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the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information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online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apply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125" dirty="0">
                <a:latin typeface="Microsoft Sans Serif"/>
                <a:cs typeface="Microsoft Sans Serif"/>
              </a:rPr>
              <a:t>that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in </a:t>
            </a:r>
            <a:r>
              <a:rPr sz="2300" spc="95" dirty="0">
                <a:latin typeface="Microsoft Sans Serif"/>
                <a:cs typeface="Microsoft Sans Serif"/>
              </a:rPr>
              <a:t>the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real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world,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however,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lots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160" dirty="0">
                <a:latin typeface="Microsoft Sans Serif"/>
                <a:cs typeface="Microsoft Sans Serif"/>
              </a:rPr>
              <a:t>of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85" dirty="0">
                <a:latin typeface="Microsoft Sans Serif"/>
                <a:cs typeface="Microsoft Sans Serif"/>
              </a:rPr>
              <a:t>work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need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175" dirty="0">
                <a:latin typeface="Microsoft Sans Serif"/>
                <a:cs typeface="Microsoft Sans Serif"/>
              </a:rPr>
              <a:t>to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50" dirty="0">
                <a:latin typeface="Microsoft Sans Serif"/>
                <a:cs typeface="Microsoft Sans Serif"/>
              </a:rPr>
              <a:t>on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30" dirty="0">
                <a:latin typeface="Microsoft Sans Serif"/>
                <a:cs typeface="Microsoft Sans Serif"/>
              </a:rPr>
              <a:t>this </a:t>
            </a:r>
            <a:r>
              <a:rPr sz="2300" spc="-10" dirty="0">
                <a:latin typeface="Microsoft Sans Serif"/>
                <a:cs typeface="Microsoft Sans Serif"/>
              </a:rPr>
              <a:t>regard.</a:t>
            </a:r>
            <a:endParaRPr sz="2300">
              <a:latin typeface="Microsoft Sans Serif"/>
              <a:cs typeface="Microsoft Sans Serif"/>
            </a:endParaRPr>
          </a:p>
          <a:p>
            <a:pPr marL="292100" indent="-279400" algn="just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Arial MT"/>
              <a:buChar char="•"/>
              <a:tabLst>
                <a:tab pos="292100" algn="l"/>
              </a:tabLst>
            </a:pPr>
            <a:r>
              <a:rPr sz="2300" spc="55" dirty="0">
                <a:latin typeface="Microsoft Sans Serif"/>
                <a:cs typeface="Microsoft Sans Serif"/>
              </a:rPr>
              <a:t>Natural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language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125" dirty="0">
                <a:latin typeface="Microsoft Sans Serif"/>
                <a:cs typeface="Microsoft Sans Serif"/>
              </a:rPr>
              <a:t>toolkit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90" dirty="0">
                <a:latin typeface="Microsoft Sans Serif"/>
                <a:cs typeface="Microsoft Sans Serif"/>
              </a:rPr>
              <a:t>or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nltk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become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more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effective</a:t>
            </a:r>
            <a:endParaRPr sz="2300">
              <a:latin typeface="Microsoft Sans Serif"/>
              <a:cs typeface="Microsoft Sans Serif"/>
            </a:endParaRPr>
          </a:p>
          <a:p>
            <a:pPr marL="291465" marR="428625" indent="-279400" algn="just">
              <a:lnSpc>
                <a:spcPct val="99500"/>
              </a:lnSpc>
              <a:spcBef>
                <a:spcPts val="650"/>
              </a:spcBef>
              <a:buClr>
                <a:srgbClr val="6697CC"/>
              </a:buClr>
              <a:buFont typeface="Arial MT"/>
              <a:buChar char="•"/>
              <a:tabLst>
                <a:tab pos="293370" algn="l"/>
              </a:tabLst>
            </a:pPr>
            <a:r>
              <a:rPr sz="2300" dirty="0">
                <a:latin typeface="Microsoft Sans Serif"/>
                <a:cs typeface="Microsoft Sans Serif"/>
              </a:rPr>
              <a:t>Combined</a:t>
            </a:r>
            <a:r>
              <a:rPr sz="2300" spc="35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with</a:t>
            </a:r>
            <a:r>
              <a:rPr sz="2300" spc="4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natural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language</a:t>
            </a:r>
            <a:r>
              <a:rPr sz="2300" spc="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generation,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spc="35" dirty="0">
                <a:latin typeface="Microsoft Sans Serif"/>
                <a:cs typeface="Microsoft Sans Serif"/>
              </a:rPr>
              <a:t>computers 	</a:t>
            </a:r>
            <a:r>
              <a:rPr sz="2300" spc="85" dirty="0">
                <a:latin typeface="Microsoft Sans Serif"/>
                <a:cs typeface="Microsoft Sans Serif"/>
              </a:rPr>
              <a:t>will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become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more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capable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155" dirty="0">
                <a:latin typeface="Microsoft Sans Serif"/>
                <a:cs typeface="Microsoft Sans Serif"/>
              </a:rPr>
              <a:t>of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receiving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giving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useful 	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45" dirty="0">
                <a:latin typeface="Microsoft Sans Serif"/>
                <a:cs typeface="Microsoft Sans Serif"/>
              </a:rPr>
              <a:t>resourceful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information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100" dirty="0">
                <a:latin typeface="Microsoft Sans Serif"/>
                <a:cs typeface="Microsoft Sans Serif"/>
              </a:rPr>
              <a:t>or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data.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5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/>
              <a:t>Natural</a:t>
            </a:r>
            <a:r>
              <a:rPr sz="2800" spc="-90" dirty="0"/>
              <a:t> </a:t>
            </a:r>
            <a:r>
              <a:rPr sz="2800" spc="-25" dirty="0"/>
              <a:t>Language</a:t>
            </a:r>
            <a:r>
              <a:rPr sz="2800" spc="-110" dirty="0"/>
              <a:t> </a:t>
            </a:r>
            <a:r>
              <a:rPr sz="2800" spc="-80" dirty="0"/>
              <a:t>vs.</a:t>
            </a:r>
            <a:r>
              <a:rPr sz="2800" spc="-100" dirty="0"/>
              <a:t> </a:t>
            </a:r>
            <a:r>
              <a:rPr sz="2800" spc="45" dirty="0"/>
              <a:t>Computer</a:t>
            </a:r>
            <a:r>
              <a:rPr sz="2800" spc="-95" dirty="0"/>
              <a:t> </a:t>
            </a:r>
            <a:r>
              <a:rPr sz="2800" spc="-10" dirty="0"/>
              <a:t>Language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318" y="1663957"/>
            <a:ext cx="8424722" cy="240955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39801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50" dirty="0"/>
              <a:t> </a:t>
            </a:r>
            <a:r>
              <a:rPr spc="245" dirty="0"/>
              <a:t>of</a:t>
            </a:r>
            <a:r>
              <a:rPr spc="-50" dirty="0"/>
              <a:t> 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3616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703" y="1517662"/>
            <a:ext cx="7769859" cy="45199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91869">
              <a:lnSpc>
                <a:spcPct val="101699"/>
              </a:lnSpc>
              <a:spcBef>
                <a:spcPts val="85"/>
              </a:spcBef>
            </a:pPr>
            <a:r>
              <a:rPr sz="2000" spc="-25" dirty="0">
                <a:latin typeface="Microsoft Sans Serif"/>
                <a:cs typeface="Microsoft Sans Serif"/>
              </a:rPr>
              <a:t>Users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ask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questions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about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subject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105" dirty="0">
                <a:latin typeface="Microsoft Sans Serif"/>
                <a:cs typeface="Microsoft Sans Serif"/>
              </a:rPr>
              <a:t>get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direct </a:t>
            </a:r>
            <a:r>
              <a:rPr sz="2000" dirty="0">
                <a:latin typeface="Microsoft Sans Serif"/>
                <a:cs typeface="Microsoft Sans Serif"/>
              </a:rPr>
              <a:t>response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within</a:t>
            </a:r>
            <a:r>
              <a:rPr sz="2000" spc="-10" dirty="0">
                <a:latin typeface="Microsoft Sans Serif"/>
                <a:cs typeface="Microsoft Sans Serif"/>
              </a:rPr>
              <a:t> seconds.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spc="-45" dirty="0">
                <a:latin typeface="Microsoft Sans Serif"/>
                <a:cs typeface="Microsoft Sans Serif"/>
              </a:rPr>
              <a:t>NLP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system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provides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answers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to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the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questions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in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natural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language</a:t>
            </a:r>
            <a:endParaRPr sz="2000">
              <a:latin typeface="Microsoft Sans Serif"/>
              <a:cs typeface="Microsoft Sans Serif"/>
            </a:endParaRPr>
          </a:p>
          <a:p>
            <a:pPr marL="12700" marR="27940">
              <a:lnSpc>
                <a:spcPct val="101299"/>
              </a:lnSpc>
              <a:spcBef>
                <a:spcPts val="630"/>
              </a:spcBef>
            </a:pPr>
            <a:r>
              <a:rPr sz="2000" spc="-45" dirty="0">
                <a:latin typeface="Microsoft Sans Serif"/>
                <a:cs typeface="Microsoft Sans Serif"/>
              </a:rPr>
              <a:t>NLP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system </a:t>
            </a:r>
            <a:r>
              <a:rPr sz="2000" spc="90" dirty="0">
                <a:latin typeface="Microsoft Sans Serif"/>
                <a:cs typeface="Microsoft Sans Serif"/>
              </a:rPr>
              <a:t>offers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exact answers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to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questions, </a:t>
            </a:r>
            <a:r>
              <a:rPr sz="2000" spc="60" dirty="0">
                <a:latin typeface="Microsoft Sans Serif"/>
                <a:cs typeface="Microsoft Sans Serif"/>
              </a:rPr>
              <a:t>no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unnecessary </a:t>
            </a:r>
            <a:r>
              <a:rPr sz="2000" spc="95" dirty="0">
                <a:latin typeface="Microsoft Sans Serif"/>
                <a:cs typeface="Microsoft Sans Serif"/>
              </a:rPr>
              <a:t>or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unwanted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information</a:t>
            </a:r>
            <a:endParaRPr sz="2000">
              <a:latin typeface="Microsoft Sans Serif"/>
              <a:cs typeface="Microsoft Sans Serif"/>
            </a:endParaRPr>
          </a:p>
          <a:p>
            <a:pPr marL="12700" marR="5080">
              <a:lnSpc>
                <a:spcPct val="101200"/>
              </a:lnSpc>
              <a:spcBef>
                <a:spcPts val="630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accuracy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155" dirty="0">
                <a:latin typeface="Microsoft Sans Serif"/>
                <a:cs typeface="Microsoft Sans Serif"/>
              </a:rPr>
              <a:t>of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the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answers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increases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with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the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amount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155" dirty="0">
                <a:latin typeface="Microsoft Sans Serif"/>
                <a:cs typeface="Microsoft Sans Serif"/>
              </a:rPr>
              <a:t>of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45" dirty="0">
                <a:latin typeface="Microsoft Sans Serif"/>
                <a:cs typeface="Microsoft Sans Serif"/>
              </a:rPr>
              <a:t>relevant </a:t>
            </a:r>
            <a:r>
              <a:rPr sz="2000" spc="85" dirty="0">
                <a:latin typeface="Microsoft Sans Serif"/>
                <a:cs typeface="Microsoft Sans Serif"/>
              </a:rPr>
              <a:t>information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provided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in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the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question.</a:t>
            </a:r>
            <a:endParaRPr sz="2000">
              <a:latin typeface="Microsoft Sans Serif"/>
              <a:cs typeface="Microsoft Sans Serif"/>
            </a:endParaRPr>
          </a:p>
          <a:p>
            <a:pPr marL="12700" marR="245745">
              <a:lnSpc>
                <a:spcPct val="101699"/>
              </a:lnSpc>
              <a:spcBef>
                <a:spcPts val="620"/>
              </a:spcBef>
            </a:pPr>
            <a:r>
              <a:rPr sz="2000" spc="-45" dirty="0">
                <a:latin typeface="Microsoft Sans Serif"/>
                <a:cs typeface="Microsoft Sans Serif"/>
              </a:rPr>
              <a:t>NLP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process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helps </a:t>
            </a:r>
            <a:r>
              <a:rPr sz="2000" spc="50" dirty="0">
                <a:latin typeface="Microsoft Sans Serif"/>
                <a:cs typeface="Microsoft Sans Serif"/>
              </a:rPr>
              <a:t>computers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communicate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with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humans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in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their </a:t>
            </a:r>
            <a:r>
              <a:rPr sz="2000" dirty="0">
                <a:latin typeface="Microsoft Sans Serif"/>
                <a:cs typeface="Microsoft Sans Serif"/>
              </a:rPr>
              <a:t>language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scales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other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language-</a:t>
            </a:r>
            <a:r>
              <a:rPr sz="2000" spc="55" dirty="0">
                <a:latin typeface="Microsoft Sans Serif"/>
                <a:cs typeface="Microsoft Sans Serif"/>
              </a:rPr>
              <a:t>related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tasks</a:t>
            </a:r>
            <a:endParaRPr sz="2000">
              <a:latin typeface="Microsoft Sans Serif"/>
              <a:cs typeface="Microsoft Sans Serif"/>
            </a:endParaRPr>
          </a:p>
          <a:p>
            <a:pPr marL="12700" marR="273050">
              <a:lnSpc>
                <a:spcPct val="101499"/>
              </a:lnSpc>
              <a:spcBef>
                <a:spcPts val="615"/>
              </a:spcBef>
            </a:pPr>
            <a:r>
              <a:rPr sz="2000" dirty="0">
                <a:latin typeface="Microsoft Sans Serif"/>
                <a:cs typeface="Microsoft Sans Serif"/>
              </a:rPr>
              <a:t>Allows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to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perform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more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language-based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data</a:t>
            </a:r>
            <a:r>
              <a:rPr sz="2000" dirty="0">
                <a:latin typeface="Microsoft Sans Serif"/>
                <a:cs typeface="Microsoft Sans Serif"/>
              </a:rPr>
              <a:t> compares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165" dirty="0">
                <a:latin typeface="Microsoft Sans Serif"/>
                <a:cs typeface="Microsoft Sans Serif"/>
              </a:rPr>
              <a:t>to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 </a:t>
            </a:r>
            <a:r>
              <a:rPr sz="2000" dirty="0">
                <a:latin typeface="Microsoft Sans Serif"/>
                <a:cs typeface="Microsoft Sans Serif"/>
              </a:rPr>
              <a:t>human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being </a:t>
            </a:r>
            <a:r>
              <a:rPr sz="2000" spc="120" dirty="0">
                <a:latin typeface="Microsoft Sans Serif"/>
                <a:cs typeface="Microsoft Sans Serif"/>
              </a:rPr>
              <a:t>without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fatigue</a:t>
            </a:r>
            <a:r>
              <a:rPr sz="2000" dirty="0">
                <a:latin typeface="Microsoft Sans Serif"/>
                <a:cs typeface="Microsoft Sans Serif"/>
              </a:rPr>
              <a:t> and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in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 unbiased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35" dirty="0">
                <a:latin typeface="Microsoft Sans Serif"/>
                <a:cs typeface="Microsoft Sans Serif"/>
              </a:rPr>
              <a:t>consistent </a:t>
            </a:r>
            <a:r>
              <a:rPr sz="2000" spc="-20" dirty="0">
                <a:latin typeface="Microsoft Sans Serif"/>
                <a:cs typeface="Microsoft Sans Serif"/>
              </a:rPr>
              <a:t>way.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spc="55" dirty="0">
                <a:latin typeface="Microsoft Sans Serif"/>
                <a:cs typeface="Microsoft Sans Serif"/>
              </a:rPr>
              <a:t>Structuring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 highly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unstructured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data</a:t>
            </a:r>
            <a:r>
              <a:rPr sz="2000" spc="-10" dirty="0">
                <a:latin typeface="Microsoft Sans Serif"/>
                <a:cs typeface="Microsoft Sans Serif"/>
              </a:rPr>
              <a:t> 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121435"/>
            <a:ext cx="116205" cy="80327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286696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984015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681347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5687186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561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Disadvantages</a:t>
            </a:r>
            <a:r>
              <a:rPr spc="-125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spc="-40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450455" cy="3798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</a:pPr>
            <a:r>
              <a:rPr sz="2600" dirty="0">
                <a:latin typeface="Microsoft Sans Serif"/>
                <a:cs typeface="Microsoft Sans Serif"/>
              </a:rPr>
              <a:t>Complex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Query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Language-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system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may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not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be </a:t>
            </a:r>
            <a:r>
              <a:rPr sz="2600" dirty="0">
                <a:latin typeface="Microsoft Sans Serif"/>
                <a:cs typeface="Microsoft Sans Serif"/>
              </a:rPr>
              <a:t>able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provide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correct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answer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question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poorly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worded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or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ambiguous.</a:t>
            </a:r>
            <a:endParaRPr sz="2600">
              <a:latin typeface="Microsoft Sans Serif"/>
              <a:cs typeface="Microsoft Sans Serif"/>
            </a:endParaRPr>
          </a:p>
          <a:p>
            <a:pPr marL="12700" marR="381000">
              <a:lnSpc>
                <a:spcPct val="100000"/>
              </a:lnSpc>
              <a:spcBef>
                <a:spcPts val="80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system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built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55" dirty="0">
                <a:latin typeface="Microsoft Sans Serif"/>
                <a:cs typeface="Microsoft Sans Serif"/>
              </a:rPr>
              <a:t>for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single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specific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task </a:t>
            </a:r>
            <a:r>
              <a:rPr sz="2600" dirty="0">
                <a:latin typeface="Microsoft Sans Serif"/>
                <a:cs typeface="Microsoft Sans Serif"/>
              </a:rPr>
              <a:t>only;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unable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95" dirty="0">
                <a:latin typeface="Microsoft Sans Serif"/>
                <a:cs typeface="Microsoft Sans Serif"/>
              </a:rPr>
              <a:t>to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adapt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95" dirty="0">
                <a:latin typeface="Microsoft Sans Serif"/>
                <a:cs typeface="Microsoft Sans Serif"/>
              </a:rPr>
              <a:t>to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new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domains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and </a:t>
            </a:r>
            <a:r>
              <a:rPr sz="2600" spc="45" dirty="0">
                <a:latin typeface="Microsoft Sans Serif"/>
                <a:cs typeface="Microsoft Sans Serif"/>
              </a:rPr>
              <a:t>problems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because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limited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functions.</a:t>
            </a:r>
            <a:endParaRPr sz="2600">
              <a:latin typeface="Microsoft Sans Serif"/>
              <a:cs typeface="Microsoft Sans Serif"/>
            </a:endParaRPr>
          </a:p>
          <a:p>
            <a:pPr marL="12700" marR="86360">
              <a:lnSpc>
                <a:spcPct val="100000"/>
              </a:lnSpc>
              <a:spcBef>
                <a:spcPts val="810"/>
              </a:spcBef>
            </a:pPr>
            <a:r>
              <a:rPr sz="2600" spc="-100" dirty="0">
                <a:latin typeface="Microsoft Sans Serif"/>
                <a:cs typeface="Microsoft Sans Serif"/>
              </a:rPr>
              <a:t>NLP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system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doesn’t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have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user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interface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which </a:t>
            </a:r>
            <a:r>
              <a:rPr sz="2600" spc="-30" dirty="0">
                <a:latin typeface="Microsoft Sans Serif"/>
                <a:cs typeface="Microsoft Sans Serif"/>
              </a:rPr>
              <a:t>lacks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features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allow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users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30" dirty="0">
                <a:latin typeface="Microsoft Sans Serif"/>
                <a:cs typeface="Microsoft Sans Serif"/>
              </a:rPr>
              <a:t>further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interact </a:t>
            </a:r>
            <a:r>
              <a:rPr sz="2600" spc="130" dirty="0">
                <a:latin typeface="Microsoft Sans Serif"/>
                <a:cs typeface="Microsoft Sans Serif"/>
              </a:rPr>
              <a:t>with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system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1748</Words>
  <Application>Microsoft Office PowerPoint</Application>
  <PresentationFormat>On-screen Show (4:3)</PresentationFormat>
  <Paragraphs>142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MT</vt:lpstr>
      <vt:lpstr>Microsoft Sans Serif</vt:lpstr>
      <vt:lpstr>Times New Roman</vt:lpstr>
      <vt:lpstr>Trebuchet MS</vt:lpstr>
      <vt:lpstr>Wingdings 3</vt:lpstr>
      <vt:lpstr>Facet</vt:lpstr>
      <vt:lpstr>Natural Language Processing</vt:lpstr>
      <vt:lpstr>Natural Language Processing</vt:lpstr>
      <vt:lpstr>Natural Language Processing</vt:lpstr>
      <vt:lpstr>Natural Language Processing</vt:lpstr>
      <vt:lpstr>Phases of NLP</vt:lpstr>
      <vt:lpstr>Lexical Analysis</vt:lpstr>
      <vt:lpstr>Lexical Analysis</vt:lpstr>
      <vt:lpstr>Syntactic Analysis/Parsing</vt:lpstr>
      <vt:lpstr>Semantic Analysis</vt:lpstr>
      <vt:lpstr>Discourse Integration</vt:lpstr>
      <vt:lpstr>Pragmatic Analysis</vt:lpstr>
      <vt:lpstr>NLP Implementation</vt:lpstr>
      <vt:lpstr>NLP Steps</vt:lpstr>
      <vt:lpstr>Segmentation</vt:lpstr>
      <vt:lpstr>Tokenizing</vt:lpstr>
      <vt:lpstr>Removing Stop Words</vt:lpstr>
      <vt:lpstr>Stemming</vt:lpstr>
      <vt:lpstr>Lemmatization</vt:lpstr>
      <vt:lpstr>Part of Speech Tagging</vt:lpstr>
      <vt:lpstr>Named Entity Tagging</vt:lpstr>
      <vt:lpstr>Applications of NLP</vt:lpstr>
      <vt:lpstr>Applications of NLP</vt:lpstr>
      <vt:lpstr>Applications of NLP</vt:lpstr>
      <vt:lpstr>Applications of NLP</vt:lpstr>
      <vt:lpstr>Applications of NLP</vt:lpstr>
      <vt:lpstr>Future of NLP</vt:lpstr>
      <vt:lpstr>Natural Language vs. Computer Language</vt:lpstr>
      <vt:lpstr>Advantages of NLP</vt:lpstr>
      <vt:lpstr>Disadvantages of NLP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Thamizharasi Nandakumar</cp:lastModifiedBy>
  <cp:revision>1</cp:revision>
  <dcterms:created xsi:type="dcterms:W3CDTF">2025-09-09T09:19:12Z</dcterms:created>
  <dcterms:modified xsi:type="dcterms:W3CDTF">2025-09-12T05:52:59Z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2022-01-24T00:00:00Z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2022-01-24T00:00:00Z</vt:filetime>
  </property>
</Properties>
</file>