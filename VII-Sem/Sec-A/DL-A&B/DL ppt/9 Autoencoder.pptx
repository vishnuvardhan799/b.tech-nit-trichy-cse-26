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91" r:id="rId4"/>
    <p:sldId id="293" r:id="rId5"/>
    <p:sldId id="294" r:id="rId6"/>
    <p:sldId id="295" r:id="rId7"/>
    <p:sldId id="296" r:id="rId8"/>
    <p:sldId id="297" r:id="rId9"/>
    <p:sldId id="298" r:id="rId10"/>
    <p:sldId id="299" r:id="rId11"/>
    <p:sldId id="301" r:id="rId12"/>
    <p:sldId id="303" r:id="rId13"/>
    <p:sldId id="302" r:id="rId14"/>
    <p:sldId id="304" r:id="rId15"/>
    <p:sldId id="300" r:id="rId16"/>
    <p:sldId id="305" r:id="rId17"/>
    <p:sldId id="307" r:id="rId18"/>
    <p:sldId id="30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7" d="100"/>
          <a:sy n="97" d="100"/>
        </p:scale>
        <p:origin x="96"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nni Ranadeesh" userId="03c1ed1ded996da4" providerId="LiveId" clId="{F5A12C10-A100-4DD9-9A13-B8B69050C434}"/>
    <pc:docChg chg="modSld">
      <pc:chgData name="Bunni Ranadeesh" userId="03c1ed1ded996da4" providerId="LiveId" clId="{F5A12C10-A100-4DD9-9A13-B8B69050C434}" dt="2025-10-15T05:04:13.971" v="3" actId="20577"/>
      <pc:docMkLst>
        <pc:docMk/>
      </pc:docMkLst>
      <pc:sldChg chg="modSp mod">
        <pc:chgData name="Bunni Ranadeesh" userId="03c1ed1ded996da4" providerId="LiveId" clId="{F5A12C10-A100-4DD9-9A13-B8B69050C434}" dt="2025-10-15T05:04:13.971" v="3" actId="20577"/>
        <pc:sldMkLst>
          <pc:docMk/>
          <pc:sldMk cId="339462594" sldId="259"/>
        </pc:sldMkLst>
        <pc:spChg chg="mod">
          <ac:chgData name="Bunni Ranadeesh" userId="03c1ed1ded996da4" providerId="LiveId" clId="{F5A12C10-A100-4DD9-9A13-B8B69050C434}" dt="2025-10-15T05:04:13.971" v="3" actId="20577"/>
          <ac:spMkLst>
            <pc:docMk/>
            <pc:sldMk cId="339462594" sldId="259"/>
            <ac:spMk id="3" creationId="{2C4CF74E-4C75-4217-B472-B5C88D9CEED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5D3BB-40A0-4AE9-B47F-67BBAB7151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594507D-77C0-44E7-9526-838025A490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8E0CAC3-FDCB-43F0-AB7F-4539C2B067BD}"/>
              </a:ext>
            </a:extLst>
          </p:cNvPr>
          <p:cNvSpPr>
            <a:spLocks noGrp="1"/>
          </p:cNvSpPr>
          <p:nvPr>
            <p:ph type="dt" sz="half" idx="10"/>
          </p:nvPr>
        </p:nvSpPr>
        <p:spPr/>
        <p:txBody>
          <a:bodyPr/>
          <a:lstStyle/>
          <a:p>
            <a:fld id="{2D084703-3EB7-48AF-9F2C-A45815F7DAC3}" type="datetimeFigureOut">
              <a:rPr lang="en-IN" smtClean="0"/>
              <a:t>15-10-2025</a:t>
            </a:fld>
            <a:endParaRPr lang="en-IN"/>
          </a:p>
        </p:txBody>
      </p:sp>
      <p:sp>
        <p:nvSpPr>
          <p:cNvPr id="5" name="Footer Placeholder 4">
            <a:extLst>
              <a:ext uri="{FF2B5EF4-FFF2-40B4-BE49-F238E27FC236}">
                <a16:creationId xmlns:a16="http://schemas.microsoft.com/office/drawing/2014/main" id="{FCCF0595-28AC-4A97-81F6-127E356CC7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7461C9-08E1-46DA-A10E-20C96816B721}"/>
              </a:ext>
            </a:extLst>
          </p:cNvPr>
          <p:cNvSpPr>
            <a:spLocks noGrp="1"/>
          </p:cNvSpPr>
          <p:nvPr>
            <p:ph type="sldNum" sz="quarter" idx="12"/>
          </p:nvPr>
        </p:nvSpPr>
        <p:spPr/>
        <p:txBody>
          <a:bodyPr/>
          <a:lstStyle/>
          <a:p>
            <a:fld id="{2E49E4B9-3D95-42B9-8438-540A35844B12}" type="slidenum">
              <a:rPr lang="en-IN" smtClean="0"/>
              <a:t>‹#›</a:t>
            </a:fld>
            <a:endParaRPr lang="en-IN"/>
          </a:p>
        </p:txBody>
      </p:sp>
    </p:spTree>
    <p:extLst>
      <p:ext uri="{BB962C8B-B14F-4D97-AF65-F5344CB8AC3E}">
        <p14:creationId xmlns:p14="http://schemas.microsoft.com/office/powerpoint/2010/main" val="1382051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1BDA4-E5BC-4F23-9D2E-6159D91092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B004BB-018F-4A7C-B10E-CF895D6CDB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2DC5BB-DF97-405B-B9C6-A69ECE88935E}"/>
              </a:ext>
            </a:extLst>
          </p:cNvPr>
          <p:cNvSpPr>
            <a:spLocks noGrp="1"/>
          </p:cNvSpPr>
          <p:nvPr>
            <p:ph type="dt" sz="half" idx="10"/>
          </p:nvPr>
        </p:nvSpPr>
        <p:spPr/>
        <p:txBody>
          <a:bodyPr/>
          <a:lstStyle/>
          <a:p>
            <a:fld id="{2D084703-3EB7-48AF-9F2C-A45815F7DAC3}" type="datetimeFigureOut">
              <a:rPr lang="en-IN" smtClean="0"/>
              <a:t>15-10-2025</a:t>
            </a:fld>
            <a:endParaRPr lang="en-IN"/>
          </a:p>
        </p:txBody>
      </p:sp>
      <p:sp>
        <p:nvSpPr>
          <p:cNvPr id="5" name="Footer Placeholder 4">
            <a:extLst>
              <a:ext uri="{FF2B5EF4-FFF2-40B4-BE49-F238E27FC236}">
                <a16:creationId xmlns:a16="http://schemas.microsoft.com/office/drawing/2014/main" id="{4046C60F-F416-4B1E-9C34-4A7B1BDBA1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FF8447-EEFE-4064-9E44-99FA67E23B7F}"/>
              </a:ext>
            </a:extLst>
          </p:cNvPr>
          <p:cNvSpPr>
            <a:spLocks noGrp="1"/>
          </p:cNvSpPr>
          <p:nvPr>
            <p:ph type="sldNum" sz="quarter" idx="12"/>
          </p:nvPr>
        </p:nvSpPr>
        <p:spPr/>
        <p:txBody>
          <a:bodyPr/>
          <a:lstStyle/>
          <a:p>
            <a:fld id="{2E49E4B9-3D95-42B9-8438-540A35844B12}" type="slidenum">
              <a:rPr lang="en-IN" smtClean="0"/>
              <a:t>‹#›</a:t>
            </a:fld>
            <a:endParaRPr lang="en-IN"/>
          </a:p>
        </p:txBody>
      </p:sp>
    </p:spTree>
    <p:extLst>
      <p:ext uri="{BB962C8B-B14F-4D97-AF65-F5344CB8AC3E}">
        <p14:creationId xmlns:p14="http://schemas.microsoft.com/office/powerpoint/2010/main" val="3532512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B6186-C2F7-4470-ABDE-5FAAC110D5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3EF427-2E62-4C6C-842B-D2DB12BDCA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C3639C-5611-4B43-9A72-7463BB7CC7A6}"/>
              </a:ext>
            </a:extLst>
          </p:cNvPr>
          <p:cNvSpPr>
            <a:spLocks noGrp="1"/>
          </p:cNvSpPr>
          <p:nvPr>
            <p:ph type="dt" sz="half" idx="10"/>
          </p:nvPr>
        </p:nvSpPr>
        <p:spPr/>
        <p:txBody>
          <a:bodyPr/>
          <a:lstStyle/>
          <a:p>
            <a:fld id="{2D084703-3EB7-48AF-9F2C-A45815F7DAC3}" type="datetimeFigureOut">
              <a:rPr lang="en-IN" smtClean="0"/>
              <a:t>15-10-2025</a:t>
            </a:fld>
            <a:endParaRPr lang="en-IN"/>
          </a:p>
        </p:txBody>
      </p:sp>
      <p:sp>
        <p:nvSpPr>
          <p:cNvPr id="5" name="Footer Placeholder 4">
            <a:extLst>
              <a:ext uri="{FF2B5EF4-FFF2-40B4-BE49-F238E27FC236}">
                <a16:creationId xmlns:a16="http://schemas.microsoft.com/office/drawing/2014/main" id="{A40D15A0-089B-4D0A-AFEA-EB49C517A6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CAB637-4966-44A5-8FFD-28A8841D6390}"/>
              </a:ext>
            </a:extLst>
          </p:cNvPr>
          <p:cNvSpPr>
            <a:spLocks noGrp="1"/>
          </p:cNvSpPr>
          <p:nvPr>
            <p:ph type="sldNum" sz="quarter" idx="12"/>
          </p:nvPr>
        </p:nvSpPr>
        <p:spPr/>
        <p:txBody>
          <a:bodyPr/>
          <a:lstStyle/>
          <a:p>
            <a:fld id="{2E49E4B9-3D95-42B9-8438-540A35844B12}" type="slidenum">
              <a:rPr lang="en-IN" smtClean="0"/>
              <a:t>‹#›</a:t>
            </a:fld>
            <a:endParaRPr lang="en-IN"/>
          </a:p>
        </p:txBody>
      </p:sp>
    </p:spTree>
    <p:extLst>
      <p:ext uri="{BB962C8B-B14F-4D97-AF65-F5344CB8AC3E}">
        <p14:creationId xmlns:p14="http://schemas.microsoft.com/office/powerpoint/2010/main" val="34617994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1B51F-5C42-4160-9DD1-FB4AB6ED88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C9D8B2-90B2-4D48-AC19-69D30B17DD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04CD85-C4FC-45FC-9A79-8B9B552FEB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8A6E707-98DF-42A1-A000-11150FDCCAD3}"/>
              </a:ext>
            </a:extLst>
          </p:cNvPr>
          <p:cNvSpPr>
            <a:spLocks noGrp="1"/>
          </p:cNvSpPr>
          <p:nvPr>
            <p:ph type="dt" sz="half" idx="10"/>
          </p:nvPr>
        </p:nvSpPr>
        <p:spPr/>
        <p:txBody>
          <a:bodyPr/>
          <a:lstStyle/>
          <a:p>
            <a:fld id="{2D084703-3EB7-48AF-9F2C-A45815F7DAC3}" type="datetimeFigureOut">
              <a:rPr lang="en-IN" smtClean="0"/>
              <a:t>15-10-2025</a:t>
            </a:fld>
            <a:endParaRPr lang="en-IN"/>
          </a:p>
        </p:txBody>
      </p:sp>
      <p:sp>
        <p:nvSpPr>
          <p:cNvPr id="6" name="Footer Placeholder 5">
            <a:extLst>
              <a:ext uri="{FF2B5EF4-FFF2-40B4-BE49-F238E27FC236}">
                <a16:creationId xmlns:a16="http://schemas.microsoft.com/office/drawing/2014/main" id="{A53D99BD-664D-42C1-9CCC-9790D5EFB7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6DA459-BA53-4EDC-9FD6-71EFE4429F2C}"/>
              </a:ext>
            </a:extLst>
          </p:cNvPr>
          <p:cNvSpPr>
            <a:spLocks noGrp="1"/>
          </p:cNvSpPr>
          <p:nvPr>
            <p:ph type="sldNum" sz="quarter" idx="12"/>
          </p:nvPr>
        </p:nvSpPr>
        <p:spPr/>
        <p:txBody>
          <a:bodyPr/>
          <a:lstStyle/>
          <a:p>
            <a:fld id="{2E49E4B9-3D95-42B9-8438-540A35844B12}" type="slidenum">
              <a:rPr lang="en-IN" smtClean="0"/>
              <a:t>‹#›</a:t>
            </a:fld>
            <a:endParaRPr lang="en-IN"/>
          </a:p>
        </p:txBody>
      </p:sp>
    </p:spTree>
    <p:extLst>
      <p:ext uri="{BB962C8B-B14F-4D97-AF65-F5344CB8AC3E}">
        <p14:creationId xmlns:p14="http://schemas.microsoft.com/office/powerpoint/2010/main" val="2483604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19E28-AD3A-4E1D-96B7-CAFFFDAFB5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F0AEF6-E54B-4642-908C-C05707AEDD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4AA53C-12A8-4314-9F70-A17474F176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1E90F83-69FB-4E2D-8904-3BB93918E1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3A730D-42FD-4748-BE44-6F86829CA1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E404E7E-E4FE-4AD7-8D48-D1709041C67B}"/>
              </a:ext>
            </a:extLst>
          </p:cNvPr>
          <p:cNvSpPr>
            <a:spLocks noGrp="1"/>
          </p:cNvSpPr>
          <p:nvPr>
            <p:ph type="dt" sz="half" idx="10"/>
          </p:nvPr>
        </p:nvSpPr>
        <p:spPr/>
        <p:txBody>
          <a:bodyPr/>
          <a:lstStyle/>
          <a:p>
            <a:fld id="{2D084703-3EB7-48AF-9F2C-A45815F7DAC3}" type="datetimeFigureOut">
              <a:rPr lang="en-IN" smtClean="0"/>
              <a:t>15-10-2025</a:t>
            </a:fld>
            <a:endParaRPr lang="en-IN"/>
          </a:p>
        </p:txBody>
      </p:sp>
      <p:sp>
        <p:nvSpPr>
          <p:cNvPr id="8" name="Footer Placeholder 7">
            <a:extLst>
              <a:ext uri="{FF2B5EF4-FFF2-40B4-BE49-F238E27FC236}">
                <a16:creationId xmlns:a16="http://schemas.microsoft.com/office/drawing/2014/main" id="{820D347E-89EC-4D87-8415-012A9C4087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C38063-A80E-4404-84AE-FC7F0B1BA232}"/>
              </a:ext>
            </a:extLst>
          </p:cNvPr>
          <p:cNvSpPr>
            <a:spLocks noGrp="1"/>
          </p:cNvSpPr>
          <p:nvPr>
            <p:ph type="sldNum" sz="quarter" idx="12"/>
          </p:nvPr>
        </p:nvSpPr>
        <p:spPr/>
        <p:txBody>
          <a:bodyPr/>
          <a:lstStyle/>
          <a:p>
            <a:fld id="{2E49E4B9-3D95-42B9-8438-540A35844B12}" type="slidenum">
              <a:rPr lang="en-IN" smtClean="0"/>
              <a:t>‹#›</a:t>
            </a:fld>
            <a:endParaRPr lang="en-IN"/>
          </a:p>
        </p:txBody>
      </p:sp>
    </p:spTree>
    <p:extLst>
      <p:ext uri="{BB962C8B-B14F-4D97-AF65-F5344CB8AC3E}">
        <p14:creationId xmlns:p14="http://schemas.microsoft.com/office/powerpoint/2010/main" val="542841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478B5-3854-4918-A9A4-FEFC6A9677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831062F-A7C4-42C6-9E26-1FDDC02AB267}"/>
              </a:ext>
            </a:extLst>
          </p:cNvPr>
          <p:cNvSpPr>
            <a:spLocks noGrp="1"/>
          </p:cNvSpPr>
          <p:nvPr>
            <p:ph type="dt" sz="half" idx="10"/>
          </p:nvPr>
        </p:nvSpPr>
        <p:spPr/>
        <p:txBody>
          <a:bodyPr/>
          <a:lstStyle/>
          <a:p>
            <a:fld id="{2D084703-3EB7-48AF-9F2C-A45815F7DAC3}" type="datetimeFigureOut">
              <a:rPr lang="en-IN" smtClean="0"/>
              <a:t>15-10-2025</a:t>
            </a:fld>
            <a:endParaRPr lang="en-IN"/>
          </a:p>
        </p:txBody>
      </p:sp>
      <p:sp>
        <p:nvSpPr>
          <p:cNvPr id="4" name="Footer Placeholder 3">
            <a:extLst>
              <a:ext uri="{FF2B5EF4-FFF2-40B4-BE49-F238E27FC236}">
                <a16:creationId xmlns:a16="http://schemas.microsoft.com/office/drawing/2014/main" id="{5ABDE445-C489-4A0F-AC2C-2FBABE71590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C2EAAE1-A467-40B2-8CCF-3717E2DA83B7}"/>
              </a:ext>
            </a:extLst>
          </p:cNvPr>
          <p:cNvSpPr>
            <a:spLocks noGrp="1"/>
          </p:cNvSpPr>
          <p:nvPr>
            <p:ph type="sldNum" sz="quarter" idx="12"/>
          </p:nvPr>
        </p:nvSpPr>
        <p:spPr/>
        <p:txBody>
          <a:bodyPr/>
          <a:lstStyle/>
          <a:p>
            <a:fld id="{2E49E4B9-3D95-42B9-8438-540A35844B12}" type="slidenum">
              <a:rPr lang="en-IN" smtClean="0"/>
              <a:t>‹#›</a:t>
            </a:fld>
            <a:endParaRPr lang="en-IN"/>
          </a:p>
        </p:txBody>
      </p:sp>
    </p:spTree>
    <p:extLst>
      <p:ext uri="{BB962C8B-B14F-4D97-AF65-F5344CB8AC3E}">
        <p14:creationId xmlns:p14="http://schemas.microsoft.com/office/powerpoint/2010/main" val="996772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3072E3-1EF1-4A45-AF2C-F5B0A506A789}"/>
              </a:ext>
            </a:extLst>
          </p:cNvPr>
          <p:cNvSpPr>
            <a:spLocks noGrp="1"/>
          </p:cNvSpPr>
          <p:nvPr>
            <p:ph type="dt" sz="half" idx="10"/>
          </p:nvPr>
        </p:nvSpPr>
        <p:spPr/>
        <p:txBody>
          <a:bodyPr/>
          <a:lstStyle/>
          <a:p>
            <a:fld id="{2D084703-3EB7-48AF-9F2C-A45815F7DAC3}" type="datetimeFigureOut">
              <a:rPr lang="en-IN" smtClean="0"/>
              <a:t>15-10-2025</a:t>
            </a:fld>
            <a:endParaRPr lang="en-IN"/>
          </a:p>
        </p:txBody>
      </p:sp>
      <p:sp>
        <p:nvSpPr>
          <p:cNvPr id="3" name="Footer Placeholder 2">
            <a:extLst>
              <a:ext uri="{FF2B5EF4-FFF2-40B4-BE49-F238E27FC236}">
                <a16:creationId xmlns:a16="http://schemas.microsoft.com/office/drawing/2014/main" id="{3AE3ADF0-4336-4207-A110-0987BAAA960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4AEE73-3FAA-4317-9C8A-9089901941BA}"/>
              </a:ext>
            </a:extLst>
          </p:cNvPr>
          <p:cNvSpPr>
            <a:spLocks noGrp="1"/>
          </p:cNvSpPr>
          <p:nvPr>
            <p:ph type="sldNum" sz="quarter" idx="12"/>
          </p:nvPr>
        </p:nvSpPr>
        <p:spPr/>
        <p:txBody>
          <a:bodyPr/>
          <a:lstStyle/>
          <a:p>
            <a:fld id="{2E49E4B9-3D95-42B9-8438-540A35844B12}" type="slidenum">
              <a:rPr lang="en-IN" smtClean="0"/>
              <a:t>‹#›</a:t>
            </a:fld>
            <a:endParaRPr lang="en-IN"/>
          </a:p>
        </p:txBody>
      </p:sp>
    </p:spTree>
    <p:extLst>
      <p:ext uri="{BB962C8B-B14F-4D97-AF65-F5344CB8AC3E}">
        <p14:creationId xmlns:p14="http://schemas.microsoft.com/office/powerpoint/2010/main" val="16937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D190B-7F32-4289-8061-BA28495479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1BA768-6FAB-48BC-9412-1C03B22A02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D8609A-7E45-4B1E-8F0B-73981BDF3D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14C495-4EA4-46CE-99EB-422A874B92E4}"/>
              </a:ext>
            </a:extLst>
          </p:cNvPr>
          <p:cNvSpPr>
            <a:spLocks noGrp="1"/>
          </p:cNvSpPr>
          <p:nvPr>
            <p:ph type="dt" sz="half" idx="10"/>
          </p:nvPr>
        </p:nvSpPr>
        <p:spPr/>
        <p:txBody>
          <a:bodyPr/>
          <a:lstStyle/>
          <a:p>
            <a:fld id="{2D084703-3EB7-48AF-9F2C-A45815F7DAC3}" type="datetimeFigureOut">
              <a:rPr lang="en-IN" smtClean="0"/>
              <a:t>15-10-2025</a:t>
            </a:fld>
            <a:endParaRPr lang="en-IN"/>
          </a:p>
        </p:txBody>
      </p:sp>
      <p:sp>
        <p:nvSpPr>
          <p:cNvPr id="6" name="Footer Placeholder 5">
            <a:extLst>
              <a:ext uri="{FF2B5EF4-FFF2-40B4-BE49-F238E27FC236}">
                <a16:creationId xmlns:a16="http://schemas.microsoft.com/office/drawing/2014/main" id="{3795968D-B7B5-4FD4-868B-72C424B557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42C3AB-A053-4CBB-8DB2-0F85F36F8141}"/>
              </a:ext>
            </a:extLst>
          </p:cNvPr>
          <p:cNvSpPr>
            <a:spLocks noGrp="1"/>
          </p:cNvSpPr>
          <p:nvPr>
            <p:ph type="sldNum" sz="quarter" idx="12"/>
          </p:nvPr>
        </p:nvSpPr>
        <p:spPr/>
        <p:txBody>
          <a:bodyPr/>
          <a:lstStyle/>
          <a:p>
            <a:fld id="{2E49E4B9-3D95-42B9-8438-540A35844B12}" type="slidenum">
              <a:rPr lang="en-IN" smtClean="0"/>
              <a:t>‹#›</a:t>
            </a:fld>
            <a:endParaRPr lang="en-IN"/>
          </a:p>
        </p:txBody>
      </p:sp>
    </p:spTree>
    <p:extLst>
      <p:ext uri="{BB962C8B-B14F-4D97-AF65-F5344CB8AC3E}">
        <p14:creationId xmlns:p14="http://schemas.microsoft.com/office/powerpoint/2010/main" val="654665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BC94E-ECA9-4230-80FD-9856177C26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DF38F1E-9E31-4F4E-A2F8-53DE12C914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E5DAA6-4D95-411E-92CB-3B233758F9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5EB25A-B949-4E5B-8BBA-9FB02417BE6D}"/>
              </a:ext>
            </a:extLst>
          </p:cNvPr>
          <p:cNvSpPr>
            <a:spLocks noGrp="1"/>
          </p:cNvSpPr>
          <p:nvPr>
            <p:ph type="dt" sz="half" idx="10"/>
          </p:nvPr>
        </p:nvSpPr>
        <p:spPr/>
        <p:txBody>
          <a:bodyPr/>
          <a:lstStyle/>
          <a:p>
            <a:fld id="{2D084703-3EB7-48AF-9F2C-A45815F7DAC3}" type="datetimeFigureOut">
              <a:rPr lang="en-IN" smtClean="0"/>
              <a:t>15-10-2025</a:t>
            </a:fld>
            <a:endParaRPr lang="en-IN"/>
          </a:p>
        </p:txBody>
      </p:sp>
      <p:sp>
        <p:nvSpPr>
          <p:cNvPr id="6" name="Footer Placeholder 5">
            <a:extLst>
              <a:ext uri="{FF2B5EF4-FFF2-40B4-BE49-F238E27FC236}">
                <a16:creationId xmlns:a16="http://schemas.microsoft.com/office/drawing/2014/main" id="{A997C70F-6C93-4946-A8EB-5C6F77E912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A8FB2C-80CE-4EB2-9BDF-EDF18F20D59F}"/>
              </a:ext>
            </a:extLst>
          </p:cNvPr>
          <p:cNvSpPr>
            <a:spLocks noGrp="1"/>
          </p:cNvSpPr>
          <p:nvPr>
            <p:ph type="sldNum" sz="quarter" idx="12"/>
          </p:nvPr>
        </p:nvSpPr>
        <p:spPr/>
        <p:txBody>
          <a:bodyPr/>
          <a:lstStyle/>
          <a:p>
            <a:fld id="{2E49E4B9-3D95-42B9-8438-540A35844B12}" type="slidenum">
              <a:rPr lang="en-IN" smtClean="0"/>
              <a:t>‹#›</a:t>
            </a:fld>
            <a:endParaRPr lang="en-IN"/>
          </a:p>
        </p:txBody>
      </p:sp>
    </p:spTree>
    <p:extLst>
      <p:ext uri="{BB962C8B-B14F-4D97-AF65-F5344CB8AC3E}">
        <p14:creationId xmlns:p14="http://schemas.microsoft.com/office/powerpoint/2010/main" val="3807252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440FF-AA02-4A3C-BB2E-011BBA4E946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E1D581-75F6-41FB-9E1A-3EAF9700F8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29B6C5-6A0D-4BEA-80A4-28A25DCEA4BF}"/>
              </a:ext>
            </a:extLst>
          </p:cNvPr>
          <p:cNvSpPr>
            <a:spLocks noGrp="1"/>
          </p:cNvSpPr>
          <p:nvPr>
            <p:ph type="dt" sz="half" idx="10"/>
          </p:nvPr>
        </p:nvSpPr>
        <p:spPr/>
        <p:txBody>
          <a:bodyPr/>
          <a:lstStyle/>
          <a:p>
            <a:fld id="{2D084703-3EB7-48AF-9F2C-A45815F7DAC3}" type="datetimeFigureOut">
              <a:rPr lang="en-IN" smtClean="0"/>
              <a:t>15-10-2025</a:t>
            </a:fld>
            <a:endParaRPr lang="en-IN"/>
          </a:p>
        </p:txBody>
      </p:sp>
      <p:sp>
        <p:nvSpPr>
          <p:cNvPr id="5" name="Footer Placeholder 4">
            <a:extLst>
              <a:ext uri="{FF2B5EF4-FFF2-40B4-BE49-F238E27FC236}">
                <a16:creationId xmlns:a16="http://schemas.microsoft.com/office/drawing/2014/main" id="{7D4DB165-7B9E-4889-B207-F04FEBEC68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3F64F6-95E2-4500-9CFB-45EF9334527B}"/>
              </a:ext>
            </a:extLst>
          </p:cNvPr>
          <p:cNvSpPr>
            <a:spLocks noGrp="1"/>
          </p:cNvSpPr>
          <p:nvPr>
            <p:ph type="sldNum" sz="quarter" idx="12"/>
          </p:nvPr>
        </p:nvSpPr>
        <p:spPr/>
        <p:txBody>
          <a:bodyPr/>
          <a:lstStyle/>
          <a:p>
            <a:fld id="{2E49E4B9-3D95-42B9-8438-540A35844B12}" type="slidenum">
              <a:rPr lang="en-IN" smtClean="0"/>
              <a:t>‹#›</a:t>
            </a:fld>
            <a:endParaRPr lang="en-IN"/>
          </a:p>
        </p:txBody>
      </p:sp>
    </p:spTree>
    <p:extLst>
      <p:ext uri="{BB962C8B-B14F-4D97-AF65-F5344CB8AC3E}">
        <p14:creationId xmlns:p14="http://schemas.microsoft.com/office/powerpoint/2010/main" val="1420458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1024EE-7E0B-459D-B48E-94380DA203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B80A1C-9A9A-4E1C-804C-81E5B33CEF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F108B8-6208-4DF8-8013-19779131B4BF}"/>
              </a:ext>
            </a:extLst>
          </p:cNvPr>
          <p:cNvSpPr>
            <a:spLocks noGrp="1"/>
          </p:cNvSpPr>
          <p:nvPr>
            <p:ph type="dt" sz="half" idx="10"/>
          </p:nvPr>
        </p:nvSpPr>
        <p:spPr/>
        <p:txBody>
          <a:bodyPr/>
          <a:lstStyle/>
          <a:p>
            <a:fld id="{2D084703-3EB7-48AF-9F2C-A45815F7DAC3}" type="datetimeFigureOut">
              <a:rPr lang="en-IN" smtClean="0"/>
              <a:t>15-10-2025</a:t>
            </a:fld>
            <a:endParaRPr lang="en-IN"/>
          </a:p>
        </p:txBody>
      </p:sp>
      <p:sp>
        <p:nvSpPr>
          <p:cNvPr id="5" name="Footer Placeholder 4">
            <a:extLst>
              <a:ext uri="{FF2B5EF4-FFF2-40B4-BE49-F238E27FC236}">
                <a16:creationId xmlns:a16="http://schemas.microsoft.com/office/drawing/2014/main" id="{E6081079-352D-41AC-8DC5-65AD188806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8D22FA-D3A8-45B1-9E81-B1F364511D97}"/>
              </a:ext>
            </a:extLst>
          </p:cNvPr>
          <p:cNvSpPr>
            <a:spLocks noGrp="1"/>
          </p:cNvSpPr>
          <p:nvPr>
            <p:ph type="sldNum" sz="quarter" idx="12"/>
          </p:nvPr>
        </p:nvSpPr>
        <p:spPr/>
        <p:txBody>
          <a:bodyPr/>
          <a:lstStyle/>
          <a:p>
            <a:fld id="{2E49E4B9-3D95-42B9-8438-540A35844B12}" type="slidenum">
              <a:rPr lang="en-IN" smtClean="0"/>
              <a:t>‹#›</a:t>
            </a:fld>
            <a:endParaRPr lang="en-IN"/>
          </a:p>
        </p:txBody>
      </p:sp>
    </p:spTree>
    <p:extLst>
      <p:ext uri="{BB962C8B-B14F-4D97-AF65-F5344CB8AC3E}">
        <p14:creationId xmlns:p14="http://schemas.microsoft.com/office/powerpoint/2010/main" val="29489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73E1FE-F8EC-42D6-8BD9-A484ADEBD2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F4549F-689E-4B52-9AEB-E15F469280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B7206C-B1AA-46F2-8459-969A26DDA2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084703-3EB7-48AF-9F2C-A45815F7DAC3}" type="datetimeFigureOut">
              <a:rPr lang="en-IN" smtClean="0"/>
              <a:t>15-10-2025</a:t>
            </a:fld>
            <a:endParaRPr lang="en-IN"/>
          </a:p>
        </p:txBody>
      </p:sp>
      <p:sp>
        <p:nvSpPr>
          <p:cNvPr id="5" name="Footer Placeholder 4">
            <a:extLst>
              <a:ext uri="{FF2B5EF4-FFF2-40B4-BE49-F238E27FC236}">
                <a16:creationId xmlns:a16="http://schemas.microsoft.com/office/drawing/2014/main" id="{9B607F51-7DBF-49C6-8A11-71182E9C88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82B1AB-24AC-4BEF-B9E2-CB805FB059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49E4B9-3D95-42B9-8438-540A35844B12}" type="slidenum">
              <a:rPr lang="en-IN" smtClean="0"/>
              <a:t>‹#›</a:t>
            </a:fld>
            <a:endParaRPr lang="en-IN"/>
          </a:p>
        </p:txBody>
      </p:sp>
    </p:spTree>
    <p:extLst>
      <p:ext uri="{BB962C8B-B14F-4D97-AF65-F5344CB8AC3E}">
        <p14:creationId xmlns:p14="http://schemas.microsoft.com/office/powerpoint/2010/main" val="1230115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EF73F-6B4D-4468-8077-AE44A8528476}"/>
              </a:ext>
            </a:extLst>
          </p:cNvPr>
          <p:cNvSpPr>
            <a:spLocks noGrp="1"/>
          </p:cNvSpPr>
          <p:nvPr>
            <p:ph type="ctrTitle"/>
          </p:nvPr>
        </p:nvSpPr>
        <p:spPr/>
        <p:txBody>
          <a:bodyPr/>
          <a:lstStyle/>
          <a:p>
            <a:r>
              <a:rPr lang="en-IN"/>
              <a:t>Autoencoders</a:t>
            </a:r>
            <a:endParaRPr lang="en-IN" dirty="0"/>
          </a:p>
        </p:txBody>
      </p:sp>
      <p:sp>
        <p:nvSpPr>
          <p:cNvPr id="3" name="Subtitle 2">
            <a:extLst>
              <a:ext uri="{FF2B5EF4-FFF2-40B4-BE49-F238E27FC236}">
                <a16:creationId xmlns:a16="http://schemas.microsoft.com/office/drawing/2014/main" id="{B981F77B-BD69-4778-AA09-28DC744E20F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837820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0A7FE-34A4-492F-A6E5-2F7F31338566}"/>
              </a:ext>
            </a:extLst>
          </p:cNvPr>
          <p:cNvSpPr>
            <a:spLocks noGrp="1"/>
          </p:cNvSpPr>
          <p:nvPr>
            <p:ph type="title"/>
          </p:nvPr>
        </p:nvSpPr>
        <p:spPr/>
        <p:txBody>
          <a:bodyPr/>
          <a:lstStyle/>
          <a:p>
            <a:r>
              <a:rPr lang="en-IN" sz="4400" dirty="0">
                <a:solidFill>
                  <a:srgbClr val="610B4B"/>
                </a:solidFill>
                <a:effectLst/>
                <a:latin typeface="Helvetica" panose="020B0604020202020204" pitchFamily="34" charset="0"/>
                <a:ea typeface="Times New Roman" panose="02020603050405020304" pitchFamily="18" charset="0"/>
                <a:cs typeface="Times New Roman" panose="02020603050405020304" pitchFamily="18" charset="0"/>
              </a:rPr>
              <a:t>Autoencoders</a:t>
            </a:r>
            <a:endParaRPr lang="en-IN" dirty="0"/>
          </a:p>
        </p:txBody>
      </p:sp>
      <p:sp>
        <p:nvSpPr>
          <p:cNvPr id="3" name="Content Placeholder 2">
            <a:extLst>
              <a:ext uri="{FF2B5EF4-FFF2-40B4-BE49-F238E27FC236}">
                <a16:creationId xmlns:a16="http://schemas.microsoft.com/office/drawing/2014/main" id="{2C4CF74E-4C75-4217-B472-B5C88D9CEED2}"/>
              </a:ext>
            </a:extLst>
          </p:cNvPr>
          <p:cNvSpPr>
            <a:spLocks noGrp="1"/>
          </p:cNvSpPr>
          <p:nvPr>
            <p:ph idx="1"/>
          </p:nvPr>
        </p:nvSpPr>
        <p:spPr/>
        <p:txBody>
          <a:bodyPr>
            <a:normAutofit/>
          </a:bodyPr>
          <a:lstStyle/>
          <a:p>
            <a:pPr algn="just">
              <a:lnSpc>
                <a:spcPct val="107000"/>
              </a:lnSpc>
              <a:spcAft>
                <a:spcPts val="800"/>
              </a:spcAft>
            </a:pP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Autoencoders are a special type of neural network where inputs are outputs are found usually identical. It was designed to </a:t>
            </a:r>
            <a:r>
              <a:rPr lang="en-IN" sz="1800" dirty="0">
                <a:solidFill>
                  <a:srgbClr val="333333"/>
                </a:solidFill>
                <a:effectLst/>
                <a:highlight>
                  <a:srgbClr val="FFFF00"/>
                </a:highlight>
                <a:latin typeface="Segoe UI" panose="020B0502040204020203" pitchFamily="34" charset="0"/>
                <a:ea typeface="Times New Roman" panose="02020603050405020304" pitchFamily="18" charset="0"/>
                <a:cs typeface="Times New Roman" panose="02020603050405020304" pitchFamily="18" charset="0"/>
              </a:rPr>
              <a:t>primarily solve the problems related to unsupervised learning</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Autoencoders are highly </a:t>
            </a:r>
            <a:r>
              <a:rPr lang="en-IN" sz="1800" dirty="0">
                <a:solidFill>
                  <a:srgbClr val="333333"/>
                </a:solidFill>
                <a:effectLst/>
                <a:highlight>
                  <a:srgbClr val="FFFF00"/>
                </a:highlight>
                <a:latin typeface="Segoe UI" panose="020B0502040204020203" pitchFamily="34" charset="0"/>
                <a:ea typeface="Times New Roman" panose="02020603050405020304" pitchFamily="18" charset="0"/>
                <a:cs typeface="Times New Roman" panose="02020603050405020304" pitchFamily="18" charset="0"/>
              </a:rPr>
              <a:t>trained neural networks that </a:t>
            </a:r>
            <a:r>
              <a:rPr lang="en-IN" sz="1800" b="1" dirty="0">
                <a:solidFill>
                  <a:srgbClr val="333333"/>
                </a:solidFill>
                <a:effectLst/>
                <a:highlight>
                  <a:srgbClr val="FFFF00"/>
                </a:highlight>
                <a:latin typeface="Segoe UI" panose="020B0502040204020203" pitchFamily="34" charset="0"/>
                <a:ea typeface="Times New Roman" panose="02020603050405020304" pitchFamily="18" charset="0"/>
                <a:cs typeface="Times New Roman" panose="02020603050405020304" pitchFamily="18" charset="0"/>
              </a:rPr>
              <a:t>replicate</a:t>
            </a:r>
            <a:r>
              <a:rPr lang="en-IN" sz="1800" dirty="0">
                <a:solidFill>
                  <a:srgbClr val="333333"/>
                </a:solidFill>
                <a:effectLst/>
                <a:highlight>
                  <a:srgbClr val="FFFF00"/>
                </a:highlight>
                <a:latin typeface="Segoe UI" panose="020B0502040204020203" pitchFamily="34" charset="0"/>
                <a:ea typeface="Times New Roman" panose="02020603050405020304" pitchFamily="18" charset="0"/>
                <a:cs typeface="Times New Roman" panose="02020603050405020304" pitchFamily="18" charset="0"/>
              </a:rPr>
              <a:t> the data</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It is the reason why the input and output are generally the same. They are used to achieve tasks like </a:t>
            </a:r>
            <a:r>
              <a:rPr lang="en-IN" sz="18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pharma discovery, image processing,</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a:t>
            </a:r>
            <a:r>
              <a:rPr lang="en-IN" sz="18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population prediction.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Autoencoders constitute three components namely the </a:t>
            </a:r>
            <a:r>
              <a:rPr lang="en-IN" sz="18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encoder</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the </a:t>
            </a:r>
            <a:r>
              <a:rPr lang="en-IN" sz="18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code</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the </a:t>
            </a:r>
            <a:r>
              <a:rPr lang="en-IN" sz="18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decoder.</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Autoencoders are built in such a structure that they can receive inputs and transform them into various representations. The attempts to copy the original input by reconstructing them is more accurate. They do this by encoding the image or input, reduce the size. If the image is not visible properly they are passed to the neural network for clarification. Then, the clarified image is termed a reconstructed image and this resembles as accurate as of the previous image.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9462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F34-BDD2-44BA-852F-98F0164376C9}"/>
              </a:ext>
            </a:extLst>
          </p:cNvPr>
          <p:cNvSpPr>
            <a:spLocks noGrp="1"/>
          </p:cNvSpPr>
          <p:nvPr>
            <p:ph type="title"/>
          </p:nvPr>
        </p:nvSpPr>
        <p:spPr/>
        <p:txBody>
          <a:bodyPr/>
          <a:lstStyle/>
          <a:p>
            <a:endParaRPr lang="en-IN"/>
          </a:p>
        </p:txBody>
      </p:sp>
      <p:pic>
        <p:nvPicPr>
          <p:cNvPr id="4" name="Content Placeholder 3" descr="Deep Learning Algorithms">
            <a:extLst>
              <a:ext uri="{FF2B5EF4-FFF2-40B4-BE49-F238E27FC236}">
                <a16:creationId xmlns:a16="http://schemas.microsoft.com/office/drawing/2014/main" id="{C48BBFF7-905E-46DA-8782-7E258025B7EC}"/>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19487" y="1934369"/>
            <a:ext cx="5153025" cy="4133850"/>
          </a:xfrm>
          <a:prstGeom prst="rect">
            <a:avLst/>
          </a:prstGeom>
          <a:noFill/>
          <a:ln>
            <a:noFill/>
          </a:ln>
        </p:spPr>
      </p:pic>
      <p:sp>
        <p:nvSpPr>
          <p:cNvPr id="6" name="TextBox 5">
            <a:extLst>
              <a:ext uri="{FF2B5EF4-FFF2-40B4-BE49-F238E27FC236}">
                <a16:creationId xmlns:a16="http://schemas.microsoft.com/office/drawing/2014/main" id="{C3BDEE69-5D24-4E26-B767-16EE69F61774}"/>
              </a:ext>
            </a:extLst>
          </p:cNvPr>
          <p:cNvSpPr txBox="1"/>
          <p:nvPr/>
        </p:nvSpPr>
        <p:spPr>
          <a:xfrm>
            <a:off x="664827" y="2505670"/>
            <a:ext cx="2648824" cy="2031325"/>
          </a:xfrm>
          <a:prstGeom prst="rect">
            <a:avLst/>
          </a:prstGeom>
          <a:noFill/>
        </p:spPr>
        <p:txBody>
          <a:bodyPr wrap="square">
            <a:spAutoFit/>
          </a:bodyPr>
          <a:lstStyle/>
          <a:p>
            <a:r>
              <a:rPr lang="en-US" b="0" i="0" dirty="0">
                <a:solidFill>
                  <a:srgbClr val="202124"/>
                </a:solidFill>
                <a:effectLst/>
                <a:latin typeface="Google Sans"/>
              </a:rPr>
              <a:t>a latent space is defined as </a:t>
            </a:r>
            <a:r>
              <a:rPr lang="en-US" b="0" i="0" dirty="0">
                <a:solidFill>
                  <a:srgbClr val="040C28"/>
                </a:solidFill>
                <a:effectLst/>
                <a:latin typeface="Google Sans"/>
              </a:rPr>
              <a:t>an abstract multi-dimensional space that encodes a meaningful internal representation of externally observed events</a:t>
            </a:r>
            <a:r>
              <a:rPr lang="en-US" b="0" i="0" dirty="0">
                <a:solidFill>
                  <a:srgbClr val="202124"/>
                </a:solidFill>
                <a:effectLst/>
                <a:latin typeface="Google Sans"/>
              </a:rPr>
              <a:t>. </a:t>
            </a:r>
            <a:endParaRPr lang="en-IN" dirty="0"/>
          </a:p>
        </p:txBody>
      </p:sp>
    </p:spTree>
    <p:extLst>
      <p:ext uri="{BB962C8B-B14F-4D97-AF65-F5344CB8AC3E}">
        <p14:creationId xmlns:p14="http://schemas.microsoft.com/office/powerpoint/2010/main" val="554879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Variational </a:t>
            </a:r>
            <a:r>
              <a:rPr lang="en-IN" b="1" dirty="0" err="1"/>
              <a:t>Autoencoder</a:t>
            </a:r>
            <a:r>
              <a:rPr lang="en-IN" b="1" dirty="0"/>
              <a:t> (VAE)</a:t>
            </a:r>
            <a:endParaRPr lang="en-IN" dirty="0"/>
          </a:p>
        </p:txBody>
      </p:sp>
      <p:sp>
        <p:nvSpPr>
          <p:cNvPr id="3" name="Content Placeholder 2"/>
          <p:cNvSpPr>
            <a:spLocks noGrp="1"/>
          </p:cNvSpPr>
          <p:nvPr>
            <p:ph idx="1"/>
          </p:nvPr>
        </p:nvSpPr>
        <p:spPr/>
        <p:txBody>
          <a:bodyPr/>
          <a:lstStyle/>
          <a:p>
            <a:r>
              <a:rPr lang="en-IN" dirty="0"/>
              <a:t>Generate Images Using Variational </a:t>
            </a:r>
            <a:r>
              <a:rPr lang="en-IN" dirty="0" err="1"/>
              <a:t>Autoencoder</a:t>
            </a:r>
            <a:r>
              <a:rPr lang="en-IN" dirty="0"/>
              <a:t> (VAE)</a:t>
            </a:r>
          </a:p>
          <a:p>
            <a:r>
              <a:rPr lang="en-IN" dirty="0"/>
              <a:t>VAE is a generative model that can help to generate fictional data by capturing the characteristics of training data. </a:t>
            </a:r>
          </a:p>
          <a:p>
            <a:r>
              <a:rPr lang="en-IN" dirty="0"/>
              <a:t>This model is built on top of neural networks but is not like CNN or other discriminative models (logistic regression, SVM, etc.) that learn the parameter to find the boundary of classifying different classes, this model learns the parameters in order to model the distribution of the data points.</a:t>
            </a:r>
          </a:p>
          <a:p>
            <a:endParaRPr lang="en-IN" dirty="0"/>
          </a:p>
          <a:p>
            <a:endParaRPr lang="en-IN" dirty="0"/>
          </a:p>
        </p:txBody>
      </p:sp>
    </p:spTree>
    <p:extLst>
      <p:ext uri="{BB962C8B-B14F-4D97-AF65-F5344CB8AC3E}">
        <p14:creationId xmlns:p14="http://schemas.microsoft.com/office/powerpoint/2010/main" val="4246854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8355"/>
            <a:ext cx="10515600" cy="5538608"/>
          </a:xfrm>
        </p:spPr>
        <p:txBody>
          <a:bodyPr>
            <a:normAutofit/>
          </a:bodyPr>
          <a:lstStyle/>
          <a:p>
            <a:r>
              <a:rPr lang="en-IN" dirty="0"/>
              <a:t>Traditional </a:t>
            </a:r>
            <a:r>
              <a:rPr lang="en-IN" dirty="0" err="1"/>
              <a:t>autoencoders</a:t>
            </a:r>
            <a:r>
              <a:rPr lang="en-IN" dirty="0"/>
              <a:t> learn to compress and reconstruct data but not really help with generating new data.</a:t>
            </a:r>
          </a:p>
          <a:p>
            <a:r>
              <a:rPr lang="en-IN" dirty="0"/>
              <a:t>VAE learns the distribution of the data instead of just a compressed image, and by using the distribution, we can decode and generate new data. </a:t>
            </a:r>
          </a:p>
          <a:p>
            <a:r>
              <a:rPr lang="en-IN" dirty="0"/>
              <a:t>The encoder is trying to learn the parameters </a:t>
            </a:r>
            <a:r>
              <a:rPr lang="el-GR" dirty="0"/>
              <a:t>ϕ</a:t>
            </a:r>
            <a:r>
              <a:rPr lang="en-IN" dirty="0"/>
              <a:t>  to compress data input x to a latent vector z, and the output encoding z is drawn from Gaussian density with parameters </a:t>
            </a:r>
            <a:r>
              <a:rPr lang="el-GR" dirty="0"/>
              <a:t>ϕ</a:t>
            </a:r>
            <a:r>
              <a:rPr lang="en-IN" dirty="0"/>
              <a:t> . </a:t>
            </a:r>
          </a:p>
          <a:p>
            <a:r>
              <a:rPr lang="en-IN" dirty="0"/>
              <a:t>As for the decoder, its input is encoding z, the output from the encoder. It parametrizes the reconstructed x’ over parameters θ, and the output x’ is drawn from the distribution of the data.</a:t>
            </a:r>
          </a:p>
          <a:p>
            <a:endParaRPr lang="en-IN" dirty="0"/>
          </a:p>
        </p:txBody>
      </p:sp>
    </p:spTree>
    <p:extLst>
      <p:ext uri="{BB962C8B-B14F-4D97-AF65-F5344CB8AC3E}">
        <p14:creationId xmlns:p14="http://schemas.microsoft.com/office/powerpoint/2010/main" val="4084281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066025" y="1521123"/>
            <a:ext cx="6059949" cy="3097036"/>
          </a:xfrm>
          <a:prstGeom prst="rect">
            <a:avLst/>
          </a:prstGeom>
        </p:spPr>
      </p:pic>
    </p:spTree>
    <p:extLst>
      <p:ext uri="{BB962C8B-B14F-4D97-AF65-F5344CB8AC3E}">
        <p14:creationId xmlns:p14="http://schemas.microsoft.com/office/powerpoint/2010/main" val="119098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9291"/>
            <a:ext cx="10515600" cy="5167672"/>
          </a:xfrm>
        </p:spPr>
        <p:txBody>
          <a:bodyPr/>
          <a:lstStyle/>
          <a:p>
            <a:r>
              <a:rPr lang="en-IN" b="1" dirty="0"/>
              <a:t>Build Encoder</a:t>
            </a:r>
            <a:endParaRPr lang="en-IN" dirty="0"/>
          </a:p>
          <a:p>
            <a:r>
              <a:rPr lang="en-IN" dirty="0"/>
              <a:t>Encoder’s graph</a:t>
            </a:r>
          </a:p>
          <a:p>
            <a:endParaRPr lang="en-IN" dirty="0"/>
          </a:p>
        </p:txBody>
      </p:sp>
      <p:pic>
        <p:nvPicPr>
          <p:cNvPr id="4" name="Picture 3"/>
          <p:cNvPicPr>
            <a:picLocks noChangeAspect="1"/>
          </p:cNvPicPr>
          <p:nvPr/>
        </p:nvPicPr>
        <p:blipFill>
          <a:blip r:embed="rId2"/>
          <a:stretch>
            <a:fillRect/>
          </a:stretch>
        </p:blipFill>
        <p:spPr>
          <a:xfrm>
            <a:off x="3803596" y="1009291"/>
            <a:ext cx="5962405" cy="4791871"/>
          </a:xfrm>
          <a:prstGeom prst="rect">
            <a:avLst/>
          </a:prstGeom>
        </p:spPr>
      </p:pic>
    </p:spTree>
    <p:extLst>
      <p:ext uri="{BB962C8B-B14F-4D97-AF65-F5344CB8AC3E}">
        <p14:creationId xmlns:p14="http://schemas.microsoft.com/office/powerpoint/2010/main" val="633499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62642"/>
            <a:ext cx="10515600" cy="5314321"/>
          </a:xfrm>
        </p:spPr>
        <p:txBody>
          <a:bodyPr/>
          <a:lstStyle/>
          <a:p>
            <a:r>
              <a:rPr lang="en-IN" b="1" dirty="0"/>
              <a:t>Build Decoder</a:t>
            </a:r>
            <a:endParaRPr lang="en-IN" dirty="0"/>
          </a:p>
          <a:p>
            <a:r>
              <a:rPr lang="en-IN" dirty="0"/>
              <a:t>Decoder’s graph</a:t>
            </a: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4283858" y="862642"/>
            <a:ext cx="5105400" cy="4655820"/>
          </a:xfrm>
          <a:prstGeom prst="rect">
            <a:avLst/>
          </a:prstGeom>
          <a:noFill/>
          <a:ln>
            <a:noFill/>
          </a:ln>
        </p:spPr>
      </p:pic>
    </p:spTree>
    <p:extLst>
      <p:ext uri="{BB962C8B-B14F-4D97-AF65-F5344CB8AC3E}">
        <p14:creationId xmlns:p14="http://schemas.microsoft.com/office/powerpoint/2010/main" val="2104375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0883"/>
            <a:ext cx="10515600" cy="5366080"/>
          </a:xfrm>
        </p:spPr>
        <p:txBody>
          <a:bodyPr/>
          <a:lstStyle/>
          <a:p>
            <a:r>
              <a:rPr lang="en-IN" b="1" dirty="0"/>
              <a:t>Instantiate VAE</a:t>
            </a:r>
          </a:p>
          <a:p>
            <a:r>
              <a:rPr lang="en-IN" dirty="0"/>
              <a:t>VAE Graph</a:t>
            </a:r>
          </a:p>
          <a:p>
            <a:endParaRPr lang="en-IN" dirty="0"/>
          </a:p>
        </p:txBody>
      </p:sp>
      <p:pic>
        <p:nvPicPr>
          <p:cNvPr id="4" name="Picture 3"/>
          <p:cNvPicPr>
            <a:picLocks noChangeAspect="1"/>
          </p:cNvPicPr>
          <p:nvPr/>
        </p:nvPicPr>
        <p:blipFill>
          <a:blip r:embed="rId2"/>
          <a:stretch>
            <a:fillRect/>
          </a:stretch>
        </p:blipFill>
        <p:spPr>
          <a:xfrm>
            <a:off x="4370031" y="974784"/>
            <a:ext cx="5395428" cy="3690284"/>
          </a:xfrm>
          <a:prstGeom prst="rect">
            <a:avLst/>
          </a:prstGeom>
        </p:spPr>
      </p:pic>
    </p:spTree>
    <p:extLst>
      <p:ext uri="{BB962C8B-B14F-4D97-AF65-F5344CB8AC3E}">
        <p14:creationId xmlns:p14="http://schemas.microsoft.com/office/powerpoint/2010/main" val="3301342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0113"/>
            <a:ext cx="10515600" cy="5486850"/>
          </a:xfrm>
        </p:spPr>
        <p:txBody>
          <a:bodyPr>
            <a:normAutofit lnSpcReduction="10000"/>
          </a:bodyPr>
          <a:lstStyle/>
          <a:p>
            <a:pPr marL="0" indent="0">
              <a:buNone/>
            </a:pPr>
            <a:r>
              <a:rPr lang="en-IN" b="1" dirty="0"/>
              <a:t>Loss function</a:t>
            </a:r>
          </a:p>
          <a:p>
            <a:pPr marL="0" indent="0">
              <a:buNone/>
            </a:pPr>
            <a:r>
              <a:rPr lang="en-IN" dirty="0"/>
              <a:t>The loss function includes two terms.</a:t>
            </a:r>
          </a:p>
          <a:p>
            <a:r>
              <a:rPr lang="en-IN" dirty="0"/>
              <a:t>The first term is the negative log-likelihood of the decoder which measures that for each data point </a:t>
            </a:r>
            <a:r>
              <a:rPr lang="en-IN" dirty="0" err="1"/>
              <a:t>i</a:t>
            </a:r>
            <a:r>
              <a:rPr lang="en-IN" dirty="0"/>
              <a:t>, how effectively is the latent vector z reconstructed to x’ and in the code, we use x to approximate x’ and use the built-in binary cross-entropy loss function.</a:t>
            </a:r>
          </a:p>
          <a:p>
            <a:r>
              <a:rPr lang="en-IN" dirty="0"/>
              <a:t>The second term is the KL divergence, which is a </a:t>
            </a:r>
            <a:r>
              <a:rPr lang="en-IN" dirty="0" err="1"/>
              <a:t>regularizer</a:t>
            </a:r>
            <a:r>
              <a:rPr lang="en-IN" dirty="0"/>
              <a:t> that measures the information loss when we use the encoder q_</a:t>
            </a:r>
            <a:r>
              <a:rPr lang="el-GR" dirty="0"/>
              <a:t>ϕ</a:t>
            </a:r>
            <a:r>
              <a:rPr lang="en-IN" dirty="0"/>
              <a:t> to produce z, and in the VAE, p(z) is a standard Gaussian distribution N(0,1). </a:t>
            </a:r>
          </a:p>
          <a:p>
            <a:r>
              <a:rPr lang="en-IN" dirty="0"/>
              <a:t>This is to encourage the encoder to produce z that are close to the </a:t>
            </a:r>
            <a:r>
              <a:rPr lang="en-IN" dirty="0" err="1"/>
              <a:t>gaussian</a:t>
            </a:r>
            <a:r>
              <a:rPr lang="en-IN" dirty="0"/>
              <a:t> distribution and this means to keep z representations of each different kind of data to be sufficiently diverse and close to each other in the latent space.</a:t>
            </a:r>
          </a:p>
          <a:p>
            <a:endParaRPr lang="en-IN" dirty="0"/>
          </a:p>
        </p:txBody>
      </p:sp>
    </p:spTree>
    <p:extLst>
      <p:ext uri="{BB962C8B-B14F-4D97-AF65-F5344CB8AC3E}">
        <p14:creationId xmlns:p14="http://schemas.microsoft.com/office/powerpoint/2010/main" val="4272000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F35E4-9ECD-5B6D-B3BF-FC5C3CBCCAE6}"/>
              </a:ext>
            </a:extLst>
          </p:cNvPr>
          <p:cNvSpPr>
            <a:spLocks noGrp="1"/>
          </p:cNvSpPr>
          <p:nvPr>
            <p:ph type="title"/>
          </p:nvPr>
        </p:nvSpPr>
        <p:spPr/>
        <p:txBody>
          <a:bodyPr/>
          <a:lstStyle/>
          <a:p>
            <a:r>
              <a:rPr lang="en-IN" b="1" dirty="0"/>
              <a:t>Undercomplete Autoencoder</a:t>
            </a:r>
          </a:p>
        </p:txBody>
      </p:sp>
      <p:sp>
        <p:nvSpPr>
          <p:cNvPr id="3" name="Content Placeholder 2">
            <a:extLst>
              <a:ext uri="{FF2B5EF4-FFF2-40B4-BE49-F238E27FC236}">
                <a16:creationId xmlns:a16="http://schemas.microsoft.com/office/drawing/2014/main" id="{4CC648D9-17D1-E02D-499E-6043ABD20892}"/>
              </a:ext>
            </a:extLst>
          </p:cNvPr>
          <p:cNvSpPr>
            <a:spLocks noGrp="1"/>
          </p:cNvSpPr>
          <p:nvPr>
            <p:ph idx="1"/>
          </p:nvPr>
        </p:nvSpPr>
        <p:spPr>
          <a:xfrm>
            <a:off x="838200" y="1578634"/>
            <a:ext cx="10515600" cy="4598329"/>
          </a:xfrm>
        </p:spPr>
        <p:txBody>
          <a:bodyPr/>
          <a:lstStyle/>
          <a:p>
            <a:r>
              <a:rPr lang="en-US" dirty="0"/>
              <a:t>An undercomplete autoencoder is an autoencoder with a compressed hidden layer (bottleneck) that has fewer nodes than the input and output layers. </a:t>
            </a:r>
          </a:p>
          <a:p>
            <a:r>
              <a:rPr lang="en-US" dirty="0"/>
              <a:t>This structural constraint forces the network to learn a lower-dimensional representation of the input data by capturing only the most essential features, effectively acting as a dimensionality reduction technique without explicit regularization. </a:t>
            </a:r>
          </a:p>
          <a:p>
            <a:r>
              <a:rPr lang="en-US" dirty="0"/>
              <a:t>It is termed "undercomplete" because it forces the representation to have a lower dimensionality than the input itself, thereby learning to capture only the most essential features.</a:t>
            </a:r>
            <a:endParaRPr lang="en-IN" dirty="0"/>
          </a:p>
        </p:txBody>
      </p:sp>
    </p:spTree>
    <p:extLst>
      <p:ext uri="{BB962C8B-B14F-4D97-AF65-F5344CB8AC3E}">
        <p14:creationId xmlns:p14="http://schemas.microsoft.com/office/powerpoint/2010/main" val="141385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704FA5-C281-F337-9A38-D9F97E8485E8}"/>
              </a:ext>
            </a:extLst>
          </p:cNvPr>
          <p:cNvSpPr>
            <a:spLocks noGrp="1"/>
          </p:cNvSpPr>
          <p:nvPr>
            <p:ph idx="1"/>
          </p:nvPr>
        </p:nvSpPr>
        <p:spPr>
          <a:xfrm>
            <a:off x="838200" y="776377"/>
            <a:ext cx="10515600" cy="5400586"/>
          </a:xfrm>
        </p:spPr>
        <p:txBody>
          <a:bodyPr>
            <a:normAutofit lnSpcReduction="10000"/>
          </a:bodyPr>
          <a:lstStyle/>
          <a:p>
            <a:pPr algn="l" rtl="0" fontAlgn="base">
              <a:lnSpc>
                <a:spcPct val="100000"/>
              </a:lnSpc>
            </a:pPr>
            <a:r>
              <a:rPr lang="en-US" b="1" i="0" dirty="0">
                <a:effectLst/>
                <a:latin typeface="Nunito" pitchFamily="2" charset="0"/>
              </a:rPr>
              <a:t>An undercomplete autoencoder is typically structured into two main components:</a:t>
            </a:r>
            <a:endParaRPr lang="en-US" b="0" i="0" dirty="0">
              <a:effectLst/>
              <a:latin typeface="Nunito" pitchFamily="2" charset="0"/>
            </a:endParaRPr>
          </a:p>
          <a:p>
            <a:pPr algn="l" fontAlgn="base">
              <a:lnSpc>
                <a:spcPct val="100000"/>
              </a:lnSpc>
              <a:buFont typeface="+mj-lt"/>
              <a:buAutoNum type="arabicPeriod"/>
            </a:pPr>
            <a:r>
              <a:rPr lang="en-US" b="1" i="0" dirty="0">
                <a:effectLst/>
                <a:latin typeface="Nunito" pitchFamily="2" charset="0"/>
              </a:rPr>
              <a:t>Encoder</a:t>
            </a:r>
            <a:r>
              <a:rPr lang="en-US" b="0" i="0" dirty="0">
                <a:effectLst/>
                <a:latin typeface="Nunito" pitchFamily="2" charset="0"/>
              </a:rPr>
              <a:t>: This part compresses the input into a smaller, dense representation. Mathematically, it transforms the input </a:t>
            </a:r>
            <a:r>
              <a:rPr lang="en-US" b="0" i="0" dirty="0">
                <a:effectLst/>
                <a:latin typeface="KaTeX_Main"/>
              </a:rPr>
              <a:t>x</a:t>
            </a:r>
            <a:r>
              <a:rPr lang="en-US" b="0" i="0" dirty="0">
                <a:effectLst/>
                <a:latin typeface="Nunito" pitchFamily="2" charset="0"/>
              </a:rPr>
              <a:t> using weights </a:t>
            </a:r>
            <a:r>
              <a:rPr lang="en-US" b="0" i="0" dirty="0">
                <a:effectLst/>
                <a:latin typeface="KaTeX_Main"/>
              </a:rPr>
              <a:t>W</a:t>
            </a:r>
            <a:r>
              <a:rPr lang="en-US" b="0" i="0" dirty="0">
                <a:effectLst/>
                <a:latin typeface="Nunito" pitchFamily="2" charset="0"/>
              </a:rPr>
              <a:t> and biases </a:t>
            </a:r>
            <a:r>
              <a:rPr lang="en-US" b="0" i="1" dirty="0">
                <a:effectLst/>
                <a:latin typeface="KaTeX_Math"/>
              </a:rPr>
              <a:t>b</a:t>
            </a:r>
            <a:r>
              <a:rPr lang="en-US" b="0" i="0" dirty="0">
                <a:effectLst/>
                <a:latin typeface="Nunito" pitchFamily="2" charset="0"/>
              </a:rPr>
              <a:t>, and an activation function </a:t>
            </a:r>
            <a:r>
              <a:rPr lang="en-US" b="0" i="1" dirty="0">
                <a:effectLst/>
                <a:latin typeface="KaTeX_Math"/>
              </a:rPr>
              <a:t>σ</a:t>
            </a:r>
            <a:r>
              <a:rPr lang="en-US" b="0" i="0" dirty="0">
                <a:effectLst/>
                <a:latin typeface="Nunito" pitchFamily="2" charset="0"/>
              </a:rPr>
              <a:t> : </a:t>
            </a:r>
            <a:r>
              <a:rPr lang="en-US" b="0" i="0" dirty="0">
                <a:effectLst/>
                <a:latin typeface="KaTeX_Main"/>
              </a:rPr>
              <a:t>h=σ(</a:t>
            </a:r>
            <a:r>
              <a:rPr lang="en-US" b="0" i="0" dirty="0" err="1">
                <a:effectLst/>
                <a:latin typeface="KaTeX_Main"/>
              </a:rPr>
              <a:t>Wx+b</a:t>
            </a:r>
            <a:r>
              <a:rPr lang="en-US" b="0" i="0" dirty="0">
                <a:effectLst/>
                <a:latin typeface="KaTeX_Main"/>
              </a:rPr>
              <a:t>).</a:t>
            </a:r>
            <a:r>
              <a:rPr lang="en-US" b="0" i="1" dirty="0">
                <a:effectLst/>
                <a:latin typeface="KaTeX_Math"/>
              </a:rPr>
              <a:t> </a:t>
            </a:r>
            <a:r>
              <a:rPr lang="en-US" b="0" i="0" dirty="0">
                <a:effectLst/>
                <a:latin typeface="Nunito" pitchFamily="2" charset="0"/>
              </a:rPr>
              <a:t>The encoder reduces the dimensionality of the input, preparing a compressed version that retains critical data characteristics.</a:t>
            </a:r>
          </a:p>
          <a:p>
            <a:pPr fontAlgn="base">
              <a:lnSpc>
                <a:spcPct val="100000"/>
              </a:lnSpc>
              <a:buFont typeface="+mj-lt"/>
              <a:buAutoNum type="arabicPeriod" startAt="2"/>
            </a:pPr>
            <a:r>
              <a:rPr lang="en-US" b="1" i="0" dirty="0">
                <a:effectLst/>
                <a:latin typeface="Nunito" pitchFamily="2" charset="0"/>
              </a:rPr>
              <a:t>Decoder</a:t>
            </a:r>
            <a:r>
              <a:rPr lang="en-US" b="0" i="0" dirty="0">
                <a:effectLst/>
                <a:latin typeface="Nunito" pitchFamily="2" charset="0"/>
              </a:rPr>
              <a:t>: The decoder part aims to reconstruct the original input from the compressed code as accurately as possible. It mirrors the encoder's structure but in reverse, using potentially different weights </a:t>
            </a:r>
            <a:r>
              <a:rPr lang="en-US" b="0" i="0" dirty="0">
                <a:effectLst/>
                <a:latin typeface="KaTeX_Main"/>
              </a:rPr>
              <a:t>W′</a:t>
            </a:r>
            <a:r>
              <a:rPr lang="en-US" b="0" i="0" dirty="0">
                <a:effectLst/>
                <a:latin typeface="Nunito" pitchFamily="2" charset="0"/>
              </a:rPr>
              <a:t> and biases </a:t>
            </a:r>
            <a:r>
              <a:rPr lang="en-US" b="0" i="0" dirty="0">
                <a:effectLst/>
                <a:latin typeface="KaTeX_Main"/>
              </a:rPr>
              <a:t>b′</a:t>
            </a:r>
            <a:r>
              <a:rPr lang="en-US" b="0" i="0" dirty="0">
                <a:effectLst/>
                <a:latin typeface="Nunito" pitchFamily="2" charset="0"/>
              </a:rPr>
              <a:t>: </a:t>
            </a:r>
            <a:r>
              <a:rPr lang="en-IN" dirty="0"/>
              <a:t>x̂</a:t>
            </a:r>
            <a:r>
              <a:rPr lang="en-US" b="0" i="0" dirty="0">
                <a:effectLst/>
                <a:latin typeface="KaTeX_Main"/>
              </a:rPr>
              <a:t>=σ′(</a:t>
            </a:r>
            <a:r>
              <a:rPr lang="en-US" b="0" i="0" dirty="0" err="1">
                <a:effectLst/>
                <a:latin typeface="KaTeX_Main"/>
              </a:rPr>
              <a:t>W′h+b</a:t>
            </a:r>
            <a:r>
              <a:rPr lang="en-US" b="0" i="0" dirty="0">
                <a:effectLst/>
                <a:latin typeface="KaTeX_Main"/>
              </a:rPr>
              <a:t>′)</a:t>
            </a:r>
            <a:endParaRPr lang="en-US" b="0" i="0" dirty="0">
              <a:effectLst/>
              <a:latin typeface="Nunito" pitchFamily="2" charset="0"/>
            </a:endParaRPr>
          </a:p>
          <a:p>
            <a:endParaRPr lang="en-IN" dirty="0"/>
          </a:p>
        </p:txBody>
      </p:sp>
    </p:spTree>
    <p:extLst>
      <p:ext uri="{BB962C8B-B14F-4D97-AF65-F5344CB8AC3E}">
        <p14:creationId xmlns:p14="http://schemas.microsoft.com/office/powerpoint/2010/main" val="969614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B13F9C-F109-FB43-AB09-E1F1E09A8D7F}"/>
              </a:ext>
            </a:extLst>
          </p:cNvPr>
          <p:cNvSpPr>
            <a:spLocks noGrp="1"/>
          </p:cNvSpPr>
          <p:nvPr>
            <p:ph idx="1"/>
          </p:nvPr>
        </p:nvSpPr>
        <p:spPr>
          <a:xfrm>
            <a:off x="838200" y="1009291"/>
            <a:ext cx="10515600" cy="5167672"/>
          </a:xfrm>
        </p:spPr>
        <p:txBody>
          <a:bodyPr>
            <a:normAutofit/>
          </a:bodyPr>
          <a:lstStyle/>
          <a:p>
            <a:pPr marL="0" indent="0">
              <a:buNone/>
            </a:pPr>
            <a:r>
              <a:rPr lang="en-US" dirty="0"/>
              <a:t>The encoder of a linear autoencoder is equivalent to PCA if we</a:t>
            </a:r>
          </a:p>
          <a:p>
            <a:pPr lvl="1"/>
            <a:r>
              <a:rPr lang="en-US" sz="2800" dirty="0"/>
              <a:t>use a linear encoder</a:t>
            </a:r>
          </a:p>
          <a:p>
            <a:pPr lvl="1"/>
            <a:r>
              <a:rPr lang="en-US" sz="2800" dirty="0"/>
              <a:t>use a linear decoder</a:t>
            </a:r>
          </a:p>
          <a:p>
            <a:pPr lvl="1"/>
            <a:r>
              <a:rPr lang="en-US" sz="2800" dirty="0"/>
              <a:t>use a squared error loss function</a:t>
            </a:r>
          </a:p>
          <a:p>
            <a:pPr lvl="1"/>
            <a:r>
              <a:rPr lang="en-IN" sz="2800" dirty="0"/>
              <a:t>and normalize the inputs</a:t>
            </a:r>
          </a:p>
        </p:txBody>
      </p:sp>
      <p:pic>
        <p:nvPicPr>
          <p:cNvPr id="5" name="Picture 4">
            <a:extLst>
              <a:ext uri="{FF2B5EF4-FFF2-40B4-BE49-F238E27FC236}">
                <a16:creationId xmlns:a16="http://schemas.microsoft.com/office/drawing/2014/main" id="{57C285CC-CEFF-346B-8D35-5B5A7E3B0DDB}"/>
              </a:ext>
            </a:extLst>
          </p:cNvPr>
          <p:cNvPicPr>
            <a:picLocks noChangeAspect="1"/>
          </p:cNvPicPr>
          <p:nvPr/>
        </p:nvPicPr>
        <p:blipFill>
          <a:blip r:embed="rId2"/>
          <a:stretch>
            <a:fillRect/>
          </a:stretch>
        </p:blipFill>
        <p:spPr>
          <a:xfrm>
            <a:off x="6531428" y="2028222"/>
            <a:ext cx="4129122" cy="3537739"/>
          </a:xfrm>
          <a:prstGeom prst="rect">
            <a:avLst/>
          </a:prstGeom>
        </p:spPr>
      </p:pic>
    </p:spTree>
    <p:extLst>
      <p:ext uri="{BB962C8B-B14F-4D97-AF65-F5344CB8AC3E}">
        <p14:creationId xmlns:p14="http://schemas.microsoft.com/office/powerpoint/2010/main" val="1218416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CDB2C-6D27-C4BE-5C25-4F06D880FE4C}"/>
              </a:ext>
            </a:extLst>
          </p:cNvPr>
          <p:cNvSpPr>
            <a:spLocks noGrp="1"/>
          </p:cNvSpPr>
          <p:nvPr>
            <p:ph type="title"/>
          </p:nvPr>
        </p:nvSpPr>
        <p:spPr/>
        <p:txBody>
          <a:bodyPr>
            <a:normAutofit fontScale="90000"/>
          </a:bodyPr>
          <a:lstStyle/>
          <a:p>
            <a:r>
              <a:rPr lang="en-US" b="1" i="0" dirty="0">
                <a:effectLst/>
                <a:latin typeface="Nunito" pitchFamily="2" charset="0"/>
              </a:rPr>
              <a:t>Difference between Vanilla Autoencoders and Undercomplete Autoencoders</a:t>
            </a:r>
            <a:endParaRPr lang="en-IN" dirty="0"/>
          </a:p>
        </p:txBody>
      </p:sp>
      <p:sp>
        <p:nvSpPr>
          <p:cNvPr id="3" name="Content Placeholder 2">
            <a:extLst>
              <a:ext uri="{FF2B5EF4-FFF2-40B4-BE49-F238E27FC236}">
                <a16:creationId xmlns:a16="http://schemas.microsoft.com/office/drawing/2014/main" id="{D5032E6C-58F2-1CF8-EE5D-8DB2EB84ACC2}"/>
              </a:ext>
            </a:extLst>
          </p:cNvPr>
          <p:cNvSpPr>
            <a:spLocks noGrp="1"/>
          </p:cNvSpPr>
          <p:nvPr>
            <p:ph idx="1"/>
          </p:nvPr>
        </p:nvSpPr>
        <p:spPr>
          <a:xfrm>
            <a:off x="838200" y="1690688"/>
            <a:ext cx="10515600" cy="4566549"/>
          </a:xfrm>
        </p:spPr>
        <p:txBody>
          <a:bodyPr>
            <a:noAutofit/>
          </a:bodyPr>
          <a:lstStyle/>
          <a:p>
            <a:pPr algn="l" fontAlgn="base">
              <a:lnSpc>
                <a:spcPct val="120000"/>
              </a:lnSpc>
              <a:buFont typeface="+mj-lt"/>
              <a:buAutoNum type="arabicPeriod"/>
            </a:pPr>
            <a:r>
              <a:rPr lang="en-US" sz="1600" b="1" i="0" dirty="0">
                <a:effectLst/>
                <a:latin typeface="Nunito" pitchFamily="2" charset="0"/>
              </a:rPr>
              <a:t>Dimensionality Reduction</a:t>
            </a:r>
            <a:r>
              <a:rPr lang="en-US" sz="1600" b="0" i="0" dirty="0">
                <a:effectLst/>
                <a:latin typeface="Nunito" pitchFamily="2" charset="0"/>
              </a:rPr>
              <a:t>: An undercomplete autoencoder specifically focuses on reducing the dimensionality of the input data, while a vanilla autoencoder does not necessarily do so.</a:t>
            </a:r>
          </a:p>
          <a:p>
            <a:pPr algn="l" fontAlgn="base">
              <a:lnSpc>
                <a:spcPct val="120000"/>
              </a:lnSpc>
              <a:buFont typeface="+mj-lt"/>
              <a:buAutoNum type="arabicPeriod" startAt="2"/>
            </a:pPr>
            <a:r>
              <a:rPr lang="en-US" sz="1600" b="1" i="0" dirty="0">
                <a:effectLst/>
                <a:latin typeface="Nunito" pitchFamily="2" charset="0"/>
              </a:rPr>
              <a:t>Bottleneck Layer Size</a:t>
            </a:r>
            <a:r>
              <a:rPr lang="en-US" sz="1600" b="0" i="0" dirty="0">
                <a:effectLst/>
                <a:latin typeface="Nunito" pitchFamily="2" charset="0"/>
              </a:rPr>
              <a:t>: In an undercomplete autoencoder, the bottleneck layer has fewer neurons than the input layer, enforcing a compressed representation. In contrast, a vanilla autoencoder might have a bottleneck layer with an equal or greater number of neurons compared to the input layer.</a:t>
            </a:r>
          </a:p>
          <a:p>
            <a:pPr algn="l" fontAlgn="base">
              <a:lnSpc>
                <a:spcPct val="120000"/>
              </a:lnSpc>
              <a:buFont typeface="+mj-lt"/>
              <a:buAutoNum type="arabicPeriod" startAt="3"/>
            </a:pPr>
            <a:r>
              <a:rPr lang="en-US" sz="1600" b="1" i="0" dirty="0">
                <a:effectLst/>
                <a:latin typeface="Nunito" pitchFamily="2" charset="0"/>
              </a:rPr>
              <a:t>Generalization</a:t>
            </a:r>
            <a:r>
              <a:rPr lang="en-US" sz="1600" b="0" i="0" dirty="0">
                <a:effectLst/>
                <a:latin typeface="Nunito" pitchFamily="2" charset="0"/>
              </a:rPr>
              <a:t>: Undercomplete autoencoders, by reducing dimensionality, often capture the most important features of the data, leading to better generalization. Vanilla autoencoders, without a reduced bottleneck, might overfit the data, capturing noise as well as signal.</a:t>
            </a:r>
          </a:p>
          <a:p>
            <a:pPr marL="0" indent="0" algn="l" fontAlgn="base">
              <a:lnSpc>
                <a:spcPct val="120000"/>
              </a:lnSpc>
              <a:buNone/>
            </a:pPr>
            <a:r>
              <a:rPr lang="en-US" sz="1600" b="1" i="0" dirty="0">
                <a:effectLst/>
                <a:latin typeface="Nunito" pitchFamily="2" charset="0"/>
              </a:rPr>
              <a:t>Example:</a:t>
            </a:r>
          </a:p>
          <a:p>
            <a:pPr algn="l" fontAlgn="base">
              <a:lnSpc>
                <a:spcPct val="120000"/>
              </a:lnSpc>
              <a:buFont typeface="Arial" panose="020B0604020202020204" pitchFamily="34" charset="0"/>
              <a:buChar char="•"/>
            </a:pPr>
            <a:r>
              <a:rPr lang="en-US" sz="1600" b="1" i="0" dirty="0">
                <a:effectLst/>
                <a:latin typeface="Nunito" pitchFamily="2" charset="0"/>
              </a:rPr>
              <a:t>Vanilla Autoencoder</a:t>
            </a:r>
            <a:r>
              <a:rPr lang="en-US" sz="1600" b="0" i="0" dirty="0">
                <a:effectLst/>
                <a:latin typeface="Nunito" pitchFamily="2" charset="0"/>
              </a:rPr>
              <a:t>: Input size = 784, Hidden layer 1 size = 128, Bottleneck size = 64, Output size = 784.</a:t>
            </a:r>
          </a:p>
          <a:p>
            <a:pPr algn="l" fontAlgn="base">
              <a:lnSpc>
                <a:spcPct val="120000"/>
              </a:lnSpc>
              <a:buFont typeface="Arial" panose="020B0604020202020204" pitchFamily="34" charset="0"/>
              <a:buChar char="•"/>
            </a:pPr>
            <a:r>
              <a:rPr lang="en-US" sz="1600" b="1" i="0" dirty="0">
                <a:effectLst/>
                <a:latin typeface="Nunito" pitchFamily="2" charset="0"/>
              </a:rPr>
              <a:t>Undercomplete Autoencoder</a:t>
            </a:r>
            <a:r>
              <a:rPr lang="en-US" sz="1600" b="0" i="0" dirty="0">
                <a:effectLst/>
                <a:latin typeface="Nunito" pitchFamily="2" charset="0"/>
              </a:rPr>
              <a:t>: Input size = 784, Hidden layer 1 size = 128, Bottleneck size = 32, Output size = 784.</a:t>
            </a:r>
          </a:p>
          <a:p>
            <a:pPr algn="l" rtl="0" fontAlgn="base">
              <a:lnSpc>
                <a:spcPct val="120000"/>
              </a:lnSpc>
            </a:pPr>
            <a:r>
              <a:rPr lang="en-US" sz="1600" b="0" i="0" dirty="0">
                <a:effectLst/>
                <a:latin typeface="Nunito" pitchFamily="2" charset="0"/>
              </a:rPr>
              <a:t>In the undercomplete version, the bottleneck size (32) is significantly smaller than the input size (784), forcing the network to learn a compressed representation of the data.</a:t>
            </a:r>
          </a:p>
        </p:txBody>
      </p:sp>
    </p:spTree>
    <p:extLst>
      <p:ext uri="{BB962C8B-B14F-4D97-AF65-F5344CB8AC3E}">
        <p14:creationId xmlns:p14="http://schemas.microsoft.com/office/powerpoint/2010/main" val="2264047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E0DD9-F007-8C27-D06D-2FAF1B8B94B0}"/>
              </a:ext>
            </a:extLst>
          </p:cNvPr>
          <p:cNvSpPr>
            <a:spLocks noGrp="1"/>
          </p:cNvSpPr>
          <p:nvPr>
            <p:ph type="title"/>
          </p:nvPr>
        </p:nvSpPr>
        <p:spPr>
          <a:xfrm>
            <a:off x="838200" y="365125"/>
            <a:ext cx="10515600" cy="1049607"/>
          </a:xfrm>
        </p:spPr>
        <p:txBody>
          <a:bodyPr/>
          <a:lstStyle/>
          <a:p>
            <a:r>
              <a:rPr lang="en-IN" b="1" dirty="0"/>
              <a:t>Regularized Autoencoders</a:t>
            </a:r>
          </a:p>
        </p:txBody>
      </p:sp>
      <p:sp>
        <p:nvSpPr>
          <p:cNvPr id="3" name="Content Placeholder 2">
            <a:extLst>
              <a:ext uri="{FF2B5EF4-FFF2-40B4-BE49-F238E27FC236}">
                <a16:creationId xmlns:a16="http://schemas.microsoft.com/office/drawing/2014/main" id="{69B1C550-4ADA-1959-D9F1-A4B04CB9D76F}"/>
              </a:ext>
            </a:extLst>
          </p:cNvPr>
          <p:cNvSpPr>
            <a:spLocks noGrp="1"/>
          </p:cNvSpPr>
          <p:nvPr>
            <p:ph idx="1"/>
          </p:nvPr>
        </p:nvSpPr>
        <p:spPr>
          <a:xfrm>
            <a:off x="838200" y="1518249"/>
            <a:ext cx="10515600" cy="4658714"/>
          </a:xfrm>
        </p:spPr>
        <p:txBody>
          <a:bodyPr/>
          <a:lstStyle/>
          <a:p>
            <a:r>
              <a:rPr lang="en-US" dirty="0"/>
              <a:t>While poor generalization could happen even in undercomplete autoencoders it is an even more serious problem for overcomplete auto encoders</a:t>
            </a:r>
          </a:p>
          <a:p>
            <a:r>
              <a:rPr lang="en-US" dirty="0"/>
              <a:t>Here, (as stated earlier) the model can simply learn to copy x</a:t>
            </a:r>
            <a:r>
              <a:rPr lang="en-US" baseline="-25000" dirty="0"/>
              <a:t>i</a:t>
            </a:r>
            <a:r>
              <a:rPr lang="en-US" dirty="0"/>
              <a:t> to h and then h to </a:t>
            </a:r>
            <a:r>
              <a:rPr lang="en-US" b="0" i="0" dirty="0">
                <a:effectLst/>
                <a:latin typeface="Nunito" pitchFamily="2" charset="0"/>
              </a:rPr>
              <a:t> </a:t>
            </a:r>
            <a:r>
              <a:rPr lang="en-IN" dirty="0" err="1"/>
              <a:t>x̂</a:t>
            </a:r>
            <a:r>
              <a:rPr lang="en-IN" baseline="-25000" dirty="0" err="1"/>
              <a:t>i</a:t>
            </a:r>
            <a:endParaRPr lang="en-US" baseline="-25000" dirty="0"/>
          </a:p>
          <a:p>
            <a:r>
              <a:rPr lang="en-US" dirty="0"/>
              <a:t>To avoid poor generalization, we need to introduce regularization</a:t>
            </a:r>
          </a:p>
          <a:p>
            <a:r>
              <a:rPr lang="en-US" dirty="0"/>
              <a:t>The simplest solution is to add a L2-regularization term to the objective function </a:t>
            </a:r>
          </a:p>
          <a:p>
            <a:endParaRPr lang="en-IN" dirty="0"/>
          </a:p>
        </p:txBody>
      </p:sp>
      <p:pic>
        <p:nvPicPr>
          <p:cNvPr id="5" name="Picture 4">
            <a:extLst>
              <a:ext uri="{FF2B5EF4-FFF2-40B4-BE49-F238E27FC236}">
                <a16:creationId xmlns:a16="http://schemas.microsoft.com/office/drawing/2014/main" id="{CAFABE86-31BB-52E9-D169-34C389A672F8}"/>
              </a:ext>
            </a:extLst>
          </p:cNvPr>
          <p:cNvPicPr>
            <a:picLocks noChangeAspect="1"/>
          </p:cNvPicPr>
          <p:nvPr/>
        </p:nvPicPr>
        <p:blipFill>
          <a:blip r:embed="rId2"/>
          <a:stretch>
            <a:fillRect/>
          </a:stretch>
        </p:blipFill>
        <p:spPr>
          <a:xfrm>
            <a:off x="3728620" y="5085405"/>
            <a:ext cx="4020014" cy="858644"/>
          </a:xfrm>
          <a:prstGeom prst="rect">
            <a:avLst/>
          </a:prstGeom>
        </p:spPr>
      </p:pic>
    </p:spTree>
    <p:extLst>
      <p:ext uri="{BB962C8B-B14F-4D97-AF65-F5344CB8AC3E}">
        <p14:creationId xmlns:p14="http://schemas.microsoft.com/office/powerpoint/2010/main" val="1762889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E153A-9F3B-5A46-1B64-A48EEA15F65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AF60416-9C40-7832-614E-CAD9E55329C1}"/>
              </a:ext>
            </a:extLst>
          </p:cNvPr>
          <p:cNvSpPr>
            <a:spLocks noGrp="1"/>
          </p:cNvSpPr>
          <p:nvPr>
            <p:ph idx="1"/>
          </p:nvPr>
        </p:nvSpPr>
        <p:spPr/>
        <p:txBody>
          <a:bodyPr/>
          <a:lstStyle/>
          <a:p>
            <a:r>
              <a:rPr lang="en-US" dirty="0"/>
              <a:t>Another trick is to tie the weights of the encoder and decoder</a:t>
            </a:r>
          </a:p>
          <a:p>
            <a:pPr marL="0" indent="0">
              <a:buNone/>
            </a:pPr>
            <a:r>
              <a:rPr lang="en-US" dirty="0"/>
              <a:t>		 i.e., W ∗ =W</a:t>
            </a:r>
            <a:r>
              <a:rPr lang="en-US" baseline="30000" dirty="0"/>
              <a:t>T</a:t>
            </a:r>
          </a:p>
          <a:p>
            <a:r>
              <a:rPr lang="en-US" dirty="0"/>
              <a:t>This effectively reduces the capacity of Autoencoder and acts as a </a:t>
            </a:r>
            <a:r>
              <a:rPr lang="en-US" dirty="0" err="1"/>
              <a:t>regularizer</a:t>
            </a:r>
            <a:endParaRPr lang="en-IN" dirty="0"/>
          </a:p>
        </p:txBody>
      </p:sp>
    </p:spTree>
    <p:extLst>
      <p:ext uri="{BB962C8B-B14F-4D97-AF65-F5344CB8AC3E}">
        <p14:creationId xmlns:p14="http://schemas.microsoft.com/office/powerpoint/2010/main" val="1471306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5ADE2-23BB-BE54-157A-6F0C85414EC0}"/>
              </a:ext>
            </a:extLst>
          </p:cNvPr>
          <p:cNvSpPr>
            <a:spLocks noGrp="1"/>
          </p:cNvSpPr>
          <p:nvPr>
            <p:ph idx="1"/>
          </p:nvPr>
        </p:nvSpPr>
        <p:spPr>
          <a:xfrm>
            <a:off x="838200" y="1802921"/>
            <a:ext cx="10515600" cy="4374042"/>
          </a:xfrm>
        </p:spPr>
        <p:txBody>
          <a:bodyPr>
            <a:normAutofit/>
          </a:bodyPr>
          <a:lstStyle/>
          <a:p>
            <a:r>
              <a:rPr lang="en-US" dirty="0"/>
              <a:t>A denoising encoder simply corrupts the input data using a probabilistic process                      before feeding it to the network</a:t>
            </a:r>
          </a:p>
          <a:p>
            <a:r>
              <a:rPr lang="en-US" dirty="0"/>
              <a:t>A simple                      used in practice is the following</a:t>
            </a:r>
          </a:p>
          <a:p>
            <a:endParaRPr lang="en-US" dirty="0"/>
          </a:p>
          <a:p>
            <a:endParaRPr lang="en-US" dirty="0"/>
          </a:p>
          <a:p>
            <a:pPr marL="0" indent="0">
              <a:buNone/>
            </a:pPr>
            <a:endParaRPr lang="en-US" dirty="0"/>
          </a:p>
          <a:p>
            <a:pPr algn="l"/>
            <a:r>
              <a:rPr lang="en-US" dirty="0"/>
              <a:t>In other words, with probability q the input is flipped to 0 and with probability (1-q) it is retained as it is.</a:t>
            </a:r>
          </a:p>
          <a:p>
            <a:pPr marL="0" indent="0" algn="l">
              <a:buNone/>
            </a:pPr>
            <a:endParaRPr lang="en-US" dirty="0"/>
          </a:p>
          <a:p>
            <a:endParaRPr lang="en-IN" dirty="0"/>
          </a:p>
        </p:txBody>
      </p:sp>
      <p:pic>
        <p:nvPicPr>
          <p:cNvPr id="5" name="Picture 4">
            <a:extLst>
              <a:ext uri="{FF2B5EF4-FFF2-40B4-BE49-F238E27FC236}">
                <a16:creationId xmlns:a16="http://schemas.microsoft.com/office/drawing/2014/main" id="{473A33D9-CD12-6C23-35BA-5FCE8930E0A3}"/>
              </a:ext>
            </a:extLst>
          </p:cNvPr>
          <p:cNvPicPr>
            <a:picLocks noChangeAspect="1"/>
          </p:cNvPicPr>
          <p:nvPr/>
        </p:nvPicPr>
        <p:blipFill>
          <a:blip r:embed="rId2"/>
          <a:stretch>
            <a:fillRect/>
          </a:stretch>
        </p:blipFill>
        <p:spPr>
          <a:xfrm>
            <a:off x="3190573" y="3321628"/>
            <a:ext cx="4887007" cy="1257475"/>
          </a:xfrm>
          <a:prstGeom prst="rect">
            <a:avLst/>
          </a:prstGeom>
        </p:spPr>
      </p:pic>
      <p:pic>
        <p:nvPicPr>
          <p:cNvPr id="7" name="Picture 6">
            <a:extLst>
              <a:ext uri="{FF2B5EF4-FFF2-40B4-BE49-F238E27FC236}">
                <a16:creationId xmlns:a16="http://schemas.microsoft.com/office/drawing/2014/main" id="{C1B5922E-FA2A-8E5B-8943-F7944F7EA6C9}"/>
              </a:ext>
            </a:extLst>
          </p:cNvPr>
          <p:cNvPicPr>
            <a:picLocks noChangeAspect="1"/>
          </p:cNvPicPr>
          <p:nvPr/>
        </p:nvPicPr>
        <p:blipFill>
          <a:blip r:embed="rId3"/>
          <a:stretch>
            <a:fillRect/>
          </a:stretch>
        </p:blipFill>
        <p:spPr>
          <a:xfrm>
            <a:off x="4259221" y="2195671"/>
            <a:ext cx="1504986" cy="480250"/>
          </a:xfrm>
          <a:prstGeom prst="rect">
            <a:avLst/>
          </a:prstGeom>
        </p:spPr>
      </p:pic>
      <p:pic>
        <p:nvPicPr>
          <p:cNvPr id="9" name="Picture 8">
            <a:extLst>
              <a:ext uri="{FF2B5EF4-FFF2-40B4-BE49-F238E27FC236}">
                <a16:creationId xmlns:a16="http://schemas.microsoft.com/office/drawing/2014/main" id="{15450899-0B7E-9FFB-A1AB-70B38C6A891C}"/>
              </a:ext>
            </a:extLst>
          </p:cNvPr>
          <p:cNvPicPr>
            <a:picLocks noChangeAspect="1"/>
          </p:cNvPicPr>
          <p:nvPr/>
        </p:nvPicPr>
        <p:blipFill>
          <a:blip r:embed="rId3"/>
          <a:stretch>
            <a:fillRect/>
          </a:stretch>
        </p:blipFill>
        <p:spPr>
          <a:xfrm>
            <a:off x="2412111" y="2675921"/>
            <a:ext cx="1648055" cy="533474"/>
          </a:xfrm>
          <a:prstGeom prst="rect">
            <a:avLst/>
          </a:prstGeom>
        </p:spPr>
      </p:pic>
      <p:sp>
        <p:nvSpPr>
          <p:cNvPr id="10" name="Title 1">
            <a:extLst>
              <a:ext uri="{FF2B5EF4-FFF2-40B4-BE49-F238E27FC236}">
                <a16:creationId xmlns:a16="http://schemas.microsoft.com/office/drawing/2014/main" id="{29CF00FA-2B05-3DFA-20D7-E76C80537F73}"/>
              </a:ext>
            </a:extLst>
          </p:cNvPr>
          <p:cNvSpPr>
            <a:spLocks noGrp="1"/>
          </p:cNvSpPr>
          <p:nvPr>
            <p:ph type="title"/>
          </p:nvPr>
        </p:nvSpPr>
        <p:spPr>
          <a:xfrm>
            <a:off x="838200" y="365125"/>
            <a:ext cx="10515600" cy="1325563"/>
          </a:xfrm>
        </p:spPr>
        <p:txBody>
          <a:bodyPr/>
          <a:lstStyle/>
          <a:p>
            <a:r>
              <a:rPr lang="en-IN" b="1" dirty="0"/>
              <a:t>Denoising auto encoders</a:t>
            </a:r>
          </a:p>
        </p:txBody>
      </p:sp>
    </p:spTree>
    <p:extLst>
      <p:ext uri="{BB962C8B-B14F-4D97-AF65-F5344CB8AC3E}">
        <p14:creationId xmlns:p14="http://schemas.microsoft.com/office/powerpoint/2010/main" val="1441718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C60C8C-83BD-6CD5-8E6F-959F7DD8AD30}"/>
              </a:ext>
            </a:extLst>
          </p:cNvPr>
          <p:cNvSpPr>
            <a:spLocks noGrp="1"/>
          </p:cNvSpPr>
          <p:nvPr>
            <p:ph idx="1"/>
          </p:nvPr>
        </p:nvSpPr>
        <p:spPr>
          <a:xfrm>
            <a:off x="838200" y="759125"/>
            <a:ext cx="10515600" cy="5417838"/>
          </a:xfrm>
        </p:spPr>
        <p:txBody>
          <a:bodyPr>
            <a:normAutofit/>
          </a:bodyPr>
          <a:lstStyle/>
          <a:p>
            <a:pPr algn="l"/>
            <a:r>
              <a:rPr lang="en-US" sz="2000" b="0" i="0" u="none" strike="noStrike" baseline="0" dirty="0">
                <a:latin typeface="CMR10"/>
              </a:rPr>
              <a:t>This helps because the objective is still to reconstruct the original (un-</a:t>
            </a:r>
            <a:r>
              <a:rPr lang="en-IN" sz="2000" b="0" i="0" u="none" strike="noStrike" baseline="0" dirty="0">
                <a:latin typeface="CMR10"/>
              </a:rPr>
              <a:t>corrupted) </a:t>
            </a:r>
            <a:r>
              <a:rPr lang="en-IN" sz="2000" b="0" i="0" u="none" strike="noStrike" baseline="0" dirty="0">
                <a:latin typeface="CMBX10"/>
              </a:rPr>
              <a:t>x</a:t>
            </a:r>
            <a:r>
              <a:rPr lang="en-IN" sz="2000" b="0" i="0" u="none" strike="noStrike" baseline="-25000" dirty="0">
                <a:latin typeface="CMMI8"/>
              </a:rPr>
              <a:t>i</a:t>
            </a:r>
          </a:p>
          <a:p>
            <a:pPr algn="l"/>
            <a:endParaRPr lang="en-IN" sz="2000" baseline="-25000" dirty="0">
              <a:latin typeface="CMMI8"/>
            </a:endParaRPr>
          </a:p>
          <a:p>
            <a:pPr algn="l"/>
            <a:endParaRPr lang="en-IN" sz="2000" baseline="-25000" dirty="0">
              <a:latin typeface="CMMI8"/>
            </a:endParaRPr>
          </a:p>
          <a:p>
            <a:pPr algn="l"/>
            <a:endParaRPr lang="en-IN" sz="2000" baseline="-25000" dirty="0">
              <a:latin typeface="CMMI8"/>
            </a:endParaRPr>
          </a:p>
          <a:p>
            <a:pPr algn="l"/>
            <a:r>
              <a:rPr lang="en-US" sz="2000" b="0" i="0" u="none" strike="noStrike" baseline="0" dirty="0">
                <a:latin typeface="CMR10"/>
              </a:rPr>
              <a:t>It no longer makes sense for the model to copy the corrupted       into            and then into</a:t>
            </a:r>
            <a:r>
              <a:rPr lang="en-US" sz="2000" b="0" i="0" dirty="0">
                <a:effectLst/>
                <a:latin typeface="Nunito" pitchFamily="2" charset="0"/>
              </a:rPr>
              <a:t> </a:t>
            </a:r>
            <a:r>
              <a:rPr lang="en-IN" sz="2000" dirty="0" err="1"/>
              <a:t>x̂</a:t>
            </a:r>
            <a:r>
              <a:rPr lang="en-IN" sz="2000" baseline="-25000" dirty="0" err="1"/>
              <a:t>i</a:t>
            </a:r>
            <a:r>
              <a:rPr lang="en-IN" sz="2000" baseline="-25000" dirty="0"/>
              <a:t> </a:t>
            </a:r>
            <a:r>
              <a:rPr lang="en-US" sz="2000" b="0" i="0" u="none" strike="noStrike" baseline="0" dirty="0">
                <a:latin typeface="CMR10"/>
              </a:rPr>
              <a:t>(the objective function will not be minimized by doing </a:t>
            </a:r>
            <a:r>
              <a:rPr lang="en-IN" sz="2000" b="0" i="0" u="none" strike="noStrike" baseline="0" dirty="0">
                <a:latin typeface="CMR10"/>
              </a:rPr>
              <a:t>so)</a:t>
            </a:r>
          </a:p>
          <a:p>
            <a:pPr algn="l"/>
            <a:r>
              <a:rPr lang="en-US" sz="2000" b="0" i="0" u="none" strike="noStrike" baseline="0" dirty="0">
                <a:latin typeface="CMR10"/>
              </a:rPr>
              <a:t>Instead, the model will now have to capture the characteristics of the data </a:t>
            </a:r>
            <a:r>
              <a:rPr lang="en-IN" sz="2000" b="0" i="0" u="none" strike="noStrike" baseline="0" dirty="0">
                <a:latin typeface="CMR10"/>
              </a:rPr>
              <a:t>correctly.</a:t>
            </a:r>
            <a:endParaRPr lang="en-IN" sz="2000" baseline="-25000" dirty="0"/>
          </a:p>
        </p:txBody>
      </p:sp>
      <p:pic>
        <p:nvPicPr>
          <p:cNvPr id="4" name="Content Placeholder 4">
            <a:extLst>
              <a:ext uri="{FF2B5EF4-FFF2-40B4-BE49-F238E27FC236}">
                <a16:creationId xmlns:a16="http://schemas.microsoft.com/office/drawing/2014/main" id="{B36AFFEF-0CF5-685A-6575-E96D389B63A8}"/>
              </a:ext>
            </a:extLst>
          </p:cNvPr>
          <p:cNvPicPr>
            <a:picLocks noChangeAspect="1"/>
          </p:cNvPicPr>
          <p:nvPr/>
        </p:nvPicPr>
        <p:blipFill>
          <a:blip r:embed="rId2"/>
          <a:stretch>
            <a:fillRect/>
          </a:stretch>
        </p:blipFill>
        <p:spPr>
          <a:xfrm>
            <a:off x="1830701" y="3322026"/>
            <a:ext cx="3391249" cy="3535974"/>
          </a:xfrm>
          <a:prstGeom prst="rect">
            <a:avLst/>
          </a:prstGeom>
        </p:spPr>
      </p:pic>
      <p:sp>
        <p:nvSpPr>
          <p:cNvPr id="5" name="TextBox 4">
            <a:extLst>
              <a:ext uri="{FF2B5EF4-FFF2-40B4-BE49-F238E27FC236}">
                <a16:creationId xmlns:a16="http://schemas.microsoft.com/office/drawing/2014/main" id="{CDB6FF3A-AB94-979A-B3DD-9E410C76D5FC}"/>
              </a:ext>
            </a:extLst>
          </p:cNvPr>
          <p:cNvSpPr txBox="1"/>
          <p:nvPr/>
        </p:nvSpPr>
        <p:spPr>
          <a:xfrm>
            <a:off x="6501062" y="4119201"/>
            <a:ext cx="3573625" cy="1200329"/>
          </a:xfrm>
          <a:prstGeom prst="rect">
            <a:avLst/>
          </a:prstGeom>
          <a:noFill/>
        </p:spPr>
        <p:txBody>
          <a:bodyPr wrap="square" rtlCol="0">
            <a:spAutoFit/>
          </a:bodyPr>
          <a:lstStyle/>
          <a:p>
            <a:pPr algn="l"/>
            <a:r>
              <a:rPr lang="en-US" sz="1800" b="0" i="0" u="none" strike="noStrike" baseline="0" dirty="0">
                <a:latin typeface="CMR10"/>
              </a:rPr>
              <a:t>For example, it will have to learn to</a:t>
            </a:r>
          </a:p>
          <a:p>
            <a:pPr algn="l"/>
            <a:r>
              <a:rPr lang="en-US" sz="1800" b="0" i="0" u="none" strike="noStrike" baseline="0" dirty="0">
                <a:latin typeface="CMR10"/>
              </a:rPr>
              <a:t>reconstruct a corrupted </a:t>
            </a:r>
            <a:r>
              <a:rPr lang="en-US" sz="1800" b="0" i="0" u="none" strike="noStrike" baseline="0" dirty="0" err="1">
                <a:latin typeface="CMMI10"/>
              </a:rPr>
              <a:t>x</a:t>
            </a:r>
            <a:r>
              <a:rPr lang="en-US" sz="1800" b="0" i="0" u="none" strike="noStrike" baseline="-25000" dirty="0" err="1">
                <a:latin typeface="CMMI8"/>
              </a:rPr>
              <a:t>ij</a:t>
            </a:r>
            <a:r>
              <a:rPr lang="en-US" sz="1800" b="0" i="0" u="none" strike="noStrike" baseline="0" dirty="0">
                <a:latin typeface="CMMI8"/>
              </a:rPr>
              <a:t> </a:t>
            </a:r>
            <a:r>
              <a:rPr lang="en-US" sz="1800" b="0" i="0" u="none" strike="noStrike" baseline="0" dirty="0">
                <a:latin typeface="CMR10"/>
              </a:rPr>
              <a:t>correctly by</a:t>
            </a:r>
            <a:r>
              <a:rPr lang="en-US" dirty="0">
                <a:latin typeface="CMR10"/>
              </a:rPr>
              <a:t> </a:t>
            </a:r>
            <a:r>
              <a:rPr lang="en-US" sz="1800" b="0" i="0" u="none" strike="noStrike" baseline="0" dirty="0">
                <a:latin typeface="CMR10"/>
              </a:rPr>
              <a:t>relying on its interactions with other </a:t>
            </a:r>
            <a:r>
              <a:rPr lang="en-IN" sz="1800" b="0" i="0" u="none" strike="noStrike" baseline="0" dirty="0">
                <a:latin typeface="CMR10"/>
              </a:rPr>
              <a:t>elements of </a:t>
            </a:r>
            <a:r>
              <a:rPr lang="en-IN" sz="1800" b="0" i="0" u="none" strike="noStrike" baseline="0" dirty="0">
                <a:latin typeface="CMBX10"/>
              </a:rPr>
              <a:t>x</a:t>
            </a:r>
            <a:r>
              <a:rPr lang="en-IN" sz="1800" b="0" i="0" u="none" strike="noStrike" baseline="-25000" dirty="0">
                <a:latin typeface="CMMI8"/>
              </a:rPr>
              <a:t>i</a:t>
            </a:r>
            <a:endParaRPr lang="en-IN" baseline="-25000" dirty="0"/>
          </a:p>
        </p:txBody>
      </p:sp>
      <p:pic>
        <p:nvPicPr>
          <p:cNvPr id="7" name="Picture 6">
            <a:extLst>
              <a:ext uri="{FF2B5EF4-FFF2-40B4-BE49-F238E27FC236}">
                <a16:creationId xmlns:a16="http://schemas.microsoft.com/office/drawing/2014/main" id="{47CEE903-27D5-5464-10CF-4F6B38905077}"/>
              </a:ext>
            </a:extLst>
          </p:cNvPr>
          <p:cNvPicPr>
            <a:picLocks noChangeAspect="1"/>
          </p:cNvPicPr>
          <p:nvPr/>
        </p:nvPicPr>
        <p:blipFill>
          <a:blip r:embed="rId3"/>
          <a:stretch>
            <a:fillRect/>
          </a:stretch>
        </p:blipFill>
        <p:spPr>
          <a:xfrm>
            <a:off x="3526325" y="1159277"/>
            <a:ext cx="3305796" cy="837468"/>
          </a:xfrm>
          <a:prstGeom prst="rect">
            <a:avLst/>
          </a:prstGeom>
        </p:spPr>
      </p:pic>
      <p:pic>
        <p:nvPicPr>
          <p:cNvPr id="9" name="Picture 8">
            <a:extLst>
              <a:ext uri="{FF2B5EF4-FFF2-40B4-BE49-F238E27FC236}">
                <a16:creationId xmlns:a16="http://schemas.microsoft.com/office/drawing/2014/main" id="{E4351E1B-9613-F3FE-B520-719AF6147432}"/>
              </a:ext>
            </a:extLst>
          </p:cNvPr>
          <p:cNvPicPr>
            <a:picLocks noChangeAspect="1"/>
          </p:cNvPicPr>
          <p:nvPr/>
        </p:nvPicPr>
        <p:blipFill>
          <a:blip r:embed="rId4"/>
          <a:stretch>
            <a:fillRect/>
          </a:stretch>
        </p:blipFill>
        <p:spPr>
          <a:xfrm>
            <a:off x="7516812" y="2089916"/>
            <a:ext cx="341877" cy="334107"/>
          </a:xfrm>
          <a:prstGeom prst="rect">
            <a:avLst/>
          </a:prstGeom>
        </p:spPr>
      </p:pic>
      <p:pic>
        <p:nvPicPr>
          <p:cNvPr id="11" name="Picture 10">
            <a:extLst>
              <a:ext uri="{FF2B5EF4-FFF2-40B4-BE49-F238E27FC236}">
                <a16:creationId xmlns:a16="http://schemas.microsoft.com/office/drawing/2014/main" id="{7CB91432-08BA-E70F-E430-DA8376C70A63}"/>
              </a:ext>
            </a:extLst>
          </p:cNvPr>
          <p:cNvPicPr>
            <a:picLocks noChangeAspect="1"/>
          </p:cNvPicPr>
          <p:nvPr/>
        </p:nvPicPr>
        <p:blipFill>
          <a:blip r:embed="rId5"/>
          <a:stretch>
            <a:fillRect/>
          </a:stretch>
        </p:blipFill>
        <p:spPr>
          <a:xfrm>
            <a:off x="8352443" y="2089916"/>
            <a:ext cx="554618" cy="334107"/>
          </a:xfrm>
          <a:prstGeom prst="rect">
            <a:avLst/>
          </a:prstGeom>
        </p:spPr>
      </p:pic>
    </p:spTree>
    <p:extLst>
      <p:ext uri="{BB962C8B-B14F-4D97-AF65-F5344CB8AC3E}">
        <p14:creationId xmlns:p14="http://schemas.microsoft.com/office/powerpoint/2010/main" val="194615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1268</Words>
  <Application>Microsoft Office PowerPoint</Application>
  <PresentationFormat>Widescreen</PresentationFormat>
  <Paragraphs>67</Paragraphs>
  <Slides>18</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18</vt:i4>
      </vt:variant>
    </vt:vector>
  </HeadingPairs>
  <TitlesOfParts>
    <vt:vector size="32" baseType="lpstr">
      <vt:lpstr>Arial</vt:lpstr>
      <vt:lpstr>Calibri</vt:lpstr>
      <vt:lpstr>Calibri Light</vt:lpstr>
      <vt:lpstr>CMBX10</vt:lpstr>
      <vt:lpstr>CMMI10</vt:lpstr>
      <vt:lpstr>CMMI8</vt:lpstr>
      <vt:lpstr>CMR10</vt:lpstr>
      <vt:lpstr>Google Sans</vt:lpstr>
      <vt:lpstr>Helvetica</vt:lpstr>
      <vt:lpstr>KaTeX_Main</vt:lpstr>
      <vt:lpstr>KaTeX_Math</vt:lpstr>
      <vt:lpstr>Nunito</vt:lpstr>
      <vt:lpstr>Segoe UI</vt:lpstr>
      <vt:lpstr>Office Theme</vt:lpstr>
      <vt:lpstr>Autoencoders</vt:lpstr>
      <vt:lpstr>Autoencoders</vt:lpstr>
      <vt:lpstr>PowerPoint Presentation</vt:lpstr>
      <vt:lpstr>Variational Autoencoder (VAE)</vt:lpstr>
      <vt:lpstr>PowerPoint Presentation</vt:lpstr>
      <vt:lpstr>PowerPoint Presentation</vt:lpstr>
      <vt:lpstr>PowerPoint Presentation</vt:lpstr>
      <vt:lpstr>PowerPoint Presentation</vt:lpstr>
      <vt:lpstr>PowerPoint Presentation</vt:lpstr>
      <vt:lpstr>PowerPoint Presentation</vt:lpstr>
      <vt:lpstr>Undercomplete Autoencoder</vt:lpstr>
      <vt:lpstr>PowerPoint Presentation</vt:lpstr>
      <vt:lpstr>PowerPoint Presentation</vt:lpstr>
      <vt:lpstr>Difference between Vanilla Autoencoders and Undercomplete Autoencoders</vt:lpstr>
      <vt:lpstr>Regularized Autoencoders</vt:lpstr>
      <vt:lpstr>PowerPoint Presentation</vt:lpstr>
      <vt:lpstr>Denoising auto encoders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 Mary  Saira Bhanu</dc:creator>
  <cp:lastModifiedBy>Bunni Ranadeesh</cp:lastModifiedBy>
  <cp:revision>9</cp:revision>
  <dcterms:created xsi:type="dcterms:W3CDTF">2023-12-06T07:17:37Z</dcterms:created>
  <dcterms:modified xsi:type="dcterms:W3CDTF">2025-10-15T05:32:07Z</dcterms:modified>
</cp:coreProperties>
</file>