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67" r:id="rId5"/>
    <p:sldId id="261" r:id="rId6"/>
    <p:sldId id="269" r:id="rId7"/>
    <p:sldId id="268" r:id="rId8"/>
    <p:sldId id="262" r:id="rId9"/>
    <p:sldId id="258" r:id="rId10"/>
    <p:sldId id="264" r:id="rId11"/>
    <p:sldId id="263" r:id="rId12"/>
    <p:sldId id="286" r:id="rId13"/>
    <p:sldId id="280" r:id="rId14"/>
    <p:sldId id="281" r:id="rId15"/>
    <p:sldId id="282" r:id="rId16"/>
    <p:sldId id="279" r:id="rId17"/>
    <p:sldId id="285" r:id="rId18"/>
    <p:sldId id="283" r:id="rId19"/>
    <p:sldId id="284" r:id="rId20"/>
    <p:sldId id="272" r:id="rId21"/>
    <p:sldId id="271" r:id="rId22"/>
    <p:sldId id="273" r:id="rId23"/>
    <p:sldId id="274" r:id="rId24"/>
    <p:sldId id="287" r:id="rId25"/>
    <p:sldId id="288" r:id="rId26"/>
    <p:sldId id="289" r:id="rId27"/>
    <p:sldId id="2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ni Ranadeesh" userId="03c1ed1ded996da4" providerId="LiveId" clId="{F5A12C10-A100-4DD9-9A13-B8B69050C434}"/>
    <pc:docChg chg="modSld">
      <pc:chgData name="Bunni Ranadeesh" userId="03c1ed1ded996da4" providerId="LiveId" clId="{F5A12C10-A100-4DD9-9A13-B8B69050C434}" dt="2025-10-15T08:22:02.119" v="3" actId="13926"/>
      <pc:docMkLst>
        <pc:docMk/>
      </pc:docMkLst>
      <pc:sldChg chg="modSp mod">
        <pc:chgData name="Bunni Ranadeesh" userId="03c1ed1ded996da4" providerId="LiveId" clId="{F5A12C10-A100-4DD9-9A13-B8B69050C434}" dt="2025-10-15T08:09:57.484" v="0" actId="13926"/>
        <pc:sldMkLst>
          <pc:docMk/>
          <pc:sldMk cId="2753810275" sldId="257"/>
        </pc:sldMkLst>
        <pc:spChg chg="mod">
          <ac:chgData name="Bunni Ranadeesh" userId="03c1ed1ded996da4" providerId="LiveId" clId="{F5A12C10-A100-4DD9-9A13-B8B69050C434}" dt="2025-10-15T08:09:57.484" v="0" actId="13926"/>
          <ac:spMkLst>
            <pc:docMk/>
            <pc:sldMk cId="2753810275" sldId="257"/>
            <ac:spMk id="3" creationId="{00000000-0000-0000-0000-000000000000}"/>
          </ac:spMkLst>
        </pc:spChg>
      </pc:sldChg>
      <pc:sldChg chg="modSp mod">
        <pc:chgData name="Bunni Ranadeesh" userId="03c1ed1ded996da4" providerId="LiveId" clId="{F5A12C10-A100-4DD9-9A13-B8B69050C434}" dt="2025-10-15T08:21:11.819" v="2" actId="13926"/>
        <pc:sldMkLst>
          <pc:docMk/>
          <pc:sldMk cId="76070792" sldId="285"/>
        </pc:sldMkLst>
        <pc:spChg chg="mod">
          <ac:chgData name="Bunni Ranadeesh" userId="03c1ed1ded996da4" providerId="LiveId" clId="{F5A12C10-A100-4DD9-9A13-B8B69050C434}" dt="2025-10-15T08:21:11.819" v="2" actId="13926"/>
          <ac:spMkLst>
            <pc:docMk/>
            <pc:sldMk cId="76070792" sldId="285"/>
            <ac:spMk id="3" creationId="{00000000-0000-0000-0000-000000000000}"/>
          </ac:spMkLst>
        </pc:spChg>
      </pc:sldChg>
      <pc:sldChg chg="modSp mod">
        <pc:chgData name="Bunni Ranadeesh" userId="03c1ed1ded996da4" providerId="LiveId" clId="{F5A12C10-A100-4DD9-9A13-B8B69050C434}" dt="2025-10-15T08:22:02.119" v="3" actId="13926"/>
        <pc:sldMkLst>
          <pc:docMk/>
          <pc:sldMk cId="347892272" sldId="290"/>
        </pc:sldMkLst>
        <pc:spChg chg="mod">
          <ac:chgData name="Bunni Ranadeesh" userId="03c1ed1ded996da4" providerId="LiveId" clId="{F5A12C10-A100-4DD9-9A13-B8B69050C434}" dt="2025-10-15T08:22:02.119" v="3" actId="13926"/>
          <ac:spMkLst>
            <pc:docMk/>
            <pc:sldMk cId="347892272" sldId="290"/>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37F3194-CF6F-4AEF-BF31-AA22CDEA594F}"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412595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37F3194-CF6F-4AEF-BF31-AA22CDEA594F}"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4191890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7F3194-CF6F-4AEF-BF31-AA22CDEA594F}"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2056365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37F3194-CF6F-4AEF-BF31-AA22CDEA594F}"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2935844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37F3194-CF6F-4AEF-BF31-AA22CDEA594F}" type="datetimeFigureOut">
              <a:rPr lang="en-IN" smtClean="0"/>
              <a:t>15-10-2025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2034453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37F3194-CF6F-4AEF-BF31-AA22CDEA594F}" type="datetimeFigureOut">
              <a:rPr lang="en-IN" smtClean="0"/>
              <a:t>15-10-2025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1551879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7F3194-CF6F-4AEF-BF31-AA22CDEA594F}" type="datetimeFigureOut">
              <a:rPr lang="en-IN" smtClean="0"/>
              <a:t>15-10-2025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335999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7F3194-CF6F-4AEF-BF31-AA22CDEA594F}"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2825496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7F3194-CF6F-4AEF-BF31-AA22CDEA594F}" type="datetimeFigureOut">
              <a:rPr lang="en-IN" smtClean="0"/>
              <a:t>15-10-2025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2487326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37F3194-CF6F-4AEF-BF31-AA22CDEA594F}"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997897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37F3194-CF6F-4AEF-BF31-AA22CDEA594F}" type="datetimeFigureOut">
              <a:rPr lang="en-IN" smtClean="0"/>
              <a:t>15-10-2025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E9BF4B-1639-4D5F-A42C-B039897CA65B}" type="slidenum">
              <a:rPr lang="en-IN" smtClean="0"/>
              <a:t>‹#›</a:t>
            </a:fld>
            <a:endParaRPr lang="en-IN"/>
          </a:p>
        </p:txBody>
      </p:sp>
    </p:spTree>
    <p:extLst>
      <p:ext uri="{BB962C8B-B14F-4D97-AF65-F5344CB8AC3E}">
        <p14:creationId xmlns:p14="http://schemas.microsoft.com/office/powerpoint/2010/main" val="831610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7F3194-CF6F-4AEF-BF31-AA22CDEA594F}" type="datetimeFigureOut">
              <a:rPr lang="en-IN" smtClean="0"/>
              <a:t>15-10-2025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9BF4B-1639-4D5F-A42C-B039897CA65B}" type="slidenum">
              <a:rPr lang="en-IN" smtClean="0"/>
              <a:t>‹#›</a:t>
            </a:fld>
            <a:endParaRPr lang="en-IN"/>
          </a:p>
        </p:txBody>
      </p:sp>
    </p:spTree>
    <p:extLst>
      <p:ext uri="{BB962C8B-B14F-4D97-AF65-F5344CB8AC3E}">
        <p14:creationId xmlns:p14="http://schemas.microsoft.com/office/powerpoint/2010/main" val="2281821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Recurrent Neural Networks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78866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05" y="181769"/>
            <a:ext cx="10515600" cy="1325563"/>
          </a:xfrm>
        </p:spPr>
        <p:txBody>
          <a:bodyPr/>
          <a:lstStyle/>
          <a:p>
            <a:r>
              <a:rPr lang="en-US" dirty="0"/>
              <a:t>Recurrent Neural Networks</a:t>
            </a:r>
          </a:p>
        </p:txBody>
      </p:sp>
      <p:sp>
        <p:nvSpPr>
          <p:cNvPr id="3" name="Content Placeholder 2"/>
          <p:cNvSpPr>
            <a:spLocks noGrp="1"/>
          </p:cNvSpPr>
          <p:nvPr>
            <p:ph idx="1"/>
          </p:nvPr>
        </p:nvSpPr>
        <p:spPr>
          <a:xfrm>
            <a:off x="838200" y="1507332"/>
            <a:ext cx="10781714" cy="5032375"/>
          </a:xfrm>
        </p:spPr>
        <p:txBody>
          <a:bodyPr>
            <a:normAutofit fontScale="92500"/>
          </a:bodyPr>
          <a:lstStyle/>
          <a:p>
            <a:r>
              <a:rPr lang="en-US" dirty="0"/>
              <a:t>Human brain deals with information streams. Most data is obtained, processed, and generated sequentially.</a:t>
            </a:r>
          </a:p>
          <a:p>
            <a:pPr lvl="1"/>
            <a:r>
              <a:rPr lang="en-US" dirty="0"/>
              <a:t>E.g., listening: soundwaves </a:t>
            </a:r>
            <a:r>
              <a:rPr lang="en-US" dirty="0">
                <a:sym typeface="Wingdings" panose="05000000000000000000" pitchFamily="2" charset="2"/>
              </a:rPr>
              <a:t> vocabularies/sentences</a:t>
            </a:r>
          </a:p>
          <a:p>
            <a:pPr lvl="1"/>
            <a:r>
              <a:rPr lang="en-US" dirty="0">
                <a:sym typeface="Wingdings" panose="05000000000000000000" pitchFamily="2" charset="2"/>
              </a:rPr>
              <a:t>E.g., action: brain signals/instructions  sequential muscle movements</a:t>
            </a:r>
          </a:p>
          <a:p>
            <a:r>
              <a:rPr lang="en-US" dirty="0"/>
              <a:t>Human thoughts have persistence; humans don’t start their thinking from scratch every second. </a:t>
            </a:r>
          </a:p>
          <a:p>
            <a:pPr lvl="1"/>
            <a:r>
              <a:rPr lang="en-US" dirty="0"/>
              <a:t>As you read this sentence, you understand each word based on your prior knowledge.</a:t>
            </a:r>
          </a:p>
          <a:p>
            <a:r>
              <a:rPr lang="en-US" dirty="0"/>
              <a:t>The applications of standard Artificial Neural Networks (and also Convolutional Networks) are limited due to:</a:t>
            </a:r>
          </a:p>
          <a:p>
            <a:pPr lvl="1"/>
            <a:r>
              <a:rPr lang="en-US" dirty="0"/>
              <a:t>They only accepted a fixed-size vector as input (e.g., an image) and produce a fixed-size vector as output (e.g., probabilities of different classes). </a:t>
            </a:r>
          </a:p>
          <a:p>
            <a:pPr lvl="1"/>
            <a:r>
              <a:rPr lang="en-US" dirty="0"/>
              <a:t>These models use a fixed amount of computational steps (e.g. the number of layers in the model).</a:t>
            </a:r>
          </a:p>
        </p:txBody>
      </p:sp>
      <p:sp>
        <p:nvSpPr>
          <p:cNvPr id="4" name="Slide Number Placeholder 3"/>
          <p:cNvSpPr>
            <a:spLocks noGrp="1"/>
          </p:cNvSpPr>
          <p:nvPr>
            <p:ph type="sldNum" sz="quarter" idx="12"/>
          </p:nvPr>
        </p:nvSpPr>
        <p:spPr/>
        <p:txBody>
          <a:bodyPr/>
          <a:lstStyle/>
          <a:p>
            <a:fld id="{186AD5D9-7E52-44BC-8503-52C80A722C60}" type="slidenum">
              <a:rPr lang="en-US" smtClean="0"/>
              <a:t>2</a:t>
            </a:fld>
            <a:endParaRPr lang="en-US"/>
          </a:p>
        </p:txBody>
      </p:sp>
    </p:spTree>
    <p:extLst>
      <p:ext uri="{BB962C8B-B14F-4D97-AF65-F5344CB8AC3E}">
        <p14:creationId xmlns:p14="http://schemas.microsoft.com/office/powerpoint/2010/main" val="119875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are recurrent neural networks?</a:t>
            </a:r>
          </a:p>
        </p:txBody>
      </p:sp>
      <p:sp>
        <p:nvSpPr>
          <p:cNvPr id="3" name="Content Placeholder 2"/>
          <p:cNvSpPr>
            <a:spLocks noGrp="1"/>
          </p:cNvSpPr>
          <p:nvPr>
            <p:ph idx="1"/>
          </p:nvPr>
        </p:nvSpPr>
        <p:spPr/>
        <p:txBody>
          <a:bodyPr>
            <a:normAutofit/>
          </a:bodyPr>
          <a:lstStyle/>
          <a:p>
            <a:r>
              <a:rPr lang="en-US" dirty="0"/>
              <a:t>Recurrent Neural Networks (RNNs) are a family of neural networks introduced to </a:t>
            </a:r>
            <a:r>
              <a:rPr lang="en-US" b="1" dirty="0"/>
              <a:t>learn sequential data</a:t>
            </a:r>
            <a:r>
              <a:rPr lang="en-US" dirty="0"/>
              <a:t>.</a:t>
            </a:r>
          </a:p>
          <a:p>
            <a:pPr lvl="1"/>
            <a:r>
              <a:rPr lang="en-US" dirty="0"/>
              <a:t>Inspired by the temporal-dependent and persistent human thoughts</a:t>
            </a:r>
          </a:p>
          <a:p>
            <a:pPr fontAlgn="base"/>
            <a:r>
              <a:rPr lang="en-IN" dirty="0"/>
              <a:t>A recurrent neural network (RNN) is a type of artificial neural network </a:t>
            </a:r>
            <a:r>
              <a:rPr lang="en-IN" dirty="0">
                <a:highlight>
                  <a:srgbClr val="FFFF00"/>
                </a:highlight>
              </a:rPr>
              <a:t>which uses sequential data or time series data. </a:t>
            </a:r>
          </a:p>
          <a:p>
            <a:pPr fontAlgn="base"/>
            <a:r>
              <a:rPr lang="en-IN" dirty="0"/>
              <a:t>These deep learning algorithms are commonly used for ordinal or temporal problems, such as language translation, natural language processing (NLP), speech recognition, and image captioning; they are incorporated into popular applications such as Siri, voice search, and Google Translate.</a:t>
            </a:r>
          </a:p>
          <a:p>
            <a:pPr fontAlgn="base"/>
            <a:endParaRPr lang="en-IN" dirty="0"/>
          </a:p>
        </p:txBody>
      </p:sp>
    </p:spTree>
    <p:extLst>
      <p:ext uri="{BB962C8B-B14F-4D97-AF65-F5344CB8AC3E}">
        <p14:creationId xmlns:p14="http://schemas.microsoft.com/office/powerpoint/2010/main" val="275381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Real-life Sequence Learning Applications</a:t>
            </a:r>
            <a:endParaRPr lang="en-IN" dirty="0"/>
          </a:p>
        </p:txBody>
      </p:sp>
      <p:sp>
        <p:nvSpPr>
          <p:cNvPr id="3" name="Content Placeholder 2"/>
          <p:cNvSpPr>
            <a:spLocks noGrp="1"/>
          </p:cNvSpPr>
          <p:nvPr>
            <p:ph idx="1"/>
          </p:nvPr>
        </p:nvSpPr>
        <p:spPr/>
        <p:txBody>
          <a:bodyPr/>
          <a:lstStyle/>
          <a:p>
            <a:r>
              <a:rPr lang="en-US" dirty="0"/>
              <a:t>RNNs can be applied to various type of sequential data to learn the temporal patterns.</a:t>
            </a:r>
          </a:p>
          <a:p>
            <a:pPr lvl="1"/>
            <a:r>
              <a:rPr lang="en-US" dirty="0"/>
              <a:t>Time-series data (e.g., stock price) </a:t>
            </a:r>
            <a:r>
              <a:rPr lang="en-US" dirty="0">
                <a:sym typeface="Wingdings" panose="05000000000000000000" pitchFamily="2" charset="2"/>
              </a:rPr>
              <a:t> Prediction, regression</a:t>
            </a:r>
          </a:p>
          <a:p>
            <a:pPr lvl="1"/>
            <a:r>
              <a:rPr lang="en-US" dirty="0"/>
              <a:t>Raw sensor data (e.g., signal, voice, handwriting) </a:t>
            </a:r>
            <a:r>
              <a:rPr lang="en-US" dirty="0">
                <a:sym typeface="Wingdings" panose="05000000000000000000" pitchFamily="2" charset="2"/>
              </a:rPr>
              <a:t> Labels or text sequences</a:t>
            </a:r>
          </a:p>
          <a:p>
            <a:pPr lvl="1"/>
            <a:r>
              <a:rPr lang="en-US" dirty="0">
                <a:sym typeface="Wingdings" panose="05000000000000000000" pitchFamily="2" charset="2"/>
              </a:rPr>
              <a:t>Text  Label (e.g., sentiment) or text sequence (e.g., translation, summary, answer) </a:t>
            </a:r>
          </a:p>
          <a:p>
            <a:pPr lvl="1"/>
            <a:r>
              <a:rPr lang="en-US" dirty="0">
                <a:sym typeface="Wingdings" panose="05000000000000000000" pitchFamily="2" charset="2"/>
              </a:rPr>
              <a:t>Image and video  Text description (e.g., captions, scene interpretation)</a:t>
            </a:r>
          </a:p>
          <a:p>
            <a:endParaRPr lang="en-IN" dirty="0"/>
          </a:p>
        </p:txBody>
      </p:sp>
    </p:spTree>
    <p:extLst>
      <p:ext uri="{BB962C8B-B14F-4D97-AF65-F5344CB8AC3E}">
        <p14:creationId xmlns:p14="http://schemas.microsoft.com/office/powerpoint/2010/main" val="861690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6762"/>
            <a:ext cx="10515600" cy="5340201"/>
          </a:xfrm>
        </p:spPr>
        <p:txBody>
          <a:bodyPr>
            <a:normAutofit lnSpcReduction="10000"/>
          </a:bodyPr>
          <a:lstStyle/>
          <a:p>
            <a:r>
              <a:rPr lang="en-IN" dirty="0"/>
              <a:t>In traditional neural networks, all the inputs and outputs are independent of each other, but in cases when it is required to predict the next word of a sentence, the previous words are required and hence there is a need to remember the previous words. </a:t>
            </a:r>
          </a:p>
          <a:p>
            <a:r>
              <a:rPr lang="en-IN" dirty="0"/>
              <a:t>Thus RNN came into existence, which solved this issue with the help of a Hidden Layer. </a:t>
            </a:r>
          </a:p>
          <a:p>
            <a:r>
              <a:rPr lang="en-IN" dirty="0"/>
              <a:t>The main and most important feature of RNN is its </a:t>
            </a:r>
            <a:r>
              <a:rPr lang="en-IN" b="1" dirty="0"/>
              <a:t>Hidden state</a:t>
            </a:r>
            <a:r>
              <a:rPr lang="en-IN" dirty="0"/>
              <a:t>, which remembers some information about a sequence. The state is also referred to as </a:t>
            </a:r>
            <a:r>
              <a:rPr lang="en-IN" i="1" dirty="0"/>
              <a:t>Memory State </a:t>
            </a:r>
            <a:r>
              <a:rPr lang="en-IN" dirty="0"/>
              <a:t>since it remembers the previous input to the network. </a:t>
            </a:r>
          </a:p>
          <a:p>
            <a:r>
              <a:rPr lang="en-IN" dirty="0"/>
              <a:t>It uses the same parameters for each input as it performs the same task on all the inputs or hidden layers to produce the output. This reduces the complexity of parameters, unlike other neural networks. </a:t>
            </a:r>
          </a:p>
        </p:txBody>
      </p:sp>
    </p:spTree>
    <p:extLst>
      <p:ext uri="{BB962C8B-B14F-4D97-AF65-F5344CB8AC3E}">
        <p14:creationId xmlns:p14="http://schemas.microsoft.com/office/powerpoint/2010/main" val="1065827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Recurrent Neural Networks</a:t>
            </a:r>
          </a:p>
        </p:txBody>
      </p:sp>
      <p:sp>
        <p:nvSpPr>
          <p:cNvPr id="3" name="Content Placeholder 2"/>
          <p:cNvSpPr>
            <a:spLocks noGrp="1"/>
          </p:cNvSpPr>
          <p:nvPr>
            <p:ph idx="1"/>
          </p:nvPr>
        </p:nvSpPr>
        <p:spPr>
          <a:xfrm>
            <a:off x="731209" y="1615677"/>
            <a:ext cx="10149311" cy="864743"/>
          </a:xfrm>
        </p:spPr>
        <p:txBody>
          <a:bodyPr>
            <a:normAutofit/>
          </a:bodyPr>
          <a:lstStyle/>
          <a:p>
            <a:r>
              <a:rPr lang="en-US" dirty="0"/>
              <a:t>Recurrent Neural Networks are networks with loops,  allowing information to persist.</a:t>
            </a:r>
          </a:p>
          <a:p>
            <a:endParaRPr lang="en-US" dirty="0"/>
          </a:p>
        </p:txBody>
      </p:sp>
      <p:sp>
        <p:nvSpPr>
          <p:cNvPr id="4" name="Slide Number Placeholder 3"/>
          <p:cNvSpPr>
            <a:spLocks noGrp="1"/>
          </p:cNvSpPr>
          <p:nvPr>
            <p:ph type="sldNum" sz="quarter" idx="12"/>
          </p:nvPr>
        </p:nvSpPr>
        <p:spPr/>
        <p:txBody>
          <a:bodyPr/>
          <a:lstStyle/>
          <a:p>
            <a:fld id="{186AD5D9-7E52-44BC-8503-52C80A722C60}" type="slidenum">
              <a:rPr lang="en-US" smtClean="0"/>
              <a:t>6</a:t>
            </a:fld>
            <a:endParaRPr lang="en-US"/>
          </a:p>
        </p:txBody>
      </p:sp>
      <p:pic>
        <p:nvPicPr>
          <p:cNvPr id="5" name="Picture 4"/>
          <p:cNvPicPr>
            <a:picLocks noChangeAspect="1"/>
          </p:cNvPicPr>
          <p:nvPr/>
        </p:nvPicPr>
        <p:blipFill>
          <a:blip r:embed="rId2"/>
          <a:stretch>
            <a:fillRect/>
          </a:stretch>
        </p:blipFill>
        <p:spPr>
          <a:xfrm>
            <a:off x="723900" y="2690368"/>
            <a:ext cx="3952875" cy="2142292"/>
          </a:xfrm>
          <a:prstGeom prst="rect">
            <a:avLst/>
          </a:prstGeom>
        </p:spPr>
      </p:pic>
      <p:sp>
        <p:nvSpPr>
          <p:cNvPr id="6" name="Rectangle 1"/>
          <p:cNvSpPr>
            <a:spLocks noChangeArrowheads="1"/>
          </p:cNvSpPr>
          <p:nvPr/>
        </p:nvSpPr>
        <p:spPr bwMode="auto">
          <a:xfrm>
            <a:off x="838200" y="4924399"/>
            <a:ext cx="395287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US" dirty="0">
                <a:solidFill>
                  <a:srgbClr val="333333"/>
                </a:solidFill>
                <a:latin typeface="+mn-lt"/>
                <a:ea typeface="CMS"/>
              </a:rPr>
              <a:t>In the above diagram, a chunk of neural network, </a:t>
            </a:r>
            <a:r>
              <a:rPr lang="en-US" altLang="en-US" b="1" i="1" dirty="0">
                <a:solidFill>
                  <a:srgbClr val="333333"/>
                </a:solidFill>
                <a:latin typeface="+mn-lt"/>
                <a:ea typeface="CMS"/>
              </a:rPr>
              <a:t>A = </a:t>
            </a:r>
            <a:r>
              <a:rPr lang="en-US" altLang="en-US" b="1" i="1" dirty="0" err="1">
                <a:solidFill>
                  <a:srgbClr val="333333"/>
                </a:solidFill>
                <a:latin typeface="+mn-lt"/>
                <a:ea typeface="CMS"/>
              </a:rPr>
              <a:t>f</a:t>
            </a:r>
            <a:r>
              <a:rPr lang="en-US" altLang="en-US" b="1" i="1" baseline="-25000" dirty="0" err="1">
                <a:solidFill>
                  <a:srgbClr val="333333"/>
                </a:solidFill>
                <a:latin typeface="+mn-lt"/>
                <a:ea typeface="CMS"/>
              </a:rPr>
              <a:t>W</a:t>
            </a:r>
            <a:r>
              <a:rPr lang="en-US" altLang="en-US" dirty="0">
                <a:solidFill>
                  <a:srgbClr val="333333"/>
                </a:solidFill>
                <a:latin typeface="+mn-lt"/>
                <a:ea typeface="CMS"/>
              </a:rPr>
              <a:t>, looks at some input </a:t>
            </a:r>
            <a:r>
              <a:rPr lang="en-US" altLang="en-US" sz="2000" b="1" i="1" dirty="0" err="1">
                <a:solidFill>
                  <a:srgbClr val="333333"/>
                </a:solidFill>
                <a:latin typeface="+mn-lt"/>
                <a:ea typeface="MathJax_Math-italic"/>
              </a:rPr>
              <a:t>x</a:t>
            </a:r>
            <a:r>
              <a:rPr lang="en-US" altLang="en-US" sz="1100" b="1" i="1" dirty="0" err="1">
                <a:solidFill>
                  <a:srgbClr val="333333"/>
                </a:solidFill>
                <a:latin typeface="+mn-lt"/>
                <a:ea typeface="MathJax_Math-italic"/>
              </a:rPr>
              <a:t>t</a:t>
            </a:r>
            <a:r>
              <a:rPr lang="en-US" altLang="en-US" dirty="0">
                <a:solidFill>
                  <a:srgbClr val="333333"/>
                </a:solidFill>
                <a:latin typeface="+mn-lt"/>
                <a:ea typeface="CMS"/>
              </a:rPr>
              <a:t> and outputs a value </a:t>
            </a:r>
            <a:r>
              <a:rPr lang="en-US" altLang="en-US" b="1" i="1" dirty="0">
                <a:solidFill>
                  <a:srgbClr val="333333"/>
                </a:solidFill>
                <a:latin typeface="+mn-lt"/>
                <a:ea typeface="MathJax_Math-italic"/>
              </a:rPr>
              <a:t>h</a:t>
            </a:r>
            <a:r>
              <a:rPr lang="en-US" altLang="en-US" sz="1050" b="1" i="1" dirty="0">
                <a:solidFill>
                  <a:srgbClr val="333333"/>
                </a:solidFill>
                <a:latin typeface="+mn-lt"/>
                <a:ea typeface="MathJax_Math-italic"/>
              </a:rPr>
              <a:t>t</a:t>
            </a:r>
            <a:r>
              <a:rPr lang="en-US" altLang="en-US" dirty="0">
                <a:solidFill>
                  <a:srgbClr val="333333"/>
                </a:solidFill>
                <a:latin typeface="+mn-lt"/>
                <a:ea typeface="CMS"/>
              </a:rPr>
              <a:t>. A loop allows information to be passed from one step of the network to the next.</a:t>
            </a:r>
            <a:r>
              <a:rPr lang="en-US" altLang="en-US" sz="800" dirty="0">
                <a:latin typeface="+mn-lt"/>
              </a:rPr>
              <a:t> </a:t>
            </a:r>
            <a:endParaRPr lang="en-US" altLang="en-US" sz="2400" dirty="0">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6A10B06-A090-484E-B05C-B7B3EE71321C}"/>
                  </a:ext>
                </a:extLst>
              </p:cNvPr>
              <p:cNvSpPr txBox="1"/>
              <p:nvPr/>
            </p:nvSpPr>
            <p:spPr>
              <a:xfrm>
                <a:off x="3743901" y="2638401"/>
                <a:ext cx="4866699" cy="1200329"/>
              </a:xfrm>
              <a:prstGeom prst="rect">
                <a:avLst/>
              </a:prstGeom>
              <a:noFill/>
            </p:spPr>
            <p:txBody>
              <a:bodyPr wrap="square" rtlCol="0">
                <a:spAutoFit/>
              </a:bodyPr>
              <a:lstStyle/>
              <a:p>
                <a:r>
                  <a:rPr lang="en-US" sz="2400" dirty="0">
                    <a:solidFill>
                      <a:srgbClr val="FF0000"/>
                    </a:solidFill>
                  </a:rPr>
                  <a:t>Output is to predict a vector </a:t>
                </a:r>
                <a:r>
                  <a:rPr lang="en-US" sz="2400" i="1" dirty="0" err="1">
                    <a:solidFill>
                      <a:srgbClr val="FF0000"/>
                    </a:solidFill>
                  </a:rPr>
                  <a:t>h</a:t>
                </a:r>
                <a:r>
                  <a:rPr lang="en-US" sz="2400" i="1" baseline="-25000" dirty="0" err="1">
                    <a:solidFill>
                      <a:srgbClr val="FF0000"/>
                    </a:solidFill>
                  </a:rPr>
                  <a:t>t</a:t>
                </a:r>
                <a:r>
                  <a:rPr lang="en-US" sz="2400" dirty="0">
                    <a:solidFill>
                      <a:srgbClr val="FF0000"/>
                    </a:solidFill>
                  </a:rPr>
                  <a:t>, where </a:t>
                </a:r>
                <a14:m>
                  <m:oMath xmlns:m="http://schemas.openxmlformats.org/officeDocument/2006/math">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𝑜𝑢𝑡𝑝𝑢𝑡</m:t>
                        </m:r>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𝑦</m:t>
                        </m:r>
                      </m:e>
                      <m:sub>
                        <m:r>
                          <a:rPr lang="en-US" sz="2400" b="0" i="1" smtClean="0">
                            <a:solidFill>
                              <a:srgbClr val="FF0000"/>
                            </a:solidFill>
                            <a:latin typeface="Cambria Math" panose="02040503050406030204" pitchFamily="18" charset="0"/>
                          </a:rPr>
                          <m:t>𝑡</m:t>
                        </m:r>
                      </m:sub>
                    </m:sSub>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𝜑</m:t>
                    </m:r>
                    <m:r>
                      <a:rPr lang="en-US" sz="2400" b="0" i="1" smtClean="0">
                        <a:solidFill>
                          <a:srgbClr val="FF0000"/>
                        </a:solidFill>
                        <a:latin typeface="Cambria Math" panose="02040503050406030204" pitchFamily="18" charset="0"/>
                      </a:rPr>
                      <m:t>(</m:t>
                    </m:r>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h</m:t>
                        </m:r>
                      </m:e>
                      <m:sub>
                        <m:r>
                          <a:rPr lang="en-US" sz="2400" b="0" i="1" smtClean="0">
                            <a:solidFill>
                              <a:srgbClr val="FF0000"/>
                            </a:solidFill>
                            <a:latin typeface="Cambria Math" panose="02040503050406030204" pitchFamily="18" charset="0"/>
                          </a:rPr>
                          <m:t>𝑡</m:t>
                        </m:r>
                      </m:sub>
                    </m:sSub>
                    <m:r>
                      <a:rPr lang="en-US" sz="2400" b="0" i="1" smtClean="0">
                        <a:solidFill>
                          <a:srgbClr val="FF0000"/>
                        </a:solidFill>
                        <a:latin typeface="Cambria Math" panose="02040503050406030204" pitchFamily="18" charset="0"/>
                      </a:rPr>
                      <m:t>)</m:t>
                    </m:r>
                  </m:oMath>
                </a14:m>
                <a:r>
                  <a:rPr lang="en-US" sz="2400" dirty="0">
                    <a:solidFill>
                      <a:srgbClr val="FF0000"/>
                    </a:solidFill>
                  </a:rPr>
                  <a:t> at some time steps (</a:t>
                </a:r>
                <a:r>
                  <a:rPr lang="en-US" sz="2400" i="1" dirty="0">
                    <a:solidFill>
                      <a:srgbClr val="FF0000"/>
                    </a:solidFill>
                  </a:rPr>
                  <a:t>t</a:t>
                </a:r>
                <a:r>
                  <a:rPr lang="en-US" sz="2400" dirty="0">
                    <a:solidFill>
                      <a:srgbClr val="FF0000"/>
                    </a:solidFill>
                  </a:rPr>
                  <a:t>)</a:t>
                </a:r>
                <a:endParaRPr lang="en-US" sz="1600" dirty="0">
                  <a:solidFill>
                    <a:srgbClr val="FF0000"/>
                  </a:solidFill>
                </a:endParaRPr>
              </a:p>
            </p:txBody>
          </p:sp>
        </mc:Choice>
        <mc:Fallback xmlns="">
          <p:sp>
            <p:nvSpPr>
              <p:cNvPr id="19" name="TextBox 18">
                <a:extLst>
                  <a:ext uri="{FF2B5EF4-FFF2-40B4-BE49-F238E27FC236}">
                    <a16:creationId xmlns:a16="http://schemas.microsoft.com/office/drawing/2014/main" id="{66A10B06-A090-484E-B05C-B7B3EE71321C}"/>
                  </a:ext>
                </a:extLst>
              </p:cNvPr>
              <p:cNvSpPr txBox="1">
                <a:spLocks noRot="1" noChangeAspect="1" noMove="1" noResize="1" noEditPoints="1" noAdjustHandles="1" noChangeArrowheads="1" noChangeShapeType="1" noTextEdit="1"/>
              </p:cNvSpPr>
              <p:nvPr/>
            </p:nvSpPr>
            <p:spPr>
              <a:xfrm>
                <a:off x="3743901" y="2638401"/>
                <a:ext cx="4866699" cy="1200329"/>
              </a:xfrm>
              <a:prstGeom prst="rect">
                <a:avLst/>
              </a:prstGeom>
              <a:blipFill>
                <a:blip r:embed="rId3"/>
                <a:stretch>
                  <a:fillRect l="-1823" t="-3158" b="-10526"/>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B9F80656-18B8-403C-8B88-08F9F91733BC}"/>
              </a:ext>
            </a:extLst>
          </p:cNvPr>
          <p:cNvCxnSpPr/>
          <p:nvPr/>
        </p:nvCxnSpPr>
        <p:spPr>
          <a:xfrm flipH="1">
            <a:off x="2838450" y="3026268"/>
            <a:ext cx="874568" cy="546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E4471A72-0743-754C-A31B-61E10F7FE9D7}"/>
              </a:ext>
            </a:extLst>
          </p:cNvPr>
          <p:cNvPicPr>
            <a:picLocks noChangeAspect="1"/>
          </p:cNvPicPr>
          <p:nvPr/>
        </p:nvPicPr>
        <p:blipFill>
          <a:blip r:embed="rId4"/>
          <a:stretch>
            <a:fillRect/>
          </a:stretch>
        </p:blipFill>
        <p:spPr>
          <a:xfrm>
            <a:off x="5804907" y="4365179"/>
            <a:ext cx="5611385" cy="2127696"/>
          </a:xfrm>
          <a:prstGeom prst="rect">
            <a:avLst/>
          </a:prstGeom>
        </p:spPr>
      </p:pic>
    </p:spTree>
    <p:extLst>
      <p:ext uri="{BB962C8B-B14F-4D97-AF65-F5344CB8AC3E}">
        <p14:creationId xmlns:p14="http://schemas.microsoft.com/office/powerpoint/2010/main" val="306556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82E25CA6-1DEE-9C43-BC17-C9C79CB53F01}"/>
              </a:ext>
            </a:extLst>
          </p:cNvPr>
          <p:cNvPicPr>
            <a:picLocks noGrp="1" noChangeAspect="1"/>
          </p:cNvPicPr>
          <p:nvPr>
            <p:ph idx="1"/>
          </p:nvPr>
        </p:nvPicPr>
        <p:blipFill>
          <a:blip r:embed="rId2"/>
          <a:stretch>
            <a:fillRect/>
          </a:stretch>
        </p:blipFill>
        <p:spPr>
          <a:xfrm>
            <a:off x="4180114" y="2077145"/>
            <a:ext cx="3554270" cy="3848298"/>
          </a:xfrm>
          <a:prstGeom prst="rect">
            <a:avLst/>
          </a:prstGeom>
        </p:spPr>
      </p:pic>
      <p:pic>
        <p:nvPicPr>
          <p:cNvPr id="7" name="Picture 6">
            <a:extLst>
              <a:ext uri="{FF2B5EF4-FFF2-40B4-BE49-F238E27FC236}">
                <a16:creationId xmlns:a16="http://schemas.microsoft.com/office/drawing/2014/main" id="{F9E8C72A-AF0C-A743-B78C-D51E53B7BD75}"/>
              </a:ext>
            </a:extLst>
          </p:cNvPr>
          <p:cNvPicPr>
            <a:picLocks noChangeAspect="1"/>
          </p:cNvPicPr>
          <p:nvPr/>
        </p:nvPicPr>
        <p:blipFill>
          <a:blip r:embed="rId3"/>
          <a:stretch>
            <a:fillRect/>
          </a:stretch>
        </p:blipFill>
        <p:spPr>
          <a:xfrm>
            <a:off x="3920927" y="5406258"/>
            <a:ext cx="366779" cy="397994"/>
          </a:xfrm>
          <a:prstGeom prst="rect">
            <a:avLst/>
          </a:prstGeom>
        </p:spPr>
      </p:pic>
      <p:pic>
        <p:nvPicPr>
          <p:cNvPr id="8" name="Picture 7">
            <a:extLst>
              <a:ext uri="{FF2B5EF4-FFF2-40B4-BE49-F238E27FC236}">
                <a16:creationId xmlns:a16="http://schemas.microsoft.com/office/drawing/2014/main" id="{D779FD64-5B7C-2749-A257-F455B246BFA7}"/>
              </a:ext>
            </a:extLst>
          </p:cNvPr>
          <p:cNvPicPr>
            <a:picLocks noChangeAspect="1"/>
          </p:cNvPicPr>
          <p:nvPr/>
        </p:nvPicPr>
        <p:blipFill>
          <a:blip r:embed="rId4"/>
          <a:stretch>
            <a:fillRect/>
          </a:stretch>
        </p:blipFill>
        <p:spPr>
          <a:xfrm>
            <a:off x="4605802" y="3729254"/>
            <a:ext cx="439942" cy="399947"/>
          </a:xfrm>
          <a:prstGeom prst="rect">
            <a:avLst/>
          </a:prstGeom>
        </p:spPr>
      </p:pic>
      <p:pic>
        <p:nvPicPr>
          <p:cNvPr id="9" name="Picture 8">
            <a:extLst>
              <a:ext uri="{FF2B5EF4-FFF2-40B4-BE49-F238E27FC236}">
                <a16:creationId xmlns:a16="http://schemas.microsoft.com/office/drawing/2014/main" id="{F7D683F1-8F66-AE41-ABEC-4BA58A788832}"/>
              </a:ext>
            </a:extLst>
          </p:cNvPr>
          <p:cNvPicPr>
            <a:picLocks noChangeAspect="1"/>
          </p:cNvPicPr>
          <p:nvPr/>
        </p:nvPicPr>
        <p:blipFill>
          <a:blip r:embed="rId5"/>
          <a:stretch>
            <a:fillRect/>
          </a:stretch>
        </p:blipFill>
        <p:spPr>
          <a:xfrm>
            <a:off x="6371918" y="2077145"/>
            <a:ext cx="342900" cy="330200"/>
          </a:xfrm>
          <a:prstGeom prst="rect">
            <a:avLst/>
          </a:prstGeom>
        </p:spPr>
      </p:pic>
      <p:pic>
        <p:nvPicPr>
          <p:cNvPr id="10" name="Picture 9">
            <a:extLst>
              <a:ext uri="{FF2B5EF4-FFF2-40B4-BE49-F238E27FC236}">
                <a16:creationId xmlns:a16="http://schemas.microsoft.com/office/drawing/2014/main" id="{D13E0686-205D-204E-A4B4-CFB42FF362C6}"/>
              </a:ext>
            </a:extLst>
          </p:cNvPr>
          <p:cNvPicPr>
            <a:picLocks noChangeAspect="1"/>
          </p:cNvPicPr>
          <p:nvPr/>
        </p:nvPicPr>
        <p:blipFill>
          <a:blip r:embed="rId6"/>
          <a:stretch>
            <a:fillRect/>
          </a:stretch>
        </p:blipFill>
        <p:spPr>
          <a:xfrm>
            <a:off x="5580404" y="2318106"/>
            <a:ext cx="376845" cy="440989"/>
          </a:xfrm>
          <a:prstGeom prst="rect">
            <a:avLst/>
          </a:prstGeom>
        </p:spPr>
      </p:pic>
    </p:spTree>
    <p:extLst>
      <p:ext uri="{BB962C8B-B14F-4D97-AF65-F5344CB8AC3E}">
        <p14:creationId xmlns:p14="http://schemas.microsoft.com/office/powerpoint/2010/main" val="1168358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a:t>Example</a:t>
            </a:r>
          </a:p>
          <a:p>
            <a:r>
              <a:rPr lang="en-IN" dirty="0"/>
              <a:t>“feeling under the weather”, which is commonly used when someone is ill</a:t>
            </a:r>
          </a:p>
          <a:p>
            <a:r>
              <a:rPr lang="en-IN" dirty="0"/>
              <a:t> In order for the idiom to make sense, it needs to be expressed in that specific order. As a result, recurrent networks need to account for the position of each word in the idiom and they use that information to predict the next word in the sequence.</a:t>
            </a:r>
          </a:p>
          <a:p>
            <a:endParaRPr lang="en-IN" dirty="0"/>
          </a:p>
        </p:txBody>
      </p:sp>
    </p:spTree>
    <p:extLst>
      <p:ext uri="{BB962C8B-B14F-4D97-AF65-F5344CB8AC3E}">
        <p14:creationId xmlns:p14="http://schemas.microsoft.com/office/powerpoint/2010/main" val="2406849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0113"/>
            <a:ext cx="10515600" cy="5486850"/>
          </a:xfrm>
        </p:spPr>
        <p:txBody>
          <a:bodyPr/>
          <a:lstStyle/>
          <a:p>
            <a:pPr fontAlgn="base">
              <a:lnSpc>
                <a:spcPct val="100000"/>
              </a:lnSpc>
            </a:pPr>
            <a:r>
              <a:rPr lang="en-IN" dirty="0"/>
              <a:t>Like feedforward and convolutional neural networks (CNNs), recurrent neural networks utilize training data to learn. </a:t>
            </a:r>
          </a:p>
          <a:p>
            <a:pPr fontAlgn="base">
              <a:lnSpc>
                <a:spcPct val="100000"/>
              </a:lnSpc>
            </a:pPr>
            <a:r>
              <a:rPr lang="en-IN" dirty="0"/>
              <a:t>They are distinguished by their “memory” as they take information from prior inputs to influence the current input and output. </a:t>
            </a:r>
          </a:p>
          <a:p>
            <a:pPr fontAlgn="base">
              <a:lnSpc>
                <a:spcPct val="100000"/>
              </a:lnSpc>
            </a:pPr>
            <a:r>
              <a:rPr lang="en-IN" dirty="0"/>
              <a:t>While traditional deep neural networks assume that inputs and outputs are independent of each other, the output of recurrent neural networks depend on the prior elements within the sequence. </a:t>
            </a:r>
          </a:p>
          <a:p>
            <a:pPr fontAlgn="base">
              <a:lnSpc>
                <a:spcPct val="100000"/>
              </a:lnSpc>
            </a:pPr>
            <a:r>
              <a:rPr lang="en-IN" dirty="0"/>
              <a:t>While future events would also be helpful in determining the output of a given sequence, unidirectional recurrent neural networks cannot account for these events in their predictions.</a:t>
            </a:r>
          </a:p>
        </p:txBody>
      </p:sp>
    </p:spTree>
    <p:extLst>
      <p:ext uri="{BB962C8B-B14F-4D97-AF65-F5344CB8AC3E}">
        <p14:creationId xmlns:p14="http://schemas.microsoft.com/office/powerpoint/2010/main" val="170477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Another distinguishing characteristic of recurrent networks is that they share parameters across each layer of the network. </a:t>
            </a:r>
          </a:p>
          <a:p>
            <a:r>
              <a:rPr lang="en-IN" dirty="0"/>
              <a:t>While feedforward networks have different weights across each node, recurrent neural networks share the same weight parameter within each layer of the network. </a:t>
            </a:r>
          </a:p>
          <a:p>
            <a:endParaRPr lang="en-IN" dirty="0"/>
          </a:p>
        </p:txBody>
      </p:sp>
    </p:spTree>
    <p:extLst>
      <p:ext uri="{BB962C8B-B14F-4D97-AF65-F5344CB8AC3E}">
        <p14:creationId xmlns:p14="http://schemas.microsoft.com/office/powerpoint/2010/main" val="906574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Unrolling/Unfolding</a:t>
            </a:r>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p:spPr>
      </p:pic>
      <p:sp>
        <p:nvSpPr>
          <p:cNvPr id="3" name="Rectangle 2"/>
          <p:cNvSpPr/>
          <p:nvPr/>
        </p:nvSpPr>
        <p:spPr>
          <a:xfrm>
            <a:off x="992776" y="1825625"/>
            <a:ext cx="9100457" cy="923330"/>
          </a:xfrm>
          <a:prstGeom prst="rect">
            <a:avLst/>
          </a:prstGeom>
        </p:spPr>
        <p:txBody>
          <a:bodyPr wrap="square">
            <a:spAutoFit/>
          </a:bodyPr>
          <a:lstStyle/>
          <a:p>
            <a:r>
              <a:rPr lang="en-US">
                <a:solidFill>
                  <a:srgbClr val="333333"/>
                </a:solidFill>
              </a:rPr>
              <a:t>A recurrent neural network can be thought of as multiple copies of the same network, each passing a message to a successor. </a:t>
            </a:r>
            <a:r>
              <a:rPr lang="en-US" dirty="0">
                <a:solidFill>
                  <a:srgbClr val="333333"/>
                </a:solidFill>
              </a:rPr>
              <a:t>The diagram above shows what happens if we </a:t>
            </a:r>
            <a:r>
              <a:rPr lang="en-US" b="1" dirty="0">
                <a:solidFill>
                  <a:srgbClr val="333333"/>
                </a:solidFill>
              </a:rPr>
              <a:t>unroll the loop</a:t>
            </a:r>
            <a:r>
              <a:rPr lang="en-US" dirty="0">
                <a:solidFill>
                  <a:srgbClr val="333333"/>
                </a:solidFill>
              </a:rPr>
              <a:t>. </a:t>
            </a:r>
            <a:endParaRPr lang="en-US" dirty="0"/>
          </a:p>
        </p:txBody>
      </p:sp>
    </p:spTree>
    <p:extLst>
      <p:ext uri="{BB962C8B-B14F-4D97-AF65-F5344CB8AC3E}">
        <p14:creationId xmlns:p14="http://schemas.microsoft.com/office/powerpoint/2010/main" val="193578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What is Recurrent Neural Network "/>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ln>
            <a:noFill/>
          </a:ln>
        </p:spPr>
      </p:pic>
    </p:spTree>
    <p:extLst>
      <p:ext uri="{BB962C8B-B14F-4D97-AF65-F5344CB8AC3E}">
        <p14:creationId xmlns:p14="http://schemas.microsoft.com/office/powerpoint/2010/main" val="2731520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fontAlgn="base">
              <a:buNone/>
            </a:pPr>
            <a:r>
              <a:rPr lang="en-IN" b="1" dirty="0"/>
              <a:t>How  RNN works</a:t>
            </a:r>
            <a:endParaRPr lang="en-IN" dirty="0"/>
          </a:p>
          <a:p>
            <a:pPr fontAlgn="base"/>
            <a:r>
              <a:rPr lang="en-IN" dirty="0"/>
              <a:t>The Recurrent Neural Network consists of multiple fixed activation function units, one for each time step.</a:t>
            </a:r>
          </a:p>
          <a:p>
            <a:pPr fontAlgn="base"/>
            <a:r>
              <a:rPr lang="en-IN" dirty="0"/>
              <a:t> Each unit has an internal state which is called the hidden state of the unit. </a:t>
            </a:r>
          </a:p>
          <a:p>
            <a:pPr fontAlgn="base"/>
            <a:r>
              <a:rPr lang="en-IN" dirty="0"/>
              <a:t>This hidden state signifies the past knowledge that the network currently holds at a given time step. </a:t>
            </a:r>
          </a:p>
          <a:p>
            <a:pPr fontAlgn="base"/>
            <a:r>
              <a:rPr lang="en-IN" dirty="0"/>
              <a:t>This hidden state is updated at every time step to signify the change in the knowledge of the network about the past</a:t>
            </a:r>
          </a:p>
        </p:txBody>
      </p:sp>
    </p:spTree>
    <p:extLst>
      <p:ext uri="{BB962C8B-B14F-4D97-AF65-F5344CB8AC3E}">
        <p14:creationId xmlns:p14="http://schemas.microsoft.com/office/powerpoint/2010/main" val="1909063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hidden state is updated using the following recurrence relation:-</a:t>
            </a:r>
          </a:p>
          <a:p>
            <a:r>
              <a:rPr lang="en-IN" b="1" dirty="0"/>
              <a:t>The formula for calculating the current state:</a:t>
            </a:r>
            <a:r>
              <a:rPr lang="en-IN" dirty="0"/>
              <a:t> </a:t>
            </a:r>
          </a:p>
          <a:p>
            <a:endParaRPr lang="en-IN" dirty="0"/>
          </a:p>
          <a:p>
            <a:pPr marL="0" indent="0" fontAlgn="base">
              <a:buNone/>
            </a:pPr>
            <a:r>
              <a:rPr lang="en-IN" dirty="0"/>
              <a:t> where:</a:t>
            </a:r>
          </a:p>
          <a:p>
            <a:pPr fontAlgn="base"/>
            <a:r>
              <a:rPr lang="en-IN" dirty="0" err="1"/>
              <a:t>h</a:t>
            </a:r>
            <a:r>
              <a:rPr lang="en-IN" baseline="-25000" dirty="0" err="1"/>
              <a:t>t</a:t>
            </a:r>
            <a:r>
              <a:rPr lang="en-IN" dirty="0"/>
              <a:t> -&gt; current state; h</a:t>
            </a:r>
            <a:r>
              <a:rPr lang="en-IN" baseline="-25000" dirty="0"/>
              <a:t>t-1</a:t>
            </a:r>
            <a:r>
              <a:rPr lang="en-IN" dirty="0"/>
              <a:t> -&gt; previous state; </a:t>
            </a:r>
            <a:r>
              <a:rPr lang="en-IN" dirty="0" err="1"/>
              <a:t>x</a:t>
            </a:r>
            <a:r>
              <a:rPr lang="en-IN" baseline="-25000" dirty="0" err="1"/>
              <a:t>t</a:t>
            </a:r>
            <a:r>
              <a:rPr lang="en-IN" dirty="0"/>
              <a:t> -&gt; input state</a:t>
            </a:r>
          </a:p>
          <a:p>
            <a:endParaRPr lang="en-IN" dirty="0"/>
          </a:p>
          <a:p>
            <a:endParaRPr lang="en-IN" dirty="0"/>
          </a:p>
        </p:txBody>
      </p:sp>
      <p:pic>
        <p:nvPicPr>
          <p:cNvPr id="4" name="Picture 3" descr="https://media.geeksforgeeks.org/wp-content/uploads/Screen-Shot-2018-08-23-at-3.27.11-PM.png"/>
          <p:cNvPicPr/>
          <p:nvPr/>
        </p:nvPicPr>
        <p:blipFill>
          <a:blip r:embed="rId2">
            <a:extLst>
              <a:ext uri="{28A0092B-C50C-407E-A947-70E740481C1C}">
                <a14:useLocalDpi xmlns:a14="http://schemas.microsoft.com/office/drawing/2010/main" val="0"/>
              </a:ext>
            </a:extLst>
          </a:blip>
          <a:srcRect/>
          <a:stretch>
            <a:fillRect/>
          </a:stretch>
        </p:blipFill>
        <p:spPr bwMode="auto">
          <a:xfrm>
            <a:off x="3108960" y="2926624"/>
            <a:ext cx="1706880" cy="464820"/>
          </a:xfrm>
          <a:prstGeom prst="rect">
            <a:avLst/>
          </a:prstGeom>
          <a:noFill/>
          <a:ln>
            <a:noFill/>
          </a:ln>
        </p:spPr>
      </p:pic>
    </p:spTree>
    <p:extLst>
      <p:ext uri="{BB962C8B-B14F-4D97-AF65-F5344CB8AC3E}">
        <p14:creationId xmlns:p14="http://schemas.microsoft.com/office/powerpoint/2010/main" val="1861992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Formula for applying Activation function(</a:t>
            </a:r>
            <a:r>
              <a:rPr lang="en-IN" b="1" dirty="0" err="1"/>
              <a:t>tanh</a:t>
            </a:r>
            <a:r>
              <a:rPr lang="en-IN" b="1" dirty="0"/>
              <a:t>):</a:t>
            </a:r>
          </a:p>
          <a:p>
            <a:endParaRPr lang="en-IN" b="1" dirty="0"/>
          </a:p>
          <a:p>
            <a:pPr fontAlgn="base"/>
            <a:r>
              <a:rPr lang="en-IN" dirty="0"/>
              <a:t> where: </a:t>
            </a:r>
            <a:r>
              <a:rPr lang="en-IN" dirty="0" err="1"/>
              <a:t>w</a:t>
            </a:r>
            <a:r>
              <a:rPr lang="en-IN" baseline="-25000" dirty="0" err="1"/>
              <a:t>hh</a:t>
            </a:r>
            <a:r>
              <a:rPr lang="en-IN" dirty="0"/>
              <a:t> -&gt; weight at recurrent neuron ; </a:t>
            </a:r>
            <a:r>
              <a:rPr lang="en-IN" dirty="0" err="1"/>
              <a:t>w</a:t>
            </a:r>
            <a:r>
              <a:rPr lang="en-IN" baseline="-25000" dirty="0" err="1"/>
              <a:t>xh</a:t>
            </a:r>
            <a:r>
              <a:rPr lang="en-IN" dirty="0"/>
              <a:t> -&gt; weight at input neuron</a:t>
            </a:r>
          </a:p>
          <a:p>
            <a:pPr fontAlgn="base"/>
            <a:r>
              <a:rPr lang="en-IN" b="1" dirty="0"/>
              <a:t>The formula for calculating output:</a:t>
            </a:r>
            <a:r>
              <a:rPr lang="en-IN" dirty="0"/>
              <a:t> </a:t>
            </a:r>
          </a:p>
          <a:p>
            <a:pPr fontAlgn="base"/>
            <a:endParaRPr lang="en-IN" dirty="0"/>
          </a:p>
          <a:p>
            <a:pPr fontAlgn="base"/>
            <a:r>
              <a:rPr lang="en-IN" dirty="0"/>
              <a:t>Where </a:t>
            </a:r>
            <a:r>
              <a:rPr lang="en-IN" dirty="0" err="1"/>
              <a:t>Y</a:t>
            </a:r>
            <a:r>
              <a:rPr lang="en-IN" baseline="-25000" dirty="0" err="1"/>
              <a:t>t</a:t>
            </a:r>
            <a:r>
              <a:rPr lang="en-IN" dirty="0"/>
              <a:t> -&gt; output; W</a:t>
            </a:r>
            <a:r>
              <a:rPr lang="en-IN" baseline="-25000" dirty="0"/>
              <a:t>hy</a:t>
            </a:r>
            <a:r>
              <a:rPr lang="en-IN" dirty="0"/>
              <a:t> -&gt; weight at output layer</a:t>
            </a:r>
          </a:p>
          <a:p>
            <a:pPr fontAlgn="base"/>
            <a:endParaRPr lang="en-IN" dirty="0"/>
          </a:p>
          <a:p>
            <a:endParaRPr lang="en-IN" dirty="0"/>
          </a:p>
          <a:p>
            <a:endParaRPr lang="en-IN" dirty="0"/>
          </a:p>
        </p:txBody>
      </p:sp>
      <p:pic>
        <p:nvPicPr>
          <p:cNvPr id="4" name="Picture 3" descr="https://media.geeksforgeeks.org/wp-content/uploads/Screen-Shot-2018-08-23-at-3.28.27-PM.png"/>
          <p:cNvPicPr/>
          <p:nvPr/>
        </p:nvPicPr>
        <p:blipFill>
          <a:blip r:embed="rId2">
            <a:extLst>
              <a:ext uri="{28A0092B-C50C-407E-A947-70E740481C1C}">
                <a14:useLocalDpi xmlns:a14="http://schemas.microsoft.com/office/drawing/2010/main" val="0"/>
              </a:ext>
            </a:extLst>
          </a:blip>
          <a:srcRect/>
          <a:stretch>
            <a:fillRect/>
          </a:stretch>
        </p:blipFill>
        <p:spPr bwMode="auto">
          <a:xfrm>
            <a:off x="2697480" y="2346007"/>
            <a:ext cx="3398520" cy="571500"/>
          </a:xfrm>
          <a:prstGeom prst="rect">
            <a:avLst/>
          </a:prstGeom>
          <a:noFill/>
          <a:ln>
            <a:noFill/>
          </a:ln>
        </p:spPr>
      </p:pic>
      <p:pic>
        <p:nvPicPr>
          <p:cNvPr id="5" name="Picture 4" descr="https://media.geeksforgeeks.org/wp-content/uploads/Screen-Shot-2018-08-23-at-3.29.30-PM.png"/>
          <p:cNvPicPr/>
          <p:nvPr/>
        </p:nvPicPr>
        <p:blipFill>
          <a:blip r:embed="rId3">
            <a:extLst>
              <a:ext uri="{28A0092B-C50C-407E-A947-70E740481C1C}">
                <a14:useLocalDpi xmlns:a14="http://schemas.microsoft.com/office/drawing/2010/main" val="0"/>
              </a:ext>
            </a:extLst>
          </a:blip>
          <a:srcRect/>
          <a:stretch>
            <a:fillRect/>
          </a:stretch>
        </p:blipFill>
        <p:spPr bwMode="auto">
          <a:xfrm>
            <a:off x="3377292" y="4099560"/>
            <a:ext cx="1379220" cy="609600"/>
          </a:xfrm>
          <a:prstGeom prst="rect">
            <a:avLst/>
          </a:prstGeom>
          <a:noFill/>
          <a:ln>
            <a:noFill/>
          </a:ln>
        </p:spPr>
      </p:pic>
    </p:spTree>
    <p:extLst>
      <p:ext uri="{BB962C8B-B14F-4D97-AF65-F5344CB8AC3E}">
        <p14:creationId xmlns:p14="http://schemas.microsoft.com/office/powerpoint/2010/main" val="2903444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These parameters are updated using Backpropagation. However, since RNN works on sequential data here we use an updated backpropagation which is known as Backpropagation through time. </a:t>
            </a:r>
          </a:p>
          <a:p>
            <a:pPr marL="0" indent="0" fontAlgn="base">
              <a:buNone/>
            </a:pPr>
            <a:r>
              <a:rPr lang="en-IN" b="1" dirty="0"/>
              <a:t>Backpropagation Through Time (BPTT)</a:t>
            </a:r>
            <a:endParaRPr lang="en-IN" dirty="0"/>
          </a:p>
          <a:p>
            <a:pPr fontAlgn="base"/>
            <a:r>
              <a:rPr lang="en-IN" dirty="0"/>
              <a:t>In RNN the neural network is in an ordered fashion and since in the ordered network each variable is computed one at a time in a specified order like first h1 then h2 then h3 so on. </a:t>
            </a:r>
          </a:p>
          <a:p>
            <a:pPr fontAlgn="base"/>
            <a:r>
              <a:rPr lang="en-IN" dirty="0"/>
              <a:t>Hence we will apply backpropagation throughout all these hidden time states sequentially. </a:t>
            </a:r>
          </a:p>
          <a:p>
            <a:endParaRPr lang="en-IN" dirty="0"/>
          </a:p>
          <a:p>
            <a:endParaRPr lang="en-IN" dirty="0"/>
          </a:p>
        </p:txBody>
      </p:sp>
    </p:spTree>
    <p:extLst>
      <p:ext uri="{BB962C8B-B14F-4D97-AF65-F5344CB8AC3E}">
        <p14:creationId xmlns:p14="http://schemas.microsoft.com/office/powerpoint/2010/main" val="819353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a:t>Recurrent neural networks leverage backpropagation through time (BPTT) algorithm to determine the gradients, which is slightly different from traditional backpropagation as it is specific to sequence data. </a:t>
            </a:r>
          </a:p>
          <a:p>
            <a:r>
              <a:rPr lang="en-IN" dirty="0"/>
              <a:t>The principles of BPTT are the same as traditional backpropagation, where the model trains itself by </a:t>
            </a:r>
            <a:r>
              <a:rPr lang="en-IN" dirty="0">
                <a:highlight>
                  <a:srgbClr val="FFFF00"/>
                </a:highlight>
              </a:rPr>
              <a:t>calculating errors from its output layer to its input layer. </a:t>
            </a:r>
          </a:p>
          <a:p>
            <a:r>
              <a:rPr lang="en-IN" dirty="0"/>
              <a:t>These calculations allow us to adjust and fit the parameters of the model appropriately. </a:t>
            </a:r>
          </a:p>
          <a:p>
            <a:r>
              <a:rPr lang="en-IN" dirty="0"/>
              <a:t>BPTT differs from the traditional approach in that </a:t>
            </a:r>
            <a:r>
              <a:rPr lang="en-IN" dirty="0">
                <a:highlight>
                  <a:srgbClr val="FFFF00"/>
                </a:highlight>
              </a:rPr>
              <a:t>BPTT sums errors at each time step </a:t>
            </a:r>
            <a:r>
              <a:rPr lang="en-IN" dirty="0"/>
              <a:t>whereas feedforward networks do not need to sum errors as they do not share parameters across each layer</a:t>
            </a:r>
          </a:p>
        </p:txBody>
      </p:sp>
    </p:spTree>
    <p:extLst>
      <p:ext uri="{BB962C8B-B14F-4D97-AF65-F5344CB8AC3E}">
        <p14:creationId xmlns:p14="http://schemas.microsoft.com/office/powerpoint/2010/main" val="76070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090411" y="2114418"/>
            <a:ext cx="6011177" cy="3773751"/>
          </a:xfrm>
          <a:prstGeom prst="rect">
            <a:avLst/>
          </a:prstGeom>
        </p:spPr>
      </p:pic>
    </p:spTree>
    <p:extLst>
      <p:ext uri="{BB962C8B-B14F-4D97-AF65-F5344CB8AC3E}">
        <p14:creationId xmlns:p14="http://schemas.microsoft.com/office/powerpoint/2010/main" val="3474839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dirty="0"/>
              <a:t>L(θ)(loss function) depends on h3</a:t>
            </a:r>
          </a:p>
          <a:p>
            <a:pPr fontAlgn="base"/>
            <a:r>
              <a:rPr lang="en-IN" dirty="0"/>
              <a:t>h3 in turn depends on h2 and W</a:t>
            </a:r>
          </a:p>
          <a:p>
            <a:pPr fontAlgn="base"/>
            <a:r>
              <a:rPr lang="en-IN" dirty="0"/>
              <a:t>h2 in turn depends on h1 and W</a:t>
            </a:r>
          </a:p>
          <a:p>
            <a:pPr fontAlgn="base"/>
            <a:r>
              <a:rPr lang="en-IN" dirty="0"/>
              <a:t>h1 in turn depends on h0 and W</a:t>
            </a:r>
          </a:p>
          <a:p>
            <a:pPr fontAlgn="base"/>
            <a:r>
              <a:rPr lang="en-IN" dirty="0"/>
              <a:t>where h0 is a constant starting state. </a:t>
            </a:r>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098766" y="4936127"/>
            <a:ext cx="2778034" cy="498021"/>
          </a:xfrm>
          <a:prstGeom prst="rect">
            <a:avLst/>
          </a:prstGeom>
          <a:noFill/>
        </p:spPr>
      </p:pic>
    </p:spTree>
    <p:extLst>
      <p:ext uri="{BB962C8B-B14F-4D97-AF65-F5344CB8AC3E}">
        <p14:creationId xmlns:p14="http://schemas.microsoft.com/office/powerpoint/2010/main" val="4122254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Recurrent Neural Networks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recurrent structure of RNNs enables the following characteristics:</a:t>
                </a:r>
              </a:p>
              <a:p>
                <a:pPr lvl="1"/>
                <a:r>
                  <a:rPr lang="en-US" dirty="0"/>
                  <a:t>Specialized for processing a sequence of values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r>
                      <a:rPr lang="en-US" b="0" i="1" smtClean="0">
                        <a:latin typeface="Cambria Math" panose="02040503050406030204" pitchFamily="18" charset="0"/>
                      </a:rPr>
                      <m:t>, …,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d>
                          <m:dPr>
                            <m:ctrlPr>
                              <a:rPr lang="en-US" b="0" i="1" smtClean="0">
                                <a:latin typeface="Cambria Math" panose="02040503050406030204" pitchFamily="18" charset="0"/>
                              </a:rPr>
                            </m:ctrlPr>
                          </m:dPr>
                          <m:e>
                            <m:r>
                              <a:rPr lang="en-US" b="0" i="1" smtClean="0">
                                <a:latin typeface="Cambria Math" panose="02040503050406030204" pitchFamily="18" charset="0"/>
                              </a:rPr>
                              <m:t>𝜏</m:t>
                            </m:r>
                          </m:e>
                        </m:d>
                      </m:sup>
                    </m:sSup>
                  </m:oMath>
                </a14:m>
                <a:endParaRPr lang="en-US" dirty="0"/>
              </a:p>
              <a:p>
                <a:pPr lvl="2"/>
                <a:r>
                  <a:rPr lang="en-US" dirty="0"/>
                  <a:t>Each value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𝑖</m:t>
                            </m:r>
                          </m:e>
                        </m:d>
                      </m:sup>
                    </m:sSup>
                  </m:oMath>
                </a14:m>
                <a:r>
                  <a:rPr lang="en-US" dirty="0"/>
                  <a:t> is processed with the </a:t>
                </a:r>
                <a:r>
                  <a:rPr lang="en-US" b="1" dirty="0"/>
                  <a:t>same network </a:t>
                </a:r>
                <a:r>
                  <a:rPr lang="en-US" b="1" i="1" dirty="0"/>
                  <a:t>A </a:t>
                </a:r>
                <a:r>
                  <a:rPr lang="en-US" b="1" dirty="0"/>
                  <a:t>that preserves past information</a:t>
                </a:r>
              </a:p>
              <a:p>
                <a:pPr marL="914400" lvl="2" indent="0">
                  <a:buNone/>
                </a:pPr>
                <a:endParaRPr lang="en-US" b="1" i="1" dirty="0"/>
              </a:p>
              <a:p>
                <a:pPr lvl="1"/>
                <a:r>
                  <a:rPr lang="en-US" dirty="0"/>
                  <a:t>Can scale to much </a:t>
                </a:r>
                <a:r>
                  <a:rPr lang="en-US" b="1" dirty="0"/>
                  <a:t>longer sequences </a:t>
                </a:r>
                <a:r>
                  <a:rPr lang="en-US" dirty="0"/>
                  <a:t>than would be practical for networks without a recurrent structure</a:t>
                </a:r>
              </a:p>
              <a:p>
                <a:pPr lvl="2"/>
                <a:r>
                  <a:rPr lang="en-US" dirty="0"/>
                  <a:t>Reusing network </a:t>
                </a:r>
                <a:r>
                  <a:rPr lang="en-US" b="1" i="1" dirty="0"/>
                  <a:t>A</a:t>
                </a:r>
                <a:r>
                  <a:rPr lang="en-US" dirty="0"/>
                  <a:t> reduces the required amount of parameters in the network</a:t>
                </a:r>
              </a:p>
              <a:p>
                <a:pPr lvl="2"/>
                <a:endParaRPr lang="en-US" dirty="0"/>
              </a:p>
              <a:p>
                <a:pPr lvl="1"/>
                <a:r>
                  <a:rPr lang="en-US" dirty="0"/>
                  <a:t>Can process </a:t>
                </a:r>
                <a:r>
                  <a:rPr lang="en-US" b="1" dirty="0"/>
                  <a:t>variable-length sequences</a:t>
                </a:r>
              </a:p>
              <a:p>
                <a:pPr lvl="2"/>
                <a:r>
                  <a:rPr lang="en-US" dirty="0"/>
                  <a:t>The network complexity does not vary when the input length change</a:t>
                </a:r>
              </a:p>
              <a:p>
                <a:pPr lvl="2"/>
                <a:endParaRPr lang="en-US" dirty="0"/>
              </a:p>
              <a:p>
                <a:pPr lvl="1"/>
                <a:r>
                  <a:rPr lang="en-US" dirty="0"/>
                  <a:t>However, RNNs suffer from the training difficulty due to </a:t>
                </a:r>
                <a:r>
                  <a:rPr lang="en-US" b="1" dirty="0"/>
                  <a:t>exploding and vanishing gradients</a:t>
                </a:r>
                <a:r>
                  <a:rPr lang="en-US" dirty="0"/>
                  <a:t>.</a:t>
                </a:r>
              </a:p>
              <a:p>
                <a:pPr lvl="1"/>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r="-406" b="-2661"/>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186AD5D9-7E52-44BC-8503-52C80A722C60}" type="slidenum">
              <a:rPr lang="en-US" smtClean="0"/>
              <a:t>20</a:t>
            </a:fld>
            <a:endParaRPr lang="en-US"/>
          </a:p>
        </p:txBody>
      </p:sp>
    </p:spTree>
    <p:extLst>
      <p:ext uri="{BB962C8B-B14F-4D97-AF65-F5344CB8AC3E}">
        <p14:creationId xmlns:p14="http://schemas.microsoft.com/office/powerpoint/2010/main" val="3662372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7532"/>
            <a:ext cx="10515600" cy="5219431"/>
          </a:xfrm>
        </p:spPr>
        <p:txBody>
          <a:bodyPr>
            <a:normAutofit fontScale="85000" lnSpcReduction="10000"/>
          </a:bodyPr>
          <a:lstStyle/>
          <a:p>
            <a:pPr>
              <a:lnSpc>
                <a:spcPct val="110000"/>
              </a:lnSpc>
            </a:pPr>
            <a:r>
              <a:rPr lang="en-IN" dirty="0"/>
              <a:t>These issues are defined by the size of the gradient, which is the slope of the loss function along the error curve. </a:t>
            </a:r>
          </a:p>
          <a:p>
            <a:pPr>
              <a:lnSpc>
                <a:spcPct val="110000"/>
              </a:lnSpc>
            </a:pPr>
            <a:r>
              <a:rPr lang="en-IN" dirty="0"/>
              <a:t>When the gradient is too small, it continues to become smaller, updating the weight parameters until they become insignificant—i.e. 0. Vanishes.</a:t>
            </a:r>
          </a:p>
          <a:p>
            <a:pPr>
              <a:lnSpc>
                <a:spcPct val="110000"/>
              </a:lnSpc>
            </a:pPr>
            <a:r>
              <a:rPr lang="en-IN" dirty="0"/>
              <a:t>When that occurs, the algorithm is no longer learning. </a:t>
            </a:r>
          </a:p>
          <a:p>
            <a:pPr>
              <a:lnSpc>
                <a:spcPct val="110000"/>
              </a:lnSpc>
            </a:pPr>
            <a:r>
              <a:rPr lang="en-IN" dirty="0"/>
              <a:t>Exploding gradients occur when the gradient is too large, creating an unstable model. </a:t>
            </a:r>
          </a:p>
          <a:p>
            <a:pPr>
              <a:lnSpc>
                <a:spcPct val="110000"/>
              </a:lnSpc>
            </a:pPr>
            <a:r>
              <a:rPr lang="en-IN" dirty="0"/>
              <a:t>In this case, the model weights will grow too large, and they will eventually be represented as </a:t>
            </a:r>
            <a:r>
              <a:rPr lang="en-IN" dirty="0" err="1"/>
              <a:t>NaN</a:t>
            </a:r>
            <a:r>
              <a:rPr lang="en-IN" dirty="0"/>
              <a:t>. (</a:t>
            </a:r>
            <a:r>
              <a:rPr lang="en-IN" dirty="0" err="1"/>
              <a:t>NaN</a:t>
            </a:r>
            <a:r>
              <a:rPr lang="en-IN" dirty="0"/>
              <a:t> or Not a Number are special values in </a:t>
            </a:r>
            <a:r>
              <a:rPr lang="en-IN" dirty="0" err="1"/>
              <a:t>DataFrame</a:t>
            </a:r>
            <a:r>
              <a:rPr lang="en-IN" dirty="0"/>
              <a:t> and </a:t>
            </a:r>
            <a:r>
              <a:rPr lang="en-IN" dirty="0" err="1"/>
              <a:t>numpy</a:t>
            </a:r>
            <a:r>
              <a:rPr lang="en-IN" dirty="0"/>
              <a:t> arrays that represent the missing of value in a cell. )</a:t>
            </a:r>
          </a:p>
          <a:p>
            <a:pPr>
              <a:lnSpc>
                <a:spcPct val="110000"/>
              </a:lnSpc>
            </a:pPr>
            <a:r>
              <a:rPr lang="en-IN" dirty="0"/>
              <a:t>One solution to these issues is to reduce the number of hidden layers within the neural network, eliminating some of the complexity in the RNN model.</a:t>
            </a:r>
          </a:p>
          <a:p>
            <a:endParaRPr lang="en-IN" dirty="0"/>
          </a:p>
        </p:txBody>
      </p:sp>
    </p:spTree>
    <p:extLst>
      <p:ext uri="{BB962C8B-B14F-4D97-AF65-F5344CB8AC3E}">
        <p14:creationId xmlns:p14="http://schemas.microsoft.com/office/powerpoint/2010/main" val="1990818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Exploding and Vanishing Gradients</a:t>
            </a:r>
          </a:p>
        </p:txBody>
      </p:sp>
      <p:sp>
        <p:nvSpPr>
          <p:cNvPr id="3" name="Content Placeholder 2"/>
          <p:cNvSpPr>
            <a:spLocks noGrp="1"/>
          </p:cNvSpPr>
          <p:nvPr>
            <p:ph idx="1"/>
          </p:nvPr>
        </p:nvSpPr>
        <p:spPr>
          <a:xfrm>
            <a:off x="838200" y="4641849"/>
            <a:ext cx="10515600" cy="1535113"/>
          </a:xfrm>
        </p:spPr>
        <p:txBody>
          <a:bodyPr>
            <a:noAutofit/>
          </a:bodyPr>
          <a:lstStyle/>
          <a:p>
            <a:pPr marL="320040">
              <a:lnSpc>
                <a:spcPct val="100000"/>
              </a:lnSpc>
              <a:spcBef>
                <a:spcPts val="0"/>
              </a:spcBef>
            </a:pPr>
            <a:r>
              <a:rPr lang="en-CA" altLang="en-US" sz="2000" b="1" dirty="0"/>
              <a:t>Exploding:</a:t>
            </a:r>
            <a:r>
              <a:rPr lang="en-CA" altLang="en-US" sz="2000" dirty="0"/>
              <a:t> If we start almost exactly on the boundary (cliff), tiny changes can make a huge difference.</a:t>
            </a:r>
          </a:p>
          <a:p>
            <a:pPr marL="320040">
              <a:lnSpc>
                <a:spcPct val="100000"/>
              </a:lnSpc>
              <a:spcBef>
                <a:spcPts val="0"/>
              </a:spcBef>
            </a:pPr>
            <a:r>
              <a:rPr lang="en-CA" altLang="en-US" sz="2000" b="1" dirty="0"/>
              <a:t>Vanishing:</a:t>
            </a:r>
            <a:r>
              <a:rPr lang="en-CA" altLang="en-US" sz="2000" dirty="0"/>
              <a:t> If we start a trajectory within an attractor (plane, flat surface), small changes in where we start make no difference to where we end up.</a:t>
            </a:r>
          </a:p>
          <a:p>
            <a:pPr marL="320040">
              <a:lnSpc>
                <a:spcPct val="100000"/>
              </a:lnSpc>
              <a:spcBef>
                <a:spcPts val="0"/>
              </a:spcBef>
            </a:pPr>
            <a:r>
              <a:rPr lang="en-CA" altLang="en-US" sz="2000" dirty="0"/>
              <a:t>Both cases hinder the learning process.</a:t>
            </a:r>
          </a:p>
        </p:txBody>
      </p:sp>
      <p:sp>
        <p:nvSpPr>
          <p:cNvPr id="4" name="Slide Number Placeholder 3"/>
          <p:cNvSpPr>
            <a:spLocks noGrp="1"/>
          </p:cNvSpPr>
          <p:nvPr>
            <p:ph type="sldNum" sz="quarter" idx="12"/>
          </p:nvPr>
        </p:nvSpPr>
        <p:spPr/>
        <p:txBody>
          <a:bodyPr/>
          <a:lstStyle/>
          <a:p>
            <a:fld id="{186AD5D9-7E52-44BC-8503-52C80A722C60}" type="slidenum">
              <a:rPr lang="en-US" smtClean="0"/>
              <a:t>22</a:t>
            </a:fld>
            <a:endParaRPr lang="en-US"/>
          </a:p>
        </p:txBody>
      </p:sp>
      <p:pic>
        <p:nvPicPr>
          <p:cNvPr id="6" name="Picture 5"/>
          <p:cNvPicPr>
            <a:picLocks noChangeAspect="1"/>
          </p:cNvPicPr>
          <p:nvPr/>
        </p:nvPicPr>
        <p:blipFill>
          <a:blip r:embed="rId2"/>
          <a:stretch>
            <a:fillRect/>
          </a:stretch>
        </p:blipFill>
        <p:spPr>
          <a:xfrm>
            <a:off x="1302612" y="3358387"/>
            <a:ext cx="1736435" cy="696881"/>
          </a:xfrm>
          <a:prstGeom prst="rect">
            <a:avLst/>
          </a:prstGeom>
        </p:spPr>
      </p:pic>
      <p:pic>
        <p:nvPicPr>
          <p:cNvPr id="1026" name="Picture 2" descr="http://nikhilbuduma.com/img/rnn_error_surfac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646238"/>
            <a:ext cx="4983607" cy="29956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2"/>
          <a:stretch>
            <a:fillRect/>
          </a:stretch>
        </p:blipFill>
        <p:spPr>
          <a:xfrm>
            <a:off x="6174691" y="2240095"/>
            <a:ext cx="5179109" cy="2078523"/>
          </a:xfrm>
          <a:prstGeom prst="rect">
            <a:avLst/>
          </a:prstGeom>
        </p:spPr>
      </p:pic>
      <p:sp>
        <p:nvSpPr>
          <p:cNvPr id="8" name="TextBox 7"/>
          <p:cNvSpPr txBox="1"/>
          <p:nvPr/>
        </p:nvSpPr>
        <p:spPr>
          <a:xfrm>
            <a:off x="5340096" y="1554480"/>
            <a:ext cx="1547731" cy="369332"/>
          </a:xfrm>
          <a:prstGeom prst="rect">
            <a:avLst/>
          </a:prstGeom>
          <a:noFill/>
        </p:spPr>
        <p:txBody>
          <a:bodyPr wrap="none" rtlCol="0">
            <a:spAutoFit/>
          </a:bodyPr>
          <a:lstStyle/>
          <a:p>
            <a:r>
              <a:rPr lang="en-US" dirty="0"/>
              <a:t>Cliff/boundary</a:t>
            </a:r>
          </a:p>
        </p:txBody>
      </p:sp>
      <p:cxnSp>
        <p:nvCxnSpPr>
          <p:cNvPr id="10" name="Straight Arrow Connector 9"/>
          <p:cNvCxnSpPr/>
          <p:nvPr/>
        </p:nvCxnSpPr>
        <p:spPr>
          <a:xfrm flipH="1">
            <a:off x="2971800" y="1690688"/>
            <a:ext cx="2350008" cy="8330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3"/>
          </p:cNvCxnSpPr>
          <p:nvPr/>
        </p:nvCxnSpPr>
        <p:spPr>
          <a:xfrm>
            <a:off x="6887827" y="1739146"/>
            <a:ext cx="1722773" cy="11137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309349" y="4134310"/>
            <a:ext cx="1609223" cy="369332"/>
          </a:xfrm>
          <a:prstGeom prst="rect">
            <a:avLst/>
          </a:prstGeom>
          <a:noFill/>
        </p:spPr>
        <p:txBody>
          <a:bodyPr wrap="none" rtlCol="0">
            <a:spAutoFit/>
          </a:bodyPr>
          <a:lstStyle/>
          <a:p>
            <a:r>
              <a:rPr lang="en-US" dirty="0"/>
              <a:t>Plane/attractor</a:t>
            </a:r>
          </a:p>
        </p:txBody>
      </p:sp>
      <p:cxnSp>
        <p:nvCxnSpPr>
          <p:cNvPr id="15" name="Straight Arrow Connector 14"/>
          <p:cNvCxnSpPr>
            <a:stCxn id="13" idx="1"/>
          </p:cNvCxnSpPr>
          <p:nvPr/>
        </p:nvCxnSpPr>
        <p:spPr>
          <a:xfrm flipH="1" flipV="1">
            <a:off x="4279392" y="3584903"/>
            <a:ext cx="1029957" cy="7340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3" idx="0"/>
          </p:cNvCxnSpPr>
          <p:nvPr/>
        </p:nvCxnSpPr>
        <p:spPr>
          <a:xfrm flipV="1">
            <a:off x="6113961" y="3106736"/>
            <a:ext cx="737803" cy="10275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3" idx="3"/>
          </p:cNvCxnSpPr>
          <p:nvPr/>
        </p:nvCxnSpPr>
        <p:spPr>
          <a:xfrm flipV="1">
            <a:off x="6918572" y="4041917"/>
            <a:ext cx="3063628" cy="2770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217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389352" y="1031133"/>
            <a:ext cx="9312966" cy="1948528"/>
          </a:xfrm>
          <a:prstGeom prst="rect">
            <a:avLst/>
          </a:prstGeom>
        </p:spPr>
      </p:pic>
      <p:sp>
        <p:nvSpPr>
          <p:cNvPr id="2" name="Title 1"/>
          <p:cNvSpPr>
            <a:spLocks noGrp="1"/>
          </p:cNvSpPr>
          <p:nvPr>
            <p:ph type="title"/>
          </p:nvPr>
        </p:nvSpPr>
        <p:spPr>
          <a:xfrm>
            <a:off x="838200" y="78876"/>
            <a:ext cx="10515600" cy="1325563"/>
          </a:xfrm>
        </p:spPr>
        <p:txBody>
          <a:bodyPr/>
          <a:lstStyle/>
          <a:p>
            <a:r>
              <a:rPr lang="en-US" dirty="0"/>
              <a:t>Exploding and Vanishing Gradients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3017161"/>
                <a:ext cx="10809849" cy="3493077"/>
              </a:xfrm>
            </p:spPr>
            <p:txBody>
              <a:bodyPr>
                <a:normAutofit/>
              </a:bodyPr>
              <a:lstStyle/>
              <a:p>
                <a:pPr marL="0" indent="0">
                  <a:buNone/>
                </a:pPr>
                <a:r>
                  <a:rPr lang="en-US" sz="2400" dirty="0"/>
                  <a:t>In RNNs, computing this gradient involves many factors of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hh</m:t>
                        </m:r>
                      </m:sub>
                    </m:sSub>
                  </m:oMath>
                </a14:m>
                <a:r>
                  <a:rPr lang="en-US" sz="2400" dirty="0"/>
                  <a:t> (and repeated </a:t>
                </a:r>
                <a:r>
                  <a:rPr lang="en-US" sz="2400" dirty="0">
                    <a:latin typeface="Cambria Math" panose="02040503050406030204" pitchFamily="18" charset="0"/>
                    <a:ea typeface="Cambria Math" panose="02040503050406030204" pitchFamily="18" charset="0"/>
                  </a:rPr>
                  <a:t>tanh</a:t>
                </a:r>
                <a:r>
                  <a:rPr lang="en-US" sz="2400" dirty="0"/>
                  <a:t>)*. If we decompose the singular values of the gradient multiplication matrix,</a:t>
                </a:r>
              </a:p>
              <a:p>
                <a:pPr lvl="1"/>
                <a:r>
                  <a:rPr lang="en-US" dirty="0"/>
                  <a:t>Largest singular value &gt; 1 </a:t>
                </a:r>
                <a:r>
                  <a:rPr lang="en-US" dirty="0">
                    <a:sym typeface="Wingdings" panose="05000000000000000000" pitchFamily="2" charset="2"/>
                  </a:rPr>
                  <a:t> </a:t>
                </a:r>
                <a:r>
                  <a:rPr lang="en-US" b="1" dirty="0">
                    <a:sym typeface="Wingdings" panose="05000000000000000000" pitchFamily="2" charset="2"/>
                  </a:rPr>
                  <a:t>Exploding gradients</a:t>
                </a:r>
                <a:endParaRPr lang="en-US" dirty="0">
                  <a:sym typeface="Wingdings" panose="05000000000000000000" pitchFamily="2" charset="2"/>
                </a:endParaRPr>
              </a:p>
              <a:p>
                <a:pPr lvl="2"/>
                <a:r>
                  <a:rPr lang="en-US" sz="2400" dirty="0">
                    <a:sym typeface="Wingdings" panose="05000000000000000000" pitchFamily="2" charset="2"/>
                  </a:rPr>
                  <a:t>Slight error in the late time steps causes drastic updates in the early time steps  Unstable learning</a:t>
                </a:r>
              </a:p>
              <a:p>
                <a:pPr lvl="1"/>
                <a:r>
                  <a:rPr lang="en-US" dirty="0">
                    <a:sym typeface="Wingdings" panose="05000000000000000000" pitchFamily="2" charset="2"/>
                  </a:rPr>
                  <a:t>Largest singular value &lt; 1  </a:t>
                </a:r>
                <a:r>
                  <a:rPr lang="en-US" b="1" dirty="0">
                    <a:sym typeface="Wingdings" panose="05000000000000000000" pitchFamily="2" charset="2"/>
                  </a:rPr>
                  <a:t>Vanishing gradients </a:t>
                </a:r>
              </a:p>
              <a:p>
                <a:pPr lvl="2"/>
                <a:r>
                  <a:rPr lang="en-US" sz="2400" dirty="0">
                    <a:sym typeface="Wingdings" panose="05000000000000000000" pitchFamily="2" charset="2"/>
                  </a:rPr>
                  <a:t>Gradients passed to the early time steps is close to 0.  Uninformed correction</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3017161"/>
                <a:ext cx="10809849" cy="3493077"/>
              </a:xfrm>
              <a:blipFill>
                <a:blip r:embed="rId3"/>
                <a:stretch>
                  <a:fillRect l="-846" t="-2792" r="-564"/>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186AD5D9-7E52-44BC-8503-52C80A722C60}" type="slidenum">
              <a:rPr lang="en-US" smtClean="0"/>
              <a:t>23</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B394BEA-0F07-4561-8C32-31BAFE08AA43}"/>
                  </a:ext>
                </a:extLst>
              </p:cNvPr>
              <p:cNvSpPr txBox="1"/>
              <p:nvPr/>
            </p:nvSpPr>
            <p:spPr>
              <a:xfrm>
                <a:off x="10194657" y="2336422"/>
                <a:ext cx="15903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4</m:t>
                          </m:r>
                        </m:sub>
                      </m:sSub>
                      <m:r>
                        <a:rPr lang="en-US" b="0" i="1" smtClean="0">
                          <a:latin typeface="Cambria Math" panose="02040503050406030204" pitchFamily="18" charset="0"/>
                        </a:rPr>
                        <m:t>=</m:t>
                      </m:r>
                      <m:r>
                        <a:rPr lang="en-US" b="0" i="1" smtClean="0">
                          <a:latin typeface="Cambria Math" panose="02040503050406030204" pitchFamily="18" charset="0"/>
                        </a:rPr>
                        <m:t>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4</m:t>
                          </m:r>
                        </m:sub>
                      </m:sSub>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4</m:t>
                              </m:r>
                            </m:sub>
                          </m:sSub>
                        </m:e>
                      </m:acc>
                      <m:r>
                        <a:rPr lang="en-US"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4B394BEA-0F07-4561-8C32-31BAFE08AA43}"/>
                  </a:ext>
                </a:extLst>
              </p:cNvPr>
              <p:cNvSpPr txBox="1">
                <a:spLocks noRot="1" noChangeAspect="1" noMove="1" noResize="1" noEditPoints="1" noAdjustHandles="1" noChangeArrowheads="1" noChangeShapeType="1" noTextEdit="1"/>
              </p:cNvSpPr>
              <p:nvPr/>
            </p:nvSpPr>
            <p:spPr>
              <a:xfrm>
                <a:off x="10194657" y="2336422"/>
                <a:ext cx="1590371" cy="369332"/>
              </a:xfrm>
              <a:prstGeom prst="rect">
                <a:avLst/>
              </a:prstGeom>
              <a:blipFill>
                <a:blip r:embed="rId4"/>
                <a:stretch>
                  <a:fillRect t="-6557" r="-33333" b="-13115"/>
                </a:stretch>
              </a:blipFill>
            </p:spPr>
            <p:txBody>
              <a:bodyPr/>
              <a:lstStyle/>
              <a:p>
                <a:r>
                  <a:rPr lang="en-US">
                    <a:noFill/>
                  </a:rPr>
                  <a:t> </a:t>
                </a:r>
              </a:p>
            </p:txBody>
          </p:sp>
        </mc:Fallback>
      </mc:AlternateContent>
    </p:spTree>
    <p:extLst>
      <p:ext uri="{BB962C8B-B14F-4D97-AF65-F5344CB8AC3E}">
        <p14:creationId xmlns:p14="http://schemas.microsoft.com/office/powerpoint/2010/main" val="4040218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Variant RNN architectures</a:t>
            </a:r>
          </a:p>
        </p:txBody>
      </p:sp>
      <p:sp>
        <p:nvSpPr>
          <p:cNvPr id="3" name="Content Placeholder 2"/>
          <p:cNvSpPr>
            <a:spLocks noGrp="1"/>
          </p:cNvSpPr>
          <p:nvPr>
            <p:ph idx="1"/>
          </p:nvPr>
        </p:nvSpPr>
        <p:spPr/>
        <p:txBody>
          <a:bodyPr/>
          <a:lstStyle/>
          <a:p>
            <a:pPr marL="0" indent="0" fontAlgn="base">
              <a:buNone/>
            </a:pPr>
            <a:r>
              <a:rPr lang="en-IN" b="1" dirty="0"/>
              <a:t>Bidirectional recurrent neural networks (BRNN): </a:t>
            </a:r>
          </a:p>
          <a:p>
            <a:pPr fontAlgn="base"/>
            <a:r>
              <a:rPr lang="en-IN" dirty="0"/>
              <a:t>These are a variant network architecture of RNNs. </a:t>
            </a:r>
          </a:p>
          <a:p>
            <a:pPr fontAlgn="base"/>
            <a:r>
              <a:rPr lang="en-IN" dirty="0"/>
              <a:t>While unidirectional RNNs can only drawn from previous inputs to make predictions about the current state, bidirectional RNNs pull in future data to improve the accuracy of it. </a:t>
            </a:r>
          </a:p>
          <a:p>
            <a:pPr fontAlgn="base"/>
            <a:r>
              <a:rPr lang="en-IN" dirty="0"/>
              <a:t>Consider the example “feeling under the weather”, the model can better predict that the second word in that phrase is “under” if it knew that the last word in the sequence is “weather.”</a:t>
            </a:r>
          </a:p>
          <a:p>
            <a:endParaRPr lang="en-IN" dirty="0"/>
          </a:p>
        </p:txBody>
      </p:sp>
    </p:spTree>
    <p:extLst>
      <p:ext uri="{BB962C8B-B14F-4D97-AF65-F5344CB8AC3E}">
        <p14:creationId xmlns:p14="http://schemas.microsoft.com/office/powerpoint/2010/main" val="642960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Long short-term memory (LSTM)</a:t>
            </a:r>
            <a:r>
              <a:rPr lang="en-IN"/>
              <a:t>: </a:t>
            </a:r>
          </a:p>
        </p:txBody>
      </p:sp>
      <p:sp>
        <p:nvSpPr>
          <p:cNvPr id="3" name="Content Placeholder 2"/>
          <p:cNvSpPr>
            <a:spLocks noGrp="1"/>
          </p:cNvSpPr>
          <p:nvPr>
            <p:ph idx="1"/>
          </p:nvPr>
        </p:nvSpPr>
        <p:spPr/>
        <p:txBody>
          <a:bodyPr/>
          <a:lstStyle/>
          <a:p>
            <a:r>
              <a:rPr lang="en-IN" dirty="0"/>
              <a:t>This is a popular RNN architecture, which was introduced by Sepp </a:t>
            </a:r>
            <a:r>
              <a:rPr lang="en-IN" dirty="0" err="1"/>
              <a:t>Hochreiter</a:t>
            </a:r>
            <a:r>
              <a:rPr lang="en-IN" dirty="0"/>
              <a:t> and Juergen </a:t>
            </a:r>
            <a:r>
              <a:rPr lang="en-IN" dirty="0" err="1"/>
              <a:t>Schmidhuber</a:t>
            </a:r>
            <a:r>
              <a:rPr lang="en-IN" dirty="0"/>
              <a:t> as a solution to vanishing gradient problem. In their paper, they work to address the problem of long-term dependencies. That is, if the previous state that is influencing the current prediction is not in the recent past, the RNN model may not be able to accurately predict the current state. </a:t>
            </a:r>
          </a:p>
        </p:txBody>
      </p:sp>
    </p:spTree>
    <p:extLst>
      <p:ext uri="{BB962C8B-B14F-4D97-AF65-F5344CB8AC3E}">
        <p14:creationId xmlns:p14="http://schemas.microsoft.com/office/powerpoint/2010/main" val="739870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buNone/>
            </a:pPr>
            <a:r>
              <a:rPr lang="en-IN" dirty="0"/>
              <a:t>Example </a:t>
            </a:r>
          </a:p>
          <a:p>
            <a:r>
              <a:rPr lang="en-IN" dirty="0"/>
              <a:t>“Alice is allergic to nuts. She can’t eat </a:t>
            </a:r>
            <a:r>
              <a:rPr lang="en-IN" i="1" dirty="0"/>
              <a:t>peanut butter</a:t>
            </a:r>
            <a:r>
              <a:rPr lang="en-IN" dirty="0"/>
              <a:t>.”</a:t>
            </a:r>
          </a:p>
          <a:p>
            <a:r>
              <a:rPr lang="en-IN" dirty="0"/>
              <a:t> The context of a nut allergy can help us anticipate that the food that cannot be eaten contains nuts.</a:t>
            </a:r>
          </a:p>
          <a:p>
            <a:r>
              <a:rPr lang="en-IN" dirty="0"/>
              <a:t> However, if that context was a few sentences prior, then it would make it difficult, or even impossible, for the RNN to connect the information. </a:t>
            </a:r>
          </a:p>
          <a:p>
            <a:r>
              <a:rPr lang="en-IN" dirty="0"/>
              <a:t>To remedy this, LSTMs have “cells” in the hidden layers of the neural network, which have three gates–an input gate, an output gate, and a forget gate. </a:t>
            </a:r>
          </a:p>
          <a:p>
            <a:r>
              <a:rPr lang="en-IN" dirty="0"/>
              <a:t>These gates control the flow of information which is needed to predict the output in the network.  </a:t>
            </a:r>
          </a:p>
          <a:p>
            <a:r>
              <a:rPr lang="en-IN" dirty="0"/>
              <a:t>For example, if gender pronouns, such as “she”, was repeated multiple times in prior sentences, you may exclude that from the cell state.</a:t>
            </a:r>
          </a:p>
          <a:p>
            <a:endParaRPr lang="en-IN" dirty="0"/>
          </a:p>
        </p:txBody>
      </p:sp>
    </p:spTree>
    <p:extLst>
      <p:ext uri="{BB962C8B-B14F-4D97-AF65-F5344CB8AC3E}">
        <p14:creationId xmlns:p14="http://schemas.microsoft.com/office/powerpoint/2010/main" val="2484676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fontAlgn="base">
              <a:buNone/>
            </a:pPr>
            <a:r>
              <a:rPr lang="en-IN" b="1" dirty="0"/>
              <a:t>Gated recurrent units (GRUs): </a:t>
            </a:r>
          </a:p>
          <a:p>
            <a:pPr fontAlgn="base"/>
            <a:r>
              <a:rPr lang="en-IN" dirty="0"/>
              <a:t>This RNN variant is similar the LSTMs as it also works to address the short-term memory problem of RNN models. </a:t>
            </a:r>
          </a:p>
          <a:p>
            <a:pPr fontAlgn="base"/>
            <a:r>
              <a:rPr lang="en-IN" dirty="0"/>
              <a:t>Instead of using a “cell state” regulate information, it uses hidden states, and instead of three gates, it </a:t>
            </a:r>
            <a:r>
              <a:rPr lang="en-IN" dirty="0">
                <a:highlight>
                  <a:srgbClr val="FFFF00"/>
                </a:highlight>
              </a:rPr>
              <a:t>has two—a reset gate and an update gate. </a:t>
            </a:r>
          </a:p>
          <a:p>
            <a:pPr fontAlgn="base"/>
            <a:r>
              <a:rPr lang="en-IN" dirty="0"/>
              <a:t>Similar to the gates within LSTMs, the reset and update gates control how much and which information to retain.</a:t>
            </a:r>
          </a:p>
          <a:p>
            <a:endParaRPr lang="en-IN" dirty="0"/>
          </a:p>
          <a:p>
            <a:endParaRPr lang="en-IN" dirty="0"/>
          </a:p>
        </p:txBody>
      </p:sp>
    </p:spTree>
    <p:extLst>
      <p:ext uri="{BB962C8B-B14F-4D97-AF65-F5344CB8AC3E}">
        <p14:creationId xmlns:p14="http://schemas.microsoft.com/office/powerpoint/2010/main" val="347892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2025</Words>
  <Application>Microsoft Office PowerPoint</Application>
  <PresentationFormat>Widescreen</PresentationFormat>
  <Paragraphs>124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Cambria Math</vt:lpstr>
      <vt:lpstr>Wingdings</vt:lpstr>
      <vt:lpstr>Office Theme</vt:lpstr>
      <vt:lpstr>Recurrent Neural Networks</vt:lpstr>
      <vt:lpstr>Recurrent Neural Networks</vt:lpstr>
      <vt:lpstr>What are recurrent neural networks?</vt:lpstr>
      <vt:lpstr>Real-life Sequence Learning Applications</vt:lpstr>
      <vt:lpstr>PowerPoint Presentation</vt:lpstr>
      <vt:lpstr>Recurrent Neural Networks</vt:lpstr>
      <vt:lpstr>PowerPoint Presentation</vt:lpstr>
      <vt:lpstr>PowerPoint Presentation</vt:lpstr>
      <vt:lpstr>PowerPoint Presentation</vt:lpstr>
      <vt:lpstr>PowerPoint Presentation</vt:lpstr>
      <vt:lpstr>Unrolling/Unfolding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Recurrent Neural Networks</vt:lpstr>
      <vt:lpstr>PowerPoint Presentation</vt:lpstr>
      <vt:lpstr>Exploding and Vanishing Gradients</vt:lpstr>
      <vt:lpstr>Exploding and Vanishing Gradients</vt:lpstr>
      <vt:lpstr>Variant RNN architectures</vt:lpstr>
      <vt:lpstr>Long short-term memory (LSTM):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Recurrent Neural Networks</dc:title>
  <dc:creator>MSB</dc:creator>
  <cp:lastModifiedBy>Bunni Ranadeesh</cp:lastModifiedBy>
  <cp:revision>27</cp:revision>
  <dcterms:created xsi:type="dcterms:W3CDTF">2023-11-30T18:10:21Z</dcterms:created>
  <dcterms:modified xsi:type="dcterms:W3CDTF">2025-10-15T08:22:32Z</dcterms:modified>
</cp:coreProperties>
</file>