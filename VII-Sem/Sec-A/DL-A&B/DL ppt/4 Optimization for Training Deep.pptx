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5" r:id="rId12"/>
    <p:sldId id="267" r:id="rId13"/>
    <p:sldId id="293" r:id="rId14"/>
    <p:sldId id="268" r:id="rId15"/>
    <p:sldId id="269" r:id="rId16"/>
    <p:sldId id="270" r:id="rId17"/>
    <p:sldId id="294"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98" d="100"/>
          <a:sy n="98" d="100"/>
        </p:scale>
        <p:origin x="110"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unni Ranadeesh" userId="03c1ed1ded996da4" providerId="LiveId" clId="{FCA12F79-17CC-4CC3-9E9F-1A8CDEED8159}"/>
    <pc:docChg chg="modSld">
      <pc:chgData name="Bunni Ranadeesh" userId="03c1ed1ded996da4" providerId="LiveId" clId="{FCA12F79-17CC-4CC3-9E9F-1A8CDEED8159}" dt="2025-08-20T05:56:02.872" v="5" actId="13926"/>
      <pc:docMkLst>
        <pc:docMk/>
      </pc:docMkLst>
      <pc:sldChg chg="modSp mod">
        <pc:chgData name="Bunni Ranadeesh" userId="03c1ed1ded996da4" providerId="LiveId" clId="{FCA12F79-17CC-4CC3-9E9F-1A8CDEED8159}" dt="2025-08-20T05:53:16.256" v="1" actId="13926"/>
        <pc:sldMkLst>
          <pc:docMk/>
          <pc:sldMk cId="3705433670" sldId="282"/>
        </pc:sldMkLst>
        <pc:spChg chg="mod">
          <ac:chgData name="Bunni Ranadeesh" userId="03c1ed1ded996da4" providerId="LiveId" clId="{FCA12F79-17CC-4CC3-9E9F-1A8CDEED8159}" dt="2025-08-20T05:53:16.256" v="1" actId="13926"/>
          <ac:spMkLst>
            <pc:docMk/>
            <pc:sldMk cId="3705433670" sldId="282"/>
            <ac:spMk id="3" creationId="{00000000-0000-0000-0000-000000000000}"/>
          </ac:spMkLst>
        </pc:spChg>
      </pc:sldChg>
      <pc:sldChg chg="modSp mod">
        <pc:chgData name="Bunni Ranadeesh" userId="03c1ed1ded996da4" providerId="LiveId" clId="{FCA12F79-17CC-4CC3-9E9F-1A8CDEED8159}" dt="2025-08-20T05:56:02.872" v="5" actId="13926"/>
        <pc:sldMkLst>
          <pc:docMk/>
          <pc:sldMk cId="1880543418" sldId="286"/>
        </pc:sldMkLst>
        <pc:spChg chg="mod">
          <ac:chgData name="Bunni Ranadeesh" userId="03c1ed1ded996da4" providerId="LiveId" clId="{FCA12F79-17CC-4CC3-9E9F-1A8CDEED8159}" dt="2025-08-20T05:56:02.872" v="5" actId="13926"/>
          <ac:spMkLst>
            <pc:docMk/>
            <pc:sldMk cId="1880543418" sldId="286"/>
            <ac:spMk id="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2C920713-C625-4148-82CA-9CFB131C1091}" type="datetimeFigureOut">
              <a:rPr lang="en-IN" smtClean="0"/>
              <a:t>20-08-2025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DC7760D-6D46-4402-9EB6-32783DA2A60F}" type="slidenum">
              <a:rPr lang="en-IN" smtClean="0"/>
              <a:t>‹#›</a:t>
            </a:fld>
            <a:endParaRPr lang="en-IN"/>
          </a:p>
        </p:txBody>
      </p:sp>
    </p:spTree>
    <p:extLst>
      <p:ext uri="{BB962C8B-B14F-4D97-AF65-F5344CB8AC3E}">
        <p14:creationId xmlns:p14="http://schemas.microsoft.com/office/powerpoint/2010/main" val="23457775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2C920713-C625-4148-82CA-9CFB131C1091}" type="datetimeFigureOut">
              <a:rPr lang="en-IN" smtClean="0"/>
              <a:t>20-08-2025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DC7760D-6D46-4402-9EB6-32783DA2A60F}" type="slidenum">
              <a:rPr lang="en-IN" smtClean="0"/>
              <a:t>‹#›</a:t>
            </a:fld>
            <a:endParaRPr lang="en-IN"/>
          </a:p>
        </p:txBody>
      </p:sp>
    </p:spTree>
    <p:extLst>
      <p:ext uri="{BB962C8B-B14F-4D97-AF65-F5344CB8AC3E}">
        <p14:creationId xmlns:p14="http://schemas.microsoft.com/office/powerpoint/2010/main" val="17911415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C920713-C625-4148-82CA-9CFB131C1091}" type="datetimeFigureOut">
              <a:rPr lang="en-IN" smtClean="0"/>
              <a:t>20-08-2025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DC7760D-6D46-4402-9EB6-32783DA2A60F}" type="slidenum">
              <a:rPr lang="en-IN" smtClean="0"/>
              <a:t>‹#›</a:t>
            </a:fld>
            <a:endParaRPr lang="en-IN"/>
          </a:p>
        </p:txBody>
      </p:sp>
    </p:spTree>
    <p:extLst>
      <p:ext uri="{BB962C8B-B14F-4D97-AF65-F5344CB8AC3E}">
        <p14:creationId xmlns:p14="http://schemas.microsoft.com/office/powerpoint/2010/main" val="21173761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2C920713-C625-4148-82CA-9CFB131C1091}" type="datetimeFigureOut">
              <a:rPr lang="en-IN" smtClean="0"/>
              <a:t>20-08-2025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DC7760D-6D46-4402-9EB6-32783DA2A60F}" type="slidenum">
              <a:rPr lang="en-IN" smtClean="0"/>
              <a:t>‹#›</a:t>
            </a:fld>
            <a:endParaRPr lang="en-IN"/>
          </a:p>
        </p:txBody>
      </p:sp>
    </p:spTree>
    <p:extLst>
      <p:ext uri="{BB962C8B-B14F-4D97-AF65-F5344CB8AC3E}">
        <p14:creationId xmlns:p14="http://schemas.microsoft.com/office/powerpoint/2010/main" val="23015345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2C920713-C625-4148-82CA-9CFB131C1091}" type="datetimeFigureOut">
              <a:rPr lang="en-IN" smtClean="0"/>
              <a:t>20-08-2025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DC7760D-6D46-4402-9EB6-32783DA2A60F}" type="slidenum">
              <a:rPr lang="en-IN" smtClean="0"/>
              <a:t>‹#›</a:t>
            </a:fld>
            <a:endParaRPr lang="en-IN"/>
          </a:p>
        </p:txBody>
      </p:sp>
    </p:spTree>
    <p:extLst>
      <p:ext uri="{BB962C8B-B14F-4D97-AF65-F5344CB8AC3E}">
        <p14:creationId xmlns:p14="http://schemas.microsoft.com/office/powerpoint/2010/main" val="15392434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2C920713-C625-4148-82CA-9CFB131C1091}" type="datetimeFigureOut">
              <a:rPr lang="en-IN" smtClean="0"/>
              <a:t>20-08-2025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DC7760D-6D46-4402-9EB6-32783DA2A60F}" type="slidenum">
              <a:rPr lang="en-IN" smtClean="0"/>
              <a:t>‹#›</a:t>
            </a:fld>
            <a:endParaRPr lang="en-IN"/>
          </a:p>
        </p:txBody>
      </p:sp>
    </p:spTree>
    <p:extLst>
      <p:ext uri="{BB962C8B-B14F-4D97-AF65-F5344CB8AC3E}">
        <p14:creationId xmlns:p14="http://schemas.microsoft.com/office/powerpoint/2010/main" val="27026613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920713-C625-4148-82CA-9CFB131C1091}" type="datetimeFigureOut">
              <a:rPr lang="en-IN" smtClean="0"/>
              <a:t>20-08-2025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DC7760D-6D46-4402-9EB6-32783DA2A60F}" type="slidenum">
              <a:rPr lang="en-IN" smtClean="0"/>
              <a:t>‹#›</a:t>
            </a:fld>
            <a:endParaRPr lang="en-IN"/>
          </a:p>
        </p:txBody>
      </p:sp>
    </p:spTree>
    <p:extLst>
      <p:ext uri="{BB962C8B-B14F-4D97-AF65-F5344CB8AC3E}">
        <p14:creationId xmlns:p14="http://schemas.microsoft.com/office/powerpoint/2010/main" val="40429723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C920713-C625-4148-82CA-9CFB131C1091}" type="datetimeFigureOut">
              <a:rPr lang="en-IN" smtClean="0"/>
              <a:t>20-08-2025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DC7760D-6D46-4402-9EB6-32783DA2A60F}" type="slidenum">
              <a:rPr lang="en-IN" smtClean="0"/>
              <a:t>‹#›</a:t>
            </a:fld>
            <a:endParaRPr lang="en-IN"/>
          </a:p>
        </p:txBody>
      </p:sp>
    </p:spTree>
    <p:extLst>
      <p:ext uri="{BB962C8B-B14F-4D97-AF65-F5344CB8AC3E}">
        <p14:creationId xmlns:p14="http://schemas.microsoft.com/office/powerpoint/2010/main" val="13793801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C920713-C625-4148-82CA-9CFB131C1091}" type="datetimeFigureOut">
              <a:rPr lang="en-IN" smtClean="0"/>
              <a:t>20-08-2025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DC7760D-6D46-4402-9EB6-32783DA2A60F}" type="slidenum">
              <a:rPr lang="en-IN" smtClean="0"/>
              <a:t>‹#›</a:t>
            </a:fld>
            <a:endParaRPr lang="en-IN"/>
          </a:p>
        </p:txBody>
      </p:sp>
    </p:spTree>
    <p:extLst>
      <p:ext uri="{BB962C8B-B14F-4D97-AF65-F5344CB8AC3E}">
        <p14:creationId xmlns:p14="http://schemas.microsoft.com/office/powerpoint/2010/main" val="23698315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2C920713-C625-4148-82CA-9CFB131C1091}" type="datetimeFigureOut">
              <a:rPr lang="en-IN" smtClean="0"/>
              <a:t>20-08-2025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DC7760D-6D46-4402-9EB6-32783DA2A60F}" type="slidenum">
              <a:rPr lang="en-IN" smtClean="0"/>
              <a:t>‹#›</a:t>
            </a:fld>
            <a:endParaRPr lang="en-IN"/>
          </a:p>
        </p:txBody>
      </p:sp>
    </p:spTree>
    <p:extLst>
      <p:ext uri="{BB962C8B-B14F-4D97-AF65-F5344CB8AC3E}">
        <p14:creationId xmlns:p14="http://schemas.microsoft.com/office/powerpoint/2010/main" val="36541989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2C920713-C625-4148-82CA-9CFB131C1091}" type="datetimeFigureOut">
              <a:rPr lang="en-IN" smtClean="0"/>
              <a:t>20-08-2025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DC7760D-6D46-4402-9EB6-32783DA2A60F}" type="slidenum">
              <a:rPr lang="en-IN" smtClean="0"/>
              <a:t>‹#›</a:t>
            </a:fld>
            <a:endParaRPr lang="en-IN"/>
          </a:p>
        </p:txBody>
      </p:sp>
    </p:spTree>
    <p:extLst>
      <p:ext uri="{BB962C8B-B14F-4D97-AF65-F5344CB8AC3E}">
        <p14:creationId xmlns:p14="http://schemas.microsoft.com/office/powerpoint/2010/main" val="4726878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C920713-C625-4148-82CA-9CFB131C1091}" type="datetimeFigureOut">
              <a:rPr lang="en-IN" smtClean="0"/>
              <a:t>20-08-2025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C7760D-6D46-4402-9EB6-32783DA2A60F}" type="slidenum">
              <a:rPr lang="en-IN" smtClean="0"/>
              <a:t>‹#›</a:t>
            </a:fld>
            <a:endParaRPr lang="en-IN"/>
          </a:p>
        </p:txBody>
      </p:sp>
    </p:spTree>
    <p:extLst>
      <p:ext uri="{BB962C8B-B14F-4D97-AF65-F5344CB8AC3E}">
        <p14:creationId xmlns:p14="http://schemas.microsoft.com/office/powerpoint/2010/main" val="39794891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IN" dirty="0"/>
              <a:t>Optimization for Training Deep</a:t>
            </a:r>
            <a:br>
              <a:rPr lang="en-IN" dirty="0"/>
            </a:br>
            <a:r>
              <a:rPr lang="en-IN" dirty="0"/>
              <a:t>Models</a:t>
            </a:r>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6830203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Optimization for Deep Learning</a:t>
            </a:r>
          </a:p>
        </p:txBody>
      </p:sp>
      <p:sp>
        <p:nvSpPr>
          <p:cNvPr id="3" name="Content Placeholder 2"/>
          <p:cNvSpPr>
            <a:spLocks noGrp="1"/>
          </p:cNvSpPr>
          <p:nvPr>
            <p:ph idx="1"/>
          </p:nvPr>
        </p:nvSpPr>
        <p:spPr/>
        <p:txBody>
          <a:bodyPr>
            <a:normAutofit/>
          </a:bodyPr>
          <a:lstStyle/>
          <a:p>
            <a:r>
              <a:rPr lang="en-IN" dirty="0"/>
              <a:t>Deep learning algorithms involve optimization in many contexts.</a:t>
            </a:r>
          </a:p>
          <a:p>
            <a:r>
              <a:rPr lang="en-IN" dirty="0"/>
              <a:t>Training a complicated deep learning model, on the other hand, might take hours, days, or even weeks. </a:t>
            </a:r>
          </a:p>
          <a:p>
            <a:r>
              <a:rPr lang="en-IN" dirty="0"/>
              <a:t>The training efficiency of the model is directly influenced by the optimization algorithm's performance.</a:t>
            </a:r>
          </a:p>
        </p:txBody>
      </p:sp>
    </p:spTree>
    <p:extLst>
      <p:ext uri="{BB962C8B-B14F-4D97-AF65-F5344CB8AC3E}">
        <p14:creationId xmlns:p14="http://schemas.microsoft.com/office/powerpoint/2010/main" val="22220434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How Learning Differs from Pure Optimization</a:t>
            </a:r>
          </a:p>
        </p:txBody>
      </p:sp>
      <p:sp>
        <p:nvSpPr>
          <p:cNvPr id="3" name="Content Placeholder 2"/>
          <p:cNvSpPr>
            <a:spLocks noGrp="1"/>
          </p:cNvSpPr>
          <p:nvPr>
            <p:ph idx="1"/>
          </p:nvPr>
        </p:nvSpPr>
        <p:spPr/>
        <p:txBody>
          <a:bodyPr>
            <a:normAutofit/>
          </a:bodyPr>
          <a:lstStyle/>
          <a:p>
            <a:r>
              <a:rPr lang="en-IN" dirty="0"/>
              <a:t>The Optimization is more focused on minimizing an objective, whereas the Learning is more concerned with finding a good model given a finite quantity of data. </a:t>
            </a:r>
          </a:p>
          <a:p>
            <a:pPr lvl="1"/>
            <a:r>
              <a:rPr lang="en-IN" dirty="0"/>
              <a:t>i.e. The primary difference between machine learning and pure optimization is that machine learning often acts indirectly.</a:t>
            </a:r>
          </a:p>
          <a:p>
            <a:pPr marL="0" indent="0">
              <a:buNone/>
            </a:pPr>
            <a:r>
              <a:rPr lang="en-IN" dirty="0"/>
              <a:t>Typically the ML/DL learning set up is as follows:</a:t>
            </a:r>
          </a:p>
          <a:p>
            <a:r>
              <a:rPr lang="en-IN" dirty="0"/>
              <a:t> Goal: increase some performance metric P</a:t>
            </a:r>
          </a:p>
          <a:p>
            <a:r>
              <a:rPr lang="en-IN" dirty="0"/>
              <a:t> Method: minimize some J(</a:t>
            </a:r>
            <a:r>
              <a:rPr lang="el-GR" dirty="0"/>
              <a:t>θ</a:t>
            </a:r>
            <a:r>
              <a:rPr lang="en-IN" dirty="0"/>
              <a:t>) with hopes of optimizing P</a:t>
            </a:r>
          </a:p>
          <a:p>
            <a:r>
              <a:rPr lang="en-IN" dirty="0"/>
              <a:t>Pure optimization is often just concerned with optimizing J(</a:t>
            </a:r>
            <a:r>
              <a:rPr lang="el-GR" dirty="0"/>
              <a:t>θ</a:t>
            </a:r>
            <a:r>
              <a:rPr lang="en-IN" dirty="0"/>
              <a:t>) directly</a:t>
            </a:r>
          </a:p>
          <a:p>
            <a:endParaRPr lang="en-IN" dirty="0"/>
          </a:p>
        </p:txBody>
      </p:sp>
    </p:spTree>
    <p:extLst>
      <p:ext uri="{BB962C8B-B14F-4D97-AF65-F5344CB8AC3E}">
        <p14:creationId xmlns:p14="http://schemas.microsoft.com/office/powerpoint/2010/main" val="39253995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Training error and generalization error, for example, vary in that the optimization algorithm's objective function is usually a loss function based on the training dataset, and the purpose of optimization is to minimize training error. </a:t>
            </a:r>
          </a:p>
          <a:p>
            <a:r>
              <a:rPr lang="en-IN" dirty="0"/>
              <a:t>Deep learning or statistical inference aims to decrease generalization error. In order to achieve the latter, we must be aware of overfitting as well as use the optimization procedure to lower the training error.</a:t>
            </a:r>
          </a:p>
          <a:p>
            <a:endParaRPr lang="en-IN" dirty="0"/>
          </a:p>
        </p:txBody>
      </p:sp>
    </p:spTree>
    <p:extLst>
      <p:ext uri="{BB962C8B-B14F-4D97-AF65-F5344CB8AC3E}">
        <p14:creationId xmlns:p14="http://schemas.microsoft.com/office/powerpoint/2010/main" val="35335837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023728"/>
          </a:xfrm>
        </p:spPr>
        <p:txBody>
          <a:bodyPr/>
          <a:lstStyle/>
          <a:p>
            <a:r>
              <a:rPr lang="en-IN" b="1" dirty="0"/>
              <a:t>Empirical Risk Minimization</a:t>
            </a:r>
          </a:p>
        </p:txBody>
      </p:sp>
      <p:sp>
        <p:nvSpPr>
          <p:cNvPr id="3" name="Content Placeholder 2"/>
          <p:cNvSpPr>
            <a:spLocks noGrp="1"/>
          </p:cNvSpPr>
          <p:nvPr>
            <p:ph idx="1"/>
          </p:nvPr>
        </p:nvSpPr>
        <p:spPr>
          <a:xfrm>
            <a:off x="838200" y="1604513"/>
            <a:ext cx="10515600" cy="4572450"/>
          </a:xfrm>
        </p:spPr>
        <p:txBody>
          <a:bodyPr>
            <a:normAutofit fontScale="85000" lnSpcReduction="20000"/>
          </a:bodyPr>
          <a:lstStyle/>
          <a:p>
            <a:pPr algn="l">
              <a:lnSpc>
                <a:spcPct val="110000"/>
              </a:lnSpc>
            </a:pPr>
            <a:r>
              <a:rPr lang="en-US" dirty="0"/>
              <a:t>The goal of a machine learning algorithm is to reduce the expected generalization </a:t>
            </a:r>
            <a:r>
              <a:rPr lang="en-IN" dirty="0"/>
              <a:t>error. </a:t>
            </a:r>
            <a:r>
              <a:rPr lang="en-US" dirty="0"/>
              <a:t>This quantity is known as the </a:t>
            </a:r>
            <a:r>
              <a:rPr lang="en-US" b="1" dirty="0"/>
              <a:t>risk.</a:t>
            </a:r>
            <a:endParaRPr lang="en-IN" b="1" dirty="0"/>
          </a:p>
          <a:p>
            <a:pPr>
              <a:lnSpc>
                <a:spcPct val="110000"/>
              </a:lnSpc>
            </a:pPr>
            <a:r>
              <a:rPr lang="en-IN" dirty="0"/>
              <a:t>The simplest way to convert a machine learning problem back into an optimization problem is to minimize the expected loss on the training set.</a:t>
            </a:r>
          </a:p>
          <a:p>
            <a:pPr>
              <a:lnSpc>
                <a:spcPct val="110000"/>
              </a:lnSpc>
            </a:pPr>
            <a:r>
              <a:rPr lang="en-IN" dirty="0"/>
              <a:t>This means replacing the true distribution </a:t>
            </a:r>
            <a:r>
              <a:rPr lang="en-IN" i="1" dirty="0"/>
              <a:t>p</a:t>
            </a:r>
            <a:r>
              <a:rPr lang="en-IN" dirty="0"/>
              <a:t>(</a:t>
            </a:r>
            <a:r>
              <a:rPr lang="en-IN" i="1" dirty="0"/>
              <a:t>x, y</a:t>
            </a:r>
            <a:r>
              <a:rPr lang="en-IN" dirty="0"/>
              <a:t>) with the empirical distribution ˆ</a:t>
            </a:r>
            <a:r>
              <a:rPr lang="en-IN" i="1" dirty="0"/>
              <a:t>p</a:t>
            </a:r>
            <a:r>
              <a:rPr lang="en-IN" dirty="0"/>
              <a:t>(</a:t>
            </a:r>
            <a:r>
              <a:rPr lang="en-IN" i="1" dirty="0"/>
              <a:t>x, y</a:t>
            </a:r>
            <a:r>
              <a:rPr lang="en-IN" dirty="0"/>
              <a:t>) defined by the training set. We now minimize the </a:t>
            </a:r>
            <a:r>
              <a:rPr lang="en-IN" i="1" dirty="0"/>
              <a:t>empirical risk</a:t>
            </a:r>
          </a:p>
          <a:p>
            <a:pPr marL="0" indent="0">
              <a:lnSpc>
                <a:spcPct val="110000"/>
              </a:lnSpc>
              <a:buNone/>
            </a:pPr>
            <a:r>
              <a:rPr lang="en-IN" i="1" dirty="0"/>
              <a:t>	</a:t>
            </a:r>
            <a:endParaRPr lang="en-IN" dirty="0"/>
          </a:p>
          <a:p>
            <a:pPr marL="0" indent="0">
              <a:lnSpc>
                <a:spcPct val="110000"/>
              </a:lnSpc>
              <a:buNone/>
            </a:pPr>
            <a:endParaRPr lang="en-IN" i="1" dirty="0"/>
          </a:p>
          <a:p>
            <a:pPr>
              <a:lnSpc>
                <a:spcPct val="110000"/>
              </a:lnSpc>
            </a:pPr>
            <a:r>
              <a:rPr lang="en-IN" dirty="0"/>
              <a:t>where </a:t>
            </a:r>
            <a:r>
              <a:rPr lang="en-IN" i="1" dirty="0"/>
              <a:t>L </a:t>
            </a:r>
            <a:r>
              <a:rPr lang="en-IN" dirty="0"/>
              <a:t>is the per-example loss function, </a:t>
            </a:r>
            <a:r>
              <a:rPr lang="en-IN" i="1" dirty="0"/>
              <a:t>f </a:t>
            </a:r>
            <a:r>
              <a:rPr lang="en-IN" dirty="0"/>
              <a:t>(</a:t>
            </a:r>
            <a:r>
              <a:rPr lang="en-IN" i="1" dirty="0"/>
              <a:t>x</a:t>
            </a:r>
            <a:r>
              <a:rPr lang="en-IN" dirty="0"/>
              <a:t>;</a:t>
            </a:r>
            <a:r>
              <a:rPr lang="el-GR" dirty="0"/>
              <a:t> θ</a:t>
            </a:r>
            <a:r>
              <a:rPr lang="en-IN" dirty="0"/>
              <a:t>) is the predicted output when the input is </a:t>
            </a:r>
            <a:r>
              <a:rPr lang="en-IN" i="1" dirty="0"/>
              <a:t>x</a:t>
            </a:r>
            <a:r>
              <a:rPr lang="en-IN" dirty="0"/>
              <a:t>, ˆ</a:t>
            </a:r>
            <a:r>
              <a:rPr lang="en-IN" i="1" dirty="0" err="1"/>
              <a:t>p</a:t>
            </a:r>
            <a:r>
              <a:rPr lang="en-IN" baseline="-25000" dirty="0" err="1"/>
              <a:t>data</a:t>
            </a:r>
            <a:r>
              <a:rPr lang="en-IN" dirty="0"/>
              <a:t> is the empirical distribution, </a:t>
            </a:r>
            <a:r>
              <a:rPr lang="en-IN" i="1" dirty="0"/>
              <a:t>m </a:t>
            </a:r>
            <a:r>
              <a:rPr lang="en-IN" dirty="0"/>
              <a:t>is the number of training examples</a:t>
            </a:r>
          </a:p>
        </p:txBody>
      </p:sp>
      <p:pic>
        <p:nvPicPr>
          <p:cNvPr id="5" name="Picture 4">
            <a:extLst>
              <a:ext uri="{FF2B5EF4-FFF2-40B4-BE49-F238E27FC236}">
                <a16:creationId xmlns:a16="http://schemas.microsoft.com/office/drawing/2014/main" id="{8FE65B06-7CAC-3871-5DBF-CB0C447F2AAF}"/>
              </a:ext>
            </a:extLst>
          </p:cNvPr>
          <p:cNvPicPr>
            <a:picLocks noChangeAspect="1"/>
          </p:cNvPicPr>
          <p:nvPr/>
        </p:nvPicPr>
        <p:blipFill>
          <a:blip r:embed="rId2"/>
          <a:stretch>
            <a:fillRect/>
          </a:stretch>
        </p:blipFill>
        <p:spPr>
          <a:xfrm>
            <a:off x="2584316" y="3856231"/>
            <a:ext cx="7023368" cy="1086704"/>
          </a:xfrm>
          <a:prstGeom prst="rect">
            <a:avLst/>
          </a:prstGeom>
        </p:spPr>
      </p:pic>
    </p:spTree>
    <p:extLst>
      <p:ext uri="{BB962C8B-B14F-4D97-AF65-F5344CB8AC3E}">
        <p14:creationId xmlns:p14="http://schemas.microsoft.com/office/powerpoint/2010/main" val="17999662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IN" dirty="0"/>
              <a:t>The training process based on minimizing this average training error is known as </a:t>
            </a:r>
            <a:r>
              <a:rPr lang="en-IN" b="1" dirty="0"/>
              <a:t>empirical risk minimization (ERM)</a:t>
            </a:r>
            <a:r>
              <a:rPr lang="en-IN" dirty="0"/>
              <a:t>. </a:t>
            </a:r>
          </a:p>
          <a:p>
            <a:r>
              <a:rPr lang="en-IN" dirty="0"/>
              <a:t>In this setting, machine learning is still very similar to straightforward optimization.</a:t>
            </a:r>
          </a:p>
          <a:p>
            <a:pPr marL="0" indent="0">
              <a:buNone/>
            </a:pPr>
            <a:r>
              <a:rPr lang="en-IN" dirty="0"/>
              <a:t>Two problems arise with ERM:</a:t>
            </a:r>
          </a:p>
          <a:p>
            <a:pPr marL="0" indent="0">
              <a:buNone/>
            </a:pPr>
            <a:r>
              <a:rPr lang="en-IN" dirty="0"/>
              <a:t>1. Empirical risk is a proxy for true risk, but ERM is prone to overfitting</a:t>
            </a:r>
          </a:p>
          <a:p>
            <a:pPr marL="0" indent="0">
              <a:buNone/>
            </a:pPr>
            <a:r>
              <a:rPr lang="en-IN" dirty="0"/>
              <a:t>2. Many popular loss functions have no useful (or tractable) gradient</a:t>
            </a:r>
          </a:p>
        </p:txBody>
      </p:sp>
    </p:spTree>
    <p:extLst>
      <p:ext uri="{BB962C8B-B14F-4D97-AF65-F5344CB8AC3E}">
        <p14:creationId xmlns:p14="http://schemas.microsoft.com/office/powerpoint/2010/main" val="10513342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Surrogate Loss Functions &amp; Early Stopping</a:t>
            </a:r>
          </a:p>
        </p:txBody>
      </p:sp>
      <p:sp>
        <p:nvSpPr>
          <p:cNvPr id="3" name="Content Placeholder 2"/>
          <p:cNvSpPr>
            <a:spLocks noGrp="1"/>
          </p:cNvSpPr>
          <p:nvPr>
            <p:ph idx="1"/>
          </p:nvPr>
        </p:nvSpPr>
        <p:spPr/>
        <p:txBody>
          <a:bodyPr>
            <a:normAutofit fontScale="92500" lnSpcReduction="10000"/>
          </a:bodyPr>
          <a:lstStyle/>
          <a:p>
            <a:r>
              <a:rPr lang="en-IN" dirty="0"/>
              <a:t>Often exactly minimizing a loss function (e.g., expected 0-1 loss) is intractable. Because of this we often use a proxy, or surrogate loss function, that is easier to minimize. </a:t>
            </a:r>
          </a:p>
          <a:p>
            <a:r>
              <a:rPr lang="en-IN" dirty="0"/>
              <a:t>For example, we can use negative log-likelihood of the correct class as a surrogate for the 0-1 loss. </a:t>
            </a:r>
          </a:p>
          <a:p>
            <a:r>
              <a:rPr lang="en-IN" dirty="0"/>
              <a:t>Negative log likelihood</a:t>
            </a:r>
          </a:p>
          <a:p>
            <a:endParaRPr lang="en-IN" dirty="0"/>
          </a:p>
          <a:p>
            <a:r>
              <a:rPr lang="en-IN" dirty="0"/>
              <a:t>The negative log-likelihood allows the model to estimate the conditional probability of the classes, given the input, and if the model can do that well, then it can pick the classes that yield the least classification error in expectation.</a:t>
            </a:r>
          </a:p>
        </p:txBody>
      </p:sp>
      <p:pic>
        <p:nvPicPr>
          <p:cNvPr id="4" name="Picture 3"/>
          <p:cNvPicPr>
            <a:picLocks noChangeAspect="1"/>
          </p:cNvPicPr>
          <p:nvPr/>
        </p:nvPicPr>
        <p:blipFill>
          <a:blip r:embed="rId2"/>
          <a:stretch>
            <a:fillRect/>
          </a:stretch>
        </p:blipFill>
        <p:spPr>
          <a:xfrm>
            <a:off x="4637560" y="3429000"/>
            <a:ext cx="5998810" cy="1131858"/>
          </a:xfrm>
          <a:prstGeom prst="rect">
            <a:avLst/>
          </a:prstGeom>
        </p:spPr>
      </p:pic>
    </p:spTree>
    <p:extLst>
      <p:ext uri="{BB962C8B-B14F-4D97-AF65-F5344CB8AC3E}">
        <p14:creationId xmlns:p14="http://schemas.microsoft.com/office/powerpoint/2010/main" val="32376113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In some cases, a surrogate loss function actually results in being able to learn more. For example, the test set 0-1 loss often continues to decrease for a long time after the training set 0-1 loss has reached zero, when training using the log-likelihood surrogate.</a:t>
            </a:r>
          </a:p>
          <a:p>
            <a:r>
              <a:rPr lang="en-IN" dirty="0"/>
              <a:t>Another difference between pure and machine learning optimization is that we will often do something like early stopping based on the true underlying loss function. This helps to prevent overfitting and leaves large gradients in the surrogate loss (which in pure optimization you usually leave small gradients in the function).</a:t>
            </a:r>
          </a:p>
          <a:p>
            <a:endParaRPr lang="en-IN" dirty="0"/>
          </a:p>
        </p:txBody>
      </p:sp>
    </p:spTree>
    <p:extLst>
      <p:ext uri="{BB962C8B-B14F-4D97-AF65-F5344CB8AC3E}">
        <p14:creationId xmlns:p14="http://schemas.microsoft.com/office/powerpoint/2010/main" val="22533580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Batch and Mini-batch</a:t>
            </a:r>
          </a:p>
        </p:txBody>
      </p:sp>
      <p:sp>
        <p:nvSpPr>
          <p:cNvPr id="3" name="Content Placeholder 2"/>
          <p:cNvSpPr>
            <a:spLocks noGrp="1"/>
          </p:cNvSpPr>
          <p:nvPr>
            <p:ph idx="1"/>
          </p:nvPr>
        </p:nvSpPr>
        <p:spPr/>
        <p:txBody>
          <a:bodyPr>
            <a:normAutofit/>
          </a:bodyPr>
          <a:lstStyle/>
          <a:p>
            <a:r>
              <a:rPr lang="en-IN" dirty="0"/>
              <a:t>Optimization in machine learning typically computes each  update to the parameters based on an expected value of the cost function estimated using only a subset of the terms of the full cost function.</a:t>
            </a:r>
          </a:p>
          <a:p>
            <a:r>
              <a:rPr lang="en-IN" dirty="0"/>
              <a:t>Deterministic / Batch Gradient Descent uses the whole training set.</a:t>
            </a:r>
          </a:p>
          <a:p>
            <a:r>
              <a:rPr lang="en-IN" dirty="0"/>
              <a:t>Stochastic Gradient Descent is usually defined as using just one training example.</a:t>
            </a:r>
          </a:p>
          <a:p>
            <a:r>
              <a:rPr lang="en-IN" dirty="0" err="1"/>
              <a:t>Minibatch</a:t>
            </a:r>
            <a:r>
              <a:rPr lang="en-IN" dirty="0"/>
              <a:t> / </a:t>
            </a:r>
            <a:r>
              <a:rPr lang="en-IN" dirty="0" err="1"/>
              <a:t>Minibatch</a:t>
            </a:r>
            <a:r>
              <a:rPr lang="en-IN" dirty="0"/>
              <a:t> Stochastic Gradient Descent approach:</a:t>
            </a:r>
          </a:p>
          <a:p>
            <a:pPr lvl="1"/>
            <a:r>
              <a:rPr lang="en-IN" dirty="0"/>
              <a:t>One can relatively cheaply compute an approximation of the gradient by using m &lt; n training examples.</a:t>
            </a:r>
          </a:p>
        </p:txBody>
      </p:sp>
    </p:spTree>
    <p:extLst>
      <p:ext uri="{BB962C8B-B14F-4D97-AF65-F5344CB8AC3E}">
        <p14:creationId xmlns:p14="http://schemas.microsoft.com/office/powerpoint/2010/main" val="41486397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52091"/>
            <a:ext cx="10515600" cy="5624872"/>
          </a:xfrm>
        </p:spPr>
        <p:txBody>
          <a:bodyPr>
            <a:normAutofit lnSpcReduction="10000"/>
          </a:bodyPr>
          <a:lstStyle/>
          <a:p>
            <a:r>
              <a:rPr lang="en-IN" dirty="0"/>
              <a:t>Some algorithms are more sensitive to sampling error than others, either because they use information that is difficult to estimate accurately with few examples, or because they use information in ways that amplifies sampling error</a:t>
            </a:r>
          </a:p>
          <a:p>
            <a:r>
              <a:rPr lang="en-IN" dirty="0"/>
              <a:t>For instance, methods that compute updates based only on the gradient g are usually robust and can handle smaller batch sizes (e.g., 100). </a:t>
            </a:r>
          </a:p>
          <a:p>
            <a:r>
              <a:rPr lang="en-IN" dirty="0"/>
              <a:t>Second-order methods, those that rely on the Hessian H and computing updates like H</a:t>
            </a:r>
            <a:r>
              <a:rPr lang="en-IN" baseline="30000" dirty="0"/>
              <a:t>-1 </a:t>
            </a:r>
            <a:r>
              <a:rPr lang="en-IN" dirty="0"/>
              <a:t>g typically need larger batch sizes like 10,000 to minimize fluctuations in the estimate.</a:t>
            </a:r>
          </a:p>
          <a:p>
            <a:r>
              <a:rPr lang="en-IN" dirty="0"/>
              <a:t>Multiplication by </a:t>
            </a:r>
            <a:r>
              <a:rPr lang="en-IN" i="1" dirty="0"/>
              <a:t>H </a:t>
            </a:r>
            <a:r>
              <a:rPr lang="en-IN" dirty="0"/>
              <a:t>or its inverse amplifies pre-existing errors, in this case, estimation errors in </a:t>
            </a:r>
            <a:r>
              <a:rPr lang="en-IN" i="1" dirty="0"/>
              <a:t>g</a:t>
            </a:r>
            <a:r>
              <a:rPr lang="en-IN" dirty="0"/>
              <a:t>. Very small changes in the estimate of </a:t>
            </a:r>
            <a:r>
              <a:rPr lang="en-IN" i="1" dirty="0"/>
              <a:t>g </a:t>
            </a:r>
            <a:r>
              <a:rPr lang="en-IN" dirty="0"/>
              <a:t>can thus cause large changes in the update H</a:t>
            </a:r>
            <a:r>
              <a:rPr lang="en-IN" baseline="30000" dirty="0"/>
              <a:t>-1 </a:t>
            </a:r>
            <a:r>
              <a:rPr lang="en-IN" i="1" dirty="0"/>
              <a:t>g</a:t>
            </a:r>
            <a:r>
              <a:rPr lang="en-IN" dirty="0"/>
              <a:t>, even if </a:t>
            </a:r>
            <a:r>
              <a:rPr lang="en-IN" i="1" dirty="0"/>
              <a:t>H </a:t>
            </a:r>
            <a:r>
              <a:rPr lang="en-IN" dirty="0"/>
              <a:t>were estimated perfectly.</a:t>
            </a:r>
          </a:p>
        </p:txBody>
      </p:sp>
    </p:spTree>
    <p:extLst>
      <p:ext uri="{BB962C8B-B14F-4D97-AF65-F5344CB8AC3E}">
        <p14:creationId xmlns:p14="http://schemas.microsoft.com/office/powerpoint/2010/main" val="26614042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Challenges in Neural Network Optimization</a:t>
            </a:r>
          </a:p>
        </p:txBody>
      </p:sp>
      <p:sp>
        <p:nvSpPr>
          <p:cNvPr id="3" name="Content Placeholder 2"/>
          <p:cNvSpPr>
            <a:spLocks noGrp="1"/>
          </p:cNvSpPr>
          <p:nvPr>
            <p:ph idx="1"/>
          </p:nvPr>
        </p:nvSpPr>
        <p:spPr/>
        <p:txBody>
          <a:bodyPr>
            <a:normAutofit lnSpcReduction="10000"/>
          </a:bodyPr>
          <a:lstStyle/>
          <a:p>
            <a:r>
              <a:rPr lang="en-IN" dirty="0"/>
              <a:t>Even the shortcut of trying to turn to convex optimization has complications in machine learning. Non-convex optimization is an important problem in deep learning.</a:t>
            </a:r>
          </a:p>
          <a:p>
            <a:pPr marL="0" indent="0">
              <a:buNone/>
            </a:pPr>
            <a:r>
              <a:rPr lang="en-IN" dirty="0"/>
              <a:t>1. Ill Conditioning</a:t>
            </a:r>
          </a:p>
          <a:p>
            <a:r>
              <a:rPr lang="en-IN" dirty="0"/>
              <a:t>One of the most general problems in numerical optimization is the ill-conditioning of the Hessian Matrix H.</a:t>
            </a:r>
          </a:p>
          <a:p>
            <a:r>
              <a:rPr lang="en-IN" dirty="0"/>
              <a:t>This can manifest by getting SGD stuck in the way that even very small steps increase the cost function.</a:t>
            </a:r>
          </a:p>
          <a:p>
            <a:r>
              <a:rPr lang="en-IN" dirty="0"/>
              <a:t>Ill-conditioning becomes a problem, that learning will become very slow despite having a strong gradient.</a:t>
            </a:r>
          </a:p>
        </p:txBody>
      </p:sp>
    </p:spTree>
    <p:extLst>
      <p:ext uri="{BB962C8B-B14F-4D97-AF65-F5344CB8AC3E}">
        <p14:creationId xmlns:p14="http://schemas.microsoft.com/office/powerpoint/2010/main" val="1681944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2. Local Minima</a:t>
            </a:r>
          </a:p>
        </p:txBody>
      </p:sp>
      <p:sp>
        <p:nvSpPr>
          <p:cNvPr id="3" name="Content Placeholder 2"/>
          <p:cNvSpPr>
            <a:spLocks noGrp="1"/>
          </p:cNvSpPr>
          <p:nvPr>
            <p:ph idx="1"/>
          </p:nvPr>
        </p:nvSpPr>
        <p:spPr/>
        <p:txBody>
          <a:bodyPr>
            <a:normAutofit/>
          </a:bodyPr>
          <a:lstStyle/>
          <a:p>
            <a:r>
              <a:rPr lang="en-IN" dirty="0"/>
              <a:t>In the convex case, any local minimum is guaranteed to be a global minimum. For nonconvex optimization functions (and generally for neural networks) there can be an extremely large number of local minima. </a:t>
            </a:r>
          </a:p>
          <a:p>
            <a:r>
              <a:rPr lang="en-IN" dirty="0"/>
              <a:t>In the neural network case in particular, this can seem like an issue because any model with multiple equivalently parameterized latent variables have many local minima. </a:t>
            </a:r>
          </a:p>
          <a:p>
            <a:r>
              <a:rPr lang="en-IN" dirty="0"/>
              <a:t>This is largely because of the model </a:t>
            </a:r>
            <a:r>
              <a:rPr lang="en-IN" dirty="0" err="1"/>
              <a:t>identifiablity</a:t>
            </a:r>
            <a:r>
              <a:rPr lang="en-IN" dirty="0"/>
              <a:t> problem, where a model is defined as being identifiable if a sufficiently large training set can rule out all but one setting of the model’s parameters. </a:t>
            </a:r>
          </a:p>
        </p:txBody>
      </p:sp>
    </p:spTree>
    <p:extLst>
      <p:ext uri="{BB962C8B-B14F-4D97-AF65-F5344CB8AC3E}">
        <p14:creationId xmlns:p14="http://schemas.microsoft.com/office/powerpoint/2010/main" val="32420492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Models with latent variables are often not identifiable because we can obtain equivalent models by exchanging latent variables with each other.</a:t>
            </a:r>
          </a:p>
          <a:p>
            <a:r>
              <a:rPr lang="en-IN" dirty="0"/>
              <a:t>For example, we could take a neural network and modify layer 1 by swapping the incoming weight vector for unit </a:t>
            </a:r>
            <a:r>
              <a:rPr lang="en-IN" i="1" dirty="0" err="1"/>
              <a:t>i</a:t>
            </a:r>
            <a:r>
              <a:rPr lang="en-IN" i="1" dirty="0"/>
              <a:t> </a:t>
            </a:r>
            <a:r>
              <a:rPr lang="en-IN" dirty="0"/>
              <a:t>with the incoming weight vector for unit </a:t>
            </a:r>
            <a:r>
              <a:rPr lang="en-IN" i="1" dirty="0"/>
              <a:t>j </a:t>
            </a:r>
            <a:r>
              <a:rPr lang="en-IN" dirty="0"/>
              <a:t>, then doing the same for the outgoing weight vectors.</a:t>
            </a:r>
          </a:p>
          <a:p>
            <a:r>
              <a:rPr lang="en-IN" dirty="0"/>
              <a:t>This kind of non-</a:t>
            </a:r>
            <a:r>
              <a:rPr lang="en-IN" dirty="0" err="1"/>
              <a:t>identifiability</a:t>
            </a:r>
            <a:r>
              <a:rPr lang="en-IN" dirty="0"/>
              <a:t> is known as </a:t>
            </a:r>
            <a:r>
              <a:rPr lang="en-IN" b="1" dirty="0"/>
              <a:t>weight space symmetry</a:t>
            </a:r>
            <a:endParaRPr lang="en-IN" dirty="0"/>
          </a:p>
          <a:p>
            <a:pPr marL="0" indent="0">
              <a:buNone/>
            </a:pPr>
            <a:endParaRPr lang="en-IN" dirty="0"/>
          </a:p>
        </p:txBody>
      </p:sp>
    </p:spTree>
    <p:extLst>
      <p:ext uri="{BB962C8B-B14F-4D97-AF65-F5344CB8AC3E}">
        <p14:creationId xmlns:p14="http://schemas.microsoft.com/office/powerpoint/2010/main" val="1080666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Local minima more generally are particularly problematic when they have high cost compared to the global minimum. However, in neural networks, it remains an open question how local minima relate to the global minimum. </a:t>
            </a:r>
          </a:p>
          <a:p>
            <a:r>
              <a:rPr lang="en-IN" dirty="0"/>
              <a:t>Researchers largely suspect that these local minima are not a problem, and that most are going to be low cost anyway, which is cheaper to find than the global minimum.</a:t>
            </a:r>
          </a:p>
        </p:txBody>
      </p:sp>
    </p:spTree>
    <p:extLst>
      <p:ext uri="{BB962C8B-B14F-4D97-AF65-F5344CB8AC3E}">
        <p14:creationId xmlns:p14="http://schemas.microsoft.com/office/powerpoint/2010/main" val="34946627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Plateaus, Saddle Points, and Other Flat Regions</a:t>
            </a:r>
            <a:br>
              <a:rPr lang="en-IN" dirty="0"/>
            </a:br>
            <a:endParaRPr lang="en-IN" dirty="0"/>
          </a:p>
        </p:txBody>
      </p:sp>
      <p:sp>
        <p:nvSpPr>
          <p:cNvPr id="3" name="Content Placeholder 2"/>
          <p:cNvSpPr>
            <a:spLocks noGrp="1"/>
          </p:cNvSpPr>
          <p:nvPr>
            <p:ph idx="1"/>
          </p:nvPr>
        </p:nvSpPr>
        <p:spPr/>
        <p:txBody>
          <a:bodyPr/>
          <a:lstStyle/>
          <a:p>
            <a:r>
              <a:rPr lang="en-IN" sz="2800" dirty="0">
                <a:latin typeface="NimbusRomNo9L-Regu"/>
              </a:rPr>
              <a:t>Wide flat regions with both gradient and H equal to zero exist as well, but these are a problem for all numerical optimization algorithms.</a:t>
            </a:r>
            <a:endParaRPr lang="en-IN" sz="2800" dirty="0"/>
          </a:p>
          <a:p>
            <a:pPr marL="0" indent="0">
              <a:buNone/>
            </a:pPr>
            <a:endParaRPr lang="en-IN" dirty="0"/>
          </a:p>
        </p:txBody>
      </p:sp>
      <p:pic>
        <p:nvPicPr>
          <p:cNvPr id="4" name="Picture 3"/>
          <p:cNvPicPr>
            <a:picLocks noChangeAspect="1"/>
          </p:cNvPicPr>
          <p:nvPr/>
        </p:nvPicPr>
        <p:blipFill>
          <a:blip r:embed="rId2"/>
          <a:stretch>
            <a:fillRect/>
          </a:stretch>
        </p:blipFill>
        <p:spPr>
          <a:xfrm>
            <a:off x="2174844" y="2619713"/>
            <a:ext cx="7315200" cy="2265940"/>
          </a:xfrm>
          <a:prstGeom prst="rect">
            <a:avLst/>
          </a:prstGeom>
        </p:spPr>
      </p:pic>
      <p:sp>
        <p:nvSpPr>
          <p:cNvPr id="5" name="TextBox 4">
            <a:extLst>
              <a:ext uri="{FF2B5EF4-FFF2-40B4-BE49-F238E27FC236}">
                <a16:creationId xmlns:a16="http://schemas.microsoft.com/office/drawing/2014/main" id="{C0E94B9F-8D75-8B96-1935-EF707024E4DC}"/>
              </a:ext>
            </a:extLst>
          </p:cNvPr>
          <p:cNvSpPr txBox="1"/>
          <p:nvPr/>
        </p:nvSpPr>
        <p:spPr>
          <a:xfrm>
            <a:off x="1127184" y="4463597"/>
            <a:ext cx="9937630" cy="2031325"/>
          </a:xfrm>
          <a:prstGeom prst="rect">
            <a:avLst/>
          </a:prstGeom>
          <a:noFill/>
        </p:spPr>
        <p:txBody>
          <a:bodyPr wrap="square" rtlCol="0">
            <a:spAutoFit/>
          </a:bodyPr>
          <a:lstStyle/>
          <a:p>
            <a:pPr>
              <a:buFont typeface="Arial" panose="020B0604020202020204" pitchFamily="34" charset="0"/>
              <a:buChar char="•"/>
            </a:pPr>
            <a:r>
              <a:rPr lang="en-IN" dirty="0"/>
              <a:t>The </a:t>
            </a:r>
            <a:r>
              <a:rPr lang="en-IN" b="1" dirty="0"/>
              <a:t>Hessian matrix H</a:t>
            </a:r>
            <a:r>
              <a:rPr lang="en-IN" dirty="0"/>
              <a:t> is the matrix of </a:t>
            </a:r>
            <a:r>
              <a:rPr lang="en-IN" b="1" dirty="0"/>
              <a:t>second-order partial derivatives</a:t>
            </a:r>
            <a:r>
              <a:rPr lang="en-IN" dirty="0"/>
              <a:t> of the loss function L(</a:t>
            </a:r>
            <a:r>
              <a:rPr lang="el-GR" dirty="0"/>
              <a:t>θ)</a:t>
            </a:r>
            <a:r>
              <a:rPr lang="en-IN" dirty="0"/>
              <a:t> with respect to the model parameters </a:t>
            </a:r>
            <a:r>
              <a:rPr lang="el-GR" dirty="0"/>
              <a:t>θ.</a:t>
            </a:r>
          </a:p>
          <a:p>
            <a:pPr>
              <a:buFont typeface="Arial" panose="020B0604020202020204" pitchFamily="34" charset="0"/>
              <a:buChar char="•"/>
            </a:pPr>
            <a:endParaRPr lang="en-IN" dirty="0"/>
          </a:p>
          <a:p>
            <a:pPr>
              <a:buFont typeface="Arial" panose="020B0604020202020204" pitchFamily="34" charset="0"/>
              <a:buChar char="•"/>
            </a:pPr>
            <a:endParaRPr lang="en-IN" dirty="0"/>
          </a:p>
          <a:p>
            <a:pPr>
              <a:buFont typeface="Arial" panose="020B0604020202020204" pitchFamily="34" charset="0"/>
              <a:buChar char="•"/>
            </a:pPr>
            <a:endParaRPr lang="en-IN" dirty="0"/>
          </a:p>
          <a:p>
            <a:pPr>
              <a:buFont typeface="Arial" panose="020B0604020202020204" pitchFamily="34" charset="0"/>
              <a:buChar char="•"/>
            </a:pPr>
            <a:r>
              <a:rPr lang="en-IN" dirty="0"/>
              <a:t>It's a square matrix that gives insight into the </a:t>
            </a:r>
            <a:r>
              <a:rPr lang="en-IN" b="1" dirty="0"/>
              <a:t>curvature</a:t>
            </a:r>
            <a:r>
              <a:rPr lang="en-IN" dirty="0"/>
              <a:t> of the loss surface.</a:t>
            </a:r>
          </a:p>
          <a:p>
            <a:endParaRPr lang="en-IN" dirty="0"/>
          </a:p>
        </p:txBody>
      </p:sp>
      <p:pic>
        <p:nvPicPr>
          <p:cNvPr id="7" name="Picture 6">
            <a:extLst>
              <a:ext uri="{FF2B5EF4-FFF2-40B4-BE49-F238E27FC236}">
                <a16:creationId xmlns:a16="http://schemas.microsoft.com/office/drawing/2014/main" id="{F137DE00-B72E-6F5D-04DB-A7B649096943}"/>
              </a:ext>
            </a:extLst>
          </p:cNvPr>
          <p:cNvPicPr>
            <a:picLocks noChangeAspect="1"/>
          </p:cNvPicPr>
          <p:nvPr/>
        </p:nvPicPr>
        <p:blipFill>
          <a:blip r:embed="rId3"/>
          <a:stretch>
            <a:fillRect/>
          </a:stretch>
        </p:blipFill>
        <p:spPr>
          <a:xfrm>
            <a:off x="4464798" y="5264571"/>
            <a:ext cx="1295581" cy="533474"/>
          </a:xfrm>
          <a:prstGeom prst="rect">
            <a:avLst/>
          </a:prstGeom>
        </p:spPr>
      </p:pic>
    </p:spTree>
    <p:extLst>
      <p:ext uri="{BB962C8B-B14F-4D97-AF65-F5344CB8AC3E}">
        <p14:creationId xmlns:p14="http://schemas.microsoft.com/office/powerpoint/2010/main" val="9110287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24619"/>
            <a:ext cx="10515600" cy="5452344"/>
          </a:xfrm>
        </p:spPr>
        <p:txBody>
          <a:bodyPr>
            <a:normAutofit/>
          </a:bodyPr>
          <a:lstStyle/>
          <a:p>
            <a:r>
              <a:rPr lang="en-IN" dirty="0"/>
              <a:t>An important property of many random functions is that the eigenvalues of H are more likely to be positive as we reach regions of lower cost. This means:</a:t>
            </a:r>
          </a:p>
          <a:p>
            <a:pPr marL="0" indent="0">
              <a:buNone/>
            </a:pPr>
            <a:r>
              <a:rPr lang="en-IN" dirty="0"/>
              <a:t>1. Local minima are more likely to have low cost than higher cost</a:t>
            </a:r>
          </a:p>
          <a:p>
            <a:pPr marL="0" indent="0">
              <a:buNone/>
            </a:pPr>
            <a:r>
              <a:rPr lang="en-IN" dirty="0"/>
              <a:t>2. Saddle points are likely to have high cost</a:t>
            </a:r>
          </a:p>
          <a:p>
            <a:pPr marL="0" indent="0">
              <a:buNone/>
            </a:pPr>
            <a:r>
              <a:rPr lang="en-IN" dirty="0"/>
              <a:t>3. Local maxima are likely to have extremely high cost</a:t>
            </a:r>
          </a:p>
          <a:p>
            <a:r>
              <a:rPr lang="en-IN" dirty="0"/>
              <a:t>At a saddle point, the Hessian matrix H has both positive and negative eigenvalues.</a:t>
            </a:r>
          </a:p>
          <a:p>
            <a:r>
              <a:rPr lang="en-IN" dirty="0"/>
              <a:t>Having many saddle points will make first-order methods struggle. Second-order methods (e.g., Newton’s Method) may work to find a point with gradient 0, but will likely find saddle points.</a:t>
            </a:r>
          </a:p>
        </p:txBody>
      </p:sp>
    </p:spTree>
    <p:extLst>
      <p:ext uri="{BB962C8B-B14F-4D97-AF65-F5344CB8AC3E}">
        <p14:creationId xmlns:p14="http://schemas.microsoft.com/office/powerpoint/2010/main" val="35097464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B4F99-AD01-0E58-EDAE-C486235250AB}"/>
              </a:ext>
            </a:extLst>
          </p:cNvPr>
          <p:cNvSpPr>
            <a:spLocks noGrp="1"/>
          </p:cNvSpPr>
          <p:nvPr>
            <p:ph type="title"/>
          </p:nvPr>
        </p:nvSpPr>
        <p:spPr>
          <a:xfrm>
            <a:off x="751936" y="1526875"/>
            <a:ext cx="10515600" cy="603760"/>
          </a:xfrm>
        </p:spPr>
        <p:txBody>
          <a:bodyPr>
            <a:normAutofit fontScale="90000"/>
          </a:bodyPr>
          <a:lstStyle/>
          <a:p>
            <a:r>
              <a:rPr lang="en-US" sz="2400" b="1" dirty="0">
                <a:latin typeface="+mn-lt"/>
              </a:rPr>
              <a:t>Eigenvalues of H</a:t>
            </a:r>
            <a:r>
              <a:rPr lang="en-US" sz="2400" dirty="0">
                <a:latin typeface="+mn-lt"/>
              </a:rPr>
              <a:t> tell you about the </a:t>
            </a:r>
            <a:r>
              <a:rPr lang="en-US" sz="2400" b="1" dirty="0">
                <a:latin typeface="+mn-lt"/>
              </a:rPr>
              <a:t>local geometry</a:t>
            </a:r>
            <a:r>
              <a:rPr lang="en-US" sz="2400" dirty="0">
                <a:latin typeface="+mn-lt"/>
              </a:rPr>
              <a:t> of the loss function around a point</a:t>
            </a:r>
            <a:endParaRPr lang="en-IN" sz="2400" dirty="0">
              <a:latin typeface="+mn-lt"/>
            </a:endParaRPr>
          </a:p>
        </p:txBody>
      </p:sp>
      <p:graphicFrame>
        <p:nvGraphicFramePr>
          <p:cNvPr id="4" name="Content Placeholder 3">
            <a:extLst>
              <a:ext uri="{FF2B5EF4-FFF2-40B4-BE49-F238E27FC236}">
                <a16:creationId xmlns:a16="http://schemas.microsoft.com/office/drawing/2014/main" id="{1BD87170-8D32-B467-35AC-27829E46E4E5}"/>
              </a:ext>
            </a:extLst>
          </p:cNvPr>
          <p:cNvGraphicFramePr>
            <a:graphicFrameLocks noGrp="1"/>
          </p:cNvGraphicFramePr>
          <p:nvPr>
            <p:ph idx="1"/>
            <p:extLst>
              <p:ext uri="{D42A27DB-BD31-4B8C-83A1-F6EECF244321}">
                <p14:modId xmlns:p14="http://schemas.microsoft.com/office/powerpoint/2010/main" val="2340292208"/>
              </p:ext>
            </p:extLst>
          </p:nvPr>
        </p:nvGraphicFramePr>
        <p:xfrm>
          <a:off x="838200" y="2555559"/>
          <a:ext cx="10515600" cy="2194560"/>
        </p:xfrm>
        <a:graphic>
          <a:graphicData uri="http://schemas.openxmlformats.org/drawingml/2006/table">
            <a:tbl>
              <a:tblPr/>
              <a:tblGrid>
                <a:gridCol w="5257800">
                  <a:extLst>
                    <a:ext uri="{9D8B030D-6E8A-4147-A177-3AD203B41FA5}">
                      <a16:colId xmlns:a16="http://schemas.microsoft.com/office/drawing/2014/main" val="1323943713"/>
                    </a:ext>
                  </a:extLst>
                </a:gridCol>
                <a:gridCol w="5257800">
                  <a:extLst>
                    <a:ext uri="{9D8B030D-6E8A-4147-A177-3AD203B41FA5}">
                      <a16:colId xmlns:a16="http://schemas.microsoft.com/office/drawing/2014/main" val="628346651"/>
                    </a:ext>
                  </a:extLst>
                </a:gridCol>
              </a:tblGrid>
              <a:tr h="0">
                <a:tc>
                  <a:txBody>
                    <a:bodyPr/>
                    <a:lstStyle/>
                    <a:p>
                      <a:r>
                        <a:rPr lang="en-IN" b="1"/>
                        <a:t>Concept</a:t>
                      </a:r>
                    </a:p>
                  </a:txBody>
                  <a:tcPr anchor="ctr">
                    <a:lnL>
                      <a:noFill/>
                    </a:lnL>
                    <a:lnR>
                      <a:noFill/>
                    </a:lnR>
                    <a:lnT>
                      <a:noFill/>
                    </a:lnT>
                    <a:lnB>
                      <a:noFill/>
                    </a:lnB>
                  </a:tcPr>
                </a:tc>
                <a:tc>
                  <a:txBody>
                    <a:bodyPr/>
                    <a:lstStyle/>
                    <a:p>
                      <a:r>
                        <a:rPr lang="en-IN" b="1" dirty="0"/>
                        <a:t>Meaning in DL</a:t>
                      </a:r>
                    </a:p>
                  </a:txBody>
                  <a:tcPr anchor="ctr">
                    <a:lnL>
                      <a:noFill/>
                    </a:lnL>
                    <a:lnR>
                      <a:noFill/>
                    </a:lnR>
                    <a:lnT>
                      <a:noFill/>
                    </a:lnT>
                    <a:lnB>
                      <a:noFill/>
                    </a:lnB>
                  </a:tcPr>
                </a:tc>
                <a:extLst>
                  <a:ext uri="{0D108BD9-81ED-4DB2-BD59-A6C34878D82A}">
                    <a16:rowId xmlns:a16="http://schemas.microsoft.com/office/drawing/2014/main" val="2282218697"/>
                  </a:ext>
                </a:extLst>
              </a:tr>
              <a:tr h="0">
                <a:tc>
                  <a:txBody>
                    <a:bodyPr/>
                    <a:lstStyle/>
                    <a:p>
                      <a:r>
                        <a:rPr lang="en-IN" dirty="0"/>
                        <a:t>H</a:t>
                      </a:r>
                    </a:p>
                  </a:txBody>
                  <a:tcPr anchor="ctr">
                    <a:lnL>
                      <a:noFill/>
                    </a:lnL>
                    <a:lnR>
                      <a:noFill/>
                    </a:lnR>
                    <a:lnT>
                      <a:noFill/>
                    </a:lnT>
                    <a:lnB>
                      <a:noFill/>
                    </a:lnB>
                  </a:tcPr>
                </a:tc>
                <a:tc>
                  <a:txBody>
                    <a:bodyPr/>
                    <a:lstStyle/>
                    <a:p>
                      <a:r>
                        <a:rPr lang="en-US"/>
                        <a:t>Hessian: matrix of second derivatives of loss</a:t>
                      </a:r>
                    </a:p>
                  </a:txBody>
                  <a:tcPr anchor="ctr">
                    <a:lnL>
                      <a:noFill/>
                    </a:lnL>
                    <a:lnR>
                      <a:noFill/>
                    </a:lnR>
                    <a:lnT>
                      <a:noFill/>
                    </a:lnT>
                    <a:lnB>
                      <a:noFill/>
                    </a:lnB>
                  </a:tcPr>
                </a:tc>
                <a:extLst>
                  <a:ext uri="{0D108BD9-81ED-4DB2-BD59-A6C34878D82A}">
                    <a16:rowId xmlns:a16="http://schemas.microsoft.com/office/drawing/2014/main" val="1128660619"/>
                  </a:ext>
                </a:extLst>
              </a:tr>
              <a:tr h="0">
                <a:tc>
                  <a:txBody>
                    <a:bodyPr/>
                    <a:lstStyle/>
                    <a:p>
                      <a:r>
                        <a:rPr lang="en-IN" dirty="0"/>
                        <a:t>Eigenvalues of H</a:t>
                      </a:r>
                    </a:p>
                  </a:txBody>
                  <a:tcPr anchor="ctr">
                    <a:lnL>
                      <a:noFill/>
                    </a:lnL>
                    <a:lnR>
                      <a:noFill/>
                    </a:lnR>
                    <a:lnT>
                      <a:noFill/>
                    </a:lnT>
                    <a:lnB>
                      <a:noFill/>
                    </a:lnB>
                  </a:tcPr>
                </a:tc>
                <a:tc>
                  <a:txBody>
                    <a:bodyPr/>
                    <a:lstStyle/>
                    <a:p>
                      <a:r>
                        <a:rPr lang="en-US"/>
                        <a:t>Indicate curvature, stability, sharpness of loss</a:t>
                      </a:r>
                    </a:p>
                  </a:txBody>
                  <a:tcPr anchor="ctr">
                    <a:lnL>
                      <a:noFill/>
                    </a:lnL>
                    <a:lnR>
                      <a:noFill/>
                    </a:lnR>
                    <a:lnT>
                      <a:noFill/>
                    </a:lnT>
                    <a:lnB>
                      <a:noFill/>
                    </a:lnB>
                  </a:tcPr>
                </a:tc>
                <a:extLst>
                  <a:ext uri="{0D108BD9-81ED-4DB2-BD59-A6C34878D82A}">
                    <a16:rowId xmlns:a16="http://schemas.microsoft.com/office/drawing/2014/main" val="3183871974"/>
                  </a:ext>
                </a:extLst>
              </a:tr>
              <a:tr h="0">
                <a:tc>
                  <a:txBody>
                    <a:bodyPr/>
                    <a:lstStyle/>
                    <a:p>
                      <a:r>
                        <a:rPr lang="en-IN"/>
                        <a:t>All eigenvalues &gt; 0</a:t>
                      </a:r>
                    </a:p>
                  </a:txBody>
                  <a:tcPr anchor="ctr">
                    <a:lnL>
                      <a:noFill/>
                    </a:lnL>
                    <a:lnR>
                      <a:noFill/>
                    </a:lnR>
                    <a:lnT>
                      <a:noFill/>
                    </a:lnT>
                    <a:lnB>
                      <a:noFill/>
                    </a:lnB>
                  </a:tcPr>
                </a:tc>
                <a:tc>
                  <a:txBody>
                    <a:bodyPr/>
                    <a:lstStyle/>
                    <a:p>
                      <a:r>
                        <a:rPr lang="en-IN"/>
                        <a:t>Local minimum</a:t>
                      </a:r>
                    </a:p>
                  </a:txBody>
                  <a:tcPr anchor="ctr">
                    <a:lnL>
                      <a:noFill/>
                    </a:lnL>
                    <a:lnR>
                      <a:noFill/>
                    </a:lnR>
                    <a:lnT>
                      <a:noFill/>
                    </a:lnT>
                    <a:lnB>
                      <a:noFill/>
                    </a:lnB>
                  </a:tcPr>
                </a:tc>
                <a:extLst>
                  <a:ext uri="{0D108BD9-81ED-4DB2-BD59-A6C34878D82A}">
                    <a16:rowId xmlns:a16="http://schemas.microsoft.com/office/drawing/2014/main" val="1702354717"/>
                  </a:ext>
                </a:extLst>
              </a:tr>
              <a:tr h="0">
                <a:tc>
                  <a:txBody>
                    <a:bodyPr/>
                    <a:lstStyle/>
                    <a:p>
                      <a:r>
                        <a:rPr lang="en-IN" dirty="0"/>
                        <a:t>Mixed signs</a:t>
                      </a:r>
                    </a:p>
                  </a:txBody>
                  <a:tcPr anchor="ctr">
                    <a:lnL>
                      <a:noFill/>
                    </a:lnL>
                    <a:lnR>
                      <a:noFill/>
                    </a:lnR>
                    <a:lnT>
                      <a:noFill/>
                    </a:lnT>
                    <a:lnB>
                      <a:noFill/>
                    </a:lnB>
                  </a:tcPr>
                </a:tc>
                <a:tc>
                  <a:txBody>
                    <a:bodyPr/>
                    <a:lstStyle/>
                    <a:p>
                      <a:r>
                        <a:rPr lang="en-IN"/>
                        <a:t>Saddle point</a:t>
                      </a:r>
                    </a:p>
                  </a:txBody>
                  <a:tcPr anchor="ctr">
                    <a:lnL>
                      <a:noFill/>
                    </a:lnL>
                    <a:lnR>
                      <a:noFill/>
                    </a:lnR>
                    <a:lnT>
                      <a:noFill/>
                    </a:lnT>
                    <a:lnB>
                      <a:noFill/>
                    </a:lnB>
                  </a:tcPr>
                </a:tc>
                <a:extLst>
                  <a:ext uri="{0D108BD9-81ED-4DB2-BD59-A6C34878D82A}">
                    <a16:rowId xmlns:a16="http://schemas.microsoft.com/office/drawing/2014/main" val="3918823702"/>
                  </a:ext>
                </a:extLst>
              </a:tr>
              <a:tr h="0">
                <a:tc>
                  <a:txBody>
                    <a:bodyPr/>
                    <a:lstStyle/>
                    <a:p>
                      <a:r>
                        <a:rPr lang="en-IN"/>
                        <a:t>Flat eigenvalue spectrum</a:t>
                      </a:r>
                    </a:p>
                  </a:txBody>
                  <a:tcPr anchor="ctr">
                    <a:lnL>
                      <a:noFill/>
                    </a:lnL>
                    <a:lnR>
                      <a:noFill/>
                    </a:lnR>
                    <a:lnT>
                      <a:noFill/>
                    </a:lnT>
                    <a:lnB>
                      <a:noFill/>
                    </a:lnB>
                  </a:tcPr>
                </a:tc>
                <a:tc>
                  <a:txBody>
                    <a:bodyPr/>
                    <a:lstStyle/>
                    <a:p>
                      <a:r>
                        <a:rPr lang="en-US" dirty="0"/>
                        <a:t>Smoother loss surface, better generalization</a:t>
                      </a:r>
                    </a:p>
                  </a:txBody>
                  <a:tcPr anchor="ctr">
                    <a:lnL>
                      <a:noFill/>
                    </a:lnL>
                    <a:lnR>
                      <a:noFill/>
                    </a:lnR>
                    <a:lnT>
                      <a:noFill/>
                    </a:lnT>
                    <a:lnB>
                      <a:noFill/>
                    </a:lnB>
                  </a:tcPr>
                </a:tc>
                <a:extLst>
                  <a:ext uri="{0D108BD9-81ED-4DB2-BD59-A6C34878D82A}">
                    <a16:rowId xmlns:a16="http://schemas.microsoft.com/office/drawing/2014/main" val="779678083"/>
                  </a:ext>
                </a:extLst>
              </a:tr>
            </a:tbl>
          </a:graphicData>
        </a:graphic>
      </p:graphicFrame>
    </p:spTree>
    <p:extLst>
      <p:ext uri="{BB962C8B-B14F-4D97-AF65-F5344CB8AC3E}">
        <p14:creationId xmlns:p14="http://schemas.microsoft.com/office/powerpoint/2010/main" val="6364774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4400" dirty="0"/>
              <a:t>Cliffs and Exploding Gradients</a:t>
            </a:r>
            <a:endParaRPr lang="en-IN" dirty="0"/>
          </a:p>
        </p:txBody>
      </p:sp>
      <p:sp>
        <p:nvSpPr>
          <p:cNvPr id="3" name="Content Placeholder 2"/>
          <p:cNvSpPr>
            <a:spLocks noGrp="1"/>
          </p:cNvSpPr>
          <p:nvPr>
            <p:ph idx="1"/>
          </p:nvPr>
        </p:nvSpPr>
        <p:spPr/>
        <p:txBody>
          <a:bodyPr>
            <a:normAutofit/>
          </a:bodyPr>
          <a:lstStyle/>
          <a:p>
            <a:r>
              <a:rPr lang="en-IN" sz="2400" dirty="0"/>
              <a:t>Deep models often have very steep regions resembling cliffs. These usually result from the multiplication of several large weights together.</a:t>
            </a:r>
          </a:p>
          <a:p>
            <a:r>
              <a:rPr lang="en-IN" sz="2400" dirty="0"/>
              <a:t>Cliffs are common in RNNs due to multiplication of many factors (1 / timestep)</a:t>
            </a:r>
          </a:p>
          <a:p>
            <a:endParaRPr lang="en-IN" sz="2400" dirty="0"/>
          </a:p>
          <a:p>
            <a:pPr marL="0" indent="0">
              <a:buNone/>
            </a:pPr>
            <a:r>
              <a:rPr lang="en-IN" sz="2400" dirty="0"/>
              <a:t>                                   Cliff structures and gradient clipping</a:t>
            </a:r>
          </a:p>
          <a:p>
            <a:endParaRPr lang="en-IN" sz="2400" dirty="0"/>
          </a:p>
        </p:txBody>
      </p:sp>
      <p:pic>
        <p:nvPicPr>
          <p:cNvPr id="4" name="Picture 3"/>
          <p:cNvPicPr>
            <a:picLocks noChangeAspect="1"/>
          </p:cNvPicPr>
          <p:nvPr/>
        </p:nvPicPr>
        <p:blipFill>
          <a:blip r:embed="rId2"/>
          <a:stretch>
            <a:fillRect/>
          </a:stretch>
        </p:blipFill>
        <p:spPr>
          <a:xfrm>
            <a:off x="2908663" y="4311296"/>
            <a:ext cx="5747657" cy="1865667"/>
          </a:xfrm>
          <a:prstGeom prst="rect">
            <a:avLst/>
          </a:prstGeom>
        </p:spPr>
      </p:pic>
    </p:spTree>
    <p:extLst>
      <p:ext uri="{BB962C8B-B14F-4D97-AF65-F5344CB8AC3E}">
        <p14:creationId xmlns:p14="http://schemas.microsoft.com/office/powerpoint/2010/main" val="10858719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Basic Optimization algorithms</a:t>
            </a:r>
          </a:p>
        </p:txBody>
      </p:sp>
      <p:sp>
        <p:nvSpPr>
          <p:cNvPr id="3" name="Content Placeholder 2"/>
          <p:cNvSpPr>
            <a:spLocks noGrp="1"/>
          </p:cNvSpPr>
          <p:nvPr>
            <p:ph idx="1"/>
          </p:nvPr>
        </p:nvSpPr>
        <p:spPr/>
        <p:txBody>
          <a:bodyPr>
            <a:normAutofit fontScale="77500" lnSpcReduction="20000"/>
          </a:bodyPr>
          <a:lstStyle/>
          <a:p>
            <a:pPr>
              <a:lnSpc>
                <a:spcPct val="120000"/>
              </a:lnSpc>
            </a:pPr>
            <a:r>
              <a:rPr lang="en-IN" dirty="0"/>
              <a:t>Gradient Descent is the most basic but most used optimization algorithm. It’s used heavily in linear regression and classification algorithms. Backpropagation in neural networks also uses a gradient descent algorithm.</a:t>
            </a:r>
          </a:p>
          <a:p>
            <a:pPr>
              <a:lnSpc>
                <a:spcPct val="120000"/>
              </a:lnSpc>
            </a:pPr>
            <a:r>
              <a:rPr lang="en-IN" dirty="0"/>
              <a:t>Gradient descent is a first-order optimization algorithm which is dependent on the first order derivative of a loss function. </a:t>
            </a:r>
          </a:p>
          <a:p>
            <a:pPr>
              <a:lnSpc>
                <a:spcPct val="120000"/>
              </a:lnSpc>
            </a:pPr>
            <a:r>
              <a:rPr lang="en-IN" dirty="0"/>
              <a:t>It calculates that which way the weights should be altered so that the function can reach a minima. </a:t>
            </a:r>
          </a:p>
          <a:p>
            <a:pPr>
              <a:lnSpc>
                <a:spcPct val="120000"/>
              </a:lnSpc>
            </a:pPr>
            <a:r>
              <a:rPr lang="en-IN" dirty="0"/>
              <a:t>Through backpropagation, the loss is transferred from one layer to another and the model’s parameters also known as weights are modified depending on the losses so that the loss can be minimized.</a:t>
            </a:r>
          </a:p>
          <a:p>
            <a:pPr marL="0" indent="0">
              <a:lnSpc>
                <a:spcPct val="120000"/>
              </a:lnSpc>
              <a:buNone/>
            </a:pPr>
            <a:r>
              <a:rPr lang="en-IN" b="1" dirty="0"/>
              <a:t>                                             θ=θ−α⋅∇J(θ)</a:t>
            </a:r>
            <a:endParaRPr lang="en-IN" dirty="0"/>
          </a:p>
          <a:p>
            <a:pPr>
              <a:lnSpc>
                <a:spcPct val="120000"/>
              </a:lnSpc>
            </a:pPr>
            <a:endParaRPr lang="en-IN" dirty="0"/>
          </a:p>
        </p:txBody>
      </p:sp>
    </p:spTree>
    <p:extLst>
      <p:ext uri="{BB962C8B-B14F-4D97-AF65-F5344CB8AC3E}">
        <p14:creationId xmlns:p14="http://schemas.microsoft.com/office/powerpoint/2010/main" val="13107332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a:bodyPr>
          <a:lstStyle/>
          <a:p>
            <a:pPr marL="0" indent="0">
              <a:buNone/>
            </a:pPr>
            <a:r>
              <a:rPr lang="en-IN" b="1" dirty="0"/>
              <a:t>Advantages</a:t>
            </a:r>
            <a:r>
              <a:rPr lang="en-IN" dirty="0"/>
              <a:t>:</a:t>
            </a:r>
          </a:p>
          <a:p>
            <a:pPr lvl="0"/>
            <a:r>
              <a:rPr lang="en-IN" dirty="0"/>
              <a:t>Easy computation.</a:t>
            </a:r>
          </a:p>
          <a:p>
            <a:pPr lvl="0"/>
            <a:r>
              <a:rPr lang="en-IN" dirty="0"/>
              <a:t>Easy to implement.</a:t>
            </a:r>
          </a:p>
          <a:p>
            <a:pPr lvl="0"/>
            <a:r>
              <a:rPr lang="en-IN" dirty="0"/>
              <a:t>Easy to understand.</a:t>
            </a:r>
          </a:p>
          <a:p>
            <a:pPr marL="0" indent="0">
              <a:buNone/>
            </a:pPr>
            <a:r>
              <a:rPr lang="en-IN" b="1" dirty="0"/>
              <a:t>Disadvantages</a:t>
            </a:r>
            <a:r>
              <a:rPr lang="en-IN" dirty="0"/>
              <a:t>:</a:t>
            </a:r>
          </a:p>
          <a:p>
            <a:pPr lvl="0"/>
            <a:r>
              <a:rPr lang="en-IN" dirty="0"/>
              <a:t>May trap at local minima.</a:t>
            </a:r>
          </a:p>
          <a:p>
            <a:pPr lvl="0"/>
            <a:r>
              <a:rPr lang="en-IN" dirty="0"/>
              <a:t>Weights are changed after calculating gradient on the whole dataset. So, if the dataset is too large than this may take years to converge to the minima.</a:t>
            </a:r>
          </a:p>
          <a:p>
            <a:pPr lvl="0"/>
            <a:r>
              <a:rPr lang="en-IN" dirty="0"/>
              <a:t>Requires large memory to calculate gradient on the whole dataset.</a:t>
            </a:r>
          </a:p>
          <a:p>
            <a:endParaRPr lang="en-IN" dirty="0"/>
          </a:p>
        </p:txBody>
      </p:sp>
    </p:spTree>
    <p:extLst>
      <p:ext uri="{BB962C8B-B14F-4D97-AF65-F5344CB8AC3E}">
        <p14:creationId xmlns:p14="http://schemas.microsoft.com/office/powerpoint/2010/main" val="14918884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Stochastic Gradient Descent</a:t>
            </a:r>
            <a:endParaRPr lang="en-IN" dirty="0"/>
          </a:p>
        </p:txBody>
      </p:sp>
      <p:sp>
        <p:nvSpPr>
          <p:cNvPr id="3" name="Content Placeholder 2"/>
          <p:cNvSpPr>
            <a:spLocks noGrp="1"/>
          </p:cNvSpPr>
          <p:nvPr>
            <p:ph idx="1"/>
          </p:nvPr>
        </p:nvSpPr>
        <p:spPr/>
        <p:txBody>
          <a:bodyPr/>
          <a:lstStyle/>
          <a:p>
            <a:pPr>
              <a:lnSpc>
                <a:spcPct val="100000"/>
              </a:lnSpc>
            </a:pPr>
            <a:r>
              <a:rPr lang="en-IN" dirty="0"/>
              <a:t>It’s a variant of Gradient Descent. It tries to update the model’s parameters more frequently. In this, the model parameters are altered after computation of loss on each training example. So, if the dataset contains 1000 rows SGD will update the model parameters 1000 times in one cycle of dataset instead of one time as in Gradient Descent.</a:t>
            </a:r>
          </a:p>
          <a:p>
            <a:pPr marL="0" indent="0">
              <a:lnSpc>
                <a:spcPct val="100000"/>
              </a:lnSpc>
              <a:buNone/>
            </a:pPr>
            <a:r>
              <a:rPr lang="en-IN" b="1" dirty="0"/>
              <a:t>     θ=θ−α⋅∇J(</a:t>
            </a:r>
            <a:r>
              <a:rPr lang="en-IN" b="1" dirty="0" err="1"/>
              <a:t>θ;x</a:t>
            </a:r>
            <a:r>
              <a:rPr lang="en-IN" b="1" dirty="0"/>
              <a:t>(</a:t>
            </a:r>
            <a:r>
              <a:rPr lang="en-IN" b="1" dirty="0" err="1"/>
              <a:t>i</a:t>
            </a:r>
            <a:r>
              <a:rPr lang="en-IN" b="1" dirty="0"/>
              <a:t>);y(</a:t>
            </a:r>
            <a:r>
              <a:rPr lang="en-IN" b="1" dirty="0" err="1"/>
              <a:t>i</a:t>
            </a:r>
            <a:r>
              <a:rPr lang="en-IN" b="1" dirty="0"/>
              <a:t>)) , where {x(</a:t>
            </a:r>
            <a:r>
              <a:rPr lang="en-IN" b="1" dirty="0" err="1"/>
              <a:t>i</a:t>
            </a:r>
            <a:r>
              <a:rPr lang="en-IN" b="1" dirty="0"/>
              <a:t>) ,y(</a:t>
            </a:r>
            <a:r>
              <a:rPr lang="en-IN" b="1" dirty="0" err="1"/>
              <a:t>i</a:t>
            </a:r>
            <a:r>
              <a:rPr lang="en-IN" b="1" dirty="0"/>
              <a:t>)} are the training examples</a:t>
            </a:r>
            <a:r>
              <a:rPr lang="en-IN" dirty="0"/>
              <a:t>.</a:t>
            </a:r>
          </a:p>
          <a:p>
            <a:pPr>
              <a:lnSpc>
                <a:spcPct val="100000"/>
              </a:lnSpc>
            </a:pPr>
            <a:r>
              <a:rPr lang="en-IN" dirty="0"/>
              <a:t>As the model parameters are frequently updated parameters have high variance and fluctuations in loss functions at different intensities.</a:t>
            </a:r>
          </a:p>
          <a:p>
            <a:pPr marL="0" indent="0">
              <a:lnSpc>
                <a:spcPct val="100000"/>
              </a:lnSpc>
              <a:buNone/>
            </a:pPr>
            <a:endParaRPr lang="en-IN" dirty="0"/>
          </a:p>
        </p:txBody>
      </p:sp>
    </p:spTree>
    <p:extLst>
      <p:ext uri="{BB962C8B-B14F-4D97-AF65-F5344CB8AC3E}">
        <p14:creationId xmlns:p14="http://schemas.microsoft.com/office/powerpoint/2010/main" val="11166209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marL="0" indent="0">
              <a:buNone/>
            </a:pPr>
            <a:r>
              <a:rPr lang="en-IN" b="1" dirty="0"/>
              <a:t>Advantages</a:t>
            </a:r>
            <a:r>
              <a:rPr lang="en-IN" dirty="0"/>
              <a:t>:</a:t>
            </a:r>
          </a:p>
          <a:p>
            <a:pPr lvl="0"/>
            <a:r>
              <a:rPr lang="en-IN" dirty="0"/>
              <a:t>Frequent updates of model parameters hence, converges in less time.</a:t>
            </a:r>
          </a:p>
          <a:p>
            <a:pPr lvl="0"/>
            <a:r>
              <a:rPr lang="en-IN" dirty="0"/>
              <a:t>Requires less memory as no need to store values of loss functions.</a:t>
            </a:r>
          </a:p>
          <a:p>
            <a:pPr lvl="0"/>
            <a:r>
              <a:rPr lang="en-IN" dirty="0"/>
              <a:t>May get new minima’s.</a:t>
            </a:r>
          </a:p>
          <a:p>
            <a:pPr marL="0" indent="0">
              <a:buNone/>
            </a:pPr>
            <a:r>
              <a:rPr lang="en-IN" b="1" dirty="0"/>
              <a:t>Disadvantages</a:t>
            </a:r>
            <a:r>
              <a:rPr lang="en-IN" dirty="0"/>
              <a:t>:</a:t>
            </a:r>
          </a:p>
          <a:p>
            <a:pPr lvl="0"/>
            <a:r>
              <a:rPr lang="en-IN" dirty="0"/>
              <a:t>High variance in model parameters.</a:t>
            </a:r>
          </a:p>
          <a:p>
            <a:pPr lvl="0"/>
            <a:r>
              <a:rPr lang="en-IN" dirty="0"/>
              <a:t>May shoot even after achieving global minima.</a:t>
            </a:r>
          </a:p>
          <a:p>
            <a:pPr lvl="0"/>
            <a:r>
              <a:rPr lang="en-IN" dirty="0"/>
              <a:t>To get the same convergence as gradient descent needs to slowly reduce the value of learning rate.</a:t>
            </a:r>
          </a:p>
          <a:p>
            <a:endParaRPr lang="en-IN" dirty="0"/>
          </a:p>
        </p:txBody>
      </p:sp>
    </p:spTree>
    <p:extLst>
      <p:ext uri="{BB962C8B-B14F-4D97-AF65-F5344CB8AC3E}">
        <p14:creationId xmlns:p14="http://schemas.microsoft.com/office/powerpoint/2010/main" val="14676182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Mini-Batch Gradient Descent</a:t>
            </a:r>
            <a:endParaRPr lang="en-IN" dirty="0"/>
          </a:p>
        </p:txBody>
      </p:sp>
      <p:sp>
        <p:nvSpPr>
          <p:cNvPr id="3" name="Content Placeholder 2"/>
          <p:cNvSpPr>
            <a:spLocks noGrp="1"/>
          </p:cNvSpPr>
          <p:nvPr>
            <p:ph idx="1"/>
          </p:nvPr>
        </p:nvSpPr>
        <p:spPr/>
        <p:txBody>
          <a:bodyPr>
            <a:normAutofit/>
          </a:bodyPr>
          <a:lstStyle/>
          <a:p>
            <a:r>
              <a:rPr lang="en-IN" dirty="0"/>
              <a:t>It’s best among all the variations of gradient descent algorithms. It is an improvement on both SGD and standard gradient descent. It updates the model parameters after every batch. So, the dataset is divided into various batches and after every batch, the parameters are updated.</a:t>
            </a:r>
          </a:p>
          <a:p>
            <a:pPr marL="0" indent="0">
              <a:buNone/>
            </a:pPr>
            <a:r>
              <a:rPr lang="en-IN" b="1" dirty="0"/>
              <a:t>   θ=θ−α⋅∇J(θ; B(</a:t>
            </a:r>
            <a:r>
              <a:rPr lang="en-IN" b="1" dirty="0" err="1"/>
              <a:t>i</a:t>
            </a:r>
            <a:r>
              <a:rPr lang="en-IN" b="1" dirty="0"/>
              <a:t>)), where {B(</a:t>
            </a:r>
            <a:r>
              <a:rPr lang="en-IN" b="1" dirty="0" err="1"/>
              <a:t>i</a:t>
            </a:r>
            <a:r>
              <a:rPr lang="en-IN" b="1" dirty="0"/>
              <a:t>)} are the batches of training examples</a:t>
            </a:r>
            <a:r>
              <a:rPr lang="en-IN" dirty="0"/>
              <a:t>.</a:t>
            </a:r>
          </a:p>
          <a:p>
            <a:pPr marL="0" indent="0">
              <a:buNone/>
            </a:pPr>
            <a:r>
              <a:rPr lang="en-IN" b="1" dirty="0"/>
              <a:t>Advantages</a:t>
            </a:r>
            <a:r>
              <a:rPr lang="en-IN" dirty="0"/>
              <a:t>:</a:t>
            </a:r>
          </a:p>
          <a:p>
            <a:pPr lvl="0"/>
            <a:r>
              <a:rPr lang="en-IN" dirty="0"/>
              <a:t>Frequently updates the model parameters and also has less variance.</a:t>
            </a:r>
          </a:p>
          <a:p>
            <a:pPr lvl="0"/>
            <a:r>
              <a:rPr lang="en-IN" dirty="0"/>
              <a:t>Requires medium amount of memory.</a:t>
            </a:r>
          </a:p>
          <a:p>
            <a:endParaRPr lang="en-IN" dirty="0"/>
          </a:p>
        </p:txBody>
      </p:sp>
    </p:spTree>
    <p:extLst>
      <p:ext uri="{BB962C8B-B14F-4D97-AF65-F5344CB8AC3E}">
        <p14:creationId xmlns:p14="http://schemas.microsoft.com/office/powerpoint/2010/main" val="42727440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buNone/>
            </a:pPr>
            <a:r>
              <a:rPr lang="en-IN" b="1" dirty="0"/>
              <a:t>All types of Gradient Descent have some challenges:</a:t>
            </a:r>
            <a:endParaRPr lang="en-IN" dirty="0"/>
          </a:p>
          <a:p>
            <a:pPr lvl="0"/>
            <a:r>
              <a:rPr lang="en-IN" dirty="0"/>
              <a:t>Choosing an optimum value of the learning rate. If the learning rate is too small than gradient descent may take ages to converge.</a:t>
            </a:r>
          </a:p>
          <a:p>
            <a:pPr lvl="0"/>
            <a:r>
              <a:rPr lang="en-IN" dirty="0"/>
              <a:t>Have a constant learning rate for all the parameters. There may be some parameters which we may not want to change at the same rate.</a:t>
            </a:r>
          </a:p>
          <a:p>
            <a:pPr lvl="0"/>
            <a:r>
              <a:rPr lang="en-IN" dirty="0"/>
              <a:t>May get trapped at local minima.</a:t>
            </a:r>
          </a:p>
          <a:p>
            <a:endParaRPr lang="en-IN" dirty="0"/>
          </a:p>
        </p:txBody>
      </p:sp>
    </p:spTree>
    <p:extLst>
      <p:ext uri="{BB962C8B-B14F-4D97-AF65-F5344CB8AC3E}">
        <p14:creationId xmlns:p14="http://schemas.microsoft.com/office/powerpoint/2010/main" val="35812689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Momentum</a:t>
            </a:r>
            <a:endParaRPr lang="en-IN" dirty="0"/>
          </a:p>
        </p:txBody>
      </p:sp>
      <p:sp>
        <p:nvSpPr>
          <p:cNvPr id="3" name="Content Placeholder 2"/>
          <p:cNvSpPr>
            <a:spLocks noGrp="1"/>
          </p:cNvSpPr>
          <p:nvPr>
            <p:ph idx="1"/>
          </p:nvPr>
        </p:nvSpPr>
        <p:spPr/>
        <p:txBody>
          <a:bodyPr/>
          <a:lstStyle/>
          <a:p>
            <a:r>
              <a:rPr lang="en-IN" dirty="0"/>
              <a:t>Momentum was invented for reducing high variance in SGD and softens the convergence. It accelerates the convergence towards the relevant direction and reduces the fluctuation to the irrelevant direction. One more hyper parameter is used in this method known as momentum symbolized by ‘</a:t>
            </a:r>
            <a:r>
              <a:rPr lang="en-IN" b="1" dirty="0"/>
              <a:t>γ</a:t>
            </a:r>
            <a:r>
              <a:rPr lang="en-IN" dirty="0"/>
              <a:t>’.</a:t>
            </a:r>
          </a:p>
          <a:p>
            <a:r>
              <a:rPr lang="en-IN" b="1" dirty="0"/>
              <a:t>V(t)=</a:t>
            </a:r>
            <a:r>
              <a:rPr lang="en-IN" b="1" dirty="0" err="1"/>
              <a:t>γV</a:t>
            </a:r>
            <a:r>
              <a:rPr lang="en-IN" b="1" dirty="0"/>
              <a:t>(t−1)+α.∇J(θ)</a:t>
            </a:r>
            <a:endParaRPr lang="en-IN" dirty="0"/>
          </a:p>
          <a:p>
            <a:r>
              <a:rPr lang="en-IN" dirty="0"/>
              <a:t>Now, the weights are updated by </a:t>
            </a:r>
            <a:r>
              <a:rPr lang="en-IN" b="1" dirty="0"/>
              <a:t>θ=θ−V(t).</a:t>
            </a:r>
            <a:endParaRPr lang="en-IN" dirty="0"/>
          </a:p>
          <a:p>
            <a:r>
              <a:rPr lang="en-IN" dirty="0"/>
              <a:t>The momentum term </a:t>
            </a:r>
            <a:r>
              <a:rPr lang="en-IN" b="1" dirty="0"/>
              <a:t>γ</a:t>
            </a:r>
            <a:r>
              <a:rPr lang="en-IN" dirty="0"/>
              <a:t> is usually set to 0.9 or a similar value.</a:t>
            </a:r>
          </a:p>
          <a:p>
            <a:endParaRPr lang="en-IN" dirty="0"/>
          </a:p>
        </p:txBody>
      </p:sp>
    </p:spTree>
    <p:extLst>
      <p:ext uri="{BB962C8B-B14F-4D97-AF65-F5344CB8AC3E}">
        <p14:creationId xmlns:p14="http://schemas.microsoft.com/office/powerpoint/2010/main" val="32395830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buNone/>
            </a:pPr>
            <a:r>
              <a:rPr lang="en-IN" b="1" dirty="0"/>
              <a:t>Advantages</a:t>
            </a:r>
            <a:r>
              <a:rPr lang="en-IN" dirty="0"/>
              <a:t>:</a:t>
            </a:r>
          </a:p>
          <a:p>
            <a:pPr lvl="0"/>
            <a:r>
              <a:rPr lang="en-IN" dirty="0"/>
              <a:t>Reduces the oscillations and high variance of the parameters.</a:t>
            </a:r>
          </a:p>
          <a:p>
            <a:pPr lvl="0"/>
            <a:r>
              <a:rPr lang="en-IN" dirty="0"/>
              <a:t>Converges faster than gradient descent.</a:t>
            </a:r>
          </a:p>
          <a:p>
            <a:pPr marL="0" indent="0">
              <a:buNone/>
            </a:pPr>
            <a:r>
              <a:rPr lang="en-IN" b="1" dirty="0"/>
              <a:t>Disadvantages</a:t>
            </a:r>
            <a:r>
              <a:rPr lang="en-IN" dirty="0"/>
              <a:t>:</a:t>
            </a:r>
          </a:p>
          <a:p>
            <a:pPr lvl="0"/>
            <a:r>
              <a:rPr lang="en-IN" dirty="0"/>
              <a:t>One more hyper-parameter is added which needs to be selected manually and accurately.</a:t>
            </a:r>
          </a:p>
          <a:p>
            <a:endParaRPr lang="en-IN" dirty="0"/>
          </a:p>
        </p:txBody>
      </p:sp>
    </p:spTree>
    <p:extLst>
      <p:ext uri="{BB962C8B-B14F-4D97-AF65-F5344CB8AC3E}">
        <p14:creationId xmlns:p14="http://schemas.microsoft.com/office/powerpoint/2010/main" val="10865450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Nesterov Accelerated Gradient</a:t>
            </a:r>
            <a:endParaRPr lang="en-IN" dirty="0"/>
          </a:p>
        </p:txBody>
      </p:sp>
      <p:sp>
        <p:nvSpPr>
          <p:cNvPr id="3" name="Content Placeholder 2"/>
          <p:cNvSpPr>
            <a:spLocks noGrp="1"/>
          </p:cNvSpPr>
          <p:nvPr>
            <p:ph idx="1"/>
          </p:nvPr>
        </p:nvSpPr>
        <p:spPr/>
        <p:txBody>
          <a:bodyPr>
            <a:normAutofit lnSpcReduction="10000"/>
          </a:bodyPr>
          <a:lstStyle/>
          <a:p>
            <a:r>
              <a:rPr lang="en-IN" dirty="0"/>
              <a:t>Momentum may be a good method but if the momentum is too high the algorithm may miss the local minima and may continue to rise up. </a:t>
            </a:r>
          </a:p>
          <a:p>
            <a:r>
              <a:rPr lang="en-IN" dirty="0"/>
              <a:t>So, to resolve this issue the NAG algorithm was developed. </a:t>
            </a:r>
          </a:p>
          <a:p>
            <a:r>
              <a:rPr lang="en-IN" dirty="0"/>
              <a:t>It is a look ahead method. We know we’ll be using </a:t>
            </a:r>
            <a:r>
              <a:rPr lang="en-IN" b="1" dirty="0" err="1"/>
              <a:t>γV</a:t>
            </a:r>
            <a:r>
              <a:rPr lang="en-IN" b="1" dirty="0"/>
              <a:t>(t−1) </a:t>
            </a:r>
            <a:r>
              <a:rPr lang="en-IN" dirty="0"/>
              <a:t>for modifying the weights so, </a:t>
            </a:r>
            <a:r>
              <a:rPr lang="en-IN" b="1" dirty="0"/>
              <a:t>θ−</a:t>
            </a:r>
            <a:r>
              <a:rPr lang="en-IN" b="1" dirty="0" err="1"/>
              <a:t>γV</a:t>
            </a:r>
            <a:r>
              <a:rPr lang="en-IN" b="1" dirty="0"/>
              <a:t>(t−1) </a:t>
            </a:r>
            <a:r>
              <a:rPr lang="en-IN" dirty="0"/>
              <a:t>approximately tells us the future location. </a:t>
            </a:r>
          </a:p>
          <a:p>
            <a:r>
              <a:rPr lang="en-IN" dirty="0"/>
              <a:t>Now, we’ll calculate the cost based on this future parameter rather than the current one.</a:t>
            </a:r>
          </a:p>
          <a:p>
            <a:pPr marL="0" indent="0">
              <a:buNone/>
            </a:pPr>
            <a:r>
              <a:rPr lang="en-IN" b="1" dirty="0"/>
              <a:t>   V(t)=</a:t>
            </a:r>
            <a:r>
              <a:rPr lang="en-IN" b="1" dirty="0" err="1"/>
              <a:t>γV</a:t>
            </a:r>
            <a:r>
              <a:rPr lang="en-IN" b="1" dirty="0"/>
              <a:t>(t−1)+α. ∇J( θ−</a:t>
            </a:r>
            <a:r>
              <a:rPr lang="en-IN" b="1" dirty="0" err="1"/>
              <a:t>γV</a:t>
            </a:r>
            <a:r>
              <a:rPr lang="en-IN" b="1" dirty="0"/>
              <a:t>(t−1) ) </a:t>
            </a:r>
            <a:r>
              <a:rPr lang="en-IN" dirty="0"/>
              <a:t>and then update the parameters using </a:t>
            </a:r>
            <a:r>
              <a:rPr lang="en-IN" b="1" dirty="0"/>
              <a:t>θ=θ−V(t).</a:t>
            </a:r>
            <a:endParaRPr lang="en-IN" dirty="0"/>
          </a:p>
          <a:p>
            <a:endParaRPr lang="en-IN" dirty="0"/>
          </a:p>
        </p:txBody>
      </p:sp>
    </p:spTree>
    <p:extLst>
      <p:ext uri="{BB962C8B-B14F-4D97-AF65-F5344CB8AC3E}">
        <p14:creationId xmlns:p14="http://schemas.microsoft.com/office/powerpoint/2010/main" val="11398530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buNone/>
            </a:pPr>
            <a:r>
              <a:rPr lang="en-IN" b="1" dirty="0"/>
              <a:t>Advantages</a:t>
            </a:r>
            <a:r>
              <a:rPr lang="en-IN" dirty="0"/>
              <a:t>:</a:t>
            </a:r>
          </a:p>
          <a:p>
            <a:pPr lvl="0"/>
            <a:r>
              <a:rPr lang="en-IN" dirty="0"/>
              <a:t>Does not miss the local minima.</a:t>
            </a:r>
          </a:p>
          <a:p>
            <a:pPr lvl="0"/>
            <a:r>
              <a:rPr lang="en-IN" dirty="0"/>
              <a:t>Slows if minima’s are occurring.</a:t>
            </a:r>
          </a:p>
          <a:p>
            <a:pPr marL="0" indent="0">
              <a:buNone/>
            </a:pPr>
            <a:r>
              <a:rPr lang="en-IN" b="1" dirty="0"/>
              <a:t>Disadvantages</a:t>
            </a:r>
            <a:r>
              <a:rPr lang="en-IN" dirty="0"/>
              <a:t>:</a:t>
            </a:r>
          </a:p>
          <a:p>
            <a:pPr lvl="0"/>
            <a:r>
              <a:rPr lang="en-IN" dirty="0"/>
              <a:t>Still, the hyper parameter needs to be selected manually.</a:t>
            </a:r>
          </a:p>
          <a:p>
            <a:endParaRPr lang="en-IN" dirty="0"/>
          </a:p>
        </p:txBody>
      </p:sp>
    </p:spTree>
    <p:extLst>
      <p:ext uri="{BB962C8B-B14F-4D97-AF65-F5344CB8AC3E}">
        <p14:creationId xmlns:p14="http://schemas.microsoft.com/office/powerpoint/2010/main" val="2245422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err="1"/>
              <a:t>Adagrad</a:t>
            </a:r>
            <a:endParaRPr lang="en-IN" dirty="0"/>
          </a:p>
        </p:txBody>
      </p:sp>
      <p:sp>
        <p:nvSpPr>
          <p:cNvPr id="3" name="Content Placeholder 2"/>
          <p:cNvSpPr>
            <a:spLocks noGrp="1"/>
          </p:cNvSpPr>
          <p:nvPr>
            <p:ph idx="1"/>
          </p:nvPr>
        </p:nvSpPr>
        <p:spPr/>
        <p:txBody>
          <a:bodyPr/>
          <a:lstStyle/>
          <a:p>
            <a:r>
              <a:rPr lang="en-IN" dirty="0"/>
              <a:t>One of the disadvantages of all the optimizers explained is that the learning rate is constant for all parameters and for each cycle. </a:t>
            </a:r>
          </a:p>
          <a:p>
            <a:r>
              <a:rPr lang="en-IN" dirty="0"/>
              <a:t>This optimizer changes the learning rate. </a:t>
            </a:r>
            <a:r>
              <a:rPr lang="en-IN" dirty="0">
                <a:highlight>
                  <a:srgbClr val="FFFF00"/>
                </a:highlight>
              </a:rPr>
              <a:t>It changes the learning rate </a:t>
            </a:r>
            <a:r>
              <a:rPr lang="en-IN" b="1" dirty="0">
                <a:highlight>
                  <a:srgbClr val="FFFF00"/>
                </a:highlight>
              </a:rPr>
              <a:t>‘η’ </a:t>
            </a:r>
            <a:r>
              <a:rPr lang="en-IN" dirty="0">
                <a:highlight>
                  <a:srgbClr val="FFFF00"/>
                </a:highlight>
              </a:rPr>
              <a:t>for each parameter </a:t>
            </a:r>
            <a:r>
              <a:rPr lang="en-IN" dirty="0"/>
              <a:t>and at every time step </a:t>
            </a:r>
            <a:r>
              <a:rPr lang="en-IN" b="1" dirty="0"/>
              <a:t>‘t’. </a:t>
            </a:r>
          </a:p>
          <a:p>
            <a:r>
              <a:rPr lang="en-IN" dirty="0"/>
              <a:t>It’s a type </a:t>
            </a:r>
            <a:r>
              <a:rPr lang="en-IN" dirty="0">
                <a:highlight>
                  <a:srgbClr val="FFFF00"/>
                </a:highlight>
              </a:rPr>
              <a:t>second order optimization algorithm</a:t>
            </a:r>
            <a:r>
              <a:rPr lang="en-IN" dirty="0"/>
              <a:t>. It works on the derivative of an error function.</a:t>
            </a:r>
          </a:p>
          <a:p>
            <a:endParaRPr lang="en-IN" dirty="0"/>
          </a:p>
        </p:txBody>
      </p:sp>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3206041" y="4711506"/>
            <a:ext cx="2028825" cy="476250"/>
          </a:xfrm>
          <a:prstGeom prst="rect">
            <a:avLst/>
          </a:prstGeom>
          <a:noFill/>
          <a:ln>
            <a:noFill/>
          </a:ln>
        </p:spPr>
      </p:pic>
    </p:spTree>
    <p:extLst>
      <p:ext uri="{BB962C8B-B14F-4D97-AF65-F5344CB8AC3E}">
        <p14:creationId xmlns:p14="http://schemas.microsoft.com/office/powerpoint/2010/main" val="37054336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A derivative of loss function for given parameters at a given time t.</a:t>
            </a:r>
          </a:p>
          <a:p>
            <a:endParaRPr lang="en-IN" dirty="0"/>
          </a:p>
          <a:p>
            <a:endParaRPr lang="en-IN" dirty="0"/>
          </a:p>
          <a:p>
            <a:r>
              <a:rPr lang="en-IN" dirty="0"/>
              <a:t>Update parameters for given input </a:t>
            </a:r>
            <a:r>
              <a:rPr lang="en-IN" dirty="0" err="1"/>
              <a:t>i</a:t>
            </a:r>
            <a:r>
              <a:rPr lang="en-IN" dirty="0"/>
              <a:t> and at time/iteration t</a:t>
            </a:r>
          </a:p>
          <a:p>
            <a:r>
              <a:rPr lang="en-IN" b="1" dirty="0"/>
              <a:t>η</a:t>
            </a:r>
            <a:r>
              <a:rPr lang="en-IN" dirty="0"/>
              <a:t> is a learning rate which is modified for given parameter </a:t>
            </a:r>
            <a:r>
              <a:rPr lang="en-IN" b="1" dirty="0"/>
              <a:t>θ(</a:t>
            </a:r>
            <a:r>
              <a:rPr lang="en-IN" b="1" dirty="0" err="1"/>
              <a:t>i</a:t>
            </a:r>
            <a:r>
              <a:rPr lang="en-IN" b="1" dirty="0"/>
              <a:t>) </a:t>
            </a:r>
            <a:r>
              <a:rPr lang="en-IN" dirty="0"/>
              <a:t>at a given time based on previous gradients calculated for given parameter</a:t>
            </a:r>
            <a:r>
              <a:rPr lang="en-IN" b="1" dirty="0"/>
              <a:t> θ(</a:t>
            </a:r>
            <a:r>
              <a:rPr lang="en-IN" b="1" dirty="0" err="1"/>
              <a:t>i</a:t>
            </a:r>
            <a:r>
              <a:rPr lang="en-IN" b="1" dirty="0"/>
              <a:t>).</a:t>
            </a:r>
            <a:endParaRPr lang="en-IN" dirty="0"/>
          </a:p>
          <a:p>
            <a:endParaRPr lang="en-IN" dirty="0"/>
          </a:p>
          <a:p>
            <a:endParaRPr lang="en-IN" dirty="0"/>
          </a:p>
        </p:txBody>
      </p:sp>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3596640" y="2498679"/>
            <a:ext cx="3894228" cy="676275"/>
          </a:xfrm>
          <a:prstGeom prst="rect">
            <a:avLst/>
          </a:prstGeom>
          <a:noFill/>
          <a:ln>
            <a:noFill/>
          </a:ln>
        </p:spPr>
      </p:pic>
    </p:spTree>
    <p:extLst>
      <p:ext uri="{BB962C8B-B14F-4D97-AF65-F5344CB8AC3E}">
        <p14:creationId xmlns:p14="http://schemas.microsoft.com/office/powerpoint/2010/main" val="22424177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We store the sum of the squares of the gradients w.r.t. </a:t>
            </a:r>
            <a:r>
              <a:rPr lang="en-IN" b="1" dirty="0"/>
              <a:t>θ(</a:t>
            </a:r>
            <a:r>
              <a:rPr lang="en-IN" b="1" dirty="0" err="1"/>
              <a:t>i</a:t>
            </a:r>
            <a:r>
              <a:rPr lang="en-IN" b="1" dirty="0"/>
              <a:t>)</a:t>
            </a:r>
            <a:r>
              <a:rPr lang="en-IN" dirty="0"/>
              <a:t> up to time step </a:t>
            </a:r>
            <a:r>
              <a:rPr lang="en-IN" b="1" dirty="0"/>
              <a:t>t</a:t>
            </a:r>
            <a:r>
              <a:rPr lang="en-IN" dirty="0"/>
              <a:t>, while </a:t>
            </a:r>
            <a:r>
              <a:rPr lang="en-IN" b="1" dirty="0"/>
              <a:t>ϵ</a:t>
            </a:r>
            <a:r>
              <a:rPr lang="en-IN" dirty="0"/>
              <a:t> is a smoothing term that avoids division by zero (usually on the order of 1e−8). </a:t>
            </a:r>
          </a:p>
          <a:p>
            <a:r>
              <a:rPr lang="en-IN" dirty="0"/>
              <a:t>Without the square root operation, the algorithm performs much worse.</a:t>
            </a:r>
          </a:p>
          <a:p>
            <a:r>
              <a:rPr lang="en-IN" dirty="0"/>
              <a:t>It makes big updates for less frequent parameters and a small step for frequent parameters.</a:t>
            </a:r>
          </a:p>
          <a:p>
            <a:endParaRPr lang="en-IN" dirty="0"/>
          </a:p>
        </p:txBody>
      </p:sp>
    </p:spTree>
    <p:extLst>
      <p:ext uri="{BB962C8B-B14F-4D97-AF65-F5344CB8AC3E}">
        <p14:creationId xmlns:p14="http://schemas.microsoft.com/office/powerpoint/2010/main" val="8871842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buNone/>
            </a:pPr>
            <a:r>
              <a:rPr lang="en-IN" b="1" dirty="0"/>
              <a:t>Advantages</a:t>
            </a:r>
            <a:r>
              <a:rPr lang="en-IN" dirty="0"/>
              <a:t>:</a:t>
            </a:r>
          </a:p>
          <a:p>
            <a:pPr lvl="0"/>
            <a:r>
              <a:rPr lang="en-IN" dirty="0"/>
              <a:t>Learning rate changes for each training parameter.</a:t>
            </a:r>
          </a:p>
          <a:p>
            <a:pPr lvl="0"/>
            <a:r>
              <a:rPr lang="en-IN" dirty="0"/>
              <a:t>Don’t need to manually tune the learning rate.</a:t>
            </a:r>
          </a:p>
          <a:p>
            <a:pPr lvl="0"/>
            <a:r>
              <a:rPr lang="en-IN" dirty="0"/>
              <a:t>Able to train on sparse data.</a:t>
            </a:r>
          </a:p>
          <a:p>
            <a:pPr marL="0" indent="0">
              <a:buNone/>
            </a:pPr>
            <a:r>
              <a:rPr lang="en-IN" b="1" dirty="0"/>
              <a:t>Disadvantages</a:t>
            </a:r>
            <a:r>
              <a:rPr lang="en-IN" dirty="0"/>
              <a:t>:</a:t>
            </a:r>
          </a:p>
          <a:p>
            <a:pPr lvl="0"/>
            <a:r>
              <a:rPr lang="en-IN" dirty="0"/>
              <a:t>Computationally expensive as a need to calculate the second order derivative.</a:t>
            </a:r>
          </a:p>
          <a:p>
            <a:pPr lvl="0"/>
            <a:r>
              <a:rPr lang="en-IN" dirty="0"/>
              <a:t>The learning rate is always decreasing results in slow training.</a:t>
            </a:r>
          </a:p>
          <a:p>
            <a:endParaRPr lang="en-IN" dirty="0"/>
          </a:p>
        </p:txBody>
      </p:sp>
    </p:spTree>
    <p:extLst>
      <p:ext uri="{BB962C8B-B14F-4D97-AF65-F5344CB8AC3E}">
        <p14:creationId xmlns:p14="http://schemas.microsoft.com/office/powerpoint/2010/main" val="13479250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err="1"/>
              <a:t>AdaDelta</a:t>
            </a:r>
            <a:endParaRPr lang="en-IN" dirty="0"/>
          </a:p>
        </p:txBody>
      </p:sp>
      <p:sp>
        <p:nvSpPr>
          <p:cNvPr id="3" name="Content Placeholder 2"/>
          <p:cNvSpPr>
            <a:spLocks noGrp="1"/>
          </p:cNvSpPr>
          <p:nvPr>
            <p:ph idx="1"/>
          </p:nvPr>
        </p:nvSpPr>
        <p:spPr/>
        <p:txBody>
          <a:bodyPr/>
          <a:lstStyle/>
          <a:p>
            <a:r>
              <a:rPr lang="en-IN" dirty="0"/>
              <a:t>It is an extension of </a:t>
            </a:r>
            <a:r>
              <a:rPr lang="en-IN" b="1" dirty="0" err="1"/>
              <a:t>AdaGrad</a:t>
            </a:r>
            <a:r>
              <a:rPr lang="en-IN" dirty="0"/>
              <a:t> which tends to </a:t>
            </a:r>
            <a:r>
              <a:rPr lang="en-IN" dirty="0">
                <a:highlight>
                  <a:srgbClr val="FFFF00"/>
                </a:highlight>
              </a:rPr>
              <a:t>remove the </a:t>
            </a:r>
            <a:r>
              <a:rPr lang="en-IN" i="1" dirty="0">
                <a:highlight>
                  <a:srgbClr val="FFFF00"/>
                </a:highlight>
              </a:rPr>
              <a:t>decaying learning Rate</a:t>
            </a:r>
            <a:r>
              <a:rPr lang="en-IN" dirty="0">
                <a:highlight>
                  <a:srgbClr val="FFFF00"/>
                </a:highlight>
              </a:rPr>
              <a:t> problem </a:t>
            </a:r>
            <a:r>
              <a:rPr lang="en-IN" dirty="0"/>
              <a:t>of it. </a:t>
            </a:r>
          </a:p>
          <a:p>
            <a:r>
              <a:rPr lang="en-IN" dirty="0"/>
              <a:t>Instead of accumulating all previously squared gradients, </a:t>
            </a:r>
            <a:r>
              <a:rPr lang="en-IN" b="1" i="1" dirty="0" err="1"/>
              <a:t>Adadelta</a:t>
            </a:r>
            <a:r>
              <a:rPr lang="en-IN" dirty="0"/>
              <a:t> </a:t>
            </a:r>
            <a:r>
              <a:rPr lang="en-IN" dirty="0">
                <a:highlight>
                  <a:srgbClr val="FFFF00"/>
                </a:highlight>
              </a:rPr>
              <a:t>limits the window of accumulated past gradients to some fixed size </a:t>
            </a:r>
            <a:r>
              <a:rPr lang="en-IN" b="1" dirty="0">
                <a:highlight>
                  <a:srgbClr val="FFFF00"/>
                </a:highlight>
              </a:rPr>
              <a:t>w</a:t>
            </a:r>
            <a:r>
              <a:rPr lang="en-IN" dirty="0">
                <a:highlight>
                  <a:srgbClr val="FFFF00"/>
                </a:highlight>
              </a:rPr>
              <a:t>.</a:t>
            </a:r>
            <a:r>
              <a:rPr lang="en-IN" dirty="0"/>
              <a:t> In this exponentially moving average is used rather than the sum of all the gradients.</a:t>
            </a:r>
          </a:p>
          <a:p>
            <a:r>
              <a:rPr lang="en-IN" b="1" dirty="0"/>
              <a:t>E[g²](t)=</a:t>
            </a:r>
            <a:r>
              <a:rPr lang="en-IN" b="1" dirty="0" err="1"/>
              <a:t>γ.E</a:t>
            </a:r>
            <a:r>
              <a:rPr lang="en-IN" b="1" dirty="0"/>
              <a:t>[g²](t−1)+(1−γ).g²(t)</a:t>
            </a:r>
            <a:endParaRPr lang="en-IN" dirty="0"/>
          </a:p>
          <a:p>
            <a:r>
              <a:rPr lang="en-IN" dirty="0"/>
              <a:t>We set </a:t>
            </a:r>
            <a:r>
              <a:rPr lang="en-IN" b="1" dirty="0"/>
              <a:t>γ</a:t>
            </a:r>
            <a:r>
              <a:rPr lang="en-IN" dirty="0"/>
              <a:t> to a similar value as the momentum term, around 0.9.</a:t>
            </a:r>
          </a:p>
          <a:p>
            <a:endParaRPr lang="en-IN" dirty="0"/>
          </a:p>
        </p:txBody>
      </p:sp>
    </p:spTree>
    <p:extLst>
      <p:ext uri="{BB962C8B-B14F-4D97-AF65-F5344CB8AC3E}">
        <p14:creationId xmlns:p14="http://schemas.microsoft.com/office/powerpoint/2010/main" val="18805434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255971" y="3078338"/>
            <a:ext cx="6104748" cy="2438095"/>
          </a:xfrm>
          <a:prstGeom prst="rect">
            <a:avLst/>
          </a:prstGeom>
          <a:noFill/>
          <a:ln>
            <a:noFill/>
          </a:ln>
        </p:spPr>
      </p:pic>
      <p:sp>
        <p:nvSpPr>
          <p:cNvPr id="5" name="Rectangle 4"/>
          <p:cNvSpPr/>
          <p:nvPr/>
        </p:nvSpPr>
        <p:spPr>
          <a:xfrm>
            <a:off x="993813" y="2494965"/>
            <a:ext cx="2262158" cy="388696"/>
          </a:xfrm>
          <a:prstGeom prst="rect">
            <a:avLst/>
          </a:prstGeom>
        </p:spPr>
        <p:txBody>
          <a:bodyPr wrap="none">
            <a:spAutoFit/>
          </a:bodyPr>
          <a:lstStyle/>
          <a:p>
            <a:pPr>
              <a:lnSpc>
                <a:spcPct val="107000"/>
              </a:lnSpc>
              <a:spcAft>
                <a:spcPts val="0"/>
              </a:spcAft>
            </a:pPr>
            <a:r>
              <a:rPr lang="en-IN" dirty="0">
                <a:latin typeface="Times New Roman" panose="02020603050405020304" pitchFamily="18" charset="0"/>
                <a:ea typeface="Times New Roman" panose="02020603050405020304" pitchFamily="18" charset="0"/>
                <a:cs typeface="Times New Roman" panose="02020603050405020304" pitchFamily="18" charset="0"/>
              </a:rPr>
              <a:t>Update the parameters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7101445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buNone/>
            </a:pPr>
            <a:r>
              <a:rPr lang="en-IN" b="1" dirty="0"/>
              <a:t>Advantages</a:t>
            </a:r>
            <a:r>
              <a:rPr lang="en-IN" dirty="0"/>
              <a:t>:</a:t>
            </a:r>
          </a:p>
          <a:p>
            <a:pPr lvl="0"/>
            <a:r>
              <a:rPr lang="en-IN" dirty="0"/>
              <a:t>Now the learning rate does not decay and the training does not stop.</a:t>
            </a:r>
          </a:p>
          <a:p>
            <a:pPr marL="0" indent="0">
              <a:buNone/>
            </a:pPr>
            <a:r>
              <a:rPr lang="en-IN" b="1" dirty="0"/>
              <a:t>Disadvantages</a:t>
            </a:r>
            <a:r>
              <a:rPr lang="en-IN" dirty="0"/>
              <a:t>:</a:t>
            </a:r>
          </a:p>
          <a:p>
            <a:pPr lvl="0"/>
            <a:r>
              <a:rPr lang="en-IN" dirty="0"/>
              <a:t>Computationally expensive.</a:t>
            </a:r>
          </a:p>
          <a:p>
            <a:endParaRPr lang="en-IN" dirty="0"/>
          </a:p>
        </p:txBody>
      </p:sp>
    </p:spTree>
    <p:extLst>
      <p:ext uri="{BB962C8B-B14F-4D97-AF65-F5344CB8AC3E}">
        <p14:creationId xmlns:p14="http://schemas.microsoft.com/office/powerpoint/2010/main" val="27831383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a:t>Adam</a:t>
            </a:r>
            <a:endParaRPr lang="en-IN"/>
          </a:p>
        </p:txBody>
      </p:sp>
      <p:sp>
        <p:nvSpPr>
          <p:cNvPr id="3" name="Content Placeholder 2"/>
          <p:cNvSpPr>
            <a:spLocks noGrp="1"/>
          </p:cNvSpPr>
          <p:nvPr>
            <p:ph idx="1"/>
          </p:nvPr>
        </p:nvSpPr>
        <p:spPr/>
        <p:txBody>
          <a:bodyPr/>
          <a:lstStyle/>
          <a:p>
            <a:r>
              <a:rPr lang="en-IN" dirty="0"/>
              <a:t>Adam (Adaptive Moment Estimation) works with momentums of first and second order. </a:t>
            </a:r>
          </a:p>
          <a:p>
            <a:r>
              <a:rPr lang="en-IN" dirty="0"/>
              <a:t>The intuition behind the Adam is that we don’t want to roll so fast just because we can jump over the minimum, we want to decrease the velocity a little bit for a careful search. </a:t>
            </a:r>
          </a:p>
          <a:p>
            <a:r>
              <a:rPr lang="en-IN" dirty="0"/>
              <a:t>In addition to storing an exponentially decaying average of past squared gradients like </a:t>
            </a:r>
            <a:r>
              <a:rPr lang="en-IN" b="1" dirty="0" err="1"/>
              <a:t>AdaDelta</a:t>
            </a:r>
            <a:r>
              <a:rPr lang="en-IN" dirty="0"/>
              <a:t>, </a:t>
            </a:r>
            <a:r>
              <a:rPr lang="en-IN" b="1" i="1" dirty="0"/>
              <a:t>Adam</a:t>
            </a:r>
            <a:r>
              <a:rPr lang="en-IN" i="1" dirty="0"/>
              <a:t> </a:t>
            </a:r>
            <a:r>
              <a:rPr lang="en-IN" dirty="0"/>
              <a:t>also keeps an exponentially decaying average of past gradients </a:t>
            </a:r>
            <a:r>
              <a:rPr lang="en-IN" b="1" dirty="0"/>
              <a:t>M(t).</a:t>
            </a:r>
            <a:endParaRPr lang="en-IN" dirty="0"/>
          </a:p>
          <a:p>
            <a:endParaRPr lang="en-IN" dirty="0"/>
          </a:p>
        </p:txBody>
      </p:sp>
    </p:spTree>
    <p:extLst>
      <p:ext uri="{BB962C8B-B14F-4D97-AF65-F5344CB8AC3E}">
        <p14:creationId xmlns:p14="http://schemas.microsoft.com/office/powerpoint/2010/main" val="17045115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b="1" dirty="0"/>
              <a:t>M(t) and V(t)</a:t>
            </a:r>
            <a:r>
              <a:rPr lang="en-IN" dirty="0"/>
              <a:t> are values of the first moment which is the </a:t>
            </a:r>
            <a:r>
              <a:rPr lang="en-IN" b="1" i="1" dirty="0"/>
              <a:t>Mean</a:t>
            </a:r>
            <a:r>
              <a:rPr lang="en-IN" dirty="0"/>
              <a:t> and the second moment which is the </a:t>
            </a:r>
            <a:r>
              <a:rPr lang="en-IN" b="1" i="1" dirty="0" err="1"/>
              <a:t>uncentered</a:t>
            </a:r>
            <a:r>
              <a:rPr lang="en-IN" b="1" i="1" dirty="0"/>
              <a:t> variance</a:t>
            </a:r>
            <a:r>
              <a:rPr lang="en-IN" dirty="0"/>
              <a:t> of the gradients</a:t>
            </a:r>
            <a:r>
              <a:rPr lang="en-IN" i="1" dirty="0"/>
              <a:t> </a:t>
            </a:r>
            <a:r>
              <a:rPr lang="en-IN" dirty="0"/>
              <a:t>respectively.</a:t>
            </a:r>
          </a:p>
          <a:p>
            <a:endParaRPr lang="en-IN" dirty="0"/>
          </a:p>
        </p:txBody>
      </p:sp>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4833257" y="2830286"/>
            <a:ext cx="2873828" cy="1637211"/>
          </a:xfrm>
          <a:prstGeom prst="rect">
            <a:avLst/>
          </a:prstGeom>
          <a:noFill/>
          <a:ln>
            <a:noFill/>
          </a:ln>
        </p:spPr>
      </p:pic>
      <p:sp>
        <p:nvSpPr>
          <p:cNvPr id="5" name="Rectangle 4"/>
          <p:cNvSpPr/>
          <p:nvPr/>
        </p:nvSpPr>
        <p:spPr>
          <a:xfrm>
            <a:off x="4948009" y="4671567"/>
            <a:ext cx="3602268" cy="388696"/>
          </a:xfrm>
          <a:prstGeom prst="rect">
            <a:avLst/>
          </a:prstGeom>
        </p:spPr>
        <p:txBody>
          <a:bodyPr wrap="none">
            <a:spAutoFit/>
          </a:bodyPr>
          <a:lstStyle/>
          <a:p>
            <a:pPr>
              <a:lnSpc>
                <a:spcPct val="107000"/>
              </a:lnSpc>
              <a:spcAft>
                <a:spcPts val="0"/>
              </a:spcAft>
            </a:pPr>
            <a:r>
              <a:rPr lang="en-IN" dirty="0">
                <a:latin typeface="Times New Roman" panose="02020603050405020304" pitchFamily="18" charset="0"/>
                <a:ea typeface="Times New Roman" panose="02020603050405020304" pitchFamily="18" charset="0"/>
                <a:cs typeface="Times New Roman" panose="02020603050405020304" pitchFamily="18" charset="0"/>
              </a:rPr>
              <a:t>First and second order of momentum</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3518971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Here, we are taking mean of </a:t>
            </a:r>
            <a:r>
              <a:rPr lang="en-IN" b="1" dirty="0"/>
              <a:t>M(t)</a:t>
            </a:r>
            <a:r>
              <a:rPr lang="en-IN" dirty="0"/>
              <a:t> and </a:t>
            </a:r>
            <a:r>
              <a:rPr lang="en-IN" b="1" dirty="0"/>
              <a:t>V(t)</a:t>
            </a:r>
            <a:r>
              <a:rPr lang="en-IN" dirty="0"/>
              <a:t> so that </a:t>
            </a:r>
            <a:r>
              <a:rPr lang="en-IN" b="1" dirty="0"/>
              <a:t>E[m(t)]</a:t>
            </a:r>
            <a:r>
              <a:rPr lang="en-IN" dirty="0"/>
              <a:t> can be equal to </a:t>
            </a:r>
            <a:r>
              <a:rPr lang="en-IN" b="1" dirty="0"/>
              <a:t>E[g(t)]</a:t>
            </a:r>
            <a:r>
              <a:rPr lang="en-IN" dirty="0"/>
              <a:t> where, </a:t>
            </a:r>
            <a:r>
              <a:rPr lang="en-IN" b="1" dirty="0"/>
              <a:t>E[f(x)]</a:t>
            </a:r>
            <a:r>
              <a:rPr lang="en-IN" dirty="0"/>
              <a:t> is an expected value of </a:t>
            </a:r>
            <a:r>
              <a:rPr lang="en-IN" b="1" dirty="0"/>
              <a:t>f(x)</a:t>
            </a:r>
            <a:r>
              <a:rPr lang="en-IN" dirty="0"/>
              <a:t>.</a:t>
            </a:r>
          </a:p>
          <a:p>
            <a:r>
              <a:rPr lang="en-IN" dirty="0"/>
              <a:t>To update the parameter:</a:t>
            </a:r>
          </a:p>
          <a:p>
            <a:endParaRPr lang="en-IN" dirty="0"/>
          </a:p>
          <a:p>
            <a:endParaRPr lang="en-IN" dirty="0"/>
          </a:p>
          <a:p>
            <a:endParaRPr lang="en-IN" dirty="0"/>
          </a:p>
          <a:p>
            <a:r>
              <a:rPr lang="en-IN" dirty="0"/>
              <a:t>The values for β1 is 0.9 , 0.999 for β2, and (10 x </a:t>
            </a:r>
            <a:r>
              <a:rPr lang="en-IN" dirty="0" err="1"/>
              <a:t>exp</a:t>
            </a:r>
            <a:r>
              <a:rPr lang="en-IN" dirty="0"/>
              <a:t>(-8)) for ‘</a:t>
            </a:r>
            <a:r>
              <a:rPr lang="en-IN" b="1" dirty="0"/>
              <a:t>ϵ’</a:t>
            </a:r>
            <a:r>
              <a:rPr lang="en-IN" dirty="0"/>
              <a:t>.</a:t>
            </a:r>
          </a:p>
          <a:p>
            <a:endParaRPr lang="en-IN" dirty="0"/>
          </a:p>
          <a:p>
            <a:endParaRPr lang="en-IN" dirty="0"/>
          </a:p>
        </p:txBody>
      </p:sp>
      <p:pic>
        <p:nvPicPr>
          <p:cNvPr id="7" name="Picture 6"/>
          <p:cNvPicPr/>
          <p:nvPr/>
        </p:nvPicPr>
        <p:blipFill>
          <a:blip r:embed="rId2">
            <a:extLst>
              <a:ext uri="{28A0092B-C50C-407E-A947-70E740481C1C}">
                <a14:useLocalDpi xmlns:a14="http://schemas.microsoft.com/office/drawing/2010/main" val="0"/>
              </a:ext>
            </a:extLst>
          </a:blip>
          <a:srcRect/>
          <a:stretch>
            <a:fillRect/>
          </a:stretch>
        </p:blipFill>
        <p:spPr bwMode="auto">
          <a:xfrm>
            <a:off x="2880903" y="3530237"/>
            <a:ext cx="3232513" cy="876300"/>
          </a:xfrm>
          <a:prstGeom prst="rect">
            <a:avLst/>
          </a:prstGeom>
          <a:noFill/>
          <a:ln>
            <a:noFill/>
          </a:ln>
        </p:spPr>
      </p:pic>
    </p:spTree>
    <p:extLst>
      <p:ext uri="{BB962C8B-B14F-4D97-AF65-F5344CB8AC3E}">
        <p14:creationId xmlns:p14="http://schemas.microsoft.com/office/powerpoint/2010/main" val="9388135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buNone/>
            </a:pPr>
            <a:r>
              <a:rPr lang="en-IN" b="1" dirty="0"/>
              <a:t>Advantages</a:t>
            </a:r>
            <a:r>
              <a:rPr lang="en-IN" dirty="0"/>
              <a:t>:</a:t>
            </a:r>
          </a:p>
          <a:p>
            <a:pPr lvl="0"/>
            <a:r>
              <a:rPr lang="en-IN" dirty="0"/>
              <a:t>The method is too fast and converges rapidly.</a:t>
            </a:r>
          </a:p>
          <a:p>
            <a:pPr lvl="0"/>
            <a:r>
              <a:rPr lang="en-IN" dirty="0"/>
              <a:t>Rectifies vanishing learning rate, high variance.</a:t>
            </a:r>
          </a:p>
          <a:p>
            <a:pPr marL="0" indent="0">
              <a:buNone/>
            </a:pPr>
            <a:r>
              <a:rPr lang="en-IN" b="1" dirty="0"/>
              <a:t>Disadvantages</a:t>
            </a:r>
            <a:r>
              <a:rPr lang="en-IN" dirty="0"/>
              <a:t>:</a:t>
            </a:r>
          </a:p>
          <a:p>
            <a:r>
              <a:rPr lang="en-IN" dirty="0"/>
              <a:t>Computationally costly.</a:t>
            </a:r>
          </a:p>
          <a:p>
            <a:endParaRPr lang="en-IN" dirty="0"/>
          </a:p>
        </p:txBody>
      </p:sp>
    </p:spTree>
    <p:extLst>
      <p:ext uri="{BB962C8B-B14F-4D97-AF65-F5344CB8AC3E}">
        <p14:creationId xmlns:p14="http://schemas.microsoft.com/office/powerpoint/2010/main" val="8759037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228</TotalTime>
  <Words>2943</Words>
  <Application>Microsoft Office PowerPoint</Application>
  <PresentationFormat>Widescreen</PresentationFormat>
  <Paragraphs>193</Paragraphs>
  <Slides>39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39</vt:i4>
      </vt:variant>
    </vt:vector>
  </HeadingPairs>
  <TitlesOfParts>
    <vt:vector size="45" baseType="lpstr">
      <vt:lpstr>Arial</vt:lpstr>
      <vt:lpstr>Calibri</vt:lpstr>
      <vt:lpstr>Calibri Light</vt:lpstr>
      <vt:lpstr>NimbusRomNo9L-Regu</vt:lpstr>
      <vt:lpstr>Times New Roman</vt:lpstr>
      <vt:lpstr>Office Theme</vt:lpstr>
      <vt:lpstr>Optimization for Training Deep Models</vt:lpstr>
      <vt:lpstr>Optimization for Deep Learning</vt:lpstr>
      <vt:lpstr>How Learning Differs from Pure Optimization</vt:lpstr>
      <vt:lpstr>PowerPoint Presentation</vt:lpstr>
      <vt:lpstr>Empirical Risk Minimization</vt:lpstr>
      <vt:lpstr>PowerPoint Presentation</vt:lpstr>
      <vt:lpstr>Surrogate Loss Functions &amp; Early Stopping</vt:lpstr>
      <vt:lpstr>PowerPoint Presentation</vt:lpstr>
      <vt:lpstr>Batch and Mini-batch</vt:lpstr>
      <vt:lpstr>PowerPoint Presentation</vt:lpstr>
      <vt:lpstr>Challenges in Neural Network Optimization</vt:lpstr>
      <vt:lpstr>2. Local Minima</vt:lpstr>
      <vt:lpstr>PowerPoint Presentation</vt:lpstr>
      <vt:lpstr>PowerPoint Presentation</vt:lpstr>
      <vt:lpstr>Plateaus, Saddle Points, and Other Flat Regions </vt:lpstr>
      <vt:lpstr>PowerPoint Presentation</vt:lpstr>
      <vt:lpstr>Eigenvalues of H tell you about the local geometry of the loss function around a point</vt:lpstr>
      <vt:lpstr>Cliffs and Exploding Gradients</vt:lpstr>
      <vt:lpstr>Basic Optimization algorithms</vt:lpstr>
      <vt:lpstr>PowerPoint Presentation</vt:lpstr>
      <vt:lpstr>Stochastic Gradient Descent</vt:lpstr>
      <vt:lpstr>PowerPoint Presentation</vt:lpstr>
      <vt:lpstr>Mini-Batch Gradient Descent</vt:lpstr>
      <vt:lpstr>PowerPoint Presentation</vt:lpstr>
      <vt:lpstr>Momentum</vt:lpstr>
      <vt:lpstr>PowerPoint Presentation</vt:lpstr>
      <vt:lpstr>Nesterov Accelerated Gradient</vt:lpstr>
      <vt:lpstr>PowerPoint Presentation</vt:lpstr>
      <vt:lpstr>Adagrad</vt:lpstr>
      <vt:lpstr>PowerPoint Presentation</vt:lpstr>
      <vt:lpstr>PowerPoint Presentation</vt:lpstr>
      <vt:lpstr>PowerPoint Presentation</vt:lpstr>
      <vt:lpstr>AdaDelta</vt:lpstr>
      <vt:lpstr>PowerPoint Presentation</vt:lpstr>
      <vt:lpstr>PowerPoint Presentation</vt:lpstr>
      <vt:lpstr>Adam</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Optimization for Training Deep Models</dc:title>
  <dc:creator>MSB</dc:creator>
  <cp:lastModifiedBy>Bunni Ranadeesh</cp:lastModifiedBy>
  <cp:revision>50</cp:revision>
  <dcterms:created xsi:type="dcterms:W3CDTF">2023-11-19T13:26:37Z</dcterms:created>
  <dcterms:modified xsi:type="dcterms:W3CDTF">2025-08-20T06:03:16Z</dcterms:modified>
</cp:coreProperties>
</file>