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58" r:id="rId3"/>
    <p:sldId id="259" r:id="rId4"/>
    <p:sldId id="260" r:id="rId5"/>
    <p:sldId id="261" r:id="rId6"/>
    <p:sldId id="316" r:id="rId7"/>
    <p:sldId id="299" r:id="rId8"/>
    <p:sldId id="318" r:id="rId9"/>
    <p:sldId id="300" r:id="rId10"/>
    <p:sldId id="302" r:id="rId11"/>
    <p:sldId id="304" r:id="rId12"/>
    <p:sldId id="305" r:id="rId13"/>
    <p:sldId id="306" r:id="rId14"/>
    <p:sldId id="264" r:id="rId15"/>
    <p:sldId id="265" r:id="rId16"/>
    <p:sldId id="266" r:id="rId17"/>
    <p:sldId id="309" r:id="rId18"/>
    <p:sldId id="313" r:id="rId19"/>
    <p:sldId id="312" r:id="rId20"/>
    <p:sldId id="311" r:id="rId21"/>
    <p:sldId id="322" r:id="rId22"/>
    <p:sldId id="323" r:id="rId23"/>
    <p:sldId id="324" r:id="rId24"/>
    <p:sldId id="325" r:id="rId25"/>
    <p:sldId id="328" r:id="rId26"/>
    <p:sldId id="283" r:id="rId27"/>
    <p:sldId id="284" r:id="rId28"/>
    <p:sldId id="285" r:id="rId29"/>
    <p:sldId id="286" r:id="rId30"/>
    <p:sldId id="287" r:id="rId31"/>
    <p:sldId id="288" r:id="rId32"/>
    <p:sldId id="289" r:id="rId33"/>
    <p:sldId id="290" r:id="rId34"/>
    <p:sldId id="291" r:id="rId35"/>
    <p:sldId id="292"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08C2C6-A94D-441C-B760-3A0D29732DAC}" type="datetimeFigureOut">
              <a:rPr lang="en-IN" smtClean="0"/>
              <a:t>15-07-2025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42F1C8-083C-46F6-9CC7-50A568BF9009}" type="slidenum">
              <a:rPr lang="en-IN" smtClean="0"/>
              <a:t>‹#›</a:t>
            </a:fld>
            <a:endParaRPr lang="en-IN"/>
          </a:p>
        </p:txBody>
      </p:sp>
    </p:spTree>
    <p:extLst>
      <p:ext uri="{BB962C8B-B14F-4D97-AF65-F5344CB8AC3E}">
        <p14:creationId xmlns:p14="http://schemas.microsoft.com/office/powerpoint/2010/main" val="3572596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7E8E53-FB47-4CBB-8CE0-B6A37821A0A1}" type="slidenum">
              <a:rPr lang="en-US" smtClean="0"/>
              <a:t>11</a:t>
            </a:fld>
            <a:endParaRPr lang="en-US" dirty="0"/>
          </a:p>
        </p:txBody>
      </p:sp>
    </p:spTree>
    <p:extLst>
      <p:ext uri="{BB962C8B-B14F-4D97-AF65-F5344CB8AC3E}">
        <p14:creationId xmlns:p14="http://schemas.microsoft.com/office/powerpoint/2010/main" val="40621544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C7E8E53-FB47-4CBB-8CE0-B6A37821A0A1}" type="slidenum">
              <a:rPr lang="en-US" smtClean="0"/>
              <a:t>13</a:t>
            </a:fld>
            <a:endParaRPr lang="en-US" dirty="0"/>
          </a:p>
        </p:txBody>
      </p:sp>
    </p:spTree>
    <p:extLst>
      <p:ext uri="{BB962C8B-B14F-4D97-AF65-F5344CB8AC3E}">
        <p14:creationId xmlns:p14="http://schemas.microsoft.com/office/powerpoint/2010/main" val="16905558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03273-2AA3-C518-4740-7F48E4D6C52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6BC64A8-162D-3F05-0E14-08D3BB86EF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FDC4DE5-3D56-85C8-46B1-8D92738B66A9}"/>
              </a:ext>
            </a:extLst>
          </p:cNvPr>
          <p:cNvSpPr>
            <a:spLocks noGrp="1"/>
          </p:cNvSpPr>
          <p:nvPr>
            <p:ph type="dt" sz="half" idx="10"/>
          </p:nvPr>
        </p:nvSpPr>
        <p:spPr/>
        <p:txBody>
          <a:bodyPr/>
          <a:lstStyle/>
          <a:p>
            <a:fld id="{532252AF-3E7E-4DEE-A22C-B1974EB3B5F3}" type="datetimeFigureOut">
              <a:rPr lang="en-IN" smtClean="0"/>
              <a:t>15-07-2025</a:t>
            </a:fld>
            <a:endParaRPr lang="en-IN"/>
          </a:p>
        </p:txBody>
      </p:sp>
      <p:sp>
        <p:nvSpPr>
          <p:cNvPr id="5" name="Footer Placeholder 4">
            <a:extLst>
              <a:ext uri="{FF2B5EF4-FFF2-40B4-BE49-F238E27FC236}">
                <a16:creationId xmlns:a16="http://schemas.microsoft.com/office/drawing/2014/main" id="{8A28B095-D4EE-A82B-25F1-79F6BE0088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B58680-6694-C6EB-6FFC-2B055898FC18}"/>
              </a:ext>
            </a:extLst>
          </p:cNvPr>
          <p:cNvSpPr>
            <a:spLocks noGrp="1"/>
          </p:cNvSpPr>
          <p:nvPr>
            <p:ph type="sldNum" sz="quarter" idx="12"/>
          </p:nvPr>
        </p:nvSpPr>
        <p:spPr/>
        <p:txBody>
          <a:bodyPr/>
          <a:lstStyle/>
          <a:p>
            <a:fld id="{18718325-40CB-4B22-83C1-70668835BFDB}" type="slidenum">
              <a:rPr lang="en-IN" smtClean="0"/>
              <a:t>‹#›</a:t>
            </a:fld>
            <a:endParaRPr lang="en-IN"/>
          </a:p>
        </p:txBody>
      </p:sp>
    </p:spTree>
    <p:extLst>
      <p:ext uri="{BB962C8B-B14F-4D97-AF65-F5344CB8AC3E}">
        <p14:creationId xmlns:p14="http://schemas.microsoft.com/office/powerpoint/2010/main" val="2025811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D4357-DA4D-A5CD-7218-66F4B1ECC78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4B0D6CA-C3A4-CE2E-7FBB-A0DE046FDAC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1F099C-6B5F-E96A-18BC-86A444D581F1}"/>
              </a:ext>
            </a:extLst>
          </p:cNvPr>
          <p:cNvSpPr>
            <a:spLocks noGrp="1"/>
          </p:cNvSpPr>
          <p:nvPr>
            <p:ph type="dt" sz="half" idx="10"/>
          </p:nvPr>
        </p:nvSpPr>
        <p:spPr/>
        <p:txBody>
          <a:bodyPr/>
          <a:lstStyle/>
          <a:p>
            <a:fld id="{532252AF-3E7E-4DEE-A22C-B1974EB3B5F3}" type="datetimeFigureOut">
              <a:rPr lang="en-IN" smtClean="0"/>
              <a:t>15-07-2025</a:t>
            </a:fld>
            <a:endParaRPr lang="en-IN"/>
          </a:p>
        </p:txBody>
      </p:sp>
      <p:sp>
        <p:nvSpPr>
          <p:cNvPr id="5" name="Footer Placeholder 4">
            <a:extLst>
              <a:ext uri="{FF2B5EF4-FFF2-40B4-BE49-F238E27FC236}">
                <a16:creationId xmlns:a16="http://schemas.microsoft.com/office/drawing/2014/main" id="{1C9B0487-E74C-2344-69B5-7B6F554B90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9A3801-6120-7C86-A04A-7DDB10609383}"/>
              </a:ext>
            </a:extLst>
          </p:cNvPr>
          <p:cNvSpPr>
            <a:spLocks noGrp="1"/>
          </p:cNvSpPr>
          <p:nvPr>
            <p:ph type="sldNum" sz="quarter" idx="12"/>
          </p:nvPr>
        </p:nvSpPr>
        <p:spPr/>
        <p:txBody>
          <a:bodyPr/>
          <a:lstStyle/>
          <a:p>
            <a:fld id="{18718325-40CB-4B22-83C1-70668835BFDB}" type="slidenum">
              <a:rPr lang="en-IN" smtClean="0"/>
              <a:t>‹#›</a:t>
            </a:fld>
            <a:endParaRPr lang="en-IN"/>
          </a:p>
        </p:txBody>
      </p:sp>
    </p:spTree>
    <p:extLst>
      <p:ext uri="{BB962C8B-B14F-4D97-AF65-F5344CB8AC3E}">
        <p14:creationId xmlns:p14="http://schemas.microsoft.com/office/powerpoint/2010/main" val="3704473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C980C-553C-F408-71CE-1A283166F04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F19171B-AC3D-1742-9188-70491D72FD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B3B1E07-A64D-090E-9EC7-B464EF22A054}"/>
              </a:ext>
            </a:extLst>
          </p:cNvPr>
          <p:cNvSpPr>
            <a:spLocks noGrp="1"/>
          </p:cNvSpPr>
          <p:nvPr>
            <p:ph type="dt" sz="half" idx="10"/>
          </p:nvPr>
        </p:nvSpPr>
        <p:spPr/>
        <p:txBody>
          <a:bodyPr/>
          <a:lstStyle/>
          <a:p>
            <a:fld id="{532252AF-3E7E-4DEE-A22C-B1974EB3B5F3}" type="datetimeFigureOut">
              <a:rPr lang="en-IN" smtClean="0"/>
              <a:t>15-07-2025</a:t>
            </a:fld>
            <a:endParaRPr lang="en-IN"/>
          </a:p>
        </p:txBody>
      </p:sp>
      <p:sp>
        <p:nvSpPr>
          <p:cNvPr id="5" name="Footer Placeholder 4">
            <a:extLst>
              <a:ext uri="{FF2B5EF4-FFF2-40B4-BE49-F238E27FC236}">
                <a16:creationId xmlns:a16="http://schemas.microsoft.com/office/drawing/2014/main" id="{A29B8FEF-D045-CD4C-0B05-5B2C051CF9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11C0D9-AB19-66D0-9B69-FC538587470A}"/>
              </a:ext>
            </a:extLst>
          </p:cNvPr>
          <p:cNvSpPr>
            <a:spLocks noGrp="1"/>
          </p:cNvSpPr>
          <p:nvPr>
            <p:ph type="sldNum" sz="quarter" idx="12"/>
          </p:nvPr>
        </p:nvSpPr>
        <p:spPr/>
        <p:txBody>
          <a:bodyPr/>
          <a:lstStyle/>
          <a:p>
            <a:fld id="{18718325-40CB-4B22-83C1-70668835BFDB}" type="slidenum">
              <a:rPr lang="en-IN" smtClean="0"/>
              <a:t>‹#›</a:t>
            </a:fld>
            <a:endParaRPr lang="en-IN"/>
          </a:p>
        </p:txBody>
      </p:sp>
    </p:spTree>
    <p:extLst>
      <p:ext uri="{BB962C8B-B14F-4D97-AF65-F5344CB8AC3E}">
        <p14:creationId xmlns:p14="http://schemas.microsoft.com/office/powerpoint/2010/main" val="3339492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015FA-BC2C-129D-EF3F-6E7A8E09A41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6934B8E-C57B-6446-84EC-954E42B1D8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51CA84-2992-6DF3-8A3C-F7BA7DD18E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0E2CBE8-7472-4D0B-E517-A1E2643F1A94}"/>
              </a:ext>
            </a:extLst>
          </p:cNvPr>
          <p:cNvSpPr>
            <a:spLocks noGrp="1"/>
          </p:cNvSpPr>
          <p:nvPr>
            <p:ph type="dt" sz="half" idx="10"/>
          </p:nvPr>
        </p:nvSpPr>
        <p:spPr/>
        <p:txBody>
          <a:bodyPr/>
          <a:lstStyle/>
          <a:p>
            <a:fld id="{532252AF-3E7E-4DEE-A22C-B1974EB3B5F3}" type="datetimeFigureOut">
              <a:rPr lang="en-IN" smtClean="0"/>
              <a:t>15-07-2025</a:t>
            </a:fld>
            <a:endParaRPr lang="en-IN"/>
          </a:p>
        </p:txBody>
      </p:sp>
      <p:sp>
        <p:nvSpPr>
          <p:cNvPr id="6" name="Footer Placeholder 5">
            <a:extLst>
              <a:ext uri="{FF2B5EF4-FFF2-40B4-BE49-F238E27FC236}">
                <a16:creationId xmlns:a16="http://schemas.microsoft.com/office/drawing/2014/main" id="{8612E6C9-570C-2DCE-B5C8-AC42B99312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4A8A638-9A89-9788-C70D-890EA60305C3}"/>
              </a:ext>
            </a:extLst>
          </p:cNvPr>
          <p:cNvSpPr>
            <a:spLocks noGrp="1"/>
          </p:cNvSpPr>
          <p:nvPr>
            <p:ph type="sldNum" sz="quarter" idx="12"/>
          </p:nvPr>
        </p:nvSpPr>
        <p:spPr/>
        <p:txBody>
          <a:bodyPr/>
          <a:lstStyle/>
          <a:p>
            <a:fld id="{18718325-40CB-4B22-83C1-70668835BFDB}" type="slidenum">
              <a:rPr lang="en-IN" smtClean="0"/>
              <a:t>‹#›</a:t>
            </a:fld>
            <a:endParaRPr lang="en-IN"/>
          </a:p>
        </p:txBody>
      </p:sp>
    </p:spTree>
    <p:extLst>
      <p:ext uri="{BB962C8B-B14F-4D97-AF65-F5344CB8AC3E}">
        <p14:creationId xmlns:p14="http://schemas.microsoft.com/office/powerpoint/2010/main" val="1164350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FC16F-903D-9937-C74C-9DBDA31992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3346307-4C2D-47D5-A2E3-5F469D1EC9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F9D83C7-A03B-521D-A850-C7115949D7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996AA0E-DAA3-B95C-5029-6D4BE5DED2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D1C50B-8E05-924E-EB8A-42C8C541B11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AD79994-9EF4-AA88-967D-BF015F4EB0DB}"/>
              </a:ext>
            </a:extLst>
          </p:cNvPr>
          <p:cNvSpPr>
            <a:spLocks noGrp="1"/>
          </p:cNvSpPr>
          <p:nvPr>
            <p:ph type="dt" sz="half" idx="10"/>
          </p:nvPr>
        </p:nvSpPr>
        <p:spPr/>
        <p:txBody>
          <a:bodyPr/>
          <a:lstStyle/>
          <a:p>
            <a:fld id="{532252AF-3E7E-4DEE-A22C-B1974EB3B5F3}" type="datetimeFigureOut">
              <a:rPr lang="en-IN" smtClean="0"/>
              <a:t>15-07-2025</a:t>
            </a:fld>
            <a:endParaRPr lang="en-IN"/>
          </a:p>
        </p:txBody>
      </p:sp>
      <p:sp>
        <p:nvSpPr>
          <p:cNvPr id="8" name="Footer Placeholder 7">
            <a:extLst>
              <a:ext uri="{FF2B5EF4-FFF2-40B4-BE49-F238E27FC236}">
                <a16:creationId xmlns:a16="http://schemas.microsoft.com/office/drawing/2014/main" id="{B1D6DE4F-533E-30B3-4A8A-21223B0B520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D142E36-F7EE-6E5F-2772-B403E91E8951}"/>
              </a:ext>
            </a:extLst>
          </p:cNvPr>
          <p:cNvSpPr>
            <a:spLocks noGrp="1"/>
          </p:cNvSpPr>
          <p:nvPr>
            <p:ph type="sldNum" sz="quarter" idx="12"/>
          </p:nvPr>
        </p:nvSpPr>
        <p:spPr/>
        <p:txBody>
          <a:bodyPr/>
          <a:lstStyle/>
          <a:p>
            <a:fld id="{18718325-40CB-4B22-83C1-70668835BFDB}" type="slidenum">
              <a:rPr lang="en-IN" smtClean="0"/>
              <a:t>‹#›</a:t>
            </a:fld>
            <a:endParaRPr lang="en-IN"/>
          </a:p>
        </p:txBody>
      </p:sp>
    </p:spTree>
    <p:extLst>
      <p:ext uri="{BB962C8B-B14F-4D97-AF65-F5344CB8AC3E}">
        <p14:creationId xmlns:p14="http://schemas.microsoft.com/office/powerpoint/2010/main" val="12571651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167B4-AF94-4481-4B44-04050A52C53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142FA7E-6E41-8EDC-8EAF-795DE9DAE31D}"/>
              </a:ext>
            </a:extLst>
          </p:cNvPr>
          <p:cNvSpPr>
            <a:spLocks noGrp="1"/>
          </p:cNvSpPr>
          <p:nvPr>
            <p:ph type="dt" sz="half" idx="10"/>
          </p:nvPr>
        </p:nvSpPr>
        <p:spPr/>
        <p:txBody>
          <a:bodyPr/>
          <a:lstStyle/>
          <a:p>
            <a:fld id="{532252AF-3E7E-4DEE-A22C-B1974EB3B5F3}" type="datetimeFigureOut">
              <a:rPr lang="en-IN" smtClean="0"/>
              <a:t>15-07-2025</a:t>
            </a:fld>
            <a:endParaRPr lang="en-IN"/>
          </a:p>
        </p:txBody>
      </p:sp>
      <p:sp>
        <p:nvSpPr>
          <p:cNvPr id="4" name="Footer Placeholder 3">
            <a:extLst>
              <a:ext uri="{FF2B5EF4-FFF2-40B4-BE49-F238E27FC236}">
                <a16:creationId xmlns:a16="http://schemas.microsoft.com/office/drawing/2014/main" id="{A9F240C7-6329-8F96-8791-A31CC121D3C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0E50CED-F92D-47FC-B6B0-DD85AE1E9EFB}"/>
              </a:ext>
            </a:extLst>
          </p:cNvPr>
          <p:cNvSpPr>
            <a:spLocks noGrp="1"/>
          </p:cNvSpPr>
          <p:nvPr>
            <p:ph type="sldNum" sz="quarter" idx="12"/>
          </p:nvPr>
        </p:nvSpPr>
        <p:spPr/>
        <p:txBody>
          <a:bodyPr/>
          <a:lstStyle/>
          <a:p>
            <a:fld id="{18718325-40CB-4B22-83C1-70668835BFDB}" type="slidenum">
              <a:rPr lang="en-IN" smtClean="0"/>
              <a:t>‹#›</a:t>
            </a:fld>
            <a:endParaRPr lang="en-IN"/>
          </a:p>
        </p:txBody>
      </p:sp>
    </p:spTree>
    <p:extLst>
      <p:ext uri="{BB962C8B-B14F-4D97-AF65-F5344CB8AC3E}">
        <p14:creationId xmlns:p14="http://schemas.microsoft.com/office/powerpoint/2010/main" val="39922935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DD2716-A637-72CA-E8F4-AAFC2CAAFA39}"/>
              </a:ext>
            </a:extLst>
          </p:cNvPr>
          <p:cNvSpPr>
            <a:spLocks noGrp="1"/>
          </p:cNvSpPr>
          <p:nvPr>
            <p:ph type="dt" sz="half" idx="10"/>
          </p:nvPr>
        </p:nvSpPr>
        <p:spPr/>
        <p:txBody>
          <a:bodyPr/>
          <a:lstStyle/>
          <a:p>
            <a:fld id="{532252AF-3E7E-4DEE-A22C-B1974EB3B5F3}" type="datetimeFigureOut">
              <a:rPr lang="en-IN" smtClean="0"/>
              <a:t>15-07-2025</a:t>
            </a:fld>
            <a:endParaRPr lang="en-IN"/>
          </a:p>
        </p:txBody>
      </p:sp>
      <p:sp>
        <p:nvSpPr>
          <p:cNvPr id="3" name="Footer Placeholder 2">
            <a:extLst>
              <a:ext uri="{FF2B5EF4-FFF2-40B4-BE49-F238E27FC236}">
                <a16:creationId xmlns:a16="http://schemas.microsoft.com/office/drawing/2014/main" id="{3B3E1492-82B2-EBEB-7F8A-1D7CDD8FE3B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4F14C68-FC40-D7C4-6528-CE553AB6BEF3}"/>
              </a:ext>
            </a:extLst>
          </p:cNvPr>
          <p:cNvSpPr>
            <a:spLocks noGrp="1"/>
          </p:cNvSpPr>
          <p:nvPr>
            <p:ph type="sldNum" sz="quarter" idx="12"/>
          </p:nvPr>
        </p:nvSpPr>
        <p:spPr/>
        <p:txBody>
          <a:bodyPr/>
          <a:lstStyle/>
          <a:p>
            <a:fld id="{18718325-40CB-4B22-83C1-70668835BFDB}" type="slidenum">
              <a:rPr lang="en-IN" smtClean="0"/>
              <a:t>‹#›</a:t>
            </a:fld>
            <a:endParaRPr lang="en-IN"/>
          </a:p>
        </p:txBody>
      </p:sp>
    </p:spTree>
    <p:extLst>
      <p:ext uri="{BB962C8B-B14F-4D97-AF65-F5344CB8AC3E}">
        <p14:creationId xmlns:p14="http://schemas.microsoft.com/office/powerpoint/2010/main" val="7460689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2616F-1B41-F72B-0C5D-66B18750DE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3ABD973-56A1-2CFD-3AD8-1260FCB23C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10F7978-B6D6-F974-C4D1-F269F00F48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77801B-D29D-CBC4-F10B-EE417BB9BA3A}"/>
              </a:ext>
            </a:extLst>
          </p:cNvPr>
          <p:cNvSpPr>
            <a:spLocks noGrp="1"/>
          </p:cNvSpPr>
          <p:nvPr>
            <p:ph type="dt" sz="half" idx="10"/>
          </p:nvPr>
        </p:nvSpPr>
        <p:spPr/>
        <p:txBody>
          <a:bodyPr/>
          <a:lstStyle/>
          <a:p>
            <a:fld id="{532252AF-3E7E-4DEE-A22C-B1974EB3B5F3}" type="datetimeFigureOut">
              <a:rPr lang="en-IN" smtClean="0"/>
              <a:t>15-07-2025</a:t>
            </a:fld>
            <a:endParaRPr lang="en-IN"/>
          </a:p>
        </p:txBody>
      </p:sp>
      <p:sp>
        <p:nvSpPr>
          <p:cNvPr id="6" name="Footer Placeholder 5">
            <a:extLst>
              <a:ext uri="{FF2B5EF4-FFF2-40B4-BE49-F238E27FC236}">
                <a16:creationId xmlns:a16="http://schemas.microsoft.com/office/drawing/2014/main" id="{63EF611A-CB33-4875-6D43-E50BB9A4F9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EC78CA-746E-C218-0CC3-49D4BACB4EE5}"/>
              </a:ext>
            </a:extLst>
          </p:cNvPr>
          <p:cNvSpPr>
            <a:spLocks noGrp="1"/>
          </p:cNvSpPr>
          <p:nvPr>
            <p:ph type="sldNum" sz="quarter" idx="12"/>
          </p:nvPr>
        </p:nvSpPr>
        <p:spPr/>
        <p:txBody>
          <a:bodyPr/>
          <a:lstStyle/>
          <a:p>
            <a:fld id="{18718325-40CB-4B22-83C1-70668835BFDB}" type="slidenum">
              <a:rPr lang="en-IN" smtClean="0"/>
              <a:t>‹#›</a:t>
            </a:fld>
            <a:endParaRPr lang="en-IN"/>
          </a:p>
        </p:txBody>
      </p:sp>
    </p:spTree>
    <p:extLst>
      <p:ext uri="{BB962C8B-B14F-4D97-AF65-F5344CB8AC3E}">
        <p14:creationId xmlns:p14="http://schemas.microsoft.com/office/powerpoint/2010/main" val="33040953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FB432-3A1E-6CB3-DCDC-9D5947A32D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D7EC036-A8C9-2A3D-E889-0D9AE95FD03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D1B2F8E-DB57-C61F-EE23-9A9B60E9B7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74A43E-65A4-E354-B736-B67826393B75}"/>
              </a:ext>
            </a:extLst>
          </p:cNvPr>
          <p:cNvSpPr>
            <a:spLocks noGrp="1"/>
          </p:cNvSpPr>
          <p:nvPr>
            <p:ph type="dt" sz="half" idx="10"/>
          </p:nvPr>
        </p:nvSpPr>
        <p:spPr/>
        <p:txBody>
          <a:bodyPr/>
          <a:lstStyle/>
          <a:p>
            <a:fld id="{532252AF-3E7E-4DEE-A22C-B1974EB3B5F3}" type="datetimeFigureOut">
              <a:rPr lang="en-IN" smtClean="0"/>
              <a:t>15-07-2025</a:t>
            </a:fld>
            <a:endParaRPr lang="en-IN"/>
          </a:p>
        </p:txBody>
      </p:sp>
      <p:sp>
        <p:nvSpPr>
          <p:cNvPr id="6" name="Footer Placeholder 5">
            <a:extLst>
              <a:ext uri="{FF2B5EF4-FFF2-40B4-BE49-F238E27FC236}">
                <a16:creationId xmlns:a16="http://schemas.microsoft.com/office/drawing/2014/main" id="{62776AA1-744C-E472-2297-DB32738E11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73037A9-A7C5-7E79-D2AD-1EF67CA6D4B8}"/>
              </a:ext>
            </a:extLst>
          </p:cNvPr>
          <p:cNvSpPr>
            <a:spLocks noGrp="1"/>
          </p:cNvSpPr>
          <p:nvPr>
            <p:ph type="sldNum" sz="quarter" idx="12"/>
          </p:nvPr>
        </p:nvSpPr>
        <p:spPr/>
        <p:txBody>
          <a:bodyPr/>
          <a:lstStyle/>
          <a:p>
            <a:fld id="{18718325-40CB-4B22-83C1-70668835BFDB}" type="slidenum">
              <a:rPr lang="en-IN" smtClean="0"/>
              <a:t>‹#›</a:t>
            </a:fld>
            <a:endParaRPr lang="en-IN"/>
          </a:p>
        </p:txBody>
      </p:sp>
    </p:spTree>
    <p:extLst>
      <p:ext uri="{BB962C8B-B14F-4D97-AF65-F5344CB8AC3E}">
        <p14:creationId xmlns:p14="http://schemas.microsoft.com/office/powerpoint/2010/main" val="3223731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B2F15-8F39-CE42-8407-147907CC0A0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051F27A-96F1-225D-EAA9-603F5C2211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214DD6-5EE3-33EA-0FD8-05A3C6DE3035}"/>
              </a:ext>
            </a:extLst>
          </p:cNvPr>
          <p:cNvSpPr>
            <a:spLocks noGrp="1"/>
          </p:cNvSpPr>
          <p:nvPr>
            <p:ph type="dt" sz="half" idx="10"/>
          </p:nvPr>
        </p:nvSpPr>
        <p:spPr/>
        <p:txBody>
          <a:bodyPr/>
          <a:lstStyle/>
          <a:p>
            <a:fld id="{532252AF-3E7E-4DEE-A22C-B1974EB3B5F3}" type="datetimeFigureOut">
              <a:rPr lang="en-IN" smtClean="0"/>
              <a:t>15-07-2025</a:t>
            </a:fld>
            <a:endParaRPr lang="en-IN"/>
          </a:p>
        </p:txBody>
      </p:sp>
      <p:sp>
        <p:nvSpPr>
          <p:cNvPr id="5" name="Footer Placeholder 4">
            <a:extLst>
              <a:ext uri="{FF2B5EF4-FFF2-40B4-BE49-F238E27FC236}">
                <a16:creationId xmlns:a16="http://schemas.microsoft.com/office/drawing/2014/main" id="{E71C1464-4B7A-050E-C0F8-D4E9467D5D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EAF798-83B1-3282-1E06-6BAF05F8C9AB}"/>
              </a:ext>
            </a:extLst>
          </p:cNvPr>
          <p:cNvSpPr>
            <a:spLocks noGrp="1"/>
          </p:cNvSpPr>
          <p:nvPr>
            <p:ph type="sldNum" sz="quarter" idx="12"/>
          </p:nvPr>
        </p:nvSpPr>
        <p:spPr/>
        <p:txBody>
          <a:bodyPr/>
          <a:lstStyle/>
          <a:p>
            <a:fld id="{18718325-40CB-4B22-83C1-70668835BFDB}" type="slidenum">
              <a:rPr lang="en-IN" smtClean="0"/>
              <a:t>‹#›</a:t>
            </a:fld>
            <a:endParaRPr lang="en-IN"/>
          </a:p>
        </p:txBody>
      </p:sp>
    </p:spTree>
    <p:extLst>
      <p:ext uri="{BB962C8B-B14F-4D97-AF65-F5344CB8AC3E}">
        <p14:creationId xmlns:p14="http://schemas.microsoft.com/office/powerpoint/2010/main" val="13737139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425B2E-63FE-6A84-C89D-2024C3D50B8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869233-A6E2-0B0D-9C4B-4BD683ED62F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98F293-FB27-8731-5565-D535DC8C37B3}"/>
              </a:ext>
            </a:extLst>
          </p:cNvPr>
          <p:cNvSpPr>
            <a:spLocks noGrp="1"/>
          </p:cNvSpPr>
          <p:nvPr>
            <p:ph type="dt" sz="half" idx="10"/>
          </p:nvPr>
        </p:nvSpPr>
        <p:spPr/>
        <p:txBody>
          <a:bodyPr/>
          <a:lstStyle/>
          <a:p>
            <a:fld id="{532252AF-3E7E-4DEE-A22C-B1974EB3B5F3}" type="datetimeFigureOut">
              <a:rPr lang="en-IN" smtClean="0"/>
              <a:t>15-07-2025</a:t>
            </a:fld>
            <a:endParaRPr lang="en-IN"/>
          </a:p>
        </p:txBody>
      </p:sp>
      <p:sp>
        <p:nvSpPr>
          <p:cNvPr id="5" name="Footer Placeholder 4">
            <a:extLst>
              <a:ext uri="{FF2B5EF4-FFF2-40B4-BE49-F238E27FC236}">
                <a16:creationId xmlns:a16="http://schemas.microsoft.com/office/drawing/2014/main" id="{CD37888B-7FBF-317D-97AD-D2B2289293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5257BF2-8828-3DD6-641C-3A32AC97E0D6}"/>
              </a:ext>
            </a:extLst>
          </p:cNvPr>
          <p:cNvSpPr>
            <a:spLocks noGrp="1"/>
          </p:cNvSpPr>
          <p:nvPr>
            <p:ph type="sldNum" sz="quarter" idx="12"/>
          </p:nvPr>
        </p:nvSpPr>
        <p:spPr/>
        <p:txBody>
          <a:bodyPr/>
          <a:lstStyle/>
          <a:p>
            <a:fld id="{18718325-40CB-4B22-83C1-70668835BFDB}" type="slidenum">
              <a:rPr lang="en-IN" smtClean="0"/>
              <a:t>‹#›</a:t>
            </a:fld>
            <a:endParaRPr lang="en-IN"/>
          </a:p>
        </p:txBody>
      </p:sp>
    </p:spTree>
    <p:extLst>
      <p:ext uri="{BB962C8B-B14F-4D97-AF65-F5344CB8AC3E}">
        <p14:creationId xmlns:p14="http://schemas.microsoft.com/office/powerpoint/2010/main" val="110078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397FB3-A5EC-02A4-AB06-FA34E570B4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FF69C0D-3746-06B3-3122-9B7EC0FBE5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2860E9-10A5-9803-8A4F-2B40C9F473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32252AF-3E7E-4DEE-A22C-B1974EB3B5F3}" type="datetimeFigureOut">
              <a:rPr lang="en-IN" smtClean="0"/>
              <a:t>15-07-2025</a:t>
            </a:fld>
            <a:endParaRPr lang="en-IN"/>
          </a:p>
        </p:txBody>
      </p:sp>
      <p:sp>
        <p:nvSpPr>
          <p:cNvPr id="5" name="Footer Placeholder 4">
            <a:extLst>
              <a:ext uri="{FF2B5EF4-FFF2-40B4-BE49-F238E27FC236}">
                <a16:creationId xmlns:a16="http://schemas.microsoft.com/office/drawing/2014/main" id="{F226E94D-7634-D5AA-6D29-27325B256F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A2FC340-A8D3-6DEA-601C-26C8CC4D10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718325-40CB-4B22-83C1-70668835BFDB}" type="slidenum">
              <a:rPr lang="en-IN" smtClean="0"/>
              <a:t>‹#›</a:t>
            </a:fld>
            <a:endParaRPr lang="en-IN"/>
          </a:p>
        </p:txBody>
      </p:sp>
    </p:spTree>
    <p:extLst>
      <p:ext uri="{BB962C8B-B14F-4D97-AF65-F5344CB8AC3E}">
        <p14:creationId xmlns:p14="http://schemas.microsoft.com/office/powerpoint/2010/main" val="696737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7.png"/><Relationship Id="rId7"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7.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13.png"/><Relationship Id="rId12"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5.png"/><Relationship Id="rId5" Type="http://schemas.openxmlformats.org/officeDocument/2006/relationships/image" Target="../media/image21.png"/><Relationship Id="rId10" Type="http://schemas.openxmlformats.org/officeDocument/2006/relationships/image" Target="../media/image24.png"/><Relationship Id="rId4" Type="http://schemas.openxmlformats.org/officeDocument/2006/relationships/image" Target="../media/image20.png"/><Relationship Id="rId9"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5AF87-B27E-E323-BBB1-325293FB0DAD}"/>
              </a:ext>
            </a:extLst>
          </p:cNvPr>
          <p:cNvSpPr>
            <a:spLocks noGrp="1"/>
          </p:cNvSpPr>
          <p:nvPr>
            <p:ph type="ctrTitle"/>
          </p:nvPr>
        </p:nvSpPr>
        <p:spPr/>
        <p:txBody>
          <a:bodyPr/>
          <a:lstStyle/>
          <a:p>
            <a:r>
              <a:rPr lang="en-IN" dirty="0"/>
              <a:t>Gradient Descent</a:t>
            </a:r>
          </a:p>
        </p:txBody>
      </p:sp>
    </p:spTree>
    <p:extLst>
      <p:ext uri="{BB962C8B-B14F-4D97-AF65-F5344CB8AC3E}">
        <p14:creationId xmlns:p14="http://schemas.microsoft.com/office/powerpoint/2010/main" val="16899187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1037"/>
            <a:ext cx="10515600" cy="1325563"/>
          </a:xfrm>
        </p:spPr>
        <p:txBody>
          <a:bodyPr>
            <a:normAutofit/>
          </a:bodyPr>
          <a:lstStyle/>
          <a:p>
            <a:r>
              <a:rPr lang="en-IN" dirty="0"/>
              <a:t>What is Gradient Descent or Steepest Descent?</a:t>
            </a:r>
          </a:p>
        </p:txBody>
      </p:sp>
      <p:sp>
        <p:nvSpPr>
          <p:cNvPr id="3" name="Content Placeholder 2"/>
          <p:cNvSpPr>
            <a:spLocks noGrp="1"/>
          </p:cNvSpPr>
          <p:nvPr>
            <p:ph idx="1"/>
          </p:nvPr>
        </p:nvSpPr>
        <p:spPr>
          <a:xfrm>
            <a:off x="838200" y="2401697"/>
            <a:ext cx="10515600" cy="3775266"/>
          </a:xfrm>
        </p:spPr>
        <p:txBody>
          <a:bodyPr/>
          <a:lstStyle/>
          <a:p>
            <a:r>
              <a:rPr lang="en-IN" dirty="0"/>
              <a:t>Gradient descent was initially discovered by </a:t>
            </a:r>
            <a:r>
              <a:rPr lang="en-IN" b="1" dirty="0"/>
              <a:t>"Augustin-Louis Cauchy"</a:t>
            </a:r>
            <a:r>
              <a:rPr lang="en-IN" dirty="0"/>
              <a:t> in mid of 18th century. </a:t>
            </a:r>
          </a:p>
          <a:p>
            <a:r>
              <a:rPr lang="en-IN" i="1" dirty="0"/>
              <a:t>Gradient Descent is defined as one of the most commonly used iterative optimization algorithms of machine learning to train the machine learning and deep learning models. It helps in finding the local minimum of a function.</a:t>
            </a:r>
            <a:endParaRPr lang="en-IN" dirty="0"/>
          </a:p>
          <a:p>
            <a:pPr marL="0" indent="0">
              <a:buNone/>
            </a:pPr>
            <a:endParaRPr lang="en-IN" dirty="0"/>
          </a:p>
        </p:txBody>
      </p:sp>
    </p:spTree>
    <p:extLst>
      <p:ext uri="{BB962C8B-B14F-4D97-AF65-F5344CB8AC3E}">
        <p14:creationId xmlns:p14="http://schemas.microsoft.com/office/powerpoint/2010/main" val="28985318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Gradient Descent</a:t>
            </a:r>
          </a:p>
        </p:txBody>
      </p:sp>
      <p:pic>
        <p:nvPicPr>
          <p:cNvPr id="4" name="Content Placeholder 3" descr="Gradient Descent in Machine Learni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714750" y="2567781"/>
            <a:ext cx="4762500" cy="2867025"/>
          </a:xfrm>
          <a:prstGeom prst="rect">
            <a:avLst/>
          </a:prstGeom>
          <a:noFill/>
          <a:ln>
            <a:noFill/>
          </a:ln>
        </p:spPr>
      </p:pic>
    </p:spTree>
    <p:extLst>
      <p:ext uri="{BB962C8B-B14F-4D97-AF65-F5344CB8AC3E}">
        <p14:creationId xmlns:p14="http://schemas.microsoft.com/office/powerpoint/2010/main" val="4922191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04672"/>
            <a:ext cx="10515600" cy="5372291"/>
          </a:xfrm>
        </p:spPr>
        <p:txBody>
          <a:bodyPr/>
          <a:lstStyle/>
          <a:p>
            <a:r>
              <a:rPr lang="en-IN" dirty="0"/>
              <a:t>The best way to define the local minimum or local maximum of a function using gradient descent is as follows:</a:t>
            </a:r>
          </a:p>
          <a:p>
            <a:pPr lvl="0"/>
            <a:r>
              <a:rPr lang="en-IN" dirty="0"/>
              <a:t>If we move towards a negative gradient or away from the gradient of the function at the current point, it will give the </a:t>
            </a:r>
            <a:r>
              <a:rPr lang="en-IN" b="1" dirty="0"/>
              <a:t>local minimum</a:t>
            </a:r>
            <a:r>
              <a:rPr lang="en-IN" dirty="0"/>
              <a:t> of that function.</a:t>
            </a:r>
          </a:p>
          <a:p>
            <a:pPr lvl="0"/>
            <a:r>
              <a:rPr lang="en-IN" dirty="0"/>
              <a:t>Whenever we move towards a positive gradient or towards the gradient of the function at the current point, we will get the </a:t>
            </a:r>
            <a:r>
              <a:rPr lang="en-IN" b="1" dirty="0"/>
              <a:t>local maximum</a:t>
            </a:r>
            <a:r>
              <a:rPr lang="en-IN" dirty="0"/>
              <a:t> of that function.</a:t>
            </a:r>
          </a:p>
          <a:p>
            <a:endParaRPr lang="en-IN" dirty="0"/>
          </a:p>
        </p:txBody>
      </p:sp>
    </p:spTree>
    <p:extLst>
      <p:ext uri="{BB962C8B-B14F-4D97-AF65-F5344CB8AC3E}">
        <p14:creationId xmlns:p14="http://schemas.microsoft.com/office/powerpoint/2010/main" val="42627363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66928"/>
            <a:ext cx="10515600" cy="5621324"/>
          </a:xfrm>
        </p:spPr>
        <p:txBody>
          <a:bodyPr/>
          <a:lstStyle/>
          <a:p>
            <a:r>
              <a:rPr lang="en-IN" b="1" i="1" dirty="0"/>
              <a:t>The main objective of using a gradient descent algorithm is to minimize the cost function using iteration.</a:t>
            </a:r>
            <a:r>
              <a:rPr lang="en-IN" dirty="0"/>
              <a:t> </a:t>
            </a:r>
          </a:p>
          <a:p>
            <a:r>
              <a:rPr lang="en-IN" dirty="0"/>
              <a:t>To achieve this goal, it performs two steps iteratively:</a:t>
            </a:r>
          </a:p>
          <a:p>
            <a:pPr lvl="0"/>
            <a:r>
              <a:rPr lang="en-IN" dirty="0"/>
              <a:t>Calculates the first-order derivative of the function to compute the gradient or slope of that function.</a:t>
            </a:r>
          </a:p>
          <a:p>
            <a:pPr lvl="0"/>
            <a:r>
              <a:rPr lang="en-IN" dirty="0"/>
              <a:t>Move away from the direction of the gradient, which means slope increased from the current point by alpha times, where Alpha is defined as </a:t>
            </a:r>
            <a:r>
              <a:rPr lang="en-IN" b="1" dirty="0"/>
              <a:t>Learning Rate</a:t>
            </a:r>
            <a:r>
              <a:rPr lang="en-IN" dirty="0"/>
              <a:t>. It is a tuning parameter in the optimization process which helps to decide the length of the steps.</a:t>
            </a:r>
          </a:p>
          <a:p>
            <a:endParaRPr lang="en-IN" dirty="0"/>
          </a:p>
        </p:txBody>
      </p:sp>
    </p:spTree>
    <p:extLst>
      <p:ext uri="{BB962C8B-B14F-4D97-AF65-F5344CB8AC3E}">
        <p14:creationId xmlns:p14="http://schemas.microsoft.com/office/powerpoint/2010/main" val="8631786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Gradient Descent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endParaRPr lang="en-US" sz="1000" dirty="0"/>
              </a:p>
              <a:p>
                <a:r>
                  <a:rPr lang="en-US" dirty="0"/>
                  <a:t>Method to find local optima of </a:t>
                </a:r>
                <a:r>
                  <a:rPr lang="en-US" dirty="0">
                    <a:solidFill>
                      <a:srgbClr val="FF0000"/>
                    </a:solidFill>
                  </a:rPr>
                  <a:t>differentiable </a:t>
                </a:r>
                <a:r>
                  <a:rPr lang="en-US" dirty="0"/>
                  <a:t>a</a:t>
                </a:r>
                <a:r>
                  <a:rPr lang="en-US" dirty="0">
                    <a:solidFill>
                      <a:srgbClr val="FF0000"/>
                    </a:solidFill>
                  </a:rPr>
                  <a:t> </a:t>
                </a:r>
                <a:r>
                  <a:rPr lang="en-US" dirty="0"/>
                  <a:t>function </a:t>
                </a:r>
                <a14:m>
                  <m:oMath xmlns:m="http://schemas.openxmlformats.org/officeDocument/2006/math">
                    <m:r>
                      <a:rPr lang="en-US" b="0" i="1" smtClean="0">
                        <a:latin typeface="Cambria Math" panose="02040503050406030204" pitchFamily="18" charset="0"/>
                      </a:rPr>
                      <m:t>𝑓</m:t>
                    </m:r>
                  </m:oMath>
                </a14:m>
                <a:endParaRPr lang="en-US" b="0" dirty="0"/>
              </a:p>
              <a:p>
                <a:pPr lvl="1"/>
                <a:r>
                  <a:rPr lang="en-US" dirty="0"/>
                  <a:t>Intuition: gradient tells us direction of greatest increase, negative gradient gives us direction of greatest decrease</a:t>
                </a:r>
              </a:p>
              <a:p>
                <a:pPr lvl="1"/>
                <a:endParaRPr lang="en-US" sz="1000" dirty="0"/>
              </a:p>
              <a:p>
                <a:pPr lvl="2"/>
                <a:r>
                  <a:rPr lang="en-US" dirty="0"/>
                  <a:t>Take steps in directions that reduce the function value</a:t>
                </a:r>
              </a:p>
              <a:p>
                <a:pPr lvl="1"/>
                <a:endParaRPr lang="en-US" sz="1000" dirty="0"/>
              </a:p>
              <a:p>
                <a:pPr lvl="1"/>
                <a:r>
                  <a:rPr lang="en-US" dirty="0"/>
                  <a:t>Definition of derivative guarantees that if we take a small enough step in the direction of the negative gradient, the function will decrease in value</a:t>
                </a:r>
              </a:p>
              <a:p>
                <a:pPr lvl="1"/>
                <a:endParaRPr lang="en-US" sz="1000" dirty="0"/>
              </a:p>
              <a:p>
                <a:pPr lvl="2"/>
                <a:r>
                  <a:rPr lang="en-US" dirty="0"/>
                  <a:t>How small is small enough?</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02"/>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C68DACDF-E1A9-A04C-A5FF-FC2443684BF5}" type="slidenum">
              <a:rPr lang="en-US" smtClean="0"/>
              <a:pPr/>
              <a:t>6</a:t>
            </a:fld>
            <a:endParaRPr lang="en-US"/>
          </a:p>
        </p:txBody>
      </p:sp>
    </p:spTree>
    <p:extLst>
      <p:ext uri="{BB962C8B-B14F-4D97-AF65-F5344CB8AC3E}">
        <p14:creationId xmlns:p14="http://schemas.microsoft.com/office/powerpoint/2010/main" val="1728142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Gradient Descent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167257"/>
                <a:ext cx="10515600" cy="4351338"/>
              </a:xfrm>
            </p:spPr>
            <p:txBody>
              <a:bodyPr/>
              <a:lstStyle/>
              <a:p>
                <a:endParaRPr lang="en-US" sz="1000" dirty="0"/>
              </a:p>
              <a:p>
                <a:endParaRPr lang="en-US" sz="1000" dirty="0"/>
              </a:p>
              <a:p>
                <a:pPr marL="0" indent="0">
                  <a:buNone/>
                </a:pPr>
                <a:r>
                  <a:rPr lang="en-US" dirty="0"/>
                  <a:t>Gradient Descent Algorithm:</a:t>
                </a:r>
              </a:p>
              <a:p>
                <a:pPr marL="0" indent="0">
                  <a:buNone/>
                </a:pPr>
                <a:endParaRPr lang="en-US" sz="1000" dirty="0"/>
              </a:p>
              <a:p>
                <a:r>
                  <a:rPr lang="en-US" dirty="0"/>
                  <a:t>Pick an initial point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oMath>
                </a14:m>
                <a:endParaRPr lang="en-US" dirty="0"/>
              </a:p>
              <a:p>
                <a:endParaRPr lang="en-US" sz="1000" dirty="0"/>
              </a:p>
              <a:p>
                <a:r>
                  <a:rPr lang="en-US" dirty="0"/>
                  <a:t>Iterate until convergence</a:t>
                </a:r>
              </a:p>
              <a:p>
                <a:endParaRPr lang="en-US" sz="1000" dirty="0"/>
              </a:p>
              <a:p>
                <a:pPr marL="0" indent="0" algn="ctr">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𝑡</m:t>
                          </m:r>
                        </m:sub>
                      </m:sSub>
                      <m:r>
                        <a:rPr lang="en-US" b="0" i="0"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m:oMathPara>
                </a14:m>
                <a:endParaRPr lang="en-US" dirty="0"/>
              </a:p>
              <a:p>
                <a:pPr marL="0" indent="0">
                  <a:buNone/>
                </a:pPr>
                <a:endParaRPr lang="en-US" sz="1000" dirty="0"/>
              </a:p>
              <a:p>
                <a:pPr marL="0" indent="0">
                  <a:buNone/>
                </a:pPr>
                <a:r>
                  <a:rPr lang="en-US" dirty="0"/>
                  <a:t>     where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𝑡</m:t>
                        </m:r>
                      </m:sub>
                    </m:sSub>
                  </m:oMath>
                </a14:m>
                <a:r>
                  <a:rPr lang="en-US" dirty="0"/>
                  <a:t> is the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𝑡h</m:t>
                        </m:r>
                      </m:sup>
                    </m:sSup>
                  </m:oMath>
                </a14:m>
                <a:r>
                  <a:rPr lang="en-US" dirty="0"/>
                  <a:t> step size (sometimes called learning rate)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167257"/>
                <a:ext cx="10515600" cy="4351338"/>
              </a:xfrm>
              <a:blipFill>
                <a:blip r:embed="rId2"/>
                <a:stretch>
                  <a:fillRect l="-1217"/>
                </a:stretch>
              </a:blipFill>
            </p:spPr>
            <p:txBody>
              <a:bodyPr/>
              <a:lstStyle/>
              <a:p>
                <a:r>
                  <a:rPr lang="en-IN">
                    <a:noFill/>
                  </a:rPr>
                  <a:t> </a:t>
                </a:r>
              </a:p>
            </p:txBody>
          </p:sp>
        </mc:Fallback>
      </mc:AlternateContent>
      <p:sp>
        <p:nvSpPr>
          <p:cNvPr id="4" name="Slide Number Placeholder 3"/>
          <p:cNvSpPr>
            <a:spLocks noGrp="1"/>
          </p:cNvSpPr>
          <p:nvPr>
            <p:ph type="sldNum" sz="quarter" idx="12"/>
          </p:nvPr>
        </p:nvSpPr>
        <p:spPr/>
        <p:txBody>
          <a:bodyPr/>
          <a:lstStyle/>
          <a:p>
            <a:fld id="{C68DACDF-E1A9-A04C-A5FF-FC2443684BF5}" type="slidenum">
              <a:rPr lang="en-US" smtClean="0"/>
              <a:pPr/>
              <a:t>7</a:t>
            </a:fld>
            <a:endParaRPr lang="en-US"/>
          </a:p>
        </p:txBody>
      </p:sp>
      <p:sp>
        <p:nvSpPr>
          <p:cNvPr id="5" name="TextBox 4">
            <a:extLst>
              <a:ext uri="{FF2B5EF4-FFF2-40B4-BE49-F238E27FC236}">
                <a16:creationId xmlns:a16="http://schemas.microsoft.com/office/drawing/2014/main" id="{B9B5F96A-EDF9-EF01-9F1F-CEB26CDF05EB}"/>
              </a:ext>
            </a:extLst>
          </p:cNvPr>
          <p:cNvSpPr txBox="1"/>
          <p:nvPr/>
        </p:nvSpPr>
        <p:spPr>
          <a:xfrm>
            <a:off x="4875621" y="5336800"/>
            <a:ext cx="2210413" cy="707886"/>
          </a:xfrm>
          <a:prstGeom prst="rect">
            <a:avLst/>
          </a:prstGeom>
          <a:noFill/>
        </p:spPr>
        <p:txBody>
          <a:bodyPr wrap="none" rtlCol="0">
            <a:spAutoFit/>
          </a:bodyPr>
          <a:lstStyle/>
          <a:p>
            <a:r>
              <a:rPr lang="en-US" sz="2000" dirty="0">
                <a:solidFill>
                  <a:srgbClr val="FF0000"/>
                </a:solidFill>
              </a:rPr>
              <a:t>When do we stop?</a:t>
            </a:r>
          </a:p>
          <a:p>
            <a:endParaRPr lang="en-US" sz="2000" dirty="0">
              <a:solidFill>
                <a:srgbClr val="FF0000"/>
              </a:solidFill>
            </a:endParaRPr>
          </a:p>
        </p:txBody>
      </p:sp>
    </p:spTree>
    <p:extLst>
      <p:ext uri="{BB962C8B-B14F-4D97-AF65-F5344CB8AC3E}">
        <p14:creationId xmlns:p14="http://schemas.microsoft.com/office/powerpoint/2010/main" val="1475743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Gradient Descent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275232"/>
                <a:ext cx="10515600" cy="3395720"/>
              </a:xfrm>
            </p:spPr>
            <p:txBody>
              <a:bodyPr>
                <a:normAutofit fontScale="92500" lnSpcReduction="10000"/>
              </a:bodyPr>
              <a:lstStyle/>
              <a:p>
                <a:pPr marL="0" indent="0">
                  <a:buNone/>
                </a:pPr>
                <a:endParaRPr lang="en-US" sz="1000" dirty="0"/>
              </a:p>
              <a:p>
                <a:pPr marL="0" indent="0">
                  <a:buNone/>
                </a:pPr>
                <a:r>
                  <a:rPr lang="en-US" dirty="0"/>
                  <a:t>Gradient Descent Algorithm:</a:t>
                </a:r>
              </a:p>
              <a:p>
                <a:pPr marL="0" indent="0">
                  <a:buNone/>
                </a:pPr>
                <a:endParaRPr lang="en-US" sz="1000" dirty="0"/>
              </a:p>
              <a:p>
                <a:r>
                  <a:rPr lang="en-US" dirty="0"/>
                  <a:t>Pick an initial point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oMath>
                </a14:m>
                <a:endParaRPr lang="en-US" dirty="0"/>
              </a:p>
              <a:p>
                <a:endParaRPr lang="en-US" sz="1000" dirty="0"/>
              </a:p>
              <a:p>
                <a:r>
                  <a:rPr lang="en-US" dirty="0"/>
                  <a:t>Iterate until convergence</a:t>
                </a:r>
              </a:p>
              <a:p>
                <a:endParaRPr lang="en-US" sz="1000" dirty="0"/>
              </a:p>
              <a:p>
                <a:pPr marL="0" indent="0" algn="ctr">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𝑡</m:t>
                          </m:r>
                        </m:sub>
                      </m:sSub>
                      <m:r>
                        <a:rPr lang="en-US" b="0" i="0"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m:oMathPara>
                </a14:m>
                <a:endParaRPr lang="en-US" dirty="0"/>
              </a:p>
              <a:p>
                <a:pPr marL="0" indent="0">
                  <a:buNone/>
                </a:pPr>
                <a:endParaRPr lang="en-US" sz="1000" dirty="0"/>
              </a:p>
              <a:p>
                <a:pPr marL="0" indent="0">
                  <a:buNone/>
                </a:pPr>
                <a:r>
                  <a:rPr lang="en-US" dirty="0"/>
                  <a:t>     where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𝑡</m:t>
                        </m:r>
                      </m:sub>
                    </m:sSub>
                  </m:oMath>
                </a14:m>
                <a:r>
                  <a:rPr lang="en-US" dirty="0"/>
                  <a:t> is the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𝑡h</m:t>
                        </m:r>
                      </m:sup>
                    </m:sSup>
                  </m:oMath>
                </a14:m>
                <a:r>
                  <a:rPr lang="en-US" dirty="0"/>
                  <a:t> step size (sometimes called learning rate)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275232"/>
                <a:ext cx="10515600" cy="3395720"/>
              </a:xfrm>
              <a:blipFill>
                <a:blip r:embed="rId2"/>
                <a:stretch>
                  <a:fillRect l="-1043" b="-1795"/>
                </a:stretch>
              </a:blipFill>
            </p:spPr>
            <p:txBody>
              <a:bodyPr/>
              <a:lstStyle/>
              <a:p>
                <a:r>
                  <a:rPr lang="en-IN">
                    <a:noFill/>
                  </a:rPr>
                  <a:t> </a:t>
                </a:r>
              </a:p>
            </p:txBody>
          </p:sp>
        </mc:Fallback>
      </mc:AlternateContent>
      <p:sp>
        <p:nvSpPr>
          <p:cNvPr id="4" name="Slide Number Placeholder 3"/>
          <p:cNvSpPr>
            <a:spLocks noGrp="1"/>
          </p:cNvSpPr>
          <p:nvPr>
            <p:ph type="sldNum" sz="quarter" idx="12"/>
          </p:nvPr>
        </p:nvSpPr>
        <p:spPr/>
        <p:txBody>
          <a:bodyPr/>
          <a:lstStyle/>
          <a:p>
            <a:fld id="{C68DACDF-E1A9-A04C-A5FF-FC2443684BF5}" type="slidenum">
              <a:rPr lang="en-US" smtClean="0"/>
              <a:pPr/>
              <a:t>8</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0F7F048-A5A9-4704-9840-B5D5070A2C7D}"/>
                  </a:ext>
                </a:extLst>
              </p:cNvPr>
              <p:cNvSpPr txBox="1"/>
              <p:nvPr/>
            </p:nvSpPr>
            <p:spPr>
              <a:xfrm>
                <a:off x="3391981" y="4670952"/>
                <a:ext cx="5408037" cy="707886"/>
              </a:xfrm>
              <a:prstGeom prst="rect">
                <a:avLst/>
              </a:prstGeom>
              <a:noFill/>
            </p:spPr>
            <p:txBody>
              <a:bodyPr wrap="square" rtlCol="0">
                <a:spAutoFit/>
              </a:bodyPr>
              <a:lstStyle/>
              <a:p>
                <a:pPr algn="ctr"/>
                <a:r>
                  <a:rPr lang="en-US" sz="2000" dirty="0"/>
                  <a:t>Possible Stopping Criteria:  iterate until </a:t>
                </a:r>
                <a14:m>
                  <m:oMath xmlns:m="http://schemas.openxmlformats.org/officeDocument/2006/math">
                    <m:d>
                      <m:dPr>
                        <m:begChr m:val="‖"/>
                        <m:endChr m:val="‖"/>
                        <m:ctrlPr>
                          <a:rPr lang="en-US" sz="2000" i="1">
                            <a:latin typeface="Cambria Math" panose="02040503050406030204" pitchFamily="18" charset="0"/>
                          </a:rPr>
                        </m:ctrlPr>
                      </m:dPr>
                      <m:e>
                        <m:r>
                          <m:rPr>
                            <m:sty m:val="p"/>
                          </m:rPr>
                          <a:rPr lang="en-US" sz="2000">
                            <a:latin typeface="Cambria Math" panose="02040503050406030204" pitchFamily="18" charset="0"/>
                          </a:rPr>
                          <m:t>∇</m:t>
                        </m:r>
                        <m:r>
                          <a:rPr lang="en-US" sz="2000" i="1">
                            <a:latin typeface="Cambria Math" panose="02040503050406030204" pitchFamily="18" charset="0"/>
                          </a:rPr>
                          <m:t>𝑓</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𝑡</m:t>
                            </m:r>
                          </m:sub>
                        </m:sSub>
                        <m:r>
                          <a:rPr lang="en-US" sz="2000" i="1">
                            <a:latin typeface="Cambria Math" panose="02040503050406030204" pitchFamily="18" charset="0"/>
                          </a:rPr>
                          <m:t>)</m:t>
                        </m:r>
                      </m:e>
                    </m:d>
                    <m:r>
                      <a:rPr lang="en-US" sz="2000" i="1">
                        <a:latin typeface="Cambria Math" panose="02040503050406030204" pitchFamily="18" charset="0"/>
                      </a:rPr>
                      <m:t>≤</m:t>
                    </m:r>
                    <m:r>
                      <a:rPr lang="en-US" sz="2000" i="1">
                        <a:latin typeface="Cambria Math" panose="02040503050406030204" pitchFamily="18" charset="0"/>
                      </a:rPr>
                      <m:t>𝜖</m:t>
                    </m:r>
                  </m:oMath>
                </a14:m>
                <a:r>
                  <a:rPr lang="en-US" sz="2000" dirty="0"/>
                  <a:t> for some </a:t>
                </a:r>
                <a14:m>
                  <m:oMath xmlns:m="http://schemas.openxmlformats.org/officeDocument/2006/math">
                    <m:r>
                      <a:rPr lang="en-US" sz="2000" i="1">
                        <a:latin typeface="Cambria Math" panose="02040503050406030204" pitchFamily="18" charset="0"/>
                      </a:rPr>
                      <m:t>𝜖</m:t>
                    </m:r>
                    <m:r>
                      <a:rPr lang="en-US" sz="2000" i="1">
                        <a:latin typeface="Cambria Math" panose="02040503050406030204" pitchFamily="18" charset="0"/>
                      </a:rPr>
                      <m:t>&gt;0</m:t>
                    </m:r>
                  </m:oMath>
                </a14:m>
                <a:endParaRPr lang="en-US" sz="2000" dirty="0"/>
              </a:p>
            </p:txBody>
          </p:sp>
        </mc:Choice>
        <mc:Fallback xmlns="">
          <p:sp>
            <p:nvSpPr>
              <p:cNvPr id="5" name="TextBox 4">
                <a:extLst>
                  <a:ext uri="{FF2B5EF4-FFF2-40B4-BE49-F238E27FC236}">
                    <a16:creationId xmlns:a16="http://schemas.microsoft.com/office/drawing/2014/main" id="{40F7F048-A5A9-4704-9840-B5D5070A2C7D}"/>
                  </a:ext>
                </a:extLst>
              </p:cNvPr>
              <p:cNvSpPr txBox="1">
                <a:spLocks noRot="1" noChangeAspect="1" noMove="1" noResize="1" noEditPoints="1" noAdjustHandles="1" noChangeArrowheads="1" noChangeShapeType="1" noTextEdit="1"/>
              </p:cNvSpPr>
              <p:nvPr/>
            </p:nvSpPr>
            <p:spPr>
              <a:xfrm>
                <a:off x="3391981" y="4670952"/>
                <a:ext cx="5408037" cy="707886"/>
              </a:xfrm>
              <a:prstGeom prst="rect">
                <a:avLst/>
              </a:prstGeom>
              <a:blipFill>
                <a:blip r:embed="rId3"/>
                <a:stretch>
                  <a:fillRect t="-4310" b="-1551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88AD5E3-86F5-4B12-9D54-1620BE2794A1}"/>
                  </a:ext>
                </a:extLst>
              </p:cNvPr>
              <p:cNvSpPr txBox="1"/>
              <p:nvPr/>
            </p:nvSpPr>
            <p:spPr>
              <a:xfrm>
                <a:off x="4736248" y="5459050"/>
                <a:ext cx="2801344" cy="400110"/>
              </a:xfrm>
              <a:prstGeom prst="rect">
                <a:avLst/>
              </a:prstGeom>
              <a:noFill/>
            </p:spPr>
            <p:txBody>
              <a:bodyPr wrap="none" rtlCol="0">
                <a:spAutoFit/>
              </a:bodyPr>
              <a:lstStyle/>
              <a:p>
                <a:r>
                  <a:rPr lang="en-US" sz="2000" dirty="0">
                    <a:solidFill>
                      <a:srgbClr val="FF0000"/>
                    </a:solidFill>
                  </a:rPr>
                  <a:t>How small should </a:t>
                </a:r>
                <a14:m>
                  <m:oMath xmlns:m="http://schemas.openxmlformats.org/officeDocument/2006/math">
                    <m:r>
                      <a:rPr lang="en-US" sz="2000" i="1">
                        <a:solidFill>
                          <a:srgbClr val="FF0000"/>
                        </a:solidFill>
                        <a:latin typeface="Cambria Math" panose="02040503050406030204" pitchFamily="18" charset="0"/>
                      </a:rPr>
                      <m:t>𝜖</m:t>
                    </m:r>
                  </m:oMath>
                </a14:m>
                <a:r>
                  <a:rPr lang="en-US" sz="2000" dirty="0">
                    <a:solidFill>
                      <a:srgbClr val="FF0000"/>
                    </a:solidFill>
                  </a:rPr>
                  <a:t> be?</a:t>
                </a:r>
              </a:p>
            </p:txBody>
          </p:sp>
        </mc:Choice>
        <mc:Fallback xmlns="">
          <p:sp>
            <p:nvSpPr>
              <p:cNvPr id="6" name="TextBox 5">
                <a:extLst>
                  <a:ext uri="{FF2B5EF4-FFF2-40B4-BE49-F238E27FC236}">
                    <a16:creationId xmlns:a16="http://schemas.microsoft.com/office/drawing/2014/main" id="{F88AD5E3-86F5-4B12-9D54-1620BE2794A1}"/>
                  </a:ext>
                </a:extLst>
              </p:cNvPr>
              <p:cNvSpPr txBox="1">
                <a:spLocks noRot="1" noChangeAspect="1" noMove="1" noResize="1" noEditPoints="1" noAdjustHandles="1" noChangeArrowheads="1" noChangeShapeType="1" noTextEdit="1"/>
              </p:cNvSpPr>
              <p:nvPr/>
            </p:nvSpPr>
            <p:spPr>
              <a:xfrm>
                <a:off x="4736248" y="5459050"/>
                <a:ext cx="2801344" cy="400110"/>
              </a:xfrm>
              <a:prstGeom prst="rect">
                <a:avLst/>
              </a:prstGeom>
              <a:blipFill>
                <a:blip r:embed="rId4"/>
                <a:stretch>
                  <a:fillRect l="-2397" t="-7692" r="-1743" b="-29231"/>
                </a:stretch>
              </a:blipFill>
            </p:spPr>
            <p:txBody>
              <a:bodyPr/>
              <a:lstStyle/>
              <a:p>
                <a:r>
                  <a:rPr lang="en-IN">
                    <a:noFill/>
                  </a:rPr>
                  <a:t> </a:t>
                </a:r>
              </a:p>
            </p:txBody>
          </p:sp>
        </mc:Fallback>
      </mc:AlternateContent>
    </p:spTree>
    <p:extLst>
      <p:ext uri="{BB962C8B-B14F-4D97-AF65-F5344CB8AC3E}">
        <p14:creationId xmlns:p14="http://schemas.microsoft.com/office/powerpoint/2010/main" val="3339542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4862" y="162873"/>
            <a:ext cx="10515600" cy="1325563"/>
          </a:xfrm>
        </p:spPr>
        <p:txBody>
          <a:bodyPr/>
          <a:lstStyle/>
          <a:p>
            <a:r>
              <a:rPr lang="en-US" dirty="0"/>
              <a:t>Gradient Descent</a:t>
            </a:r>
          </a:p>
        </p:txBody>
      </p:sp>
      <p:sp>
        <p:nvSpPr>
          <p:cNvPr id="4" name="Slide Number Placeholder 3"/>
          <p:cNvSpPr>
            <a:spLocks noGrp="1"/>
          </p:cNvSpPr>
          <p:nvPr>
            <p:ph type="sldNum" sz="quarter" idx="12"/>
          </p:nvPr>
        </p:nvSpPr>
        <p:spPr/>
        <p:txBody>
          <a:bodyPr/>
          <a:lstStyle/>
          <a:p>
            <a:fld id="{C68DACDF-E1A9-A04C-A5FF-FC2443684BF5}" type="slidenum">
              <a:rPr lang="en-US" smtClean="0"/>
              <a:pPr/>
              <a:t>9</a:t>
            </a:fld>
            <a:endParaRPr lang="en-US"/>
          </a:p>
        </p:txBody>
      </p:sp>
      <p:pic>
        <p:nvPicPr>
          <p:cNvPr id="7" name="Picture 6"/>
          <p:cNvPicPr>
            <a:picLocks noChangeAspect="1"/>
          </p:cNvPicPr>
          <p:nvPr/>
        </p:nvPicPr>
        <p:blipFill>
          <a:blip r:embed="rId2"/>
          <a:stretch>
            <a:fillRect/>
          </a:stretch>
        </p:blipFill>
        <p:spPr>
          <a:xfrm>
            <a:off x="1683865" y="1592482"/>
            <a:ext cx="8757594" cy="4555776"/>
          </a:xfrm>
          <a:prstGeom prst="rect">
            <a:avLst/>
          </a:prstGeom>
        </p:spPr>
      </p:pic>
      <p:sp>
        <p:nvSpPr>
          <p:cNvPr id="8" name="Oval 7"/>
          <p:cNvSpPr/>
          <p:nvPr/>
        </p:nvSpPr>
        <p:spPr>
          <a:xfrm>
            <a:off x="4485203" y="4745104"/>
            <a:ext cx="151392" cy="13677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p:cNvSpPr txBox="1"/>
              <p:nvPr/>
            </p:nvSpPr>
            <p:spPr>
              <a:xfrm>
                <a:off x="2026617" y="1144514"/>
                <a:ext cx="143518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2</m:t>
                          </m:r>
                        </m:sup>
                      </m:sSup>
                    </m:oMath>
                  </m:oMathPara>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2026617" y="1144514"/>
                <a:ext cx="1435184" cy="369332"/>
              </a:xfrm>
              <a:prstGeom prst="rect">
                <a:avLst/>
              </a:prstGeom>
              <a:blipFill>
                <a:blip r:embed="rId3"/>
                <a:stretch>
                  <a:fillRect b="-13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1628776" y="2915081"/>
                <a:ext cx="1224759" cy="3808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i="1">
                              <a:solidFill>
                                <a:srgbClr val="C00000"/>
                              </a:solidFill>
                              <a:latin typeface="Cambria Math" panose="02040503050406030204" pitchFamily="18" charset="0"/>
                            </a:rPr>
                          </m:ctrlPr>
                        </m:sSupPr>
                        <m:e>
                          <m:r>
                            <a:rPr lang="en-US" i="1">
                              <a:solidFill>
                                <a:srgbClr val="C00000"/>
                              </a:solidFill>
                              <a:latin typeface="Cambria Math" panose="02040503050406030204" pitchFamily="18" charset="0"/>
                            </a:rPr>
                            <m:t>𝑥</m:t>
                          </m:r>
                        </m:e>
                        <m:sup>
                          <m:r>
                            <a:rPr lang="en-US" i="1">
                              <a:solidFill>
                                <a:srgbClr val="C00000"/>
                              </a:solidFill>
                              <a:latin typeface="Cambria Math" panose="02040503050406030204" pitchFamily="18" charset="0"/>
                            </a:rPr>
                            <m:t>(0)</m:t>
                          </m:r>
                        </m:sup>
                      </m:sSup>
                      <m:r>
                        <a:rPr lang="en-US" i="1">
                          <a:solidFill>
                            <a:srgbClr val="C00000"/>
                          </a:solidFill>
                          <a:latin typeface="Cambria Math" panose="02040503050406030204" pitchFamily="18" charset="0"/>
                        </a:rPr>
                        <m:t>=−4</m:t>
                      </m:r>
                    </m:oMath>
                  </m:oMathPara>
                </a14:m>
                <a:endParaRPr lang="en-US" dirty="0">
                  <a:solidFill>
                    <a:srgbClr val="C00000"/>
                  </a:solidFill>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1628776" y="2915081"/>
                <a:ext cx="1224759" cy="38081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628775" y="2570697"/>
                <a:ext cx="1407950" cy="369332"/>
              </a:xfrm>
              <a:prstGeom prst="rect">
                <a:avLst/>
              </a:prstGeom>
              <a:noFill/>
            </p:spPr>
            <p:txBody>
              <a:bodyPr wrap="none" rtlCol="0">
                <a:spAutoFit/>
              </a:bodyPr>
              <a:lstStyle/>
              <a:p>
                <a:r>
                  <a:rPr lang="en-US" dirty="0"/>
                  <a:t>Step size:  </a:t>
                </a:r>
                <a14:m>
                  <m:oMath xmlns:m="http://schemas.openxmlformats.org/officeDocument/2006/math">
                    <m:r>
                      <a:rPr lang="en-US" i="1">
                        <a:latin typeface="Cambria Math" panose="02040503050406030204" pitchFamily="18" charset="0"/>
                      </a:rPr>
                      <m:t>.8</m:t>
                    </m:r>
                  </m:oMath>
                </a14:m>
                <a:endParaRPr 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1628775" y="2570697"/>
                <a:ext cx="1407950" cy="369332"/>
              </a:xfrm>
              <a:prstGeom prst="rect">
                <a:avLst/>
              </a:prstGeom>
              <a:blipFill>
                <a:blip r:embed="rId5"/>
                <a:stretch>
                  <a:fillRect l="-3463" t="-8333" b="-28333"/>
                </a:stretch>
              </a:blipFill>
            </p:spPr>
            <p:txBody>
              <a:bodyPr/>
              <a:lstStyle/>
              <a:p>
                <a:r>
                  <a:rPr lang="en-IN">
                    <a:noFill/>
                  </a:rPr>
                  <a:t> </a:t>
                </a:r>
              </a:p>
            </p:txBody>
          </p:sp>
        </mc:Fallback>
      </mc:AlternateContent>
    </p:spTree>
    <p:extLst>
      <p:ext uri="{BB962C8B-B14F-4D97-AF65-F5344CB8AC3E}">
        <p14:creationId xmlns:p14="http://schemas.microsoft.com/office/powerpoint/2010/main" val="6256836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Gradient Descent</a:t>
            </a:r>
          </a:p>
        </p:txBody>
      </p:sp>
      <p:sp>
        <p:nvSpPr>
          <p:cNvPr id="4" name="Slide Number Placeholder 3"/>
          <p:cNvSpPr>
            <a:spLocks noGrp="1"/>
          </p:cNvSpPr>
          <p:nvPr>
            <p:ph type="sldNum" sz="quarter" idx="12"/>
          </p:nvPr>
        </p:nvSpPr>
        <p:spPr/>
        <p:txBody>
          <a:bodyPr/>
          <a:lstStyle/>
          <a:p>
            <a:fld id="{C68DACDF-E1A9-A04C-A5FF-FC2443684BF5}" type="slidenum">
              <a:rPr lang="en-US" smtClean="0"/>
              <a:pPr/>
              <a:t>10</a:t>
            </a:fld>
            <a:endParaRPr lang="en-US"/>
          </a:p>
        </p:txBody>
      </p:sp>
      <p:pic>
        <p:nvPicPr>
          <p:cNvPr id="7" name="Picture 6"/>
          <p:cNvPicPr>
            <a:picLocks noChangeAspect="1"/>
          </p:cNvPicPr>
          <p:nvPr/>
        </p:nvPicPr>
        <p:blipFill>
          <a:blip r:embed="rId2"/>
          <a:stretch>
            <a:fillRect/>
          </a:stretch>
        </p:blipFill>
        <p:spPr>
          <a:xfrm>
            <a:off x="1683865" y="1592482"/>
            <a:ext cx="8757594" cy="4555776"/>
          </a:xfrm>
          <a:prstGeom prst="rect">
            <a:avLst/>
          </a:prstGeom>
        </p:spPr>
      </p:pic>
      <p:sp>
        <p:nvSpPr>
          <p:cNvPr id="8" name="Oval 7"/>
          <p:cNvSpPr/>
          <p:nvPr/>
        </p:nvSpPr>
        <p:spPr>
          <a:xfrm>
            <a:off x="4485203" y="4745104"/>
            <a:ext cx="151392" cy="136772"/>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C000"/>
              </a:solidFill>
            </a:endParaRPr>
          </a:p>
        </p:txBody>
      </p:sp>
      <mc:AlternateContent xmlns:mc="http://schemas.openxmlformats.org/markup-compatibility/2006" xmlns:a14="http://schemas.microsoft.com/office/drawing/2010/main">
        <mc:Choice Requires="a14">
          <p:sp>
            <p:nvSpPr>
              <p:cNvPr id="9" name="TextBox 8"/>
              <p:cNvSpPr txBox="1"/>
              <p:nvPr/>
            </p:nvSpPr>
            <p:spPr>
              <a:xfrm>
                <a:off x="1176225" y="1576694"/>
                <a:ext cx="143518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2</m:t>
                          </m:r>
                        </m:sup>
                      </m:sSup>
                    </m:oMath>
                  </m:oMathPara>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1176225" y="1576694"/>
                <a:ext cx="1435184" cy="369332"/>
              </a:xfrm>
              <a:prstGeom prst="rect">
                <a:avLst/>
              </a:prstGeom>
              <a:blipFill>
                <a:blip r:embed="rId3"/>
                <a:stretch>
                  <a:fillRect b="-13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1628776" y="3293108"/>
                <a:ext cx="1227965" cy="3808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i="1">
                              <a:solidFill>
                                <a:srgbClr val="C00000"/>
                              </a:solidFill>
                              <a:latin typeface="Cambria Math" panose="02040503050406030204" pitchFamily="18" charset="0"/>
                            </a:rPr>
                          </m:ctrlPr>
                        </m:sSupPr>
                        <m:e>
                          <m:r>
                            <a:rPr lang="en-US" i="1">
                              <a:solidFill>
                                <a:srgbClr val="C00000"/>
                              </a:solidFill>
                              <a:latin typeface="Cambria Math" panose="02040503050406030204" pitchFamily="18" charset="0"/>
                            </a:rPr>
                            <m:t>𝑥</m:t>
                          </m:r>
                        </m:e>
                        <m:sup>
                          <m:r>
                            <a:rPr lang="en-US" i="1">
                              <a:solidFill>
                                <a:srgbClr val="C00000"/>
                              </a:solidFill>
                              <a:latin typeface="Cambria Math" panose="02040503050406030204" pitchFamily="18" charset="0"/>
                            </a:rPr>
                            <m:t>(1)</m:t>
                          </m:r>
                        </m:sup>
                      </m:sSup>
                      <m:r>
                        <a:rPr lang="en-US" i="1">
                          <a:solidFill>
                            <a:srgbClr val="C00000"/>
                          </a:solidFill>
                          <a:latin typeface="Cambria Math" panose="02040503050406030204" pitchFamily="18" charset="0"/>
                        </a:rPr>
                        <m:t>=2.4</m:t>
                      </m:r>
                    </m:oMath>
                  </m:oMathPara>
                </a14:m>
                <a:endParaRPr lang="en-US" dirty="0">
                  <a:solidFill>
                    <a:srgbClr val="C00000"/>
                  </a:solidFill>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1628776" y="3293108"/>
                <a:ext cx="1227965" cy="38081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1628776" y="2915081"/>
                <a:ext cx="1224759" cy="3808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i="1">
                              <a:solidFill>
                                <a:schemeClr val="accent6">
                                  <a:lumMod val="75000"/>
                                </a:schemeClr>
                              </a:solidFill>
                              <a:latin typeface="Cambria Math" panose="02040503050406030204" pitchFamily="18" charset="0"/>
                            </a:rPr>
                          </m:ctrlPr>
                        </m:sSupPr>
                        <m:e>
                          <m:r>
                            <a:rPr lang="en-US" i="1">
                              <a:solidFill>
                                <a:schemeClr val="accent6">
                                  <a:lumMod val="75000"/>
                                </a:schemeClr>
                              </a:solidFill>
                              <a:latin typeface="Cambria Math" panose="02040503050406030204" pitchFamily="18" charset="0"/>
                            </a:rPr>
                            <m:t>𝑥</m:t>
                          </m:r>
                        </m:e>
                        <m:sup>
                          <m:r>
                            <a:rPr lang="en-US" i="1">
                              <a:solidFill>
                                <a:schemeClr val="accent6">
                                  <a:lumMod val="75000"/>
                                </a:schemeClr>
                              </a:solidFill>
                              <a:latin typeface="Cambria Math" panose="02040503050406030204" pitchFamily="18" charset="0"/>
                            </a:rPr>
                            <m:t>(0)</m:t>
                          </m:r>
                        </m:sup>
                      </m:sSup>
                      <m:r>
                        <a:rPr lang="en-US" i="1">
                          <a:solidFill>
                            <a:schemeClr val="accent6">
                              <a:lumMod val="75000"/>
                            </a:schemeClr>
                          </a:solidFill>
                          <a:latin typeface="Cambria Math" panose="02040503050406030204" pitchFamily="18" charset="0"/>
                        </a:rPr>
                        <m:t>=−4</m:t>
                      </m:r>
                    </m:oMath>
                  </m:oMathPara>
                </a14:m>
                <a:endParaRPr lang="en-US" dirty="0">
                  <a:solidFill>
                    <a:srgbClr val="FFC000"/>
                  </a:solidFill>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1628776" y="2915081"/>
                <a:ext cx="1224759" cy="38081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1628775" y="2570697"/>
                <a:ext cx="1407950" cy="369332"/>
              </a:xfrm>
              <a:prstGeom prst="rect">
                <a:avLst/>
              </a:prstGeom>
              <a:noFill/>
            </p:spPr>
            <p:txBody>
              <a:bodyPr wrap="none" rtlCol="0">
                <a:spAutoFit/>
              </a:bodyPr>
              <a:lstStyle/>
              <a:p>
                <a:r>
                  <a:rPr lang="en-US" dirty="0"/>
                  <a:t>Step size:  </a:t>
                </a:r>
                <a14:m>
                  <m:oMath xmlns:m="http://schemas.openxmlformats.org/officeDocument/2006/math">
                    <m:r>
                      <a:rPr lang="en-US" i="1">
                        <a:latin typeface="Cambria Math" panose="02040503050406030204" pitchFamily="18" charset="0"/>
                      </a:rPr>
                      <m:t>.8</m:t>
                    </m:r>
                  </m:oMath>
                </a14:m>
                <a:endParaRPr lang="en-US" dirty="0"/>
              </a:p>
            </p:txBody>
          </p:sp>
        </mc:Choice>
        <mc:Fallback xmlns="">
          <p:sp>
            <p:nvSpPr>
              <p:cNvPr id="14" name="TextBox 13"/>
              <p:cNvSpPr txBox="1">
                <a:spLocks noRot="1" noChangeAspect="1" noMove="1" noResize="1" noEditPoints="1" noAdjustHandles="1" noChangeArrowheads="1" noChangeShapeType="1" noTextEdit="1"/>
              </p:cNvSpPr>
              <p:nvPr/>
            </p:nvSpPr>
            <p:spPr>
              <a:xfrm>
                <a:off x="1628775" y="2570697"/>
                <a:ext cx="1407950" cy="369332"/>
              </a:xfrm>
              <a:prstGeom prst="rect">
                <a:avLst/>
              </a:prstGeom>
              <a:blipFill>
                <a:blip r:embed="rId6"/>
                <a:stretch>
                  <a:fillRect l="-3463" t="-8333" b="-28333"/>
                </a:stretch>
              </a:blipFill>
            </p:spPr>
            <p:txBody>
              <a:bodyPr/>
              <a:lstStyle/>
              <a:p>
                <a:r>
                  <a:rPr lang="en-IN">
                    <a:noFill/>
                  </a:rPr>
                  <a:t> </a:t>
                </a:r>
              </a:p>
            </p:txBody>
          </p:sp>
        </mc:Fallback>
      </mc:AlternateContent>
      <p:sp>
        <p:nvSpPr>
          <p:cNvPr id="15" name="Oval 14">
            <a:extLst>
              <a:ext uri="{FF2B5EF4-FFF2-40B4-BE49-F238E27FC236}">
                <a16:creationId xmlns:a16="http://schemas.microsoft.com/office/drawing/2014/main" id="{FB275486-9B37-4EFD-8B2E-FE9198C668B0}"/>
              </a:ext>
            </a:extLst>
          </p:cNvPr>
          <p:cNvSpPr/>
          <p:nvPr/>
        </p:nvSpPr>
        <p:spPr>
          <a:xfrm>
            <a:off x="6969151" y="5265518"/>
            <a:ext cx="151392" cy="13677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427736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Gradient Descent</a:t>
            </a:r>
          </a:p>
        </p:txBody>
      </p:sp>
      <p:sp>
        <p:nvSpPr>
          <p:cNvPr id="4" name="Slide Number Placeholder 3"/>
          <p:cNvSpPr>
            <a:spLocks noGrp="1"/>
          </p:cNvSpPr>
          <p:nvPr>
            <p:ph type="sldNum" sz="quarter" idx="12"/>
          </p:nvPr>
        </p:nvSpPr>
        <p:spPr/>
        <p:txBody>
          <a:bodyPr/>
          <a:lstStyle/>
          <a:p>
            <a:fld id="{C68DACDF-E1A9-A04C-A5FF-FC2443684BF5}" type="slidenum">
              <a:rPr lang="en-US" smtClean="0"/>
              <a:pPr/>
              <a:t>11</a:t>
            </a:fld>
            <a:endParaRPr lang="en-US"/>
          </a:p>
        </p:txBody>
      </p:sp>
      <p:pic>
        <p:nvPicPr>
          <p:cNvPr id="7" name="Picture 6"/>
          <p:cNvPicPr>
            <a:picLocks noChangeAspect="1"/>
          </p:cNvPicPr>
          <p:nvPr/>
        </p:nvPicPr>
        <p:blipFill>
          <a:blip r:embed="rId3"/>
          <a:stretch>
            <a:fillRect/>
          </a:stretch>
        </p:blipFill>
        <p:spPr>
          <a:xfrm>
            <a:off x="1683865" y="1592482"/>
            <a:ext cx="8757594" cy="4555776"/>
          </a:xfrm>
          <a:prstGeom prst="rect">
            <a:avLst/>
          </a:prstGeom>
        </p:spPr>
      </p:pic>
      <p:sp>
        <p:nvSpPr>
          <p:cNvPr id="8" name="Oval 7"/>
          <p:cNvSpPr/>
          <p:nvPr/>
        </p:nvSpPr>
        <p:spPr>
          <a:xfrm>
            <a:off x="4485203" y="4745104"/>
            <a:ext cx="151392" cy="136772"/>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C000"/>
              </a:solidFill>
            </a:endParaRPr>
          </a:p>
        </p:txBody>
      </p:sp>
      <mc:AlternateContent xmlns:mc="http://schemas.openxmlformats.org/markup-compatibility/2006" xmlns:a14="http://schemas.microsoft.com/office/drawing/2010/main">
        <mc:Choice Requires="a14">
          <p:sp>
            <p:nvSpPr>
              <p:cNvPr id="9" name="TextBox 8"/>
              <p:cNvSpPr txBox="1"/>
              <p:nvPr/>
            </p:nvSpPr>
            <p:spPr>
              <a:xfrm>
                <a:off x="1373238" y="1555526"/>
                <a:ext cx="143518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2</m:t>
                          </m:r>
                        </m:sup>
                      </m:sSup>
                    </m:oMath>
                  </m:oMathPara>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1373238" y="1555526"/>
                <a:ext cx="1435184" cy="369332"/>
              </a:xfrm>
              <a:prstGeom prst="rect">
                <a:avLst/>
              </a:prstGeom>
              <a:blipFill>
                <a:blip r:embed="rId4"/>
                <a:stretch>
                  <a:fillRect b="-1311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6363460" y="5700404"/>
                <a:ext cx="1227965" cy="3808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(1)</m:t>
                          </m:r>
                        </m:sup>
                      </m:sSup>
                      <m:r>
                        <a:rPr lang="en-US" i="1">
                          <a:latin typeface="Cambria Math" panose="02040503050406030204" pitchFamily="18" charset="0"/>
                        </a:rPr>
                        <m:t>=0.4</m:t>
                      </m:r>
                    </m:oMath>
                  </m:oMathPara>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6363460" y="5700404"/>
                <a:ext cx="1227965" cy="38081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1624534" y="3671135"/>
                <a:ext cx="2500749" cy="3808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i="1">
                              <a:solidFill>
                                <a:srgbClr val="C00000"/>
                              </a:solidFill>
                              <a:latin typeface="Cambria Math" panose="02040503050406030204" pitchFamily="18" charset="0"/>
                            </a:rPr>
                          </m:ctrlPr>
                        </m:sSupPr>
                        <m:e>
                          <m:r>
                            <a:rPr lang="en-US" i="1">
                              <a:solidFill>
                                <a:srgbClr val="C00000"/>
                              </a:solidFill>
                              <a:latin typeface="Cambria Math" panose="02040503050406030204" pitchFamily="18" charset="0"/>
                            </a:rPr>
                            <m:t>𝑥</m:t>
                          </m:r>
                        </m:e>
                        <m:sup>
                          <m:r>
                            <a:rPr lang="en-US" i="1">
                              <a:solidFill>
                                <a:srgbClr val="C00000"/>
                              </a:solidFill>
                              <a:latin typeface="Cambria Math" panose="02040503050406030204" pitchFamily="18" charset="0"/>
                            </a:rPr>
                            <m:t>(2)</m:t>
                          </m:r>
                        </m:sup>
                      </m:sSup>
                      <m:r>
                        <a:rPr lang="en-US" i="1">
                          <a:solidFill>
                            <a:srgbClr val="C00000"/>
                          </a:solidFill>
                          <a:latin typeface="Cambria Math" panose="02040503050406030204" pitchFamily="18" charset="0"/>
                        </a:rPr>
                        <m:t>=2.4− .8⋅2⋅2.4</m:t>
                      </m:r>
                    </m:oMath>
                  </m:oMathPara>
                </a14:m>
                <a:endParaRPr lang="en-US" dirty="0">
                  <a:solidFill>
                    <a:srgbClr val="C00000"/>
                  </a:solidFill>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1624534" y="3671135"/>
                <a:ext cx="2500749" cy="38081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1628776" y="3293108"/>
                <a:ext cx="1227965" cy="3808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i="1">
                              <a:solidFill>
                                <a:schemeClr val="accent6">
                                  <a:lumMod val="75000"/>
                                </a:schemeClr>
                              </a:solidFill>
                              <a:latin typeface="Cambria Math" panose="02040503050406030204" pitchFamily="18" charset="0"/>
                            </a:rPr>
                          </m:ctrlPr>
                        </m:sSupPr>
                        <m:e>
                          <m:r>
                            <a:rPr lang="en-US" i="1">
                              <a:solidFill>
                                <a:schemeClr val="accent6">
                                  <a:lumMod val="75000"/>
                                </a:schemeClr>
                              </a:solidFill>
                              <a:latin typeface="Cambria Math" panose="02040503050406030204" pitchFamily="18" charset="0"/>
                            </a:rPr>
                            <m:t>𝑥</m:t>
                          </m:r>
                        </m:e>
                        <m:sup>
                          <m:r>
                            <a:rPr lang="en-US" i="1">
                              <a:solidFill>
                                <a:schemeClr val="accent6">
                                  <a:lumMod val="75000"/>
                                </a:schemeClr>
                              </a:solidFill>
                              <a:latin typeface="Cambria Math" panose="02040503050406030204" pitchFamily="18" charset="0"/>
                            </a:rPr>
                            <m:t>(1)</m:t>
                          </m:r>
                        </m:sup>
                      </m:sSup>
                      <m:r>
                        <a:rPr lang="en-US" i="1">
                          <a:solidFill>
                            <a:schemeClr val="accent6">
                              <a:lumMod val="75000"/>
                            </a:schemeClr>
                          </a:solidFill>
                          <a:latin typeface="Cambria Math" panose="02040503050406030204" pitchFamily="18" charset="0"/>
                        </a:rPr>
                        <m:t>=2.4</m:t>
                      </m:r>
                    </m:oMath>
                  </m:oMathPara>
                </a14:m>
                <a:endParaRPr lang="en-US" dirty="0">
                  <a:solidFill>
                    <a:schemeClr val="accent6">
                      <a:lumMod val="75000"/>
                    </a:schemeClr>
                  </a:solidFill>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1628776" y="3293108"/>
                <a:ext cx="1227965" cy="38081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1628776" y="2915081"/>
                <a:ext cx="1224759" cy="3808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i="1">
                              <a:solidFill>
                                <a:schemeClr val="accent6">
                                  <a:lumMod val="75000"/>
                                </a:schemeClr>
                              </a:solidFill>
                              <a:latin typeface="Cambria Math" panose="02040503050406030204" pitchFamily="18" charset="0"/>
                            </a:rPr>
                          </m:ctrlPr>
                        </m:sSupPr>
                        <m:e>
                          <m:r>
                            <a:rPr lang="en-US" i="1">
                              <a:solidFill>
                                <a:schemeClr val="accent6">
                                  <a:lumMod val="75000"/>
                                </a:schemeClr>
                              </a:solidFill>
                              <a:latin typeface="Cambria Math" panose="02040503050406030204" pitchFamily="18" charset="0"/>
                            </a:rPr>
                            <m:t>𝑥</m:t>
                          </m:r>
                        </m:e>
                        <m:sup>
                          <m:r>
                            <a:rPr lang="en-US" i="1">
                              <a:solidFill>
                                <a:schemeClr val="accent6">
                                  <a:lumMod val="75000"/>
                                </a:schemeClr>
                              </a:solidFill>
                              <a:latin typeface="Cambria Math" panose="02040503050406030204" pitchFamily="18" charset="0"/>
                            </a:rPr>
                            <m:t>(0)</m:t>
                          </m:r>
                        </m:sup>
                      </m:sSup>
                      <m:r>
                        <a:rPr lang="en-US" i="1">
                          <a:solidFill>
                            <a:schemeClr val="accent6">
                              <a:lumMod val="75000"/>
                            </a:schemeClr>
                          </a:solidFill>
                          <a:latin typeface="Cambria Math" panose="02040503050406030204" pitchFamily="18" charset="0"/>
                        </a:rPr>
                        <m:t>=−4</m:t>
                      </m:r>
                    </m:oMath>
                  </m:oMathPara>
                </a14:m>
                <a:endParaRPr lang="en-US" dirty="0">
                  <a:solidFill>
                    <a:schemeClr val="accent6">
                      <a:lumMod val="75000"/>
                    </a:schemeClr>
                  </a:solidFill>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1628776" y="2915081"/>
                <a:ext cx="1224759" cy="38081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1628775" y="2570697"/>
                <a:ext cx="1407950" cy="369332"/>
              </a:xfrm>
              <a:prstGeom prst="rect">
                <a:avLst/>
              </a:prstGeom>
              <a:noFill/>
            </p:spPr>
            <p:txBody>
              <a:bodyPr wrap="none" rtlCol="0">
                <a:spAutoFit/>
              </a:bodyPr>
              <a:lstStyle/>
              <a:p>
                <a:r>
                  <a:rPr lang="en-US" dirty="0"/>
                  <a:t>Step size:  </a:t>
                </a:r>
                <a14:m>
                  <m:oMath xmlns:m="http://schemas.openxmlformats.org/officeDocument/2006/math">
                    <m:r>
                      <a:rPr lang="en-US" i="1">
                        <a:latin typeface="Cambria Math" panose="02040503050406030204" pitchFamily="18" charset="0"/>
                      </a:rPr>
                      <m:t>.8</m:t>
                    </m:r>
                  </m:oMath>
                </a14:m>
                <a:endParaRPr lang="en-US" dirty="0"/>
              </a:p>
            </p:txBody>
          </p:sp>
        </mc:Choice>
        <mc:Fallback xmlns="">
          <p:sp>
            <p:nvSpPr>
              <p:cNvPr id="15" name="TextBox 14"/>
              <p:cNvSpPr txBox="1">
                <a:spLocks noRot="1" noChangeAspect="1" noMove="1" noResize="1" noEditPoints="1" noAdjustHandles="1" noChangeArrowheads="1" noChangeShapeType="1" noTextEdit="1"/>
              </p:cNvSpPr>
              <p:nvPr/>
            </p:nvSpPr>
            <p:spPr>
              <a:xfrm>
                <a:off x="1628775" y="2570697"/>
                <a:ext cx="1407950" cy="369332"/>
              </a:xfrm>
              <a:prstGeom prst="rect">
                <a:avLst/>
              </a:prstGeom>
              <a:blipFill>
                <a:blip r:embed="rId9"/>
                <a:stretch>
                  <a:fillRect l="-3463" t="-8333" b="-28333"/>
                </a:stretch>
              </a:blipFill>
            </p:spPr>
            <p:txBody>
              <a:bodyPr/>
              <a:lstStyle/>
              <a:p>
                <a:r>
                  <a:rPr lang="en-IN">
                    <a:noFill/>
                  </a:rPr>
                  <a:t> </a:t>
                </a:r>
              </a:p>
            </p:txBody>
          </p:sp>
        </mc:Fallback>
      </mc:AlternateContent>
      <p:sp>
        <p:nvSpPr>
          <p:cNvPr id="17" name="Oval 16"/>
          <p:cNvSpPr/>
          <p:nvPr/>
        </p:nvSpPr>
        <p:spPr>
          <a:xfrm>
            <a:off x="5495571" y="5439325"/>
            <a:ext cx="151392" cy="13677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87C9D5C4-7F48-4E5C-972F-2D99C3A37AA4}"/>
              </a:ext>
            </a:extLst>
          </p:cNvPr>
          <p:cNvSpPr/>
          <p:nvPr/>
        </p:nvSpPr>
        <p:spPr>
          <a:xfrm>
            <a:off x="6969151" y="5265518"/>
            <a:ext cx="151392" cy="136772"/>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7274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Gradient Descent</a:t>
            </a:r>
          </a:p>
        </p:txBody>
      </p:sp>
      <p:sp>
        <p:nvSpPr>
          <p:cNvPr id="4" name="Slide Number Placeholder 3"/>
          <p:cNvSpPr>
            <a:spLocks noGrp="1"/>
          </p:cNvSpPr>
          <p:nvPr>
            <p:ph type="sldNum" sz="quarter" idx="12"/>
          </p:nvPr>
        </p:nvSpPr>
        <p:spPr/>
        <p:txBody>
          <a:bodyPr/>
          <a:lstStyle/>
          <a:p>
            <a:fld id="{C68DACDF-E1A9-A04C-A5FF-FC2443684BF5}" type="slidenum">
              <a:rPr lang="en-US" smtClean="0"/>
              <a:pPr/>
              <a:t>12</a:t>
            </a:fld>
            <a:endParaRPr lang="en-US"/>
          </a:p>
        </p:txBody>
      </p:sp>
      <p:pic>
        <p:nvPicPr>
          <p:cNvPr id="7" name="Picture 6"/>
          <p:cNvPicPr>
            <a:picLocks noChangeAspect="1"/>
          </p:cNvPicPr>
          <p:nvPr/>
        </p:nvPicPr>
        <p:blipFill>
          <a:blip r:embed="rId2"/>
          <a:stretch>
            <a:fillRect/>
          </a:stretch>
        </p:blipFill>
        <p:spPr>
          <a:xfrm>
            <a:off x="1683865" y="1592482"/>
            <a:ext cx="8757594" cy="4555776"/>
          </a:xfrm>
          <a:prstGeom prst="rect">
            <a:avLst/>
          </a:prstGeom>
        </p:spPr>
      </p:pic>
      <p:sp>
        <p:nvSpPr>
          <p:cNvPr id="8" name="Oval 7"/>
          <p:cNvSpPr/>
          <p:nvPr/>
        </p:nvSpPr>
        <p:spPr>
          <a:xfrm>
            <a:off x="4485203" y="4745104"/>
            <a:ext cx="151392" cy="136772"/>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C000"/>
              </a:solidFill>
            </a:endParaRPr>
          </a:p>
        </p:txBody>
      </p:sp>
      <mc:AlternateContent xmlns:mc="http://schemas.openxmlformats.org/markup-compatibility/2006" xmlns:a14="http://schemas.microsoft.com/office/drawing/2010/main">
        <mc:Choice Requires="a14">
          <p:sp>
            <p:nvSpPr>
              <p:cNvPr id="9" name="TextBox 8"/>
              <p:cNvSpPr txBox="1"/>
              <p:nvPr/>
            </p:nvSpPr>
            <p:spPr>
              <a:xfrm>
                <a:off x="1418351" y="1574822"/>
                <a:ext cx="143518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2</m:t>
                          </m:r>
                        </m:sup>
                      </m:sSup>
                    </m:oMath>
                  </m:oMathPara>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1418351" y="1574822"/>
                <a:ext cx="1435184" cy="369332"/>
              </a:xfrm>
              <a:prstGeom prst="rect">
                <a:avLst/>
              </a:prstGeom>
              <a:blipFill>
                <a:blip r:embed="rId3"/>
                <a:stretch>
                  <a:fillRect b="-1311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1624534" y="3671135"/>
                <a:ext cx="1529329" cy="3808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i="1">
                              <a:solidFill>
                                <a:srgbClr val="C00000"/>
                              </a:solidFill>
                              <a:latin typeface="Cambria Math" panose="02040503050406030204" pitchFamily="18" charset="0"/>
                            </a:rPr>
                          </m:ctrlPr>
                        </m:sSupPr>
                        <m:e>
                          <m:r>
                            <a:rPr lang="en-US" i="1">
                              <a:solidFill>
                                <a:srgbClr val="C00000"/>
                              </a:solidFill>
                              <a:latin typeface="Cambria Math" panose="02040503050406030204" pitchFamily="18" charset="0"/>
                            </a:rPr>
                            <m:t>𝑥</m:t>
                          </m:r>
                        </m:e>
                        <m:sup>
                          <m:r>
                            <a:rPr lang="en-US" i="1">
                              <a:solidFill>
                                <a:srgbClr val="C00000"/>
                              </a:solidFill>
                              <a:latin typeface="Cambria Math" panose="02040503050406030204" pitchFamily="18" charset="0"/>
                            </a:rPr>
                            <m:t>(2)</m:t>
                          </m:r>
                        </m:sup>
                      </m:sSup>
                      <m:r>
                        <a:rPr lang="en-US" i="1">
                          <a:solidFill>
                            <a:srgbClr val="C00000"/>
                          </a:solidFill>
                          <a:latin typeface="Cambria Math" panose="02040503050406030204" pitchFamily="18" charset="0"/>
                        </a:rPr>
                        <m:t>=−1.44</m:t>
                      </m:r>
                    </m:oMath>
                  </m:oMathPara>
                </a14:m>
                <a:endParaRPr lang="en-US" dirty="0">
                  <a:solidFill>
                    <a:srgbClr val="C00000"/>
                  </a:solidFill>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1624534" y="3671135"/>
                <a:ext cx="1529329" cy="38081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1628776" y="3293108"/>
                <a:ext cx="1227965" cy="3808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i="1">
                              <a:solidFill>
                                <a:schemeClr val="accent6">
                                  <a:lumMod val="75000"/>
                                </a:schemeClr>
                              </a:solidFill>
                              <a:latin typeface="Cambria Math" panose="02040503050406030204" pitchFamily="18" charset="0"/>
                            </a:rPr>
                          </m:ctrlPr>
                        </m:sSupPr>
                        <m:e>
                          <m:r>
                            <a:rPr lang="en-US" i="1">
                              <a:solidFill>
                                <a:schemeClr val="accent6">
                                  <a:lumMod val="75000"/>
                                </a:schemeClr>
                              </a:solidFill>
                              <a:latin typeface="Cambria Math" panose="02040503050406030204" pitchFamily="18" charset="0"/>
                            </a:rPr>
                            <m:t>𝑥</m:t>
                          </m:r>
                        </m:e>
                        <m:sup>
                          <m:r>
                            <a:rPr lang="en-US" i="1">
                              <a:solidFill>
                                <a:schemeClr val="accent6">
                                  <a:lumMod val="75000"/>
                                </a:schemeClr>
                              </a:solidFill>
                              <a:latin typeface="Cambria Math" panose="02040503050406030204" pitchFamily="18" charset="0"/>
                            </a:rPr>
                            <m:t>(1)</m:t>
                          </m:r>
                        </m:sup>
                      </m:sSup>
                      <m:r>
                        <a:rPr lang="en-US" i="1">
                          <a:solidFill>
                            <a:schemeClr val="accent6">
                              <a:lumMod val="75000"/>
                            </a:schemeClr>
                          </a:solidFill>
                          <a:latin typeface="Cambria Math" panose="02040503050406030204" pitchFamily="18" charset="0"/>
                        </a:rPr>
                        <m:t>=2.4</m:t>
                      </m:r>
                    </m:oMath>
                  </m:oMathPara>
                </a14:m>
                <a:endParaRPr lang="en-US" dirty="0">
                  <a:solidFill>
                    <a:schemeClr val="accent6">
                      <a:lumMod val="75000"/>
                    </a:schemeClr>
                  </a:solidFill>
                </a:endParaRPr>
              </a:p>
            </p:txBody>
          </p:sp>
        </mc:Choice>
        <mc:Fallback xmlns="">
          <p:sp>
            <p:nvSpPr>
              <p:cNvPr id="16" name="TextBox 15"/>
              <p:cNvSpPr txBox="1">
                <a:spLocks noRot="1" noChangeAspect="1" noMove="1" noResize="1" noEditPoints="1" noAdjustHandles="1" noChangeArrowheads="1" noChangeShapeType="1" noTextEdit="1"/>
              </p:cNvSpPr>
              <p:nvPr/>
            </p:nvSpPr>
            <p:spPr>
              <a:xfrm>
                <a:off x="1628776" y="3293108"/>
                <a:ext cx="1227965" cy="38081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1628776" y="2915081"/>
                <a:ext cx="1224759" cy="3808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i="1">
                              <a:solidFill>
                                <a:schemeClr val="accent6">
                                  <a:lumMod val="75000"/>
                                </a:schemeClr>
                              </a:solidFill>
                              <a:latin typeface="Cambria Math" panose="02040503050406030204" pitchFamily="18" charset="0"/>
                            </a:rPr>
                          </m:ctrlPr>
                        </m:sSupPr>
                        <m:e>
                          <m:r>
                            <a:rPr lang="en-US" i="1">
                              <a:solidFill>
                                <a:schemeClr val="accent6">
                                  <a:lumMod val="75000"/>
                                </a:schemeClr>
                              </a:solidFill>
                              <a:latin typeface="Cambria Math" panose="02040503050406030204" pitchFamily="18" charset="0"/>
                            </a:rPr>
                            <m:t>𝑥</m:t>
                          </m:r>
                        </m:e>
                        <m:sup>
                          <m:r>
                            <a:rPr lang="en-US" i="1">
                              <a:solidFill>
                                <a:schemeClr val="accent6">
                                  <a:lumMod val="75000"/>
                                </a:schemeClr>
                              </a:solidFill>
                              <a:latin typeface="Cambria Math" panose="02040503050406030204" pitchFamily="18" charset="0"/>
                            </a:rPr>
                            <m:t>(0)</m:t>
                          </m:r>
                        </m:sup>
                      </m:sSup>
                      <m:r>
                        <a:rPr lang="en-US" i="1">
                          <a:solidFill>
                            <a:schemeClr val="accent6">
                              <a:lumMod val="75000"/>
                            </a:schemeClr>
                          </a:solidFill>
                          <a:latin typeface="Cambria Math" panose="02040503050406030204" pitchFamily="18" charset="0"/>
                        </a:rPr>
                        <m:t>=−4</m:t>
                      </m:r>
                    </m:oMath>
                  </m:oMathPara>
                </a14:m>
                <a:endParaRPr lang="en-US" dirty="0">
                  <a:solidFill>
                    <a:schemeClr val="accent6">
                      <a:lumMod val="75000"/>
                    </a:schemeClr>
                  </a:solidFill>
                </a:endParaRPr>
              </a:p>
            </p:txBody>
          </p:sp>
        </mc:Choice>
        <mc:Fallback xmlns="">
          <p:sp>
            <p:nvSpPr>
              <p:cNvPr id="17" name="TextBox 16"/>
              <p:cNvSpPr txBox="1">
                <a:spLocks noRot="1" noChangeAspect="1" noMove="1" noResize="1" noEditPoints="1" noAdjustHandles="1" noChangeArrowheads="1" noChangeShapeType="1" noTextEdit="1"/>
              </p:cNvSpPr>
              <p:nvPr/>
            </p:nvSpPr>
            <p:spPr>
              <a:xfrm>
                <a:off x="1628776" y="2915081"/>
                <a:ext cx="1224759" cy="38081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1628775" y="2570697"/>
                <a:ext cx="1407950" cy="369332"/>
              </a:xfrm>
              <a:prstGeom prst="rect">
                <a:avLst/>
              </a:prstGeom>
              <a:noFill/>
            </p:spPr>
            <p:txBody>
              <a:bodyPr wrap="none" rtlCol="0">
                <a:spAutoFit/>
              </a:bodyPr>
              <a:lstStyle/>
              <a:p>
                <a:r>
                  <a:rPr lang="en-US" dirty="0"/>
                  <a:t>Step size:  </a:t>
                </a:r>
                <a14:m>
                  <m:oMath xmlns:m="http://schemas.openxmlformats.org/officeDocument/2006/math">
                    <m:r>
                      <a:rPr lang="en-US" i="1">
                        <a:latin typeface="Cambria Math" panose="02040503050406030204" pitchFamily="18" charset="0"/>
                      </a:rPr>
                      <m:t>.8</m:t>
                    </m:r>
                  </m:oMath>
                </a14:m>
                <a:endParaRPr lang="en-US" dirty="0"/>
              </a:p>
            </p:txBody>
          </p:sp>
        </mc:Choice>
        <mc:Fallback xmlns="">
          <p:sp>
            <p:nvSpPr>
              <p:cNvPr id="18" name="TextBox 17"/>
              <p:cNvSpPr txBox="1">
                <a:spLocks noRot="1" noChangeAspect="1" noMove="1" noResize="1" noEditPoints="1" noAdjustHandles="1" noChangeArrowheads="1" noChangeShapeType="1" noTextEdit="1"/>
              </p:cNvSpPr>
              <p:nvPr/>
            </p:nvSpPr>
            <p:spPr>
              <a:xfrm>
                <a:off x="1628775" y="2570697"/>
                <a:ext cx="1407950" cy="369332"/>
              </a:xfrm>
              <a:prstGeom prst="rect">
                <a:avLst/>
              </a:prstGeom>
              <a:blipFill>
                <a:blip r:embed="rId7"/>
                <a:stretch>
                  <a:fillRect l="-3463" t="-8333" b="-28333"/>
                </a:stretch>
              </a:blipFill>
            </p:spPr>
            <p:txBody>
              <a:bodyPr/>
              <a:lstStyle/>
              <a:p>
                <a:r>
                  <a:rPr lang="en-IN">
                    <a:noFill/>
                  </a:rPr>
                  <a:t> </a:t>
                </a:r>
              </a:p>
            </p:txBody>
          </p:sp>
        </mc:Fallback>
      </mc:AlternateContent>
      <p:sp>
        <p:nvSpPr>
          <p:cNvPr id="13" name="Oval 12">
            <a:extLst>
              <a:ext uri="{FF2B5EF4-FFF2-40B4-BE49-F238E27FC236}">
                <a16:creationId xmlns:a16="http://schemas.microsoft.com/office/drawing/2014/main" id="{D5A63351-6833-43B4-B67C-5B281830AC1F}"/>
              </a:ext>
            </a:extLst>
          </p:cNvPr>
          <p:cNvSpPr/>
          <p:nvPr/>
        </p:nvSpPr>
        <p:spPr>
          <a:xfrm>
            <a:off x="6969151" y="5265518"/>
            <a:ext cx="151392" cy="136772"/>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26BE55D9-DA2D-4853-B3C5-7E0EDFD290C4}"/>
              </a:ext>
            </a:extLst>
          </p:cNvPr>
          <p:cNvSpPr/>
          <p:nvPr/>
        </p:nvSpPr>
        <p:spPr>
          <a:xfrm>
            <a:off x="5495571" y="5439325"/>
            <a:ext cx="151392" cy="13677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73108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Gradient Descent</a:t>
            </a:r>
          </a:p>
        </p:txBody>
      </p:sp>
      <p:sp>
        <p:nvSpPr>
          <p:cNvPr id="4" name="Slide Number Placeholder 3"/>
          <p:cNvSpPr>
            <a:spLocks noGrp="1"/>
          </p:cNvSpPr>
          <p:nvPr>
            <p:ph type="sldNum" sz="quarter" idx="12"/>
          </p:nvPr>
        </p:nvSpPr>
        <p:spPr/>
        <p:txBody>
          <a:bodyPr/>
          <a:lstStyle/>
          <a:p>
            <a:fld id="{C68DACDF-E1A9-A04C-A5FF-FC2443684BF5}" type="slidenum">
              <a:rPr lang="en-US" smtClean="0"/>
              <a:pPr/>
              <a:t>13</a:t>
            </a:fld>
            <a:endParaRPr lang="en-US"/>
          </a:p>
        </p:txBody>
      </p:sp>
      <p:pic>
        <p:nvPicPr>
          <p:cNvPr id="7" name="Picture 6"/>
          <p:cNvPicPr>
            <a:picLocks noChangeAspect="1"/>
          </p:cNvPicPr>
          <p:nvPr/>
        </p:nvPicPr>
        <p:blipFill>
          <a:blip r:embed="rId3"/>
          <a:stretch>
            <a:fillRect/>
          </a:stretch>
        </p:blipFill>
        <p:spPr>
          <a:xfrm>
            <a:off x="1683865" y="1592482"/>
            <a:ext cx="8757594" cy="4555776"/>
          </a:xfrm>
          <a:prstGeom prst="rect">
            <a:avLst/>
          </a:prstGeom>
        </p:spPr>
      </p:pic>
      <mc:AlternateContent xmlns:mc="http://schemas.openxmlformats.org/markup-compatibility/2006" xmlns:a14="http://schemas.microsoft.com/office/drawing/2010/main">
        <mc:Choice Requires="a14">
          <p:sp>
            <p:nvSpPr>
              <p:cNvPr id="9" name="TextBox 8"/>
              <p:cNvSpPr txBox="1"/>
              <p:nvPr/>
            </p:nvSpPr>
            <p:spPr>
              <a:xfrm>
                <a:off x="1258521" y="1370860"/>
                <a:ext cx="143518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2</m:t>
                          </m:r>
                        </m:sup>
                      </m:sSup>
                    </m:oMath>
                  </m:oMathPara>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1258521" y="1370860"/>
                <a:ext cx="1435184" cy="369332"/>
              </a:xfrm>
              <a:prstGeom prst="rect">
                <a:avLst/>
              </a:prstGeom>
              <a:blipFill>
                <a:blip r:embed="rId4"/>
                <a:stretch>
                  <a:fillRect b="-13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1624533" y="3671135"/>
                <a:ext cx="1479636" cy="380810"/>
              </a:xfrm>
              <a:prstGeom prst="rect">
                <a:avLst/>
              </a:prstGeom>
              <a:noFill/>
            </p:spPr>
            <p:txBody>
              <a:bodyPr wrap="none" rtlCol="0">
                <a:spAutoFit/>
              </a:bodyPr>
              <a:lstStyle/>
              <a:p>
                <a14:m>
                  <m:oMath xmlns:m="http://schemas.openxmlformats.org/officeDocument/2006/math">
                    <m:sSup>
                      <m:sSupPr>
                        <m:ctrlPr>
                          <a:rPr lang="en-US" i="1">
                            <a:solidFill>
                              <a:schemeClr val="accent6">
                                <a:lumMod val="75000"/>
                              </a:schemeClr>
                            </a:solidFill>
                            <a:latin typeface="Cambria Math" panose="02040503050406030204" pitchFamily="18" charset="0"/>
                          </a:rPr>
                        </m:ctrlPr>
                      </m:sSupPr>
                      <m:e>
                        <m:r>
                          <a:rPr lang="en-US" i="1">
                            <a:solidFill>
                              <a:schemeClr val="accent6">
                                <a:lumMod val="75000"/>
                              </a:schemeClr>
                            </a:solidFill>
                            <a:latin typeface="Cambria Math" panose="02040503050406030204" pitchFamily="18" charset="0"/>
                          </a:rPr>
                          <m:t>𝑥</m:t>
                        </m:r>
                      </m:e>
                      <m:sup>
                        <m:r>
                          <a:rPr lang="en-US" i="1">
                            <a:solidFill>
                              <a:schemeClr val="accent6">
                                <a:lumMod val="75000"/>
                              </a:schemeClr>
                            </a:solidFill>
                            <a:latin typeface="Cambria Math" panose="02040503050406030204" pitchFamily="18" charset="0"/>
                          </a:rPr>
                          <m:t>(2)</m:t>
                        </m:r>
                      </m:sup>
                    </m:sSup>
                    <m:r>
                      <a:rPr lang="en-US" i="1">
                        <a:solidFill>
                          <a:schemeClr val="accent6">
                            <a:lumMod val="75000"/>
                          </a:schemeClr>
                        </a:solidFill>
                        <a:latin typeface="Cambria Math" panose="02040503050406030204" pitchFamily="18" charset="0"/>
                      </a:rPr>
                      <m:t>=−</m:t>
                    </m:r>
                  </m:oMath>
                </a14:m>
                <a:r>
                  <a:rPr lang="en-US" dirty="0">
                    <a:solidFill>
                      <a:schemeClr val="accent6">
                        <a:lumMod val="75000"/>
                      </a:schemeClr>
                    </a:solidFill>
                  </a:rPr>
                  <a:t>1.44</a:t>
                </a:r>
              </a:p>
            </p:txBody>
          </p:sp>
        </mc:Choice>
        <mc:Fallback xmlns="">
          <p:sp>
            <p:nvSpPr>
              <p:cNvPr id="15" name="TextBox 14"/>
              <p:cNvSpPr txBox="1">
                <a:spLocks noRot="1" noChangeAspect="1" noMove="1" noResize="1" noEditPoints="1" noAdjustHandles="1" noChangeArrowheads="1" noChangeShapeType="1" noTextEdit="1"/>
              </p:cNvSpPr>
              <p:nvPr/>
            </p:nvSpPr>
            <p:spPr>
              <a:xfrm>
                <a:off x="1624533" y="3671135"/>
                <a:ext cx="1479636" cy="380810"/>
              </a:xfrm>
              <a:prstGeom prst="rect">
                <a:avLst/>
              </a:prstGeom>
              <a:blipFill>
                <a:blip r:embed="rId5"/>
                <a:stretch>
                  <a:fillRect t="-3175" r="-2881" b="-2539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1628776" y="3293108"/>
                <a:ext cx="1227965" cy="3808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i="1">
                              <a:solidFill>
                                <a:schemeClr val="accent6">
                                  <a:lumMod val="75000"/>
                                </a:schemeClr>
                              </a:solidFill>
                              <a:latin typeface="Cambria Math" panose="02040503050406030204" pitchFamily="18" charset="0"/>
                            </a:rPr>
                          </m:ctrlPr>
                        </m:sSupPr>
                        <m:e>
                          <m:r>
                            <a:rPr lang="en-US" i="1">
                              <a:solidFill>
                                <a:schemeClr val="accent6">
                                  <a:lumMod val="75000"/>
                                </a:schemeClr>
                              </a:solidFill>
                              <a:latin typeface="Cambria Math" panose="02040503050406030204" pitchFamily="18" charset="0"/>
                            </a:rPr>
                            <m:t>𝑥</m:t>
                          </m:r>
                        </m:e>
                        <m:sup>
                          <m:r>
                            <a:rPr lang="en-US" i="1">
                              <a:solidFill>
                                <a:schemeClr val="accent6">
                                  <a:lumMod val="75000"/>
                                </a:schemeClr>
                              </a:solidFill>
                              <a:latin typeface="Cambria Math" panose="02040503050406030204" pitchFamily="18" charset="0"/>
                            </a:rPr>
                            <m:t>(1)</m:t>
                          </m:r>
                        </m:sup>
                      </m:sSup>
                      <m:r>
                        <a:rPr lang="en-US" i="1">
                          <a:solidFill>
                            <a:schemeClr val="accent6">
                              <a:lumMod val="75000"/>
                            </a:schemeClr>
                          </a:solidFill>
                          <a:latin typeface="Cambria Math" panose="02040503050406030204" pitchFamily="18" charset="0"/>
                        </a:rPr>
                        <m:t>=2.4</m:t>
                      </m:r>
                    </m:oMath>
                  </m:oMathPara>
                </a14:m>
                <a:endParaRPr lang="en-US" dirty="0">
                  <a:solidFill>
                    <a:schemeClr val="accent6">
                      <a:lumMod val="75000"/>
                    </a:schemeClr>
                  </a:solidFill>
                </a:endParaRPr>
              </a:p>
            </p:txBody>
          </p:sp>
        </mc:Choice>
        <mc:Fallback xmlns="">
          <p:sp>
            <p:nvSpPr>
              <p:cNvPr id="16" name="TextBox 15"/>
              <p:cNvSpPr txBox="1">
                <a:spLocks noRot="1" noChangeAspect="1" noMove="1" noResize="1" noEditPoints="1" noAdjustHandles="1" noChangeArrowheads="1" noChangeShapeType="1" noTextEdit="1"/>
              </p:cNvSpPr>
              <p:nvPr/>
            </p:nvSpPr>
            <p:spPr>
              <a:xfrm>
                <a:off x="1628776" y="3293108"/>
                <a:ext cx="1227965" cy="38081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1628776" y="2915081"/>
                <a:ext cx="1224759" cy="3808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i="1">
                              <a:solidFill>
                                <a:schemeClr val="accent6">
                                  <a:lumMod val="75000"/>
                                </a:schemeClr>
                              </a:solidFill>
                              <a:latin typeface="Cambria Math" panose="02040503050406030204" pitchFamily="18" charset="0"/>
                            </a:rPr>
                          </m:ctrlPr>
                        </m:sSupPr>
                        <m:e>
                          <m:r>
                            <a:rPr lang="en-US" i="1">
                              <a:solidFill>
                                <a:schemeClr val="accent6">
                                  <a:lumMod val="75000"/>
                                </a:schemeClr>
                              </a:solidFill>
                              <a:latin typeface="Cambria Math" panose="02040503050406030204" pitchFamily="18" charset="0"/>
                            </a:rPr>
                            <m:t>𝑥</m:t>
                          </m:r>
                        </m:e>
                        <m:sup>
                          <m:r>
                            <a:rPr lang="en-US" i="1">
                              <a:solidFill>
                                <a:schemeClr val="accent6">
                                  <a:lumMod val="75000"/>
                                </a:schemeClr>
                              </a:solidFill>
                              <a:latin typeface="Cambria Math" panose="02040503050406030204" pitchFamily="18" charset="0"/>
                            </a:rPr>
                            <m:t>(0)</m:t>
                          </m:r>
                        </m:sup>
                      </m:sSup>
                      <m:r>
                        <a:rPr lang="en-US" i="1">
                          <a:solidFill>
                            <a:schemeClr val="accent6">
                              <a:lumMod val="75000"/>
                            </a:schemeClr>
                          </a:solidFill>
                          <a:latin typeface="Cambria Math" panose="02040503050406030204" pitchFamily="18" charset="0"/>
                        </a:rPr>
                        <m:t>=−4</m:t>
                      </m:r>
                    </m:oMath>
                  </m:oMathPara>
                </a14:m>
                <a:endParaRPr lang="en-US" dirty="0">
                  <a:solidFill>
                    <a:schemeClr val="accent6">
                      <a:lumMod val="75000"/>
                    </a:schemeClr>
                  </a:solidFill>
                </a:endParaRPr>
              </a:p>
            </p:txBody>
          </p:sp>
        </mc:Choice>
        <mc:Fallback xmlns="">
          <p:sp>
            <p:nvSpPr>
              <p:cNvPr id="17" name="TextBox 16"/>
              <p:cNvSpPr txBox="1">
                <a:spLocks noRot="1" noChangeAspect="1" noMove="1" noResize="1" noEditPoints="1" noAdjustHandles="1" noChangeArrowheads="1" noChangeShapeType="1" noTextEdit="1"/>
              </p:cNvSpPr>
              <p:nvPr/>
            </p:nvSpPr>
            <p:spPr>
              <a:xfrm>
                <a:off x="1628776" y="2915081"/>
                <a:ext cx="1224759" cy="38081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1624533" y="4775090"/>
                <a:ext cx="1740926" cy="3808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i="1">
                              <a:solidFill>
                                <a:schemeClr val="accent6">
                                  <a:lumMod val="75000"/>
                                </a:schemeClr>
                              </a:solidFill>
                              <a:latin typeface="Cambria Math" panose="02040503050406030204" pitchFamily="18" charset="0"/>
                            </a:rPr>
                          </m:ctrlPr>
                        </m:sSupPr>
                        <m:e>
                          <m:r>
                            <a:rPr lang="en-US" i="1">
                              <a:solidFill>
                                <a:schemeClr val="accent6">
                                  <a:lumMod val="75000"/>
                                </a:schemeClr>
                              </a:solidFill>
                              <a:latin typeface="Cambria Math" panose="02040503050406030204" pitchFamily="18" charset="0"/>
                            </a:rPr>
                            <m:t>𝑥</m:t>
                          </m:r>
                        </m:e>
                        <m:sup>
                          <m:r>
                            <a:rPr lang="en-US" i="1">
                              <a:solidFill>
                                <a:schemeClr val="accent6">
                                  <a:lumMod val="75000"/>
                                </a:schemeClr>
                              </a:solidFill>
                              <a:latin typeface="Cambria Math" panose="02040503050406030204" pitchFamily="18" charset="0"/>
                            </a:rPr>
                            <m:t>(5)</m:t>
                          </m:r>
                        </m:sup>
                      </m:sSup>
                      <m:r>
                        <a:rPr lang="en-US" i="1">
                          <a:solidFill>
                            <a:schemeClr val="accent6">
                              <a:lumMod val="75000"/>
                            </a:schemeClr>
                          </a:solidFill>
                          <a:latin typeface="Cambria Math" panose="02040503050406030204" pitchFamily="18" charset="0"/>
                        </a:rPr>
                        <m:t>=0.31104</m:t>
                      </m:r>
                    </m:oMath>
                  </m:oMathPara>
                </a14:m>
                <a:endParaRPr lang="en-US" dirty="0">
                  <a:solidFill>
                    <a:schemeClr val="accent6">
                      <a:lumMod val="75000"/>
                    </a:schemeClr>
                  </a:solidFill>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1624533" y="4775090"/>
                <a:ext cx="1740926" cy="38081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1628775" y="4397063"/>
                <a:ext cx="1785810" cy="3808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i="1">
                              <a:solidFill>
                                <a:schemeClr val="accent6">
                                  <a:lumMod val="75000"/>
                                </a:schemeClr>
                              </a:solidFill>
                              <a:latin typeface="Cambria Math" panose="02040503050406030204" pitchFamily="18" charset="0"/>
                            </a:rPr>
                          </m:ctrlPr>
                        </m:sSupPr>
                        <m:e>
                          <m:r>
                            <a:rPr lang="en-US" i="1">
                              <a:solidFill>
                                <a:schemeClr val="accent6">
                                  <a:lumMod val="75000"/>
                                </a:schemeClr>
                              </a:solidFill>
                              <a:latin typeface="Cambria Math" panose="02040503050406030204" pitchFamily="18" charset="0"/>
                            </a:rPr>
                            <m:t>𝑥</m:t>
                          </m:r>
                        </m:e>
                        <m:sup>
                          <m:r>
                            <a:rPr lang="en-US" i="1">
                              <a:solidFill>
                                <a:schemeClr val="accent6">
                                  <a:lumMod val="75000"/>
                                </a:schemeClr>
                              </a:solidFill>
                              <a:latin typeface="Cambria Math" panose="02040503050406030204" pitchFamily="18" charset="0"/>
                            </a:rPr>
                            <m:t>(4)</m:t>
                          </m:r>
                        </m:sup>
                      </m:sSup>
                      <m:r>
                        <a:rPr lang="en-US" i="1">
                          <a:solidFill>
                            <a:schemeClr val="accent6">
                              <a:lumMod val="75000"/>
                            </a:schemeClr>
                          </a:solidFill>
                          <a:latin typeface="Cambria Math" panose="02040503050406030204" pitchFamily="18" charset="0"/>
                        </a:rPr>
                        <m:t>=−0.5184</m:t>
                      </m:r>
                    </m:oMath>
                  </m:oMathPara>
                </a14:m>
                <a:endParaRPr lang="en-US" dirty="0">
                  <a:solidFill>
                    <a:schemeClr val="accent6">
                      <a:lumMod val="75000"/>
                    </a:schemeClr>
                  </a:solidFill>
                </a:endParaRPr>
              </a:p>
            </p:txBody>
          </p:sp>
        </mc:Choice>
        <mc:Fallback xmlns="">
          <p:sp>
            <p:nvSpPr>
              <p:cNvPr id="20" name="TextBox 19"/>
              <p:cNvSpPr txBox="1">
                <a:spLocks noRot="1" noChangeAspect="1" noMove="1" noResize="1" noEditPoints="1" noAdjustHandles="1" noChangeArrowheads="1" noChangeShapeType="1" noTextEdit="1"/>
              </p:cNvSpPr>
              <p:nvPr/>
            </p:nvSpPr>
            <p:spPr>
              <a:xfrm>
                <a:off x="1628775" y="4397063"/>
                <a:ext cx="1785810" cy="38081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1628776" y="4019036"/>
                <a:ext cx="1356205" cy="3808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i="1">
                              <a:solidFill>
                                <a:schemeClr val="accent6">
                                  <a:lumMod val="75000"/>
                                </a:schemeClr>
                              </a:solidFill>
                              <a:latin typeface="Cambria Math" panose="02040503050406030204" pitchFamily="18" charset="0"/>
                            </a:rPr>
                          </m:ctrlPr>
                        </m:sSupPr>
                        <m:e>
                          <m:r>
                            <a:rPr lang="en-US" i="1">
                              <a:solidFill>
                                <a:schemeClr val="accent6">
                                  <a:lumMod val="75000"/>
                                </a:schemeClr>
                              </a:solidFill>
                              <a:latin typeface="Cambria Math" panose="02040503050406030204" pitchFamily="18" charset="0"/>
                            </a:rPr>
                            <m:t>𝑥</m:t>
                          </m:r>
                        </m:e>
                        <m:sup>
                          <m:r>
                            <a:rPr lang="en-US" i="1">
                              <a:solidFill>
                                <a:schemeClr val="accent6">
                                  <a:lumMod val="75000"/>
                                </a:schemeClr>
                              </a:solidFill>
                              <a:latin typeface="Cambria Math" panose="02040503050406030204" pitchFamily="18" charset="0"/>
                            </a:rPr>
                            <m:t>(3)</m:t>
                          </m:r>
                        </m:sup>
                      </m:sSup>
                      <m:r>
                        <a:rPr lang="en-US" i="1">
                          <a:solidFill>
                            <a:schemeClr val="accent6">
                              <a:lumMod val="75000"/>
                            </a:schemeClr>
                          </a:solidFill>
                          <a:latin typeface="Cambria Math" panose="02040503050406030204" pitchFamily="18" charset="0"/>
                        </a:rPr>
                        <m:t>=.864</m:t>
                      </m:r>
                    </m:oMath>
                  </m:oMathPara>
                </a14:m>
                <a:endParaRPr lang="en-US" dirty="0">
                  <a:solidFill>
                    <a:schemeClr val="accent6">
                      <a:lumMod val="75000"/>
                    </a:schemeClr>
                  </a:solidFill>
                </a:endParaRPr>
              </a:p>
            </p:txBody>
          </p:sp>
        </mc:Choice>
        <mc:Fallback xmlns="">
          <p:sp>
            <p:nvSpPr>
              <p:cNvPr id="21" name="TextBox 20"/>
              <p:cNvSpPr txBox="1">
                <a:spLocks noRot="1" noChangeAspect="1" noMove="1" noResize="1" noEditPoints="1" noAdjustHandles="1" noChangeArrowheads="1" noChangeShapeType="1" noTextEdit="1"/>
              </p:cNvSpPr>
              <p:nvPr/>
            </p:nvSpPr>
            <p:spPr>
              <a:xfrm>
                <a:off x="1628776" y="4019036"/>
                <a:ext cx="1356205" cy="380810"/>
              </a:xfrm>
              <a:prstGeom prst="rect">
                <a:avLst/>
              </a:prstGeom>
              <a:blipFill>
                <a:blip r:embed="rId10"/>
                <a:stretch>
                  <a:fillRect/>
                </a:stretch>
              </a:blipFill>
            </p:spPr>
            <p:txBody>
              <a:bodyPr/>
              <a:lstStyle/>
              <a:p>
                <a:r>
                  <a:rPr lang="en-IN">
                    <a:noFill/>
                  </a:rPr>
                  <a:t> </a:t>
                </a:r>
              </a:p>
            </p:txBody>
          </p:sp>
        </mc:Fallback>
      </mc:AlternateContent>
      <p:sp>
        <p:nvSpPr>
          <p:cNvPr id="22" name="Oval 21"/>
          <p:cNvSpPr/>
          <p:nvPr/>
        </p:nvSpPr>
        <p:spPr>
          <a:xfrm>
            <a:off x="4485203" y="4745104"/>
            <a:ext cx="151392" cy="136772"/>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C000"/>
              </a:solidFill>
            </a:endParaRPr>
          </a:p>
        </p:txBody>
      </p:sp>
      <p:sp>
        <p:nvSpPr>
          <p:cNvPr id="23" name="Oval 22"/>
          <p:cNvSpPr/>
          <p:nvPr/>
        </p:nvSpPr>
        <p:spPr>
          <a:xfrm>
            <a:off x="6393647" y="5501949"/>
            <a:ext cx="151392" cy="136772"/>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Oval 23"/>
          <p:cNvSpPr/>
          <p:nvPr/>
        </p:nvSpPr>
        <p:spPr>
          <a:xfrm>
            <a:off x="5831674" y="5542400"/>
            <a:ext cx="151392" cy="136772"/>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Oval 24"/>
          <p:cNvSpPr/>
          <p:nvPr/>
        </p:nvSpPr>
        <p:spPr>
          <a:xfrm>
            <a:off x="6167777" y="5549464"/>
            <a:ext cx="151392" cy="136772"/>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6" name="TextBox 25"/>
              <p:cNvSpPr txBox="1"/>
              <p:nvPr/>
            </p:nvSpPr>
            <p:spPr>
              <a:xfrm>
                <a:off x="1628775" y="6036489"/>
                <a:ext cx="2656496" cy="3808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i="1">
                              <a:solidFill>
                                <a:srgbClr val="C00000"/>
                              </a:solidFill>
                              <a:latin typeface="Cambria Math" panose="02040503050406030204" pitchFamily="18" charset="0"/>
                            </a:rPr>
                          </m:ctrlPr>
                        </m:sSupPr>
                        <m:e>
                          <m:r>
                            <a:rPr lang="en-US" i="1">
                              <a:solidFill>
                                <a:srgbClr val="C00000"/>
                              </a:solidFill>
                              <a:latin typeface="Cambria Math" panose="02040503050406030204" pitchFamily="18" charset="0"/>
                            </a:rPr>
                            <m:t>𝑥</m:t>
                          </m:r>
                        </m:e>
                        <m:sup>
                          <m:r>
                            <a:rPr lang="en-US" i="1">
                              <a:solidFill>
                                <a:srgbClr val="C00000"/>
                              </a:solidFill>
                              <a:latin typeface="Cambria Math" panose="02040503050406030204" pitchFamily="18" charset="0"/>
                            </a:rPr>
                            <m:t>(30)</m:t>
                          </m:r>
                        </m:sup>
                      </m:sSup>
                      <m:r>
                        <a:rPr lang="en-US" i="1">
                          <a:solidFill>
                            <a:srgbClr val="C00000"/>
                          </a:solidFill>
                          <a:latin typeface="Cambria Math" panose="02040503050406030204" pitchFamily="18" charset="0"/>
                        </a:rPr>
                        <m:t>=−8.84296</m:t>
                      </m:r>
                      <m:r>
                        <a:rPr lang="en-US" i="1">
                          <a:solidFill>
                            <a:srgbClr val="C00000"/>
                          </a:solidFill>
                          <a:latin typeface="Cambria Math" panose="02040503050406030204" pitchFamily="18" charset="0"/>
                        </a:rPr>
                        <m:t>𝑒</m:t>
                      </m:r>
                      <m:r>
                        <a:rPr lang="en-US" i="1">
                          <a:solidFill>
                            <a:srgbClr val="C00000"/>
                          </a:solidFill>
                          <a:latin typeface="Cambria Math" panose="02040503050406030204" pitchFamily="18" charset="0"/>
                        </a:rPr>
                        <m:t>−07</m:t>
                      </m:r>
                    </m:oMath>
                  </m:oMathPara>
                </a14:m>
                <a:endParaRPr lang="en-US" dirty="0">
                  <a:solidFill>
                    <a:srgbClr val="C00000"/>
                  </a:solidFill>
                </a:endParaRPr>
              </a:p>
            </p:txBody>
          </p:sp>
        </mc:Choice>
        <mc:Fallback xmlns="">
          <p:sp>
            <p:nvSpPr>
              <p:cNvPr id="26" name="TextBox 25"/>
              <p:cNvSpPr txBox="1">
                <a:spLocks noRot="1" noChangeAspect="1" noMove="1" noResize="1" noEditPoints="1" noAdjustHandles="1" noChangeArrowheads="1" noChangeShapeType="1" noTextEdit="1"/>
              </p:cNvSpPr>
              <p:nvPr/>
            </p:nvSpPr>
            <p:spPr>
              <a:xfrm>
                <a:off x="1628775" y="6036489"/>
                <a:ext cx="2656496" cy="38081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1628775" y="2570697"/>
                <a:ext cx="1407950" cy="369332"/>
              </a:xfrm>
              <a:prstGeom prst="rect">
                <a:avLst/>
              </a:prstGeom>
              <a:noFill/>
            </p:spPr>
            <p:txBody>
              <a:bodyPr wrap="none" rtlCol="0">
                <a:spAutoFit/>
              </a:bodyPr>
              <a:lstStyle/>
              <a:p>
                <a:r>
                  <a:rPr lang="en-US" dirty="0"/>
                  <a:t>Step size:  </a:t>
                </a:r>
                <a14:m>
                  <m:oMath xmlns:m="http://schemas.openxmlformats.org/officeDocument/2006/math">
                    <m:r>
                      <a:rPr lang="en-US" i="1">
                        <a:latin typeface="Cambria Math" panose="02040503050406030204" pitchFamily="18" charset="0"/>
                      </a:rPr>
                      <m:t>.8</m:t>
                    </m:r>
                  </m:oMath>
                </a14:m>
                <a:endParaRPr lang="en-US" dirty="0"/>
              </a:p>
            </p:txBody>
          </p:sp>
        </mc:Choice>
        <mc:Fallback xmlns="">
          <p:sp>
            <p:nvSpPr>
              <p:cNvPr id="27" name="TextBox 26"/>
              <p:cNvSpPr txBox="1">
                <a:spLocks noRot="1" noChangeAspect="1" noMove="1" noResize="1" noEditPoints="1" noAdjustHandles="1" noChangeArrowheads="1" noChangeShapeType="1" noTextEdit="1"/>
              </p:cNvSpPr>
              <p:nvPr/>
            </p:nvSpPr>
            <p:spPr>
              <a:xfrm>
                <a:off x="1628775" y="2570697"/>
                <a:ext cx="1407950" cy="369332"/>
              </a:xfrm>
              <a:prstGeom prst="rect">
                <a:avLst/>
              </a:prstGeom>
              <a:blipFill>
                <a:blip r:embed="rId12"/>
                <a:stretch>
                  <a:fillRect l="-3463" t="-8333" b="-28333"/>
                </a:stretch>
              </a:blipFill>
            </p:spPr>
            <p:txBody>
              <a:bodyPr/>
              <a:lstStyle/>
              <a:p>
                <a:r>
                  <a:rPr lang="en-IN">
                    <a:noFill/>
                  </a:rPr>
                  <a:t> </a:t>
                </a:r>
              </a:p>
            </p:txBody>
          </p:sp>
        </mc:Fallback>
      </mc:AlternateContent>
      <p:sp>
        <p:nvSpPr>
          <p:cNvPr id="28" name="Oval 27">
            <a:extLst>
              <a:ext uri="{FF2B5EF4-FFF2-40B4-BE49-F238E27FC236}">
                <a16:creationId xmlns:a16="http://schemas.microsoft.com/office/drawing/2014/main" id="{756A2789-01C1-42FB-BF8C-F3F860366CD1}"/>
              </a:ext>
            </a:extLst>
          </p:cNvPr>
          <p:cNvSpPr/>
          <p:nvPr/>
        </p:nvSpPr>
        <p:spPr>
          <a:xfrm>
            <a:off x="6969151" y="5265518"/>
            <a:ext cx="151392" cy="136772"/>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52631670-D1D2-4E3E-8A9A-D47205C01203}"/>
              </a:ext>
            </a:extLst>
          </p:cNvPr>
          <p:cNvSpPr/>
          <p:nvPr/>
        </p:nvSpPr>
        <p:spPr>
          <a:xfrm>
            <a:off x="5495571" y="5439325"/>
            <a:ext cx="151392" cy="136772"/>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ED347954-70BA-4FFD-BF19-DFDCE287CC19}"/>
              </a:ext>
            </a:extLst>
          </p:cNvPr>
          <p:cNvSpPr/>
          <p:nvPr/>
        </p:nvSpPr>
        <p:spPr>
          <a:xfrm>
            <a:off x="6050668" y="5552232"/>
            <a:ext cx="151392" cy="136772"/>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593318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95528"/>
            <a:ext cx="10515600" cy="5381435"/>
          </a:xfrm>
        </p:spPr>
        <p:txBody>
          <a:bodyPr/>
          <a:lstStyle/>
          <a:p>
            <a:pPr>
              <a:lnSpc>
                <a:spcPct val="100000"/>
              </a:lnSpc>
            </a:pPr>
            <a:r>
              <a:rPr lang="en-IN" dirty="0"/>
              <a:t>The starting point is used to evaluate the performance as it is considered just as an arbitrary point. </a:t>
            </a:r>
          </a:p>
          <a:p>
            <a:pPr>
              <a:lnSpc>
                <a:spcPct val="100000"/>
              </a:lnSpc>
            </a:pPr>
            <a:r>
              <a:rPr lang="en-IN" dirty="0"/>
              <a:t>At this starting point, we will derive the first derivative or slope and then use a tangent line to calculate the steepness of this slope. Further, this slope will inform the updates to the parameters (weights and bias).</a:t>
            </a:r>
          </a:p>
          <a:p>
            <a:pPr>
              <a:lnSpc>
                <a:spcPct val="100000"/>
              </a:lnSpc>
            </a:pPr>
            <a:r>
              <a:rPr lang="en-IN" dirty="0"/>
              <a:t>The slope becomes steeper at the starting point or arbitrary point, but whenever new parameters are generated, then steepness gradually reduces, and at the lowest point, it approaches the lowest point, which is called </a:t>
            </a:r>
            <a:r>
              <a:rPr lang="en-IN" b="1" dirty="0"/>
              <a:t>a point of convergence.</a:t>
            </a:r>
            <a:endParaRPr lang="en-IN" dirty="0"/>
          </a:p>
        </p:txBody>
      </p:sp>
    </p:spTree>
    <p:extLst>
      <p:ext uri="{BB962C8B-B14F-4D97-AF65-F5344CB8AC3E}">
        <p14:creationId xmlns:p14="http://schemas.microsoft.com/office/powerpoint/2010/main" val="159880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13232"/>
            <a:ext cx="10515600" cy="5463731"/>
          </a:xfrm>
        </p:spPr>
        <p:txBody>
          <a:bodyPr/>
          <a:lstStyle/>
          <a:p>
            <a:pPr>
              <a:lnSpc>
                <a:spcPct val="100000"/>
              </a:lnSpc>
            </a:pPr>
            <a:r>
              <a:rPr lang="en-IN" dirty="0"/>
              <a:t>The main objective of gradient descent is to minimize the cost function or the error between expected and actual. </a:t>
            </a:r>
          </a:p>
          <a:p>
            <a:pPr>
              <a:lnSpc>
                <a:spcPct val="100000"/>
              </a:lnSpc>
            </a:pPr>
            <a:r>
              <a:rPr lang="en-IN" dirty="0"/>
              <a:t>To minimize the cost function, two data points are required:</a:t>
            </a:r>
          </a:p>
          <a:p>
            <a:pPr lvl="1">
              <a:lnSpc>
                <a:spcPct val="100000"/>
              </a:lnSpc>
            </a:pPr>
            <a:r>
              <a:rPr lang="en-IN" b="1" dirty="0"/>
              <a:t>Direction &amp; Learning Rate</a:t>
            </a:r>
            <a:endParaRPr lang="en-IN" dirty="0"/>
          </a:p>
          <a:p>
            <a:pPr>
              <a:lnSpc>
                <a:spcPct val="100000"/>
              </a:lnSpc>
            </a:pPr>
            <a:r>
              <a:rPr lang="en-IN" dirty="0"/>
              <a:t>These two factors are used to determine the partial derivative calculation of future iteration and allow it to the point of convergence or local minimum or global minimum.</a:t>
            </a:r>
          </a:p>
        </p:txBody>
      </p:sp>
    </p:spTree>
    <p:extLst>
      <p:ext uri="{BB962C8B-B14F-4D97-AF65-F5344CB8AC3E}">
        <p14:creationId xmlns:p14="http://schemas.microsoft.com/office/powerpoint/2010/main" val="12714408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Learning Rate</a:t>
            </a:r>
          </a:p>
        </p:txBody>
      </p:sp>
      <p:sp>
        <p:nvSpPr>
          <p:cNvPr id="3" name="Content Placeholder 2"/>
          <p:cNvSpPr>
            <a:spLocks noGrp="1"/>
          </p:cNvSpPr>
          <p:nvPr>
            <p:ph idx="1"/>
          </p:nvPr>
        </p:nvSpPr>
        <p:spPr>
          <a:xfrm>
            <a:off x="838200" y="1624457"/>
            <a:ext cx="10515600" cy="4351338"/>
          </a:xfrm>
        </p:spPr>
        <p:txBody>
          <a:bodyPr>
            <a:normAutofit/>
          </a:bodyPr>
          <a:lstStyle/>
          <a:p>
            <a:pPr>
              <a:lnSpc>
                <a:spcPct val="100000"/>
              </a:lnSpc>
            </a:pPr>
            <a:r>
              <a:rPr lang="en-IN" dirty="0"/>
              <a:t>It is defined as the step size taken to reach the minimum or lowest point. </a:t>
            </a:r>
          </a:p>
          <a:p>
            <a:pPr>
              <a:lnSpc>
                <a:spcPct val="100000"/>
              </a:lnSpc>
            </a:pPr>
            <a:r>
              <a:rPr lang="en-IN" dirty="0"/>
              <a:t>This is typically a small value that is evaluated and updated based on the </a:t>
            </a:r>
            <a:r>
              <a:rPr lang="en-IN" dirty="0" err="1"/>
              <a:t>behavior</a:t>
            </a:r>
            <a:r>
              <a:rPr lang="en-IN" dirty="0"/>
              <a:t> of the cost function.</a:t>
            </a:r>
          </a:p>
          <a:p>
            <a:pPr>
              <a:lnSpc>
                <a:spcPct val="100000"/>
              </a:lnSpc>
            </a:pPr>
            <a:r>
              <a:rPr lang="en-IN" dirty="0"/>
              <a:t> If the learning rate is high, it results in larger steps but also leads to risks of overshooting the minimum. </a:t>
            </a:r>
          </a:p>
          <a:p>
            <a:pPr>
              <a:lnSpc>
                <a:spcPct val="100000"/>
              </a:lnSpc>
            </a:pPr>
            <a:r>
              <a:rPr lang="en-IN" dirty="0"/>
              <a:t>At the same time, a low learning rate shows the small step sizes, which compromises overall efficiency but gives the advantage of more precision.</a:t>
            </a:r>
          </a:p>
          <a:p>
            <a:endParaRPr lang="en-IN" dirty="0"/>
          </a:p>
        </p:txBody>
      </p:sp>
    </p:spTree>
    <p:extLst>
      <p:ext uri="{BB962C8B-B14F-4D97-AF65-F5344CB8AC3E}">
        <p14:creationId xmlns:p14="http://schemas.microsoft.com/office/powerpoint/2010/main" val="25252421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01BA9-CCF8-4CB7-AED5-7B6E5F5D9003}"/>
              </a:ext>
            </a:extLst>
          </p:cNvPr>
          <p:cNvSpPr>
            <a:spLocks noGrp="1"/>
          </p:cNvSpPr>
          <p:nvPr>
            <p:ph type="title"/>
          </p:nvPr>
        </p:nvSpPr>
        <p:spPr/>
        <p:txBody>
          <a:bodyPr/>
          <a:lstStyle/>
          <a:p>
            <a:r>
              <a:rPr lang="en-US" sz="3600" dirty="0"/>
              <a:t>Large Learning rate</a:t>
            </a:r>
          </a:p>
        </p:txBody>
      </p:sp>
      <p:sp>
        <p:nvSpPr>
          <p:cNvPr id="4" name="Slide Number Placeholder 3">
            <a:extLst>
              <a:ext uri="{FF2B5EF4-FFF2-40B4-BE49-F238E27FC236}">
                <a16:creationId xmlns:a16="http://schemas.microsoft.com/office/drawing/2014/main" id="{352771FC-1296-427F-AE8A-33AD05D1FDC2}"/>
              </a:ext>
            </a:extLst>
          </p:cNvPr>
          <p:cNvSpPr>
            <a:spLocks noGrp="1"/>
          </p:cNvSpPr>
          <p:nvPr>
            <p:ph type="sldNum" sz="quarter" idx="12"/>
          </p:nvPr>
        </p:nvSpPr>
        <p:spPr/>
        <p:txBody>
          <a:bodyPr/>
          <a:lstStyle/>
          <a:p>
            <a:fld id="{C68DACDF-E1A9-A04C-A5FF-FC2443684BF5}" type="slidenum">
              <a:rPr lang="en-US" smtClean="0"/>
              <a:pPr/>
              <a:t>17</a:t>
            </a:fld>
            <a:endParaRPr lang="en-US" dirty="0"/>
          </a:p>
        </p:txBody>
      </p:sp>
      <p:sp>
        <p:nvSpPr>
          <p:cNvPr id="17" name="TextBox 16">
            <a:extLst>
              <a:ext uri="{FF2B5EF4-FFF2-40B4-BE49-F238E27FC236}">
                <a16:creationId xmlns:a16="http://schemas.microsoft.com/office/drawing/2014/main" id="{3463F333-07D5-4828-B6D2-E14186F14DE2}"/>
              </a:ext>
            </a:extLst>
          </p:cNvPr>
          <p:cNvSpPr txBox="1"/>
          <p:nvPr/>
        </p:nvSpPr>
        <p:spPr>
          <a:xfrm>
            <a:off x="5443594" y="5707563"/>
            <a:ext cx="1374287" cy="369332"/>
          </a:xfrm>
          <a:prstGeom prst="rect">
            <a:avLst/>
          </a:prstGeom>
          <a:noFill/>
        </p:spPr>
        <p:txBody>
          <a:bodyPr wrap="none" rtlCol="0">
            <a:spAutoFit/>
          </a:bodyPr>
          <a:lstStyle/>
          <a:p>
            <a:r>
              <a:rPr lang="en-US" dirty="0"/>
              <a:t>Step size: .9</a:t>
            </a:r>
          </a:p>
        </p:txBody>
      </p:sp>
      <p:pic>
        <p:nvPicPr>
          <p:cNvPr id="3" name="Picture 4" descr="[video-to-gif output image]">
            <a:extLst>
              <a:ext uri="{FF2B5EF4-FFF2-40B4-BE49-F238E27FC236}">
                <a16:creationId xmlns:a16="http://schemas.microsoft.com/office/drawing/2014/main" id="{6682CA67-EA6F-495B-E1FA-860D69DDB3C1}"/>
              </a:ext>
            </a:extLst>
          </p:cNvPr>
          <p:cNvPicPr>
            <a:picLocks noGrp="1" noChangeAspect="1" noChangeArrowheads="1" noCro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29000" y="2001044"/>
            <a:ext cx="5334000" cy="4000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19656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01BA9-CCF8-4CB7-AED5-7B6E5F5D9003}"/>
              </a:ext>
            </a:extLst>
          </p:cNvPr>
          <p:cNvSpPr>
            <a:spLocks noGrp="1"/>
          </p:cNvSpPr>
          <p:nvPr>
            <p:ph type="title"/>
          </p:nvPr>
        </p:nvSpPr>
        <p:spPr/>
        <p:txBody>
          <a:bodyPr/>
          <a:lstStyle/>
          <a:p>
            <a:r>
              <a:rPr lang="en-US" sz="3600" dirty="0"/>
              <a:t>Smaller learning rate</a:t>
            </a:r>
          </a:p>
        </p:txBody>
      </p:sp>
      <p:sp>
        <p:nvSpPr>
          <p:cNvPr id="4" name="Slide Number Placeholder 3">
            <a:extLst>
              <a:ext uri="{FF2B5EF4-FFF2-40B4-BE49-F238E27FC236}">
                <a16:creationId xmlns:a16="http://schemas.microsoft.com/office/drawing/2014/main" id="{352771FC-1296-427F-AE8A-33AD05D1FDC2}"/>
              </a:ext>
            </a:extLst>
          </p:cNvPr>
          <p:cNvSpPr>
            <a:spLocks noGrp="1"/>
          </p:cNvSpPr>
          <p:nvPr>
            <p:ph type="sldNum" sz="quarter" idx="12"/>
          </p:nvPr>
        </p:nvSpPr>
        <p:spPr/>
        <p:txBody>
          <a:bodyPr/>
          <a:lstStyle/>
          <a:p>
            <a:fld id="{C68DACDF-E1A9-A04C-A5FF-FC2443684BF5}" type="slidenum">
              <a:rPr lang="en-US" smtClean="0"/>
              <a:pPr/>
              <a:t>18</a:t>
            </a:fld>
            <a:endParaRPr lang="en-US" dirty="0"/>
          </a:p>
        </p:txBody>
      </p:sp>
      <p:sp>
        <p:nvSpPr>
          <p:cNvPr id="17" name="TextBox 16">
            <a:extLst>
              <a:ext uri="{FF2B5EF4-FFF2-40B4-BE49-F238E27FC236}">
                <a16:creationId xmlns:a16="http://schemas.microsoft.com/office/drawing/2014/main" id="{3463F333-07D5-4828-B6D2-E14186F14DE2}"/>
              </a:ext>
            </a:extLst>
          </p:cNvPr>
          <p:cNvSpPr txBox="1"/>
          <p:nvPr/>
        </p:nvSpPr>
        <p:spPr>
          <a:xfrm>
            <a:off x="5443594" y="5707563"/>
            <a:ext cx="1374287" cy="369332"/>
          </a:xfrm>
          <a:prstGeom prst="rect">
            <a:avLst/>
          </a:prstGeom>
          <a:noFill/>
        </p:spPr>
        <p:txBody>
          <a:bodyPr wrap="none" rtlCol="0">
            <a:spAutoFit/>
          </a:bodyPr>
          <a:lstStyle/>
          <a:p>
            <a:r>
              <a:rPr lang="en-US" dirty="0"/>
              <a:t>Step size: .2</a:t>
            </a:r>
          </a:p>
        </p:txBody>
      </p:sp>
      <p:pic>
        <p:nvPicPr>
          <p:cNvPr id="3" name="Content Placeholder 2" descr="[video-to-gif output image]">
            <a:extLst>
              <a:ext uri="{FF2B5EF4-FFF2-40B4-BE49-F238E27FC236}">
                <a16:creationId xmlns:a16="http://schemas.microsoft.com/office/drawing/2014/main" id="{851AA672-EFA5-F4C7-A1C4-F5FC4DB9B5A2}"/>
              </a:ext>
            </a:extLst>
          </p:cNvPr>
          <p:cNvPicPr>
            <a:picLocks noGrp="1" noChangeAspect="1" noChangeArrowheads="1" noCro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29000" y="2001044"/>
            <a:ext cx="5334000" cy="4000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77105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01BA9-CCF8-4CB7-AED5-7B6E5F5D9003}"/>
              </a:ext>
            </a:extLst>
          </p:cNvPr>
          <p:cNvSpPr>
            <a:spLocks noGrp="1"/>
          </p:cNvSpPr>
          <p:nvPr>
            <p:ph type="title"/>
          </p:nvPr>
        </p:nvSpPr>
        <p:spPr/>
        <p:txBody>
          <a:bodyPr/>
          <a:lstStyle/>
          <a:p>
            <a:r>
              <a:rPr lang="en-US" sz="3600" dirty="0"/>
              <a:t>Gradient Descent</a:t>
            </a:r>
          </a:p>
        </p:txBody>
      </p:sp>
      <p:sp>
        <p:nvSpPr>
          <p:cNvPr id="4" name="Slide Number Placeholder 3">
            <a:extLst>
              <a:ext uri="{FF2B5EF4-FFF2-40B4-BE49-F238E27FC236}">
                <a16:creationId xmlns:a16="http://schemas.microsoft.com/office/drawing/2014/main" id="{352771FC-1296-427F-AE8A-33AD05D1FDC2}"/>
              </a:ext>
            </a:extLst>
          </p:cNvPr>
          <p:cNvSpPr>
            <a:spLocks noGrp="1"/>
          </p:cNvSpPr>
          <p:nvPr>
            <p:ph type="sldNum" sz="quarter" idx="12"/>
          </p:nvPr>
        </p:nvSpPr>
        <p:spPr/>
        <p:txBody>
          <a:bodyPr/>
          <a:lstStyle/>
          <a:p>
            <a:fld id="{C68DACDF-E1A9-A04C-A5FF-FC2443684BF5}" type="slidenum">
              <a:rPr lang="en-US" smtClean="0"/>
              <a:pPr/>
              <a:t>19</a:t>
            </a:fld>
            <a:endParaRPr lang="en-US" dirty="0"/>
          </a:p>
        </p:txBody>
      </p:sp>
      <p:sp>
        <p:nvSpPr>
          <p:cNvPr id="3" name="TextBox 2">
            <a:extLst>
              <a:ext uri="{FF2B5EF4-FFF2-40B4-BE49-F238E27FC236}">
                <a16:creationId xmlns:a16="http://schemas.microsoft.com/office/drawing/2014/main" id="{DB27C4F0-7895-4125-8A49-CF3603DEF13E}"/>
              </a:ext>
            </a:extLst>
          </p:cNvPr>
          <p:cNvSpPr txBox="1"/>
          <p:nvPr/>
        </p:nvSpPr>
        <p:spPr>
          <a:xfrm>
            <a:off x="5171068" y="5620347"/>
            <a:ext cx="1963551" cy="369332"/>
          </a:xfrm>
          <a:prstGeom prst="rect">
            <a:avLst/>
          </a:prstGeom>
          <a:noFill/>
        </p:spPr>
        <p:txBody>
          <a:bodyPr wrap="none" rtlCol="0">
            <a:spAutoFit/>
          </a:bodyPr>
          <a:lstStyle/>
          <a:p>
            <a:r>
              <a:rPr lang="en-US" dirty="0"/>
              <a:t>Step size matters!</a:t>
            </a:r>
          </a:p>
        </p:txBody>
      </p:sp>
      <p:pic>
        <p:nvPicPr>
          <p:cNvPr id="5" name="Picture 2" descr="[video-to-gif output image]">
            <a:extLst>
              <a:ext uri="{FF2B5EF4-FFF2-40B4-BE49-F238E27FC236}">
                <a16:creationId xmlns:a16="http://schemas.microsoft.com/office/drawing/2014/main" id="{F8CD5EF0-7DE6-7E29-1BBC-C0C58BB77805}"/>
              </a:ext>
            </a:extLst>
          </p:cNvPr>
          <p:cNvPicPr>
            <a:picLocks noGrp="1" noChangeAspect="1" noChangeArrowheads="1" noCro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29000" y="2001044"/>
            <a:ext cx="5334000" cy="4000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53798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01BA9-CCF8-4CB7-AED5-7B6E5F5D9003}"/>
              </a:ext>
            </a:extLst>
          </p:cNvPr>
          <p:cNvSpPr>
            <a:spLocks noGrp="1"/>
          </p:cNvSpPr>
          <p:nvPr>
            <p:ph type="title"/>
          </p:nvPr>
        </p:nvSpPr>
        <p:spPr/>
        <p:txBody>
          <a:bodyPr/>
          <a:lstStyle/>
          <a:p>
            <a:r>
              <a:rPr lang="en-US" sz="3600" dirty="0"/>
              <a:t>Gradient Descent</a:t>
            </a:r>
          </a:p>
        </p:txBody>
      </p:sp>
      <p:sp>
        <p:nvSpPr>
          <p:cNvPr id="4" name="Slide Number Placeholder 3">
            <a:extLst>
              <a:ext uri="{FF2B5EF4-FFF2-40B4-BE49-F238E27FC236}">
                <a16:creationId xmlns:a16="http://schemas.microsoft.com/office/drawing/2014/main" id="{352771FC-1296-427F-AE8A-33AD05D1FDC2}"/>
              </a:ext>
            </a:extLst>
          </p:cNvPr>
          <p:cNvSpPr>
            <a:spLocks noGrp="1"/>
          </p:cNvSpPr>
          <p:nvPr>
            <p:ph type="sldNum" sz="quarter" idx="12"/>
          </p:nvPr>
        </p:nvSpPr>
        <p:spPr/>
        <p:txBody>
          <a:bodyPr/>
          <a:lstStyle/>
          <a:p>
            <a:fld id="{C68DACDF-E1A9-A04C-A5FF-FC2443684BF5}" type="slidenum">
              <a:rPr lang="en-US" smtClean="0"/>
              <a:pPr/>
              <a:t>20</a:t>
            </a:fld>
            <a:endParaRPr lang="en-US" dirty="0"/>
          </a:p>
        </p:txBody>
      </p:sp>
      <p:sp>
        <p:nvSpPr>
          <p:cNvPr id="9" name="TextBox 8">
            <a:extLst>
              <a:ext uri="{FF2B5EF4-FFF2-40B4-BE49-F238E27FC236}">
                <a16:creationId xmlns:a16="http://schemas.microsoft.com/office/drawing/2014/main" id="{06276E59-9A48-4199-9747-6E064DCF7900}"/>
              </a:ext>
            </a:extLst>
          </p:cNvPr>
          <p:cNvSpPr txBox="1"/>
          <p:nvPr/>
        </p:nvSpPr>
        <p:spPr>
          <a:xfrm>
            <a:off x="5171068" y="5620347"/>
            <a:ext cx="1963551" cy="369332"/>
          </a:xfrm>
          <a:prstGeom prst="rect">
            <a:avLst/>
          </a:prstGeom>
          <a:noFill/>
        </p:spPr>
        <p:txBody>
          <a:bodyPr wrap="none" rtlCol="0">
            <a:spAutoFit/>
          </a:bodyPr>
          <a:lstStyle/>
          <a:p>
            <a:r>
              <a:rPr lang="en-US" dirty="0"/>
              <a:t>Step size matters!</a:t>
            </a:r>
          </a:p>
        </p:txBody>
      </p:sp>
      <p:pic>
        <p:nvPicPr>
          <p:cNvPr id="3" name="Picture 4" descr="[video-to-gif output image]">
            <a:extLst>
              <a:ext uri="{FF2B5EF4-FFF2-40B4-BE49-F238E27FC236}">
                <a16:creationId xmlns:a16="http://schemas.microsoft.com/office/drawing/2014/main" id="{7B505639-AEF7-D11F-6F97-311AB5FF14DD}"/>
              </a:ext>
            </a:extLst>
          </p:cNvPr>
          <p:cNvPicPr>
            <a:picLocks noGrp="1" noChangeAspect="1" noChangeArrowheads="1" noCro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29000" y="2001044"/>
            <a:ext cx="5334000" cy="4000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10492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CC0EC-4497-49EB-A8FB-C2E1E5482FA6}"/>
              </a:ext>
            </a:extLst>
          </p:cNvPr>
          <p:cNvSpPr>
            <a:spLocks noGrp="1"/>
          </p:cNvSpPr>
          <p:nvPr>
            <p:ph type="title"/>
          </p:nvPr>
        </p:nvSpPr>
        <p:spPr/>
        <p:txBody>
          <a:bodyPr/>
          <a:lstStyle/>
          <a:p>
            <a:r>
              <a:rPr lang="en-US" dirty="0"/>
              <a:t>Line Search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2E210C5-EF69-4D0C-8F4A-F726FB656FE9}"/>
                  </a:ext>
                </a:extLst>
              </p:cNvPr>
              <p:cNvSpPr>
                <a:spLocks noGrp="1"/>
              </p:cNvSpPr>
              <p:nvPr>
                <p:ph idx="1"/>
              </p:nvPr>
            </p:nvSpPr>
            <p:spPr>
              <a:xfrm>
                <a:off x="838200" y="1357745"/>
                <a:ext cx="10515600" cy="4819218"/>
              </a:xfrm>
            </p:spPr>
            <p:txBody>
              <a:bodyPr>
                <a:normAutofit fontScale="92500"/>
              </a:bodyPr>
              <a:lstStyle/>
              <a:p>
                <a:endParaRPr lang="en-US" sz="1000" dirty="0"/>
              </a:p>
              <a:p>
                <a:pPr algn="just">
                  <a:lnSpc>
                    <a:spcPct val="110000"/>
                  </a:lnSpc>
                </a:pPr>
                <a:r>
                  <a:rPr lang="en-US" dirty="0"/>
                  <a:t>Instead of picking a fixed step size that may or may not actually result in a decrease in the function value, we can consider minimizing the function along the direction specified by the gradient to guarantee that the next iteration decreases the function value</a:t>
                </a:r>
              </a:p>
              <a:p>
                <a:endParaRPr lang="en-US" sz="1000" dirty="0"/>
              </a:p>
              <a:p>
                <a:pPr lvl="1"/>
                <a:r>
                  <a:rPr lang="en-US" dirty="0"/>
                  <a:t>In other words choose,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arg</m:t>
                        </m:r>
                      </m:fName>
                      <m:e>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min</m:t>
                                </m:r>
                              </m:e>
                              <m:lim>
                                <m:r>
                                  <a:rPr lang="en-US" b="0" i="1" smtClean="0">
                                    <a:latin typeface="Cambria Math" panose="02040503050406030204" pitchFamily="18" charset="0"/>
                                  </a:rPr>
                                  <m:t>𝛾</m:t>
                                </m:r>
                                <m:r>
                                  <a:rPr lang="en-US" b="0" i="1" smtClean="0">
                                    <a:latin typeface="Cambria Math" panose="02040503050406030204" pitchFamily="18" charset="0"/>
                                  </a:rPr>
                                  <m:t>≥ 0</m:t>
                                </m:r>
                              </m:lim>
                            </m:limLow>
                          </m:fName>
                          <m:e>
                            <m:r>
                              <a:rPr lang="en-US" b="0" i="1" smtClean="0">
                                <a:latin typeface="Cambria Math" panose="02040503050406030204" pitchFamily="18" charset="0"/>
                              </a:rPr>
                              <m:t>𝑓</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𝛾</m:t>
                            </m:r>
                            <m:r>
                              <m:rPr>
                                <m:sty m:val="p"/>
                              </m:rPr>
                              <a:rPr lang="en-US" b="0" i="0"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e>
                            </m:d>
                            <m:r>
                              <a:rPr lang="en-US" b="0" i="1" smtClean="0">
                                <a:latin typeface="Cambria Math" panose="02040503050406030204" pitchFamily="18" charset="0"/>
                              </a:rPr>
                              <m:t>)</m:t>
                            </m:r>
                          </m:e>
                        </m:func>
                      </m:e>
                    </m:func>
                  </m:oMath>
                </a14:m>
                <a:endParaRPr lang="en-US" dirty="0"/>
              </a:p>
              <a:p>
                <a:pPr lvl="1"/>
                <a:endParaRPr lang="en-US" sz="1000" dirty="0"/>
              </a:p>
              <a:p>
                <a:pPr lvl="1"/>
                <a:r>
                  <a:rPr lang="en-US" dirty="0"/>
                  <a:t>This is called exact </a:t>
                </a:r>
                <a:r>
                  <a:rPr lang="en-US" b="1" dirty="0">
                    <a:solidFill>
                      <a:srgbClr val="FF0000"/>
                    </a:solidFill>
                  </a:rPr>
                  <a:t>line search</a:t>
                </a:r>
              </a:p>
              <a:p>
                <a:pPr lvl="1"/>
                <a:endParaRPr lang="en-US" sz="1000" b="1" dirty="0">
                  <a:solidFill>
                    <a:srgbClr val="FF0000"/>
                  </a:solidFill>
                </a:endParaRPr>
              </a:p>
              <a:p>
                <a:r>
                  <a:rPr lang="en-US" dirty="0"/>
                  <a:t>This optimization problem can be expensive to solve exactly </a:t>
                </a:r>
              </a:p>
              <a:p>
                <a:pPr lvl="1"/>
                <a:endParaRPr lang="en-US" sz="1000" dirty="0"/>
              </a:p>
              <a:p>
                <a:pPr lvl="1"/>
                <a:r>
                  <a:rPr lang="en-US" dirty="0"/>
                  <a:t>However, if </a:t>
                </a:r>
                <a14:m>
                  <m:oMath xmlns:m="http://schemas.openxmlformats.org/officeDocument/2006/math">
                    <m:r>
                      <a:rPr lang="en-US" b="0" i="1" smtClean="0">
                        <a:latin typeface="Cambria Math" panose="02040503050406030204" pitchFamily="18" charset="0"/>
                      </a:rPr>
                      <m:t>𝑓</m:t>
                    </m:r>
                  </m:oMath>
                </a14:m>
                <a:r>
                  <a:rPr lang="en-US" dirty="0"/>
                  <a:t> is convex, this is a univariate convex optimization problem</a:t>
                </a:r>
              </a:p>
            </p:txBody>
          </p:sp>
        </mc:Choice>
        <mc:Fallback xmlns="">
          <p:sp>
            <p:nvSpPr>
              <p:cNvPr id="3" name="Content Placeholder 2">
                <a:extLst>
                  <a:ext uri="{FF2B5EF4-FFF2-40B4-BE49-F238E27FC236}">
                    <a16:creationId xmlns:a16="http://schemas.microsoft.com/office/drawing/2014/main" id="{E2E210C5-EF69-4D0C-8F4A-F726FB656FE9}"/>
                  </a:ext>
                </a:extLst>
              </p:cNvPr>
              <p:cNvSpPr>
                <a:spLocks noGrp="1" noRot="1" noChangeAspect="1" noMove="1" noResize="1" noEditPoints="1" noAdjustHandles="1" noChangeArrowheads="1" noChangeShapeType="1" noTextEdit="1"/>
              </p:cNvSpPr>
              <p:nvPr>
                <p:ph idx="1"/>
              </p:nvPr>
            </p:nvSpPr>
            <p:spPr>
              <a:xfrm>
                <a:off x="838200" y="1357745"/>
                <a:ext cx="10515600" cy="4819218"/>
              </a:xfrm>
              <a:blipFill>
                <a:blip r:embed="rId2"/>
                <a:stretch>
                  <a:fillRect l="-928" r="-986"/>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62DEA377-CC60-4A84-AB8C-F5D1D2600D29}"/>
              </a:ext>
            </a:extLst>
          </p:cNvPr>
          <p:cNvSpPr>
            <a:spLocks noGrp="1"/>
          </p:cNvSpPr>
          <p:nvPr>
            <p:ph type="sldNum" sz="quarter" idx="12"/>
          </p:nvPr>
        </p:nvSpPr>
        <p:spPr/>
        <p:txBody>
          <a:bodyPr/>
          <a:lstStyle/>
          <a:p>
            <a:fld id="{C68DACDF-E1A9-A04C-A5FF-FC2443684BF5}" type="slidenum">
              <a:rPr lang="en-US" smtClean="0"/>
              <a:pPr/>
              <a:t>21</a:t>
            </a:fld>
            <a:endParaRPr lang="en-US" dirty="0"/>
          </a:p>
        </p:txBody>
      </p:sp>
    </p:spTree>
    <p:extLst>
      <p:ext uri="{BB962C8B-B14F-4D97-AF65-F5344CB8AC3E}">
        <p14:creationId xmlns:p14="http://schemas.microsoft.com/office/powerpoint/2010/main" val="35968348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CC0EC-4497-49EB-A8FB-C2E1E5482FA6}"/>
              </a:ext>
            </a:extLst>
          </p:cNvPr>
          <p:cNvSpPr>
            <a:spLocks noGrp="1"/>
          </p:cNvSpPr>
          <p:nvPr>
            <p:ph type="title"/>
          </p:nvPr>
        </p:nvSpPr>
        <p:spPr/>
        <p:txBody>
          <a:bodyPr/>
          <a:lstStyle/>
          <a:p>
            <a:r>
              <a:rPr lang="en-US" dirty="0"/>
              <a:t>Backtracking Line Search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2E210C5-EF69-4D0C-8F4A-F726FB656FE9}"/>
                  </a:ext>
                </a:extLst>
              </p:cNvPr>
              <p:cNvSpPr>
                <a:spLocks noGrp="1"/>
              </p:cNvSpPr>
              <p:nvPr>
                <p:ph idx="1"/>
              </p:nvPr>
            </p:nvSpPr>
            <p:spPr>
              <a:xfrm>
                <a:off x="838200" y="1348509"/>
                <a:ext cx="10515600" cy="4828454"/>
              </a:xfrm>
            </p:spPr>
            <p:txBody>
              <a:bodyPr>
                <a:normAutofit/>
              </a:bodyPr>
              <a:lstStyle/>
              <a:p>
                <a:endParaRPr lang="en-US" sz="1000" dirty="0"/>
              </a:p>
              <a:p>
                <a:pPr>
                  <a:lnSpc>
                    <a:spcPct val="100000"/>
                  </a:lnSpc>
                </a:pPr>
                <a:r>
                  <a:rPr lang="en-US" dirty="0"/>
                  <a:t>Instead of exact line search, could simply use a strategy that finds some step size that decreases the function value (one must exist)</a:t>
                </a:r>
              </a:p>
              <a:p>
                <a:pPr>
                  <a:lnSpc>
                    <a:spcPct val="100000"/>
                  </a:lnSpc>
                </a:pPr>
                <a:endParaRPr lang="en-US" sz="1000" dirty="0"/>
              </a:p>
              <a:p>
                <a:pPr>
                  <a:lnSpc>
                    <a:spcPct val="100000"/>
                  </a:lnSpc>
                </a:pPr>
                <a:r>
                  <a:rPr lang="en-US" dirty="0"/>
                  <a:t>Backtracking line search: start with a large step size, </a:t>
                </a:r>
                <a14:m>
                  <m:oMath xmlns:m="http://schemas.openxmlformats.org/officeDocument/2006/math">
                    <m:r>
                      <a:rPr lang="en-US" b="0" i="1" smtClean="0">
                        <a:latin typeface="Cambria Math" panose="02040503050406030204" pitchFamily="18" charset="0"/>
                      </a:rPr>
                      <m:t>𝛾</m:t>
                    </m:r>
                  </m:oMath>
                </a14:m>
                <a:r>
                  <a:rPr lang="en-US" dirty="0"/>
                  <a:t>, and keep shrinking it until </a:t>
                </a:r>
                <a14:m>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r>
                          <a:rPr lang="en-US" i="1">
                            <a:latin typeface="Cambria Math" panose="02040503050406030204" pitchFamily="18" charset="0"/>
                          </a:rPr>
                          <m:t>−</m:t>
                        </m:r>
                        <m:r>
                          <a:rPr lang="en-US" b="0" i="1" smtClean="0">
                            <a:latin typeface="Cambria Math" panose="02040503050406030204" pitchFamily="18" charset="0"/>
                          </a:rPr>
                          <m:t>𝛾</m:t>
                        </m:r>
                        <m:r>
                          <m:rPr>
                            <m:sty m:val="p"/>
                          </m:rPr>
                          <a:rPr lang="en-US">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e>
                        </m:d>
                      </m:e>
                    </m:d>
                    <m:r>
                      <a:rPr lang="en-US" b="0" i="1" smtClean="0">
                        <a:latin typeface="Cambria Math" panose="02040503050406030204" pitchFamily="18" charset="0"/>
                      </a:rPr>
                      <m:t>&lt;</m:t>
                    </m:r>
                    <m:r>
                      <a:rPr lang="en-US" b="0" i="1" smtClean="0">
                        <a:latin typeface="Cambria Math" panose="02040503050406030204" pitchFamily="18" charset="0"/>
                      </a:rPr>
                      <m:t>𝑓</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a14:m>
                <a:endParaRPr lang="en-US" dirty="0"/>
              </a:p>
              <a:p>
                <a:pPr>
                  <a:lnSpc>
                    <a:spcPct val="100000"/>
                  </a:lnSpc>
                </a:pPr>
                <a:endParaRPr lang="en-US" sz="1000" dirty="0"/>
              </a:p>
              <a:p>
                <a:pPr>
                  <a:lnSpc>
                    <a:spcPct val="100000"/>
                  </a:lnSpc>
                </a:pPr>
                <a:r>
                  <a:rPr lang="en-US" dirty="0"/>
                  <a:t>This always guarantees a decrease, but it may not decrease as much as exact line search</a:t>
                </a:r>
              </a:p>
              <a:p>
                <a:pPr lvl="1">
                  <a:lnSpc>
                    <a:spcPct val="100000"/>
                  </a:lnSpc>
                </a:pPr>
                <a:endParaRPr lang="en-US" sz="1000" dirty="0"/>
              </a:p>
              <a:p>
                <a:pPr lvl="1">
                  <a:lnSpc>
                    <a:spcPct val="100000"/>
                  </a:lnSpc>
                </a:pPr>
                <a:r>
                  <a:rPr lang="en-US" dirty="0"/>
                  <a:t>Still, this is typically much faster in practice as it only requires a few function evaluations</a:t>
                </a:r>
              </a:p>
            </p:txBody>
          </p:sp>
        </mc:Choice>
        <mc:Fallback xmlns="">
          <p:sp>
            <p:nvSpPr>
              <p:cNvPr id="3" name="Content Placeholder 2">
                <a:extLst>
                  <a:ext uri="{FF2B5EF4-FFF2-40B4-BE49-F238E27FC236}">
                    <a16:creationId xmlns:a16="http://schemas.microsoft.com/office/drawing/2014/main" id="{E2E210C5-EF69-4D0C-8F4A-F726FB656FE9}"/>
                  </a:ext>
                </a:extLst>
              </p:cNvPr>
              <p:cNvSpPr>
                <a:spLocks noGrp="1" noRot="1" noChangeAspect="1" noMove="1" noResize="1" noEditPoints="1" noAdjustHandles="1" noChangeArrowheads="1" noChangeShapeType="1" noTextEdit="1"/>
              </p:cNvSpPr>
              <p:nvPr>
                <p:ph idx="1"/>
              </p:nvPr>
            </p:nvSpPr>
            <p:spPr>
              <a:xfrm>
                <a:off x="838200" y="1348509"/>
                <a:ext cx="10515600" cy="4828454"/>
              </a:xfrm>
              <a:blipFill>
                <a:blip r:embed="rId2"/>
                <a:stretch>
                  <a:fillRect l="-1043" r="-986" b="-2273"/>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62DEA377-CC60-4A84-AB8C-F5D1D2600D29}"/>
              </a:ext>
            </a:extLst>
          </p:cNvPr>
          <p:cNvSpPr>
            <a:spLocks noGrp="1"/>
          </p:cNvSpPr>
          <p:nvPr>
            <p:ph type="sldNum" sz="quarter" idx="12"/>
          </p:nvPr>
        </p:nvSpPr>
        <p:spPr/>
        <p:txBody>
          <a:bodyPr/>
          <a:lstStyle/>
          <a:p>
            <a:fld id="{C68DACDF-E1A9-A04C-A5FF-FC2443684BF5}" type="slidenum">
              <a:rPr lang="en-US" smtClean="0"/>
              <a:pPr/>
              <a:t>22</a:t>
            </a:fld>
            <a:endParaRPr lang="en-US" dirty="0"/>
          </a:p>
        </p:txBody>
      </p:sp>
    </p:spTree>
    <p:extLst>
      <p:ext uri="{BB962C8B-B14F-4D97-AF65-F5344CB8AC3E}">
        <p14:creationId xmlns:p14="http://schemas.microsoft.com/office/powerpoint/2010/main" val="25389208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CC0EC-4497-49EB-A8FB-C2E1E5482FA6}"/>
              </a:ext>
            </a:extLst>
          </p:cNvPr>
          <p:cNvSpPr>
            <a:spLocks noGrp="1"/>
          </p:cNvSpPr>
          <p:nvPr>
            <p:ph type="title"/>
          </p:nvPr>
        </p:nvSpPr>
        <p:spPr/>
        <p:txBody>
          <a:bodyPr/>
          <a:lstStyle/>
          <a:p>
            <a:r>
              <a:rPr lang="en-US" dirty="0"/>
              <a:t>Backtracking Line Search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2E210C5-EF69-4D0C-8F4A-F726FB656FE9}"/>
                  </a:ext>
                </a:extLst>
              </p:cNvPr>
              <p:cNvSpPr>
                <a:spLocks noGrp="1"/>
              </p:cNvSpPr>
              <p:nvPr>
                <p:ph idx="1"/>
              </p:nvPr>
            </p:nvSpPr>
            <p:spPr>
              <a:xfrm>
                <a:off x="838200" y="1530783"/>
                <a:ext cx="10515600" cy="4449393"/>
              </a:xfrm>
            </p:spPr>
            <p:txBody>
              <a:bodyPr>
                <a:normAutofit/>
              </a:bodyPr>
              <a:lstStyle/>
              <a:p>
                <a:pPr>
                  <a:lnSpc>
                    <a:spcPct val="100000"/>
                  </a:lnSpc>
                </a:pPr>
                <a:r>
                  <a:rPr lang="en-US" dirty="0"/>
                  <a:t>To implement backtracking line search, choose two parameters </a:t>
                </a:r>
                <a14:m>
                  <m:oMath xmlns:m="http://schemas.openxmlformats.org/officeDocument/2006/math">
                    <m:r>
                      <a:rPr lang="en-US" b="0" i="1" smtClean="0">
                        <a:latin typeface="Cambria Math" panose="02040503050406030204" pitchFamily="18" charset="0"/>
                      </a:rPr>
                      <m:t>𝛼</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0,.5</m:t>
                        </m:r>
                      </m:e>
                    </m:d>
                    <m:r>
                      <a:rPr lang="en-US" b="0" i="1" smtClean="0">
                        <a:latin typeface="Cambria Math" panose="02040503050406030204" pitchFamily="18" charset="0"/>
                      </a:rPr>
                      <m:t>, </m:t>
                    </m:r>
                    <m:r>
                      <a:rPr lang="en-US" b="0" i="1" smtClean="0">
                        <a:latin typeface="Cambria Math" panose="02040503050406030204" pitchFamily="18" charset="0"/>
                      </a:rPr>
                      <m:t>𝛽</m:t>
                    </m:r>
                    <m:r>
                      <a:rPr lang="en-US" b="0" i="1" smtClean="0">
                        <a:latin typeface="Cambria Math" panose="02040503050406030204" pitchFamily="18" charset="0"/>
                      </a:rPr>
                      <m:t>∈(0,1)</m:t>
                    </m:r>
                  </m:oMath>
                </a14:m>
                <a:endParaRPr lang="en-US" dirty="0"/>
              </a:p>
              <a:p>
                <a:endParaRPr lang="en-US" sz="1000" dirty="0"/>
              </a:p>
              <a:p>
                <a:r>
                  <a:rPr lang="en-US" dirty="0"/>
                  <a:t>Set </a:t>
                </a:r>
                <a14:m>
                  <m:oMath xmlns:m="http://schemas.openxmlformats.org/officeDocument/2006/math">
                    <m:r>
                      <a:rPr lang="en-US" b="0" i="1" smtClean="0">
                        <a:latin typeface="Cambria Math" panose="02040503050406030204" pitchFamily="18" charset="0"/>
                      </a:rPr>
                      <m:t>𝛾</m:t>
                    </m:r>
                    <m:r>
                      <a:rPr lang="en-US" b="0" i="1" smtClean="0">
                        <a:latin typeface="Cambria Math" panose="02040503050406030204" pitchFamily="18" charset="0"/>
                      </a:rPr>
                      <m:t>=1</m:t>
                    </m:r>
                  </m:oMath>
                </a14:m>
                <a:endParaRPr lang="en-US" dirty="0"/>
              </a:p>
              <a:p>
                <a:endParaRPr lang="en-US" sz="1000" dirty="0"/>
              </a:p>
              <a:p>
                <a:r>
                  <a:rPr lang="en-US" dirty="0"/>
                  <a:t>While </a:t>
                </a:r>
                <a14:m>
                  <m:oMath xmlns:m="http://schemas.openxmlformats.org/officeDocument/2006/math">
                    <m:r>
                      <a:rPr lang="en-US" i="1" dirty="0" smtClean="0">
                        <a:latin typeface="Cambria Math" panose="02040503050406030204" pitchFamily="18" charset="0"/>
                      </a:rPr>
                      <m:t>𝑓</m:t>
                    </m:r>
                    <m:d>
                      <m:dPr>
                        <m:ctrlPr>
                          <a:rPr lang="en-US" i="1" dirty="0">
                            <a:latin typeface="Cambria Math" panose="02040503050406030204" pitchFamily="18" charset="0"/>
                          </a:rPr>
                        </m:ctrlPr>
                      </m:dPr>
                      <m:e>
                        <m:sSub>
                          <m:sSubPr>
                            <m:ctrlPr>
                              <a:rPr lang="en-US" b="0" i="1" dirty="0" smtClean="0">
                                <a:latin typeface="Cambria Math" panose="02040503050406030204" pitchFamily="18" charset="0"/>
                              </a:rPr>
                            </m:ctrlPr>
                          </m:sSubPr>
                          <m:e>
                            <m:r>
                              <a:rPr lang="en-US" i="1" dirty="0">
                                <a:latin typeface="Cambria Math" panose="02040503050406030204" pitchFamily="18" charset="0"/>
                              </a:rPr>
                              <m:t>𝑥</m:t>
                            </m:r>
                          </m:e>
                          <m:sub>
                            <m:r>
                              <a:rPr lang="en-US" b="0" i="1" dirty="0" smtClean="0">
                                <a:latin typeface="Cambria Math" panose="02040503050406030204" pitchFamily="18" charset="0"/>
                              </a:rPr>
                              <m:t>𝑡</m:t>
                            </m:r>
                          </m:sub>
                        </m:sSub>
                        <m:r>
                          <a:rPr lang="en-US" i="1" dirty="0">
                            <a:latin typeface="Cambria Math" panose="02040503050406030204" pitchFamily="18" charset="0"/>
                          </a:rPr>
                          <m:t> </m:t>
                        </m:r>
                        <m:r>
                          <a:rPr lang="en-US" b="0" i="1" dirty="0" smtClean="0">
                            <a:latin typeface="Cambria Math" panose="02040503050406030204" pitchFamily="18" charset="0"/>
                          </a:rPr>
                          <m:t>−</m:t>
                        </m:r>
                        <m:r>
                          <a:rPr lang="en-US" b="0" i="1" dirty="0" smtClean="0">
                            <a:latin typeface="Cambria Math" panose="02040503050406030204" pitchFamily="18" charset="0"/>
                          </a:rPr>
                          <m:t>𝛾</m:t>
                        </m:r>
                        <m:r>
                          <m:rPr>
                            <m:sty m:val="p"/>
                          </m:rPr>
                          <a:rPr lang="en-US" dirty="0">
                            <a:latin typeface="Cambria Math" panose="02040503050406030204" pitchFamily="18" charset="0"/>
                          </a:rPr>
                          <m:t>∇</m:t>
                        </m:r>
                        <m:r>
                          <a:rPr lang="en-US" i="1" dirty="0" err="1">
                            <a:latin typeface="Cambria Math" panose="02040503050406030204" pitchFamily="18" charset="0"/>
                          </a:rPr>
                          <m:t>𝑓</m:t>
                        </m:r>
                        <m:d>
                          <m:dPr>
                            <m:ctrlPr>
                              <a:rPr lang="en-US" i="1" dirty="0" err="1">
                                <a:latin typeface="Cambria Math" panose="02040503050406030204" pitchFamily="18" charset="0"/>
                              </a:rPr>
                            </m:ctrlPr>
                          </m:dPr>
                          <m:e>
                            <m:sSub>
                              <m:sSubPr>
                                <m:ctrlPr>
                                  <a:rPr lang="en-US" b="0" i="1" dirty="0" smtClean="0">
                                    <a:latin typeface="Cambria Math" panose="02040503050406030204" pitchFamily="18" charset="0"/>
                                  </a:rPr>
                                </m:ctrlPr>
                              </m:sSubPr>
                              <m:e>
                                <m:r>
                                  <a:rPr lang="en-US" i="1" dirty="0">
                                    <a:latin typeface="Cambria Math" panose="02040503050406030204" pitchFamily="18" charset="0"/>
                                  </a:rPr>
                                  <m:t>𝑥</m:t>
                                </m:r>
                              </m:e>
                              <m:sub>
                                <m:r>
                                  <a:rPr lang="en-US" b="0" i="1" dirty="0" smtClean="0">
                                    <a:latin typeface="Cambria Math" panose="02040503050406030204" pitchFamily="18" charset="0"/>
                                  </a:rPr>
                                  <m:t>𝑡</m:t>
                                </m:r>
                              </m:sub>
                            </m:sSub>
                          </m:e>
                        </m:d>
                      </m:e>
                    </m:d>
                    <m:r>
                      <a:rPr lang="en-US" i="1" dirty="0">
                        <a:latin typeface="Cambria Math" panose="02040503050406030204" pitchFamily="18" charset="0"/>
                      </a:rPr>
                      <m:t>&gt; </m:t>
                    </m:r>
                    <m:r>
                      <a:rPr lang="en-US" i="1" dirty="0">
                        <a:latin typeface="Cambria Math" panose="02040503050406030204" pitchFamily="18" charset="0"/>
                      </a:rPr>
                      <m:t>𝑓</m:t>
                    </m:r>
                    <m:d>
                      <m:dPr>
                        <m:ctrlPr>
                          <a:rPr lang="en-US" i="1" dirty="0">
                            <a:latin typeface="Cambria Math" panose="02040503050406030204" pitchFamily="18" charset="0"/>
                          </a:rPr>
                        </m:ctrlPr>
                      </m:dPr>
                      <m:e>
                        <m:sSub>
                          <m:sSubPr>
                            <m:ctrlPr>
                              <a:rPr lang="en-US" b="0" i="1" dirty="0" smtClean="0">
                                <a:latin typeface="Cambria Math" panose="02040503050406030204" pitchFamily="18" charset="0"/>
                              </a:rPr>
                            </m:ctrlPr>
                          </m:sSubPr>
                          <m:e>
                            <m:r>
                              <a:rPr lang="en-US" i="1" dirty="0">
                                <a:latin typeface="Cambria Math" panose="02040503050406030204" pitchFamily="18" charset="0"/>
                              </a:rPr>
                              <m:t>𝑥</m:t>
                            </m:r>
                          </m:e>
                          <m:sub>
                            <m:r>
                              <a:rPr lang="en-US" b="0" i="1" dirty="0" smtClean="0">
                                <a:latin typeface="Cambria Math" panose="02040503050406030204" pitchFamily="18" charset="0"/>
                              </a:rPr>
                              <m:t>𝑡</m:t>
                            </m:r>
                          </m:sub>
                        </m:sSub>
                      </m:e>
                    </m:d>
                    <m:r>
                      <a:rPr lang="en-US" b="0" i="1" dirty="0" smtClean="0">
                        <a:latin typeface="Cambria Math" panose="02040503050406030204" pitchFamily="18" charset="0"/>
                      </a:rPr>
                      <m:t>−</m:t>
                    </m:r>
                    <m:r>
                      <a:rPr lang="en-US" i="1" dirty="0">
                        <a:latin typeface="Cambria Math" panose="02040503050406030204" pitchFamily="18" charset="0"/>
                      </a:rPr>
                      <m:t> </m:t>
                    </m:r>
                    <m:r>
                      <a:rPr lang="el-GR" i="1" dirty="0">
                        <a:latin typeface="Cambria Math" panose="02040503050406030204" pitchFamily="18" charset="0"/>
                      </a:rPr>
                      <m:t>𝛼</m:t>
                    </m:r>
                    <m:r>
                      <a:rPr lang="en-US" b="0" i="1" dirty="0" smtClean="0">
                        <a:latin typeface="Cambria Math" panose="02040503050406030204" pitchFamily="18" charset="0"/>
                      </a:rPr>
                      <m:t>⋅</m:t>
                    </m:r>
                    <m:r>
                      <a:rPr lang="en-US" b="0" i="1" dirty="0" smtClean="0">
                        <a:latin typeface="Cambria Math" panose="02040503050406030204" pitchFamily="18" charset="0"/>
                      </a:rPr>
                      <m:t>𝛾</m:t>
                    </m:r>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d>
                          <m:dPr>
                            <m:begChr m:val="‖"/>
                            <m:endChr m:val="‖"/>
                            <m:ctrlPr>
                              <a:rPr lang="en-US" b="0" i="1" dirty="0" smtClean="0">
                                <a:latin typeface="Cambria Math" panose="02040503050406030204" pitchFamily="18" charset="0"/>
                              </a:rPr>
                            </m:ctrlPr>
                          </m:dPr>
                          <m:e>
                            <m:r>
                              <m:rPr>
                                <m:sty m:val="p"/>
                              </m:rPr>
                              <a:rPr lang="en-US" dirty="0">
                                <a:latin typeface="Cambria Math" panose="02040503050406030204" pitchFamily="18" charset="0"/>
                              </a:rPr>
                              <m:t>∇</m:t>
                            </m:r>
                            <m:r>
                              <a:rPr lang="en-US" i="1" dirty="0" err="1">
                                <a:latin typeface="Cambria Math" panose="02040503050406030204" pitchFamily="18" charset="0"/>
                              </a:rPr>
                              <m:t>𝑓</m:t>
                            </m:r>
                            <m:d>
                              <m:dPr>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a:latin typeface="Cambria Math" panose="02040503050406030204" pitchFamily="18" charset="0"/>
                                      </a:rPr>
                                      <m:t>𝑡</m:t>
                                    </m:r>
                                  </m:sub>
                                </m:sSub>
                              </m:e>
                            </m:d>
                          </m:e>
                        </m:d>
                      </m:e>
                      <m:sup>
                        <m:r>
                          <a:rPr lang="en-US" b="0" i="1" dirty="0" smtClean="0">
                            <a:latin typeface="Cambria Math" panose="02040503050406030204" pitchFamily="18" charset="0"/>
                          </a:rPr>
                          <m:t>2</m:t>
                        </m:r>
                      </m:sup>
                    </m:sSup>
                  </m:oMath>
                </a14:m>
                <a:endParaRPr lang="en-US" b="0" dirty="0"/>
              </a:p>
              <a:p>
                <a:endParaRPr lang="en-US" sz="1000" dirty="0"/>
              </a:p>
              <a:p>
                <a:pPr lvl="1"/>
                <a14:m>
                  <m:oMath xmlns:m="http://schemas.openxmlformats.org/officeDocument/2006/math">
                    <m:r>
                      <a:rPr lang="en-US" b="0" i="1" dirty="0" smtClean="0">
                        <a:latin typeface="Cambria Math" panose="02040503050406030204" pitchFamily="18" charset="0"/>
                      </a:rPr>
                      <m:t>𝛾</m:t>
                    </m:r>
                    <m:r>
                      <a:rPr lang="en-US" b="0" i="1" dirty="0" smtClean="0">
                        <a:latin typeface="Cambria Math" panose="02040503050406030204" pitchFamily="18" charset="0"/>
                      </a:rPr>
                      <m:t>=</m:t>
                    </m:r>
                    <m:r>
                      <a:rPr lang="en-US" b="0" i="1" dirty="0" smtClean="0">
                        <a:latin typeface="Cambria Math" panose="02040503050406030204" pitchFamily="18" charset="0"/>
                      </a:rPr>
                      <m:t>𝛽𝛾</m:t>
                    </m:r>
                  </m:oMath>
                </a14:m>
                <a:endParaRPr lang="en-US" dirty="0"/>
              </a:p>
              <a:p>
                <a:pPr lvl="1"/>
                <a:endParaRPr lang="en-US" sz="1000" dirty="0"/>
              </a:p>
              <a:p>
                <a:r>
                  <a:rPr lang="en-US" dirty="0"/>
                  <a:t>Set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a:latin typeface="Cambria Math" panose="02040503050406030204" pitchFamily="18" charset="0"/>
                          </a:rPr>
                          <m:t>𝑡</m:t>
                        </m:r>
                      </m:sub>
                    </m:sSub>
                    <m:r>
                      <a:rPr lang="en-US" i="1" dirty="0">
                        <a:latin typeface="Cambria Math" panose="02040503050406030204" pitchFamily="18" charset="0"/>
                      </a:rPr>
                      <m:t> −</m:t>
                    </m:r>
                    <m:r>
                      <a:rPr lang="en-US" b="0" i="1" dirty="0" smtClean="0">
                        <a:latin typeface="Cambria Math" panose="02040503050406030204" pitchFamily="18" charset="0"/>
                      </a:rPr>
                      <m:t>𝛾</m:t>
                    </m:r>
                    <m:r>
                      <m:rPr>
                        <m:sty m:val="p"/>
                      </m:rPr>
                      <a:rPr lang="en-US" dirty="0">
                        <a:latin typeface="Cambria Math" panose="02040503050406030204" pitchFamily="18" charset="0"/>
                      </a:rPr>
                      <m:t>∇</m:t>
                    </m:r>
                    <m:r>
                      <a:rPr lang="en-US" i="1" dirty="0" err="1">
                        <a:latin typeface="Cambria Math" panose="02040503050406030204" pitchFamily="18" charset="0"/>
                      </a:rPr>
                      <m:t>𝑓</m:t>
                    </m:r>
                    <m:d>
                      <m:dPr>
                        <m:ctrlPr>
                          <a:rPr lang="en-US" i="1" dirty="0" err="1">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a:latin typeface="Cambria Math" panose="02040503050406030204" pitchFamily="18" charset="0"/>
                              </a:rPr>
                              <m:t>𝑡</m:t>
                            </m:r>
                          </m:sub>
                        </m:sSub>
                      </m:e>
                    </m:d>
                  </m:oMath>
                </a14:m>
                <a:endParaRPr lang="en-US" dirty="0"/>
              </a:p>
            </p:txBody>
          </p:sp>
        </mc:Choice>
        <mc:Fallback xmlns="">
          <p:sp>
            <p:nvSpPr>
              <p:cNvPr id="3" name="Content Placeholder 2">
                <a:extLst>
                  <a:ext uri="{FF2B5EF4-FFF2-40B4-BE49-F238E27FC236}">
                    <a16:creationId xmlns:a16="http://schemas.microsoft.com/office/drawing/2014/main" id="{E2E210C5-EF69-4D0C-8F4A-F726FB656FE9}"/>
                  </a:ext>
                </a:extLst>
              </p:cNvPr>
              <p:cNvSpPr>
                <a:spLocks noGrp="1" noRot="1" noChangeAspect="1" noMove="1" noResize="1" noEditPoints="1" noAdjustHandles="1" noChangeArrowheads="1" noChangeShapeType="1" noTextEdit="1"/>
              </p:cNvSpPr>
              <p:nvPr>
                <p:ph idx="1"/>
              </p:nvPr>
            </p:nvSpPr>
            <p:spPr>
              <a:xfrm>
                <a:off x="838200" y="1530783"/>
                <a:ext cx="10515600" cy="4449393"/>
              </a:xfrm>
              <a:blipFill>
                <a:blip r:embed="rId2"/>
                <a:stretch>
                  <a:fillRect l="-1043" t="-1370"/>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62DEA377-CC60-4A84-AB8C-F5D1D2600D29}"/>
              </a:ext>
            </a:extLst>
          </p:cNvPr>
          <p:cNvSpPr>
            <a:spLocks noGrp="1"/>
          </p:cNvSpPr>
          <p:nvPr>
            <p:ph type="sldNum" sz="quarter" idx="12"/>
          </p:nvPr>
        </p:nvSpPr>
        <p:spPr/>
        <p:txBody>
          <a:bodyPr/>
          <a:lstStyle/>
          <a:p>
            <a:fld id="{C68DACDF-E1A9-A04C-A5FF-FC2443684BF5}" type="slidenum">
              <a:rPr lang="en-US" smtClean="0"/>
              <a:pPr/>
              <a:t>23</a:t>
            </a:fld>
            <a:endParaRPr lang="en-US" dirty="0"/>
          </a:p>
        </p:txBody>
      </p:sp>
      <p:sp>
        <p:nvSpPr>
          <p:cNvPr id="5" name="TextBox 4">
            <a:extLst>
              <a:ext uri="{FF2B5EF4-FFF2-40B4-BE49-F238E27FC236}">
                <a16:creationId xmlns:a16="http://schemas.microsoft.com/office/drawing/2014/main" id="{FE83BB80-2FC7-4FEF-9050-71E00B0D2D86}"/>
              </a:ext>
            </a:extLst>
          </p:cNvPr>
          <p:cNvSpPr txBox="1"/>
          <p:nvPr/>
        </p:nvSpPr>
        <p:spPr>
          <a:xfrm>
            <a:off x="6744443" y="4691901"/>
            <a:ext cx="2487561" cy="1200329"/>
          </a:xfrm>
          <a:prstGeom prst="rect">
            <a:avLst/>
          </a:prstGeom>
          <a:noFill/>
        </p:spPr>
        <p:txBody>
          <a:bodyPr wrap="square" rtlCol="0">
            <a:spAutoFit/>
          </a:bodyPr>
          <a:lstStyle/>
          <a:p>
            <a:pPr algn="ctr"/>
            <a:r>
              <a:rPr lang="en-US" dirty="0">
                <a:solidFill>
                  <a:srgbClr val="FF0000"/>
                </a:solidFill>
              </a:rPr>
              <a:t>Iterations continue until a step size is found that decreases the function “enough”</a:t>
            </a:r>
          </a:p>
        </p:txBody>
      </p:sp>
    </p:spTree>
    <p:extLst>
      <p:ext uri="{BB962C8B-B14F-4D97-AF65-F5344CB8AC3E}">
        <p14:creationId xmlns:p14="http://schemas.microsoft.com/office/powerpoint/2010/main" val="14519287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955A1-0343-4C3F-9750-BE005909E049}"/>
              </a:ext>
            </a:extLst>
          </p:cNvPr>
          <p:cNvSpPr>
            <a:spLocks noGrp="1"/>
          </p:cNvSpPr>
          <p:nvPr>
            <p:ph type="title"/>
          </p:nvPr>
        </p:nvSpPr>
        <p:spPr/>
        <p:txBody>
          <a:bodyPr/>
          <a:lstStyle/>
          <a:p>
            <a:r>
              <a:rPr lang="en-US" dirty="0"/>
              <a:t>Backtracking Line Search</a:t>
            </a:r>
          </a:p>
        </p:txBody>
      </p:sp>
      <p:sp>
        <p:nvSpPr>
          <p:cNvPr id="4" name="Slide Number Placeholder 3">
            <a:extLst>
              <a:ext uri="{FF2B5EF4-FFF2-40B4-BE49-F238E27FC236}">
                <a16:creationId xmlns:a16="http://schemas.microsoft.com/office/drawing/2014/main" id="{11E1CDD4-6505-4134-9671-1E908A039019}"/>
              </a:ext>
            </a:extLst>
          </p:cNvPr>
          <p:cNvSpPr>
            <a:spLocks noGrp="1"/>
          </p:cNvSpPr>
          <p:nvPr>
            <p:ph type="sldNum" sz="quarter" idx="12"/>
          </p:nvPr>
        </p:nvSpPr>
        <p:spPr/>
        <p:txBody>
          <a:bodyPr/>
          <a:lstStyle/>
          <a:p>
            <a:fld id="{C68DACDF-E1A9-A04C-A5FF-FC2443684BF5}" type="slidenum">
              <a:rPr lang="en-US" smtClean="0"/>
              <a:pPr/>
              <a:t>24</a:t>
            </a:fld>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36AF621-38B4-4B7F-8D02-DFBD5022AF0E}"/>
                  </a:ext>
                </a:extLst>
              </p:cNvPr>
              <p:cNvSpPr txBox="1"/>
              <p:nvPr/>
            </p:nvSpPr>
            <p:spPr>
              <a:xfrm>
                <a:off x="5238794" y="5799245"/>
                <a:ext cx="169905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a:latin typeface="Cambria Math" panose="02040503050406030204" pitchFamily="18" charset="0"/>
                        </a:rPr>
                        <m:t>𝛼</m:t>
                      </m:r>
                      <m:r>
                        <a:rPr lang="en-US" i="1" dirty="0">
                          <a:latin typeface="Cambria Math" panose="02040503050406030204" pitchFamily="18" charset="0"/>
                        </a:rPr>
                        <m:t>=.2, </m:t>
                      </m:r>
                      <m:r>
                        <a:rPr lang="en-US" i="1" dirty="0">
                          <a:latin typeface="Cambria Math" panose="02040503050406030204" pitchFamily="18" charset="0"/>
                        </a:rPr>
                        <m:t>𝛽</m:t>
                      </m:r>
                      <m:r>
                        <a:rPr lang="en-US" i="1" dirty="0">
                          <a:latin typeface="Cambria Math" panose="02040503050406030204" pitchFamily="18" charset="0"/>
                        </a:rPr>
                        <m:t>=.99</m:t>
                      </m:r>
                    </m:oMath>
                  </m:oMathPara>
                </a14:m>
                <a:endParaRPr lang="en-US" dirty="0"/>
              </a:p>
            </p:txBody>
          </p:sp>
        </mc:Choice>
        <mc:Fallback xmlns="">
          <p:sp>
            <p:nvSpPr>
              <p:cNvPr id="5" name="TextBox 4">
                <a:extLst>
                  <a:ext uri="{FF2B5EF4-FFF2-40B4-BE49-F238E27FC236}">
                    <a16:creationId xmlns:a16="http://schemas.microsoft.com/office/drawing/2014/main" id="{E36AF621-38B4-4B7F-8D02-DFBD5022AF0E}"/>
                  </a:ext>
                </a:extLst>
              </p:cNvPr>
              <p:cNvSpPr txBox="1">
                <a:spLocks noRot="1" noChangeAspect="1" noMove="1" noResize="1" noEditPoints="1" noAdjustHandles="1" noChangeArrowheads="1" noChangeShapeType="1" noTextEdit="1"/>
              </p:cNvSpPr>
              <p:nvPr/>
            </p:nvSpPr>
            <p:spPr>
              <a:xfrm>
                <a:off x="5238794" y="5799245"/>
                <a:ext cx="1699055" cy="369332"/>
              </a:xfrm>
              <a:prstGeom prst="rect">
                <a:avLst/>
              </a:prstGeom>
              <a:blipFill>
                <a:blip r:embed="rId2"/>
                <a:stretch>
                  <a:fillRect b="-13115"/>
                </a:stretch>
              </a:blipFill>
            </p:spPr>
            <p:txBody>
              <a:bodyPr/>
              <a:lstStyle/>
              <a:p>
                <a:r>
                  <a:rPr lang="en-IN">
                    <a:noFill/>
                  </a:rPr>
                  <a:t> </a:t>
                </a:r>
              </a:p>
            </p:txBody>
          </p:sp>
        </mc:Fallback>
      </mc:AlternateContent>
      <p:pic>
        <p:nvPicPr>
          <p:cNvPr id="1026" name="Picture 2" descr="[video-to-gif output image]">
            <a:extLst>
              <a:ext uri="{FF2B5EF4-FFF2-40B4-BE49-F238E27FC236}">
                <a16:creationId xmlns:a16="http://schemas.microsoft.com/office/drawing/2014/main" id="{2C1081C6-FCBF-4562-9512-A7349952DFAC}"/>
              </a:ext>
            </a:extLst>
          </p:cNvPr>
          <p:cNvPicPr>
            <a:picLocks noGrp="1" noChangeAspect="1" noChangeArrowheads="1" noCro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393281" y="1616869"/>
            <a:ext cx="5334000" cy="4000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2734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955A1-0343-4C3F-9750-BE005909E049}"/>
              </a:ext>
            </a:extLst>
          </p:cNvPr>
          <p:cNvSpPr>
            <a:spLocks noGrp="1"/>
          </p:cNvSpPr>
          <p:nvPr>
            <p:ph type="title"/>
          </p:nvPr>
        </p:nvSpPr>
        <p:spPr/>
        <p:txBody>
          <a:bodyPr/>
          <a:lstStyle/>
          <a:p>
            <a:r>
              <a:rPr lang="en-US" dirty="0"/>
              <a:t>Backtracking Line Search</a:t>
            </a:r>
          </a:p>
        </p:txBody>
      </p:sp>
      <p:sp>
        <p:nvSpPr>
          <p:cNvPr id="4" name="Slide Number Placeholder 3">
            <a:extLst>
              <a:ext uri="{FF2B5EF4-FFF2-40B4-BE49-F238E27FC236}">
                <a16:creationId xmlns:a16="http://schemas.microsoft.com/office/drawing/2014/main" id="{11E1CDD4-6505-4134-9671-1E908A039019}"/>
              </a:ext>
            </a:extLst>
          </p:cNvPr>
          <p:cNvSpPr>
            <a:spLocks noGrp="1"/>
          </p:cNvSpPr>
          <p:nvPr>
            <p:ph type="sldNum" sz="quarter" idx="12"/>
          </p:nvPr>
        </p:nvSpPr>
        <p:spPr/>
        <p:txBody>
          <a:bodyPr/>
          <a:lstStyle/>
          <a:p>
            <a:fld id="{C68DACDF-E1A9-A04C-A5FF-FC2443684BF5}" type="slidenum">
              <a:rPr lang="en-US" smtClean="0"/>
              <a:pPr/>
              <a:t>25</a:t>
            </a:fld>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DBCD18E-0630-40B9-B012-E1D60CF57C4D}"/>
                  </a:ext>
                </a:extLst>
              </p:cNvPr>
              <p:cNvSpPr txBox="1"/>
              <p:nvPr/>
            </p:nvSpPr>
            <p:spPr>
              <a:xfrm>
                <a:off x="5327287" y="5799245"/>
                <a:ext cx="157081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a:latin typeface="Cambria Math" panose="02040503050406030204" pitchFamily="18" charset="0"/>
                        </a:rPr>
                        <m:t>𝛼</m:t>
                      </m:r>
                      <m:r>
                        <a:rPr lang="en-US" i="1" dirty="0">
                          <a:latin typeface="Cambria Math" panose="02040503050406030204" pitchFamily="18" charset="0"/>
                        </a:rPr>
                        <m:t>=.1, </m:t>
                      </m:r>
                      <m:r>
                        <a:rPr lang="en-US" i="1" dirty="0">
                          <a:latin typeface="Cambria Math" panose="02040503050406030204" pitchFamily="18" charset="0"/>
                        </a:rPr>
                        <m:t>𝛽</m:t>
                      </m:r>
                      <m:r>
                        <a:rPr lang="en-US" i="1" dirty="0">
                          <a:latin typeface="Cambria Math" panose="02040503050406030204" pitchFamily="18" charset="0"/>
                        </a:rPr>
                        <m:t>=.3</m:t>
                      </m:r>
                    </m:oMath>
                  </m:oMathPara>
                </a14:m>
                <a:endParaRPr lang="en-US" dirty="0"/>
              </a:p>
            </p:txBody>
          </p:sp>
        </mc:Choice>
        <mc:Fallback xmlns="">
          <p:sp>
            <p:nvSpPr>
              <p:cNvPr id="7" name="TextBox 6">
                <a:extLst>
                  <a:ext uri="{FF2B5EF4-FFF2-40B4-BE49-F238E27FC236}">
                    <a16:creationId xmlns:a16="http://schemas.microsoft.com/office/drawing/2014/main" id="{6DBCD18E-0630-40B9-B012-E1D60CF57C4D}"/>
                  </a:ext>
                </a:extLst>
              </p:cNvPr>
              <p:cNvSpPr txBox="1">
                <a:spLocks noRot="1" noChangeAspect="1" noMove="1" noResize="1" noEditPoints="1" noAdjustHandles="1" noChangeArrowheads="1" noChangeShapeType="1" noTextEdit="1"/>
              </p:cNvSpPr>
              <p:nvPr/>
            </p:nvSpPr>
            <p:spPr>
              <a:xfrm>
                <a:off x="5327287" y="5799245"/>
                <a:ext cx="1570815" cy="369332"/>
              </a:xfrm>
              <a:prstGeom prst="rect">
                <a:avLst/>
              </a:prstGeom>
              <a:blipFill>
                <a:blip r:embed="rId2"/>
                <a:stretch>
                  <a:fillRect b="-13115"/>
                </a:stretch>
              </a:blipFill>
            </p:spPr>
            <p:txBody>
              <a:bodyPr/>
              <a:lstStyle/>
              <a:p>
                <a:r>
                  <a:rPr lang="en-IN">
                    <a:noFill/>
                  </a:rPr>
                  <a:t> </a:t>
                </a:r>
              </a:p>
            </p:txBody>
          </p:sp>
        </mc:Fallback>
      </mc:AlternateContent>
      <p:pic>
        <p:nvPicPr>
          <p:cNvPr id="2052" name="Picture 4" descr="[video-to-gif output image]">
            <a:extLst>
              <a:ext uri="{FF2B5EF4-FFF2-40B4-BE49-F238E27FC236}">
                <a16:creationId xmlns:a16="http://schemas.microsoft.com/office/drawing/2014/main" id="{446FF153-9EAF-4CD7-89C3-AD78CBEC0D6B}"/>
              </a:ext>
            </a:extLst>
          </p:cNvPr>
          <p:cNvPicPr>
            <a:picLocks noGrp="1" noChangeAspect="1" noChangeArrowheads="1" noCro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393281" y="1616869"/>
            <a:ext cx="5334000" cy="4000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71376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4321"/>
            <a:ext cx="10515600" cy="1042415"/>
          </a:xfrm>
        </p:spPr>
        <p:txBody>
          <a:bodyPr/>
          <a:lstStyle/>
          <a:p>
            <a:r>
              <a:rPr lang="en-IN" b="1" dirty="0"/>
              <a:t>Cost Functions</a:t>
            </a:r>
            <a:endParaRPr lang="en-IN" dirty="0"/>
          </a:p>
        </p:txBody>
      </p:sp>
      <p:sp>
        <p:nvSpPr>
          <p:cNvPr id="3" name="Content Placeholder 2"/>
          <p:cNvSpPr>
            <a:spLocks noGrp="1"/>
          </p:cNvSpPr>
          <p:nvPr>
            <p:ph idx="1"/>
          </p:nvPr>
        </p:nvSpPr>
        <p:spPr>
          <a:xfrm>
            <a:off x="838200" y="1243584"/>
            <a:ext cx="10515600" cy="4933379"/>
          </a:xfrm>
        </p:spPr>
        <p:txBody>
          <a:bodyPr>
            <a:normAutofit fontScale="85000" lnSpcReduction="20000"/>
          </a:bodyPr>
          <a:lstStyle/>
          <a:p>
            <a:pPr marL="0" indent="0">
              <a:lnSpc>
                <a:spcPct val="120000"/>
              </a:lnSpc>
              <a:buNone/>
            </a:pPr>
            <a:r>
              <a:rPr lang="en-IN" b="1" dirty="0"/>
              <a:t>Learning Conditional Distributions with Maximum Likelihood</a:t>
            </a:r>
          </a:p>
          <a:p>
            <a:pPr>
              <a:lnSpc>
                <a:spcPct val="120000"/>
              </a:lnSpc>
            </a:pPr>
            <a:r>
              <a:rPr lang="en-IN" dirty="0"/>
              <a:t>An important aspect of the design of a deep neural network is the choice of the cost function.</a:t>
            </a:r>
          </a:p>
          <a:p>
            <a:pPr>
              <a:lnSpc>
                <a:spcPct val="120000"/>
              </a:lnSpc>
            </a:pPr>
            <a:r>
              <a:rPr lang="en-IN" dirty="0"/>
              <a:t>The cost functions for neural networks are more or less the same as those for other parametric models, such as linear models.</a:t>
            </a:r>
          </a:p>
          <a:p>
            <a:pPr>
              <a:lnSpc>
                <a:spcPct val="120000"/>
              </a:lnSpc>
            </a:pPr>
            <a:r>
              <a:rPr lang="en-IN" dirty="0"/>
              <a:t>In most cases, the parametric model defines a distribution </a:t>
            </a:r>
            <a:r>
              <a:rPr lang="en-IN" i="1" dirty="0"/>
              <a:t>p</a:t>
            </a:r>
            <a:r>
              <a:rPr lang="en-IN" dirty="0"/>
              <a:t>(</a:t>
            </a:r>
            <a:r>
              <a:rPr lang="en-IN" i="1" dirty="0"/>
              <a:t>y | x</a:t>
            </a:r>
            <a:r>
              <a:rPr lang="en-IN" dirty="0"/>
              <a:t>;</a:t>
            </a:r>
            <a:r>
              <a:rPr lang="el-GR" dirty="0"/>
              <a:t>θ</a:t>
            </a:r>
            <a:r>
              <a:rPr lang="en-IN" i="1" dirty="0"/>
              <a:t> </a:t>
            </a:r>
            <a:r>
              <a:rPr lang="en-IN" dirty="0"/>
              <a:t>) and we use the principle of maximum likelihood. </a:t>
            </a:r>
          </a:p>
          <a:p>
            <a:pPr>
              <a:lnSpc>
                <a:spcPct val="120000"/>
              </a:lnSpc>
            </a:pPr>
            <a:r>
              <a:rPr lang="en-IN" dirty="0"/>
              <a:t>This means we use the cross-entropy between the training data and the model’s predictions as the cost function. </a:t>
            </a:r>
          </a:p>
          <a:p>
            <a:pPr>
              <a:lnSpc>
                <a:spcPct val="120000"/>
              </a:lnSpc>
            </a:pPr>
            <a:r>
              <a:rPr lang="en-IN" dirty="0"/>
              <a:t>Mean squared error and mean absolute error often lead to poor results when used with gradient-based optimization.</a:t>
            </a:r>
          </a:p>
          <a:p>
            <a:endParaRPr lang="en-IN" dirty="0"/>
          </a:p>
          <a:p>
            <a:endParaRPr lang="en-IN" dirty="0"/>
          </a:p>
          <a:p>
            <a:endParaRPr lang="en-IN" dirty="0"/>
          </a:p>
        </p:txBody>
      </p:sp>
    </p:spTree>
    <p:extLst>
      <p:ext uri="{BB962C8B-B14F-4D97-AF65-F5344CB8AC3E}">
        <p14:creationId xmlns:p14="http://schemas.microsoft.com/office/powerpoint/2010/main" val="35273429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13232"/>
            <a:ext cx="10515600" cy="5463731"/>
          </a:xfrm>
        </p:spPr>
        <p:txBody>
          <a:bodyPr>
            <a:normAutofit fontScale="92500" lnSpcReduction="10000"/>
          </a:bodyPr>
          <a:lstStyle/>
          <a:p>
            <a:pPr>
              <a:lnSpc>
                <a:spcPct val="110000"/>
              </a:lnSpc>
            </a:pPr>
            <a:r>
              <a:rPr lang="en-IN" dirty="0"/>
              <a:t>This cost function is given by</a:t>
            </a:r>
          </a:p>
          <a:p>
            <a:pPr>
              <a:lnSpc>
                <a:spcPct val="110000"/>
              </a:lnSpc>
            </a:pPr>
            <a:endParaRPr lang="en-IN" dirty="0"/>
          </a:p>
          <a:p>
            <a:pPr>
              <a:lnSpc>
                <a:spcPct val="110000"/>
              </a:lnSpc>
            </a:pPr>
            <a:r>
              <a:rPr lang="en-IN" dirty="0"/>
              <a:t>The specific form of the cost function changes from model to model, depending on the specific form of log </a:t>
            </a:r>
            <a:r>
              <a:rPr lang="en-IN" i="1" dirty="0" err="1"/>
              <a:t>p</a:t>
            </a:r>
            <a:r>
              <a:rPr lang="en-IN" baseline="-25000" dirty="0" err="1"/>
              <a:t>model</a:t>
            </a:r>
            <a:r>
              <a:rPr lang="en-IN" dirty="0"/>
              <a:t>. </a:t>
            </a:r>
          </a:p>
          <a:p>
            <a:pPr>
              <a:lnSpc>
                <a:spcPct val="110000"/>
              </a:lnSpc>
            </a:pPr>
            <a:r>
              <a:rPr lang="en-IN" dirty="0"/>
              <a:t>The expansion of the above equation typically yields some terms that do not depend on the model parameters and may be discarded.</a:t>
            </a:r>
          </a:p>
          <a:p>
            <a:pPr>
              <a:lnSpc>
                <a:spcPct val="110000"/>
              </a:lnSpc>
            </a:pPr>
            <a:r>
              <a:rPr lang="en-IN" dirty="0"/>
              <a:t>An advantage of this approach of deriving the cost function from maximum likelihood is that it removes the burden of designing cost functions for each model.</a:t>
            </a:r>
          </a:p>
          <a:p>
            <a:pPr>
              <a:lnSpc>
                <a:spcPct val="110000"/>
              </a:lnSpc>
            </a:pPr>
            <a:r>
              <a:rPr lang="en-IN" dirty="0"/>
              <a:t>Specifying a model </a:t>
            </a:r>
            <a:r>
              <a:rPr lang="en-IN" i="1" dirty="0"/>
              <a:t>p</a:t>
            </a:r>
            <a:r>
              <a:rPr lang="en-IN" dirty="0"/>
              <a:t>(</a:t>
            </a:r>
            <a:r>
              <a:rPr lang="en-IN" i="1" dirty="0"/>
              <a:t>y | x</a:t>
            </a:r>
            <a:r>
              <a:rPr lang="en-IN" dirty="0"/>
              <a:t>) automatically determines a cost function log </a:t>
            </a:r>
            <a:r>
              <a:rPr lang="en-IN" i="1" dirty="0"/>
              <a:t>p</a:t>
            </a:r>
            <a:r>
              <a:rPr lang="en-IN" dirty="0"/>
              <a:t>(</a:t>
            </a:r>
            <a:r>
              <a:rPr lang="en-IN" i="1" dirty="0"/>
              <a:t>y | x</a:t>
            </a:r>
            <a:r>
              <a:rPr lang="en-IN" dirty="0"/>
              <a:t>).</a:t>
            </a:r>
          </a:p>
        </p:txBody>
      </p:sp>
      <p:pic>
        <p:nvPicPr>
          <p:cNvPr id="6" name="Picture 5">
            <a:extLst>
              <a:ext uri="{FF2B5EF4-FFF2-40B4-BE49-F238E27FC236}">
                <a16:creationId xmlns:a16="http://schemas.microsoft.com/office/drawing/2014/main" id="{84F6E8E2-3079-E1C3-15B3-851341540638}"/>
              </a:ext>
            </a:extLst>
          </p:cNvPr>
          <p:cNvPicPr>
            <a:picLocks noChangeAspect="1"/>
          </p:cNvPicPr>
          <p:nvPr/>
        </p:nvPicPr>
        <p:blipFill>
          <a:blip r:embed="rId2"/>
          <a:stretch>
            <a:fillRect/>
          </a:stretch>
        </p:blipFill>
        <p:spPr>
          <a:xfrm>
            <a:off x="3557026" y="1222588"/>
            <a:ext cx="4221471" cy="469052"/>
          </a:xfrm>
          <a:prstGeom prst="rect">
            <a:avLst/>
          </a:prstGeom>
        </p:spPr>
      </p:pic>
    </p:spTree>
    <p:extLst>
      <p:ext uri="{BB962C8B-B14F-4D97-AF65-F5344CB8AC3E}">
        <p14:creationId xmlns:p14="http://schemas.microsoft.com/office/powerpoint/2010/main" val="42725933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31520"/>
            <a:ext cx="10515600" cy="5445443"/>
          </a:xfrm>
        </p:spPr>
        <p:txBody>
          <a:bodyPr>
            <a:normAutofit fontScale="85000" lnSpcReduction="10000"/>
          </a:bodyPr>
          <a:lstStyle/>
          <a:p>
            <a:pPr>
              <a:lnSpc>
                <a:spcPct val="120000"/>
              </a:lnSpc>
            </a:pPr>
            <a:r>
              <a:rPr lang="en-IN" dirty="0"/>
              <a:t>One unusual property of the cross-entropy cost used to perform maximum likelihood estimation is that it usually does not have a minimum value when applied to the models commonly used in practice.</a:t>
            </a:r>
          </a:p>
          <a:p>
            <a:pPr>
              <a:lnSpc>
                <a:spcPct val="120000"/>
              </a:lnSpc>
            </a:pPr>
            <a:r>
              <a:rPr lang="en-IN" dirty="0"/>
              <a:t>For discrete output variables, most models are parametrized in such a way that they cannot represent a probability of zero or one, but can come arbitrarily close to doing so. </a:t>
            </a:r>
          </a:p>
          <a:p>
            <a:pPr>
              <a:lnSpc>
                <a:spcPct val="120000"/>
              </a:lnSpc>
            </a:pPr>
            <a:r>
              <a:rPr lang="en-IN" dirty="0"/>
              <a:t>Logistic regression is an example of such a model. </a:t>
            </a:r>
          </a:p>
          <a:p>
            <a:pPr>
              <a:lnSpc>
                <a:spcPct val="120000"/>
              </a:lnSpc>
            </a:pPr>
            <a:r>
              <a:rPr lang="en-IN" dirty="0"/>
              <a:t>For real-valued output variables, if the model can control the density of the output distribution (for example, by learning the variance parameter of a Gaussian output distribution) then it becomes possible to assign extremely high density to the correct training set outputs, resulting in cross-entropy approaching negative infinity.</a:t>
            </a:r>
          </a:p>
        </p:txBody>
      </p:sp>
    </p:spTree>
    <p:extLst>
      <p:ext uri="{BB962C8B-B14F-4D97-AF65-F5344CB8AC3E}">
        <p14:creationId xmlns:p14="http://schemas.microsoft.com/office/powerpoint/2010/main" val="23899095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Output Units</a:t>
            </a:r>
            <a:endParaRPr lang="en-IN" dirty="0"/>
          </a:p>
        </p:txBody>
      </p:sp>
      <p:sp>
        <p:nvSpPr>
          <p:cNvPr id="3" name="Content Placeholder 2"/>
          <p:cNvSpPr>
            <a:spLocks noGrp="1"/>
          </p:cNvSpPr>
          <p:nvPr>
            <p:ph idx="1"/>
          </p:nvPr>
        </p:nvSpPr>
        <p:spPr>
          <a:xfrm>
            <a:off x="838200" y="1517904"/>
            <a:ext cx="10515600" cy="4659059"/>
          </a:xfrm>
        </p:spPr>
        <p:txBody>
          <a:bodyPr>
            <a:normAutofit fontScale="85000" lnSpcReduction="10000"/>
          </a:bodyPr>
          <a:lstStyle/>
          <a:p>
            <a:pPr>
              <a:lnSpc>
                <a:spcPct val="120000"/>
              </a:lnSpc>
            </a:pPr>
            <a:r>
              <a:rPr lang="en-IN" dirty="0"/>
              <a:t>The choice of cost function is tightly coupled with the choice of output unit. </a:t>
            </a:r>
          </a:p>
          <a:p>
            <a:pPr>
              <a:lnSpc>
                <a:spcPct val="120000"/>
              </a:lnSpc>
            </a:pPr>
            <a:r>
              <a:rPr lang="en-IN" dirty="0"/>
              <a:t>Most of the time, we simply use the cross-entropy between the data distribution and the model distribution. </a:t>
            </a:r>
          </a:p>
          <a:p>
            <a:pPr>
              <a:lnSpc>
                <a:spcPct val="120000"/>
              </a:lnSpc>
            </a:pPr>
            <a:r>
              <a:rPr lang="en-IN" dirty="0"/>
              <a:t>The choice of how to represent the output then determines the form of the cross-entropy function.</a:t>
            </a:r>
          </a:p>
          <a:p>
            <a:pPr>
              <a:lnSpc>
                <a:spcPct val="120000"/>
              </a:lnSpc>
            </a:pPr>
            <a:r>
              <a:rPr lang="en-IN" dirty="0"/>
              <a:t>Suppose that the feedforward network provides a set of hidden features defined by </a:t>
            </a:r>
            <a:r>
              <a:rPr lang="en-IN" i="1" dirty="0"/>
              <a:t>h </a:t>
            </a:r>
            <a:r>
              <a:rPr lang="en-IN" dirty="0"/>
              <a:t>= </a:t>
            </a:r>
            <a:r>
              <a:rPr lang="en-IN" i="1" dirty="0"/>
              <a:t>f </a:t>
            </a:r>
            <a:r>
              <a:rPr lang="en-IN" dirty="0"/>
              <a:t>(</a:t>
            </a:r>
            <a:r>
              <a:rPr lang="en-IN" i="1" dirty="0"/>
              <a:t>x </a:t>
            </a:r>
            <a:r>
              <a:rPr lang="en-IN" dirty="0"/>
              <a:t>;</a:t>
            </a:r>
            <a:r>
              <a:rPr lang="el-GR" dirty="0"/>
              <a:t>θ</a:t>
            </a:r>
            <a:r>
              <a:rPr lang="en-IN" dirty="0"/>
              <a:t>). </a:t>
            </a:r>
          </a:p>
          <a:p>
            <a:pPr>
              <a:lnSpc>
                <a:spcPct val="120000"/>
              </a:lnSpc>
            </a:pPr>
            <a:r>
              <a:rPr lang="en-IN" dirty="0"/>
              <a:t>The role of the output layer is then to provide some additional transformation from the features to complete the task that the network must perform.</a:t>
            </a:r>
          </a:p>
        </p:txBody>
      </p:sp>
    </p:spTree>
    <p:extLst>
      <p:ext uri="{BB962C8B-B14F-4D97-AF65-F5344CB8AC3E}">
        <p14:creationId xmlns:p14="http://schemas.microsoft.com/office/powerpoint/2010/main" val="36049138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43051"/>
          </a:xfrm>
        </p:spPr>
        <p:txBody>
          <a:bodyPr>
            <a:normAutofit fontScale="90000"/>
          </a:bodyPr>
          <a:lstStyle/>
          <a:p>
            <a:r>
              <a:rPr lang="en-IN" b="1" dirty="0"/>
              <a:t>Linear Units for Gaussian Output Distributions</a:t>
            </a:r>
            <a:endParaRPr lang="en-IN"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408176"/>
                <a:ext cx="10515600" cy="4928615"/>
              </a:xfrm>
            </p:spPr>
            <p:txBody>
              <a:bodyPr>
                <a:normAutofit fontScale="77500" lnSpcReduction="20000"/>
              </a:bodyPr>
              <a:lstStyle/>
              <a:p>
                <a:pPr>
                  <a:lnSpc>
                    <a:spcPct val="120000"/>
                  </a:lnSpc>
                </a:pPr>
                <a:r>
                  <a:rPr lang="en-IN" dirty="0"/>
                  <a:t>One simple kind of output unit is an output unit based on an affine transformation with no nonlinearity. These are often just called linear units.</a:t>
                </a:r>
              </a:p>
              <a:p>
                <a:pPr>
                  <a:lnSpc>
                    <a:spcPct val="120000"/>
                  </a:lnSpc>
                </a:pPr>
                <a:r>
                  <a:rPr lang="en-IN" dirty="0"/>
                  <a:t>Given features </a:t>
                </a:r>
                <a:r>
                  <a:rPr lang="en-IN" i="1" dirty="0"/>
                  <a:t>h</a:t>
                </a:r>
                <a:r>
                  <a:rPr lang="en-IN" dirty="0"/>
                  <a:t>, a layer of linear output units produces a vector </a:t>
                </a:r>
              </a:p>
              <a:p>
                <a:pPr marL="0" indent="0">
                  <a:lnSpc>
                    <a:spcPct val="120000"/>
                  </a:lnSpc>
                  <a:buNone/>
                </a:pPr>
                <a:r>
                  <a:rPr lang="en-IN" i="1" dirty="0"/>
                  <a:t>            </a:t>
                </a:r>
                <a14:m>
                  <m:oMath xmlns:m="http://schemas.openxmlformats.org/officeDocument/2006/math">
                    <m:r>
                      <a:rPr lang="cy-GB" b="0" i="1" smtClean="0">
                        <a:latin typeface="Cambria Math" panose="02040503050406030204" pitchFamily="18" charset="0"/>
                      </a:rPr>
                      <m:t>ŷ</m:t>
                    </m:r>
                    <m:r>
                      <a:rPr lang="en-IN" b="0" i="1" smtClean="0">
                        <a:latin typeface="Cambria Math" panose="02040503050406030204" pitchFamily="18" charset="0"/>
                      </a:rPr>
                      <m:t>=</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𝑊</m:t>
                        </m:r>
                      </m:e>
                      <m:sup>
                        <m:r>
                          <a:rPr lang="en-IN" b="0" i="1" smtClean="0">
                            <a:latin typeface="Cambria Math" panose="02040503050406030204" pitchFamily="18" charset="0"/>
                          </a:rPr>
                          <m:t>𝑇</m:t>
                        </m:r>
                      </m:sup>
                    </m:sSup>
                    <m:r>
                      <a:rPr lang="en-IN" b="0" i="1" smtClean="0">
                        <a:latin typeface="Cambria Math" panose="02040503050406030204" pitchFamily="18" charset="0"/>
                      </a:rPr>
                      <m:t>h</m:t>
                    </m:r>
                    <m:r>
                      <a:rPr lang="en-IN" b="0" i="1" smtClean="0">
                        <a:latin typeface="Cambria Math" panose="02040503050406030204" pitchFamily="18" charset="0"/>
                      </a:rPr>
                      <m:t>+</m:t>
                    </m:r>
                    <m:r>
                      <a:rPr lang="en-IN" b="0" i="1" smtClean="0">
                        <a:latin typeface="Cambria Math" panose="02040503050406030204" pitchFamily="18" charset="0"/>
                      </a:rPr>
                      <m:t>𝑏</m:t>
                    </m:r>
                  </m:oMath>
                </a14:m>
                <a:endParaRPr lang="en-IN" dirty="0"/>
              </a:p>
              <a:p>
                <a:pPr>
                  <a:lnSpc>
                    <a:spcPct val="120000"/>
                  </a:lnSpc>
                </a:pPr>
                <a:r>
                  <a:rPr lang="en-IN" dirty="0"/>
                  <a:t>Linear output layers are often used to produce the mean of a conditional Gaussian distribution:</a:t>
                </a:r>
              </a:p>
              <a:p>
                <a:pPr marL="0" indent="0">
                  <a:lnSpc>
                    <a:spcPct val="120000"/>
                  </a:lnSpc>
                  <a:buNone/>
                </a:pPr>
                <a:r>
                  <a:rPr lang="es-ES" i="1" dirty="0"/>
                  <a:t>            </a:t>
                </a:r>
                <a14:m>
                  <m:oMath xmlns:m="http://schemas.openxmlformats.org/officeDocument/2006/math">
                    <m:r>
                      <a:rPr lang="en-IN" b="0" i="1" smtClean="0">
                        <a:latin typeface="Cambria Math" panose="02040503050406030204" pitchFamily="18" charset="0"/>
                      </a:rPr>
                      <m:t>𝑝</m:t>
                    </m:r>
                    <m:d>
                      <m:dPr>
                        <m:ctrlPr>
                          <a:rPr lang="en-IN" b="0" i="1" smtClean="0">
                            <a:latin typeface="Cambria Math" panose="02040503050406030204" pitchFamily="18" charset="0"/>
                          </a:rPr>
                        </m:ctrlPr>
                      </m:dPr>
                      <m:e>
                        <m:r>
                          <a:rPr lang="en-IN" b="0" i="1" smtClean="0">
                            <a:latin typeface="Cambria Math" panose="02040503050406030204" pitchFamily="18" charset="0"/>
                          </a:rPr>
                          <m:t>𝑦</m:t>
                        </m:r>
                      </m:e>
                      <m:e>
                        <m:r>
                          <a:rPr lang="en-IN" b="0" i="1" smtClean="0">
                            <a:latin typeface="Cambria Math" panose="02040503050406030204" pitchFamily="18" charset="0"/>
                          </a:rPr>
                          <m:t>𝑥</m:t>
                        </m:r>
                      </m:e>
                    </m:d>
                    <m:r>
                      <a:rPr lang="en-IN" b="0" i="1" smtClean="0">
                        <a:latin typeface="Cambria Math" panose="02040503050406030204" pitchFamily="18" charset="0"/>
                      </a:rPr>
                      <m:t>=</m:t>
                    </m:r>
                    <m:r>
                      <a:rPr lang="en-IN" b="0" i="1" smtClean="0">
                        <a:latin typeface="Cambria Math" panose="02040503050406030204" pitchFamily="18" charset="0"/>
                      </a:rPr>
                      <m:t>𝑁</m:t>
                    </m:r>
                    <m:d>
                      <m:dPr>
                        <m:ctrlPr>
                          <a:rPr lang="en-IN" b="0" i="1" smtClean="0">
                            <a:latin typeface="Cambria Math" panose="02040503050406030204" pitchFamily="18" charset="0"/>
                          </a:rPr>
                        </m:ctrlPr>
                      </m:dPr>
                      <m:e>
                        <m:r>
                          <a:rPr lang="en-IN" b="0" i="1" smtClean="0">
                            <a:latin typeface="Cambria Math" panose="02040503050406030204" pitchFamily="18" charset="0"/>
                          </a:rPr>
                          <m:t>𝑦</m:t>
                        </m:r>
                        <m:r>
                          <a:rPr lang="en-IN" b="0" i="1" smtClean="0">
                            <a:latin typeface="Cambria Math" panose="02040503050406030204" pitchFamily="18" charset="0"/>
                          </a:rPr>
                          <m:t>;ŷ,</m:t>
                        </m:r>
                        <m:r>
                          <a:rPr lang="en-IN" b="0" i="1" smtClean="0">
                            <a:latin typeface="Cambria Math" panose="02040503050406030204" pitchFamily="18" charset="0"/>
                          </a:rPr>
                          <m:t>𝐼</m:t>
                        </m:r>
                      </m:e>
                    </m:d>
                  </m:oMath>
                </a14:m>
                <a:endParaRPr lang="es-ES" i="1" dirty="0"/>
              </a:p>
              <a:p>
                <a:pPr>
                  <a:lnSpc>
                    <a:spcPct val="120000"/>
                  </a:lnSpc>
                </a:pPr>
                <a:r>
                  <a:rPr lang="en-IN" dirty="0"/>
                  <a:t>Maximizing the log-likelihood is then equivalent to minimizing the mean squared error.</a:t>
                </a:r>
              </a:p>
              <a:p>
                <a:pPr>
                  <a:lnSpc>
                    <a:spcPct val="120000"/>
                  </a:lnSpc>
                </a:pPr>
                <a:r>
                  <a:rPr lang="en-IN" dirty="0"/>
                  <a:t>Because linear units do not saturate, they pose little difficulty for gradient based optimization algorithms and may be used with a wide variety of optimization algorithms.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408176"/>
                <a:ext cx="10515600" cy="4928615"/>
              </a:xfrm>
              <a:blipFill>
                <a:blip r:embed="rId2"/>
                <a:stretch>
                  <a:fillRect l="-696" t="-866" b="-1485"/>
                </a:stretch>
              </a:blipFill>
            </p:spPr>
            <p:txBody>
              <a:bodyPr/>
              <a:lstStyle/>
              <a:p>
                <a:r>
                  <a:rPr lang="en-IN">
                    <a:noFill/>
                  </a:rPr>
                  <a:t> </a:t>
                </a:r>
              </a:p>
            </p:txBody>
          </p:sp>
        </mc:Fallback>
      </mc:AlternateContent>
    </p:spTree>
    <p:extLst>
      <p:ext uri="{BB962C8B-B14F-4D97-AF65-F5344CB8AC3E}">
        <p14:creationId xmlns:p14="http://schemas.microsoft.com/office/powerpoint/2010/main" val="10930528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Sigmoid Units for Bernoulli Output Distributions</a:t>
            </a:r>
            <a:endParaRPr lang="en-IN" dirty="0"/>
          </a:p>
        </p:txBody>
      </p:sp>
      <p:sp>
        <p:nvSpPr>
          <p:cNvPr id="3" name="Content Placeholder 2"/>
          <p:cNvSpPr>
            <a:spLocks noGrp="1"/>
          </p:cNvSpPr>
          <p:nvPr>
            <p:ph idx="1"/>
          </p:nvPr>
        </p:nvSpPr>
        <p:spPr/>
        <p:txBody>
          <a:bodyPr>
            <a:normAutofit/>
          </a:bodyPr>
          <a:lstStyle/>
          <a:p>
            <a:pPr>
              <a:lnSpc>
                <a:spcPct val="100000"/>
              </a:lnSpc>
            </a:pPr>
            <a:r>
              <a:rPr lang="en-IN" dirty="0"/>
              <a:t>Many tasks require predicting the value of a binary variable </a:t>
            </a:r>
            <a:r>
              <a:rPr lang="en-IN" i="1" dirty="0"/>
              <a:t>y </a:t>
            </a:r>
            <a:r>
              <a:rPr lang="en-IN" dirty="0"/>
              <a:t>. Classification problems with two classes can be cast in this form.</a:t>
            </a:r>
          </a:p>
          <a:p>
            <a:pPr>
              <a:lnSpc>
                <a:spcPct val="100000"/>
              </a:lnSpc>
            </a:pPr>
            <a:r>
              <a:rPr lang="en-IN" dirty="0"/>
              <a:t>The maximum-likelihood approach is to define a Bernoulli distribution over </a:t>
            </a:r>
            <a:r>
              <a:rPr lang="en-IN" i="1" dirty="0"/>
              <a:t>y </a:t>
            </a:r>
            <a:r>
              <a:rPr lang="en-IN" dirty="0"/>
              <a:t>conditioned on </a:t>
            </a:r>
            <a:r>
              <a:rPr lang="en-IN" i="1" dirty="0"/>
              <a:t>x</a:t>
            </a:r>
            <a:r>
              <a:rPr lang="en-IN" dirty="0"/>
              <a:t>.</a:t>
            </a:r>
          </a:p>
          <a:p>
            <a:pPr>
              <a:lnSpc>
                <a:spcPct val="100000"/>
              </a:lnSpc>
            </a:pPr>
            <a:r>
              <a:rPr lang="en-IN" dirty="0"/>
              <a:t>A Bernoulli distribution is defined by just a single number. The neural net needs to predict only </a:t>
            </a:r>
            <a:r>
              <a:rPr lang="en-IN" i="1" dirty="0"/>
              <a:t>P </a:t>
            </a:r>
            <a:r>
              <a:rPr lang="en-IN" dirty="0"/>
              <a:t>(</a:t>
            </a:r>
            <a:r>
              <a:rPr lang="en-IN" i="1" dirty="0"/>
              <a:t>y </a:t>
            </a:r>
            <a:r>
              <a:rPr lang="en-IN" dirty="0"/>
              <a:t>= 1 </a:t>
            </a:r>
            <a:r>
              <a:rPr lang="en-IN" i="1" dirty="0"/>
              <a:t>| x</a:t>
            </a:r>
            <a:r>
              <a:rPr lang="en-IN" dirty="0"/>
              <a:t>). For this number to be a valid probability, it must lie in the interval [0, 1].</a:t>
            </a:r>
          </a:p>
        </p:txBody>
      </p:sp>
    </p:spTree>
    <p:extLst>
      <p:ext uri="{BB962C8B-B14F-4D97-AF65-F5344CB8AC3E}">
        <p14:creationId xmlns:p14="http://schemas.microsoft.com/office/powerpoint/2010/main" val="36391993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667512"/>
                <a:ext cx="10515600" cy="5509451"/>
              </a:xfrm>
            </p:spPr>
            <p:txBody>
              <a:bodyPr>
                <a:normAutofit fontScale="92500" lnSpcReduction="20000"/>
              </a:bodyPr>
              <a:lstStyle/>
              <a:p>
                <a:pPr>
                  <a:lnSpc>
                    <a:spcPct val="110000"/>
                  </a:lnSpc>
                </a:pPr>
                <a:r>
                  <a:rPr lang="en-IN" dirty="0"/>
                  <a:t>To ensure there is always a strong gradient whenever the model has the wrong answer an approached based on sigmoid output units combined with maximum likelihood is used.</a:t>
                </a:r>
              </a:p>
              <a:p>
                <a:pPr>
                  <a:lnSpc>
                    <a:spcPct val="110000"/>
                  </a:lnSpc>
                </a:pPr>
                <a:r>
                  <a:rPr lang="en-IN" dirty="0"/>
                  <a:t>A sigmoid output unit is defined by</a:t>
                </a:r>
              </a:p>
              <a:p>
                <a:pPr marL="0" indent="0">
                  <a:lnSpc>
                    <a:spcPct val="110000"/>
                  </a:lnSpc>
                  <a:buNone/>
                </a:pPr>
                <a:r>
                  <a:rPr lang="en-IN" dirty="0"/>
                  <a:t>                    </a:t>
                </a:r>
                <a14:m>
                  <m:oMath xmlns:m="http://schemas.openxmlformats.org/officeDocument/2006/math">
                    <m:r>
                      <a:rPr lang="cy-GB" b="0" i="1" smtClean="0">
                        <a:latin typeface="Cambria Math" panose="02040503050406030204" pitchFamily="18" charset="0"/>
                      </a:rPr>
                      <m:t>ŷ</m:t>
                    </m:r>
                    <m:r>
                      <a:rPr lang="en-IN" b="0" i="1" smtClean="0">
                        <a:latin typeface="Cambria Math" panose="02040503050406030204" pitchFamily="18" charset="0"/>
                      </a:rPr>
                      <m:t>=</m:t>
                    </m:r>
                    <m:sSup>
                      <m:sSupPr>
                        <m:ctrlPr>
                          <a:rPr lang="en-IN" b="0" i="1" smtClean="0">
                            <a:latin typeface="Cambria Math" panose="02040503050406030204" pitchFamily="18" charset="0"/>
                          </a:rPr>
                        </m:ctrlPr>
                      </m:sSupPr>
                      <m:e>
                        <m:r>
                          <a:rPr lang="en-IN" b="0" i="1" smtClean="0">
                            <a:latin typeface="Cambria Math" panose="02040503050406030204" pitchFamily="18" charset="0"/>
                            <a:ea typeface="Cambria Math" panose="02040503050406030204" pitchFamily="18" charset="0"/>
                          </a:rPr>
                          <m:t>𝜎</m:t>
                        </m:r>
                        <m:r>
                          <a:rPr lang="en-IN" b="0" i="1" smtClean="0">
                            <a:latin typeface="Cambria Math" panose="02040503050406030204" pitchFamily="18" charset="0"/>
                          </a:rPr>
                          <m:t>(</m:t>
                        </m:r>
                        <m:r>
                          <a:rPr lang="en-IN" b="0" i="1" smtClean="0">
                            <a:latin typeface="Cambria Math" panose="02040503050406030204" pitchFamily="18" charset="0"/>
                          </a:rPr>
                          <m:t>𝑊</m:t>
                        </m:r>
                      </m:e>
                      <m:sup>
                        <m:r>
                          <a:rPr lang="en-IN" b="0" i="1" smtClean="0">
                            <a:latin typeface="Cambria Math" panose="02040503050406030204" pitchFamily="18" charset="0"/>
                          </a:rPr>
                          <m:t>𝑇</m:t>
                        </m:r>
                      </m:sup>
                    </m:sSup>
                    <m:r>
                      <a:rPr lang="en-IN" b="0" i="1" smtClean="0">
                        <a:latin typeface="Cambria Math" panose="02040503050406030204" pitchFamily="18" charset="0"/>
                      </a:rPr>
                      <m:t>h</m:t>
                    </m:r>
                    <m:r>
                      <a:rPr lang="en-IN" b="0" i="1" smtClean="0">
                        <a:latin typeface="Cambria Math" panose="02040503050406030204" pitchFamily="18" charset="0"/>
                      </a:rPr>
                      <m:t>+</m:t>
                    </m:r>
                    <m:r>
                      <a:rPr lang="en-IN" b="0" i="1" smtClean="0">
                        <a:latin typeface="Cambria Math" panose="02040503050406030204" pitchFamily="18" charset="0"/>
                      </a:rPr>
                      <m:t>𝑏</m:t>
                    </m:r>
                    <m:r>
                      <a:rPr lang="en-IN" b="0" i="1" smtClean="0">
                        <a:latin typeface="Cambria Math" panose="02040503050406030204" pitchFamily="18" charset="0"/>
                      </a:rPr>
                      <m:t>)</m:t>
                    </m:r>
                  </m:oMath>
                </a14:m>
                <a:r>
                  <a:rPr lang="en-IN" dirty="0"/>
                  <a:t> </a:t>
                </a:r>
              </a:p>
              <a:p>
                <a:pPr marL="0" indent="0">
                  <a:lnSpc>
                    <a:spcPct val="110000"/>
                  </a:lnSpc>
                  <a:buNone/>
                </a:pPr>
                <a:r>
                  <a:rPr lang="en-IN" dirty="0"/>
                  <a:t>where is the </a:t>
                </a:r>
                <a:r>
                  <a:rPr lang="en-IN" i="1" dirty="0"/>
                  <a:t>σ </a:t>
                </a:r>
                <a:r>
                  <a:rPr lang="en-IN" dirty="0"/>
                  <a:t>logistic sigmoid function.</a:t>
                </a:r>
              </a:p>
              <a:p>
                <a:pPr>
                  <a:lnSpc>
                    <a:spcPct val="110000"/>
                  </a:lnSpc>
                </a:pPr>
                <a:r>
                  <a:rPr lang="en-IN" dirty="0"/>
                  <a:t>The sigmoid output unit as having two components. First, it uses a linear layer to compute </a:t>
                </a:r>
                <a:r>
                  <a:rPr lang="en-IN" i="1" dirty="0"/>
                  <a:t>z </a:t>
                </a:r>
                <a:r>
                  <a:rPr lang="en-IN" dirty="0"/>
                  <a:t>= W</a:t>
                </a:r>
                <a:r>
                  <a:rPr lang="en-IN" baseline="30000" dirty="0"/>
                  <a:t>T </a:t>
                </a:r>
                <a:r>
                  <a:rPr lang="en-IN" i="1" dirty="0"/>
                  <a:t>h </a:t>
                </a:r>
                <a:r>
                  <a:rPr lang="en-IN" dirty="0"/>
                  <a:t>+ </a:t>
                </a:r>
                <a:r>
                  <a:rPr lang="en-IN" i="1" dirty="0"/>
                  <a:t>b</a:t>
                </a:r>
                <a:r>
                  <a:rPr lang="en-IN" dirty="0"/>
                  <a:t>. </a:t>
                </a:r>
              </a:p>
              <a:p>
                <a:pPr>
                  <a:lnSpc>
                    <a:spcPct val="110000"/>
                  </a:lnSpc>
                </a:pPr>
                <a:r>
                  <a:rPr lang="en-IN" dirty="0"/>
                  <a:t>Next, it uses the sigmoid activation function to convert </a:t>
                </a:r>
                <a:r>
                  <a:rPr lang="en-IN" i="1" dirty="0"/>
                  <a:t>z </a:t>
                </a:r>
                <a:r>
                  <a:rPr lang="en-IN" dirty="0"/>
                  <a:t>into a probability.</a:t>
                </a:r>
              </a:p>
              <a:p>
                <a:pPr>
                  <a:lnSpc>
                    <a:spcPct val="110000"/>
                  </a:lnSpc>
                </a:pPr>
                <a:r>
                  <a:rPr lang="en-IN" dirty="0"/>
                  <a:t>A Bernoulli distribution controlled by a sigmoidal transformation of </a:t>
                </a:r>
                <a:r>
                  <a:rPr lang="en-IN" i="1" dirty="0"/>
                  <a:t>z </a:t>
                </a:r>
                <a:r>
                  <a:rPr lang="en-IN" dirty="0"/>
                  <a:t>is </a:t>
                </a:r>
              </a:p>
              <a:p>
                <a:pPr marL="0" indent="0">
                  <a:lnSpc>
                    <a:spcPct val="110000"/>
                  </a:lnSpc>
                  <a:buNone/>
                </a:pPr>
                <a:r>
                  <a:rPr lang="en-IN" i="1" dirty="0"/>
                  <a:t>                     P</a:t>
                </a:r>
                <a:r>
                  <a:rPr lang="en-IN" dirty="0"/>
                  <a:t>(</a:t>
                </a:r>
                <a:r>
                  <a:rPr lang="en-IN" i="1" dirty="0"/>
                  <a:t>y</a:t>
                </a:r>
                <a:r>
                  <a:rPr lang="en-IN" dirty="0"/>
                  <a:t>) = </a:t>
                </a:r>
                <a:r>
                  <a:rPr lang="el-GR" i="1" dirty="0"/>
                  <a:t>σ </a:t>
                </a:r>
                <a:r>
                  <a:rPr lang="el-GR" dirty="0"/>
                  <a:t>((2</a:t>
                </a:r>
                <a:r>
                  <a:rPr lang="en-IN" i="1" dirty="0"/>
                  <a:t>y − </a:t>
                </a:r>
                <a:r>
                  <a:rPr lang="en-IN" dirty="0"/>
                  <a:t>1)</a:t>
                </a:r>
                <a:r>
                  <a:rPr lang="en-IN" i="1" dirty="0"/>
                  <a:t>z</a:t>
                </a:r>
                <a:r>
                  <a:rPr lang="en-IN" dirty="0"/>
                  <a:t>)</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200" y="667512"/>
                <a:ext cx="10515600" cy="5509451"/>
              </a:xfrm>
              <a:blipFill>
                <a:blip r:embed="rId2"/>
                <a:stretch>
                  <a:fillRect l="-1043" t="-1772" r="-1391"/>
                </a:stretch>
              </a:blipFill>
            </p:spPr>
            <p:txBody>
              <a:bodyPr/>
              <a:lstStyle/>
              <a:p>
                <a:r>
                  <a:rPr lang="en-IN">
                    <a:noFill/>
                  </a:rPr>
                  <a:t> </a:t>
                </a:r>
              </a:p>
            </p:txBody>
          </p:sp>
        </mc:Fallback>
      </mc:AlternateContent>
    </p:spTree>
    <p:extLst>
      <p:ext uri="{BB962C8B-B14F-4D97-AF65-F5344CB8AC3E}">
        <p14:creationId xmlns:p14="http://schemas.microsoft.com/office/powerpoint/2010/main" val="12535868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err="1"/>
              <a:t>Softmax</a:t>
            </a:r>
            <a:r>
              <a:rPr lang="en-IN" b="1" dirty="0"/>
              <a:t> Units for </a:t>
            </a:r>
            <a:r>
              <a:rPr lang="en-IN" b="1" dirty="0" err="1"/>
              <a:t>Multinoulli</a:t>
            </a:r>
            <a:r>
              <a:rPr lang="en-IN" b="1" dirty="0"/>
              <a:t> Output Distributions</a:t>
            </a:r>
            <a:endParaRPr lang="en-IN" dirty="0"/>
          </a:p>
        </p:txBody>
      </p:sp>
      <p:sp>
        <p:nvSpPr>
          <p:cNvPr id="3" name="Content Placeholder 2"/>
          <p:cNvSpPr>
            <a:spLocks noGrp="1"/>
          </p:cNvSpPr>
          <p:nvPr>
            <p:ph idx="1"/>
          </p:nvPr>
        </p:nvSpPr>
        <p:spPr/>
        <p:txBody>
          <a:bodyPr/>
          <a:lstStyle/>
          <a:p>
            <a:pPr>
              <a:lnSpc>
                <a:spcPct val="100000"/>
              </a:lnSpc>
            </a:pPr>
            <a:r>
              <a:rPr lang="en-IN" dirty="0"/>
              <a:t>Any time we wish to represent a probability distribution over a discrete variable with </a:t>
            </a:r>
            <a:r>
              <a:rPr lang="en-IN" i="1" dirty="0"/>
              <a:t>n </a:t>
            </a:r>
            <a:r>
              <a:rPr lang="en-IN" dirty="0"/>
              <a:t>possible values, we may use the softmax function. </a:t>
            </a:r>
          </a:p>
          <a:p>
            <a:pPr>
              <a:lnSpc>
                <a:spcPct val="100000"/>
              </a:lnSpc>
            </a:pPr>
            <a:r>
              <a:rPr lang="en-IN" dirty="0"/>
              <a:t>This can be seen as a generalization of the sigmoid function which was used to represent a probability distribution over a binary variable.</a:t>
            </a:r>
          </a:p>
          <a:p>
            <a:pPr>
              <a:lnSpc>
                <a:spcPct val="100000"/>
              </a:lnSpc>
            </a:pPr>
            <a:r>
              <a:rPr lang="en-IN" dirty="0" err="1"/>
              <a:t>Softmax</a:t>
            </a:r>
            <a:r>
              <a:rPr lang="en-IN" dirty="0"/>
              <a:t> functions are most often used as the output of a classifier, to represent the probability distribution over </a:t>
            </a:r>
            <a:r>
              <a:rPr lang="en-IN" i="1" dirty="0"/>
              <a:t>n </a:t>
            </a:r>
            <a:r>
              <a:rPr lang="en-IN" dirty="0"/>
              <a:t>different classes. </a:t>
            </a:r>
          </a:p>
          <a:p>
            <a:pPr>
              <a:lnSpc>
                <a:spcPct val="100000"/>
              </a:lnSpc>
            </a:pPr>
            <a:endParaRPr lang="en-IN" dirty="0"/>
          </a:p>
        </p:txBody>
      </p:sp>
    </p:spTree>
    <p:extLst>
      <p:ext uri="{BB962C8B-B14F-4D97-AF65-F5344CB8AC3E}">
        <p14:creationId xmlns:p14="http://schemas.microsoft.com/office/powerpoint/2010/main" val="17867335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640080"/>
                <a:ext cx="10515600" cy="5536883"/>
              </a:xfrm>
            </p:spPr>
            <p:txBody>
              <a:bodyPr>
                <a:normAutofit fontScale="92500" lnSpcReduction="10000"/>
              </a:bodyPr>
              <a:lstStyle/>
              <a:p>
                <a:pPr>
                  <a:lnSpc>
                    <a:spcPct val="120000"/>
                  </a:lnSpc>
                </a:pPr>
                <a:r>
                  <a:rPr lang="en-IN" dirty="0"/>
                  <a:t>More rarely, softmax functions can be used inside the model itself, if we wish the model to choose between one of </a:t>
                </a:r>
                <a:r>
                  <a:rPr lang="en-IN" i="1" dirty="0"/>
                  <a:t>n </a:t>
                </a:r>
                <a:r>
                  <a:rPr lang="en-IN" dirty="0"/>
                  <a:t>different options for some internal variable.</a:t>
                </a:r>
              </a:p>
              <a:p>
                <a:pPr>
                  <a:lnSpc>
                    <a:spcPct val="120000"/>
                  </a:lnSpc>
                </a:pPr>
                <a:r>
                  <a:rPr lang="en-IN" dirty="0"/>
                  <a:t>To generalize to the case of a discrete variable with </a:t>
                </a:r>
                <a:r>
                  <a:rPr lang="en-IN" i="1" dirty="0"/>
                  <a:t>n </a:t>
                </a:r>
                <a:r>
                  <a:rPr lang="en-IN" dirty="0"/>
                  <a:t>values, we now need</a:t>
                </a:r>
              </a:p>
              <a:p>
                <a:pPr>
                  <a:lnSpc>
                    <a:spcPct val="120000"/>
                  </a:lnSpc>
                </a:pPr>
                <a:r>
                  <a:rPr lang="en-IN" dirty="0"/>
                  <a:t>to produce a vector </a:t>
                </a:r>
                <a14:m>
                  <m:oMath xmlns:m="http://schemas.openxmlformats.org/officeDocument/2006/math">
                    <m:r>
                      <a:rPr lang="en-IN" i="1">
                        <a:latin typeface="Cambria Math" panose="02040503050406030204" pitchFamily="18" charset="0"/>
                      </a:rPr>
                      <m:t>ŷ</m:t>
                    </m:r>
                  </m:oMath>
                </a14:m>
                <a:r>
                  <a:rPr lang="en-IN" dirty="0"/>
                  <a:t>, with </a:t>
                </a:r>
                <a14:m>
                  <m:oMath xmlns:m="http://schemas.openxmlformats.org/officeDocument/2006/math">
                    <m:sSub>
                      <m:sSubPr>
                        <m:ctrlPr>
                          <a:rPr lang="en-IN" i="1" smtClean="0"/>
                        </m:ctrlPr>
                      </m:sSubPr>
                      <m:e>
                        <m:r>
                          <a:rPr lang="en-IN" i="1"/>
                          <m:t>ŷ</m:t>
                        </m:r>
                      </m:e>
                      <m:sub>
                        <m:r>
                          <a:rPr lang="en-IN" b="0" i="1" smtClean="0"/>
                          <m:t>𝑖</m:t>
                        </m:r>
                      </m:sub>
                    </m:sSub>
                    <m:r>
                      <a:rPr lang="en-IN" b="0" i="1" smtClean="0"/>
                      <m:t>=</m:t>
                    </m:r>
                    <m:r>
                      <a:rPr lang="en-IN" b="0" i="1" smtClean="0"/>
                      <m:t>𝑃</m:t>
                    </m:r>
                    <m:d>
                      <m:dPr>
                        <m:ctrlPr>
                          <a:rPr lang="en-IN" b="0" i="1" smtClean="0"/>
                        </m:ctrlPr>
                      </m:dPr>
                      <m:e>
                        <m:r>
                          <a:rPr lang="en-IN" b="0" i="1" smtClean="0"/>
                          <m:t>𝑦</m:t>
                        </m:r>
                        <m:r>
                          <a:rPr lang="en-IN" b="0" i="1" smtClean="0"/>
                          <m:t>=</m:t>
                        </m:r>
                        <m:r>
                          <a:rPr lang="en-IN" b="0" i="1" smtClean="0"/>
                          <m:t>𝑖</m:t>
                        </m:r>
                        <m:r>
                          <a:rPr lang="en-IN" b="0" i="1" smtClean="0"/>
                          <m:t>|</m:t>
                        </m:r>
                        <m:r>
                          <a:rPr lang="en-IN" b="0" i="1" smtClean="0"/>
                          <m:t>𝑥</m:t>
                        </m:r>
                      </m:e>
                    </m:d>
                    <m:r>
                      <a:rPr lang="en-IN" b="0" i="1" smtClean="0"/>
                      <m:t>.</m:t>
                    </m:r>
                  </m:oMath>
                </a14:m>
                <a:endParaRPr lang="en-IN" dirty="0"/>
              </a:p>
              <a:p>
                <a:pPr>
                  <a:lnSpc>
                    <a:spcPct val="120000"/>
                  </a:lnSpc>
                </a:pPr>
                <a:r>
                  <a:rPr lang="en-IN" dirty="0"/>
                  <a:t>We require not only that each element of </a:t>
                </a:r>
                <a14:m>
                  <m:oMath xmlns:m="http://schemas.openxmlformats.org/officeDocument/2006/math">
                    <m:sSub>
                      <m:sSubPr>
                        <m:ctrlPr>
                          <a:rPr lang="en-IN" i="1" smtClean="0"/>
                        </m:ctrlPr>
                      </m:sSubPr>
                      <m:e>
                        <m:r>
                          <a:rPr lang="en-IN" i="1"/>
                          <m:t>ŷ</m:t>
                        </m:r>
                      </m:e>
                      <m:sub>
                        <m:r>
                          <a:rPr lang="en-IN" b="0" i="1" smtClean="0"/>
                          <m:t>𝑖</m:t>
                        </m:r>
                      </m:sub>
                    </m:sSub>
                  </m:oMath>
                </a14:m>
                <a:r>
                  <a:rPr lang="en-IN" dirty="0"/>
                  <a:t> be between 0 and 1, but also that the entire vector sums to 1 so that it represents a valid probability distribution. </a:t>
                </a:r>
              </a:p>
              <a:p>
                <a:pPr>
                  <a:lnSpc>
                    <a:spcPct val="120000"/>
                  </a:lnSpc>
                </a:pPr>
                <a:r>
                  <a:rPr lang="en-IN" dirty="0"/>
                  <a:t>The same approach that worked for the Bernoulli distribution generalizes to the </a:t>
                </a:r>
                <a:r>
                  <a:rPr lang="en-IN" dirty="0" err="1"/>
                  <a:t>multinoulli</a:t>
                </a:r>
                <a:r>
                  <a:rPr lang="en-IN" dirty="0"/>
                  <a:t> distribution. </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200" y="640080"/>
                <a:ext cx="10515600" cy="5536883"/>
              </a:xfrm>
              <a:blipFill>
                <a:blip r:embed="rId2"/>
                <a:stretch>
                  <a:fillRect l="-928" t="-551" r="-1565"/>
                </a:stretch>
              </a:blipFill>
            </p:spPr>
            <p:txBody>
              <a:bodyPr/>
              <a:lstStyle/>
              <a:p>
                <a:r>
                  <a:rPr lang="en-IN">
                    <a:noFill/>
                  </a:rPr>
                  <a:t> </a:t>
                </a:r>
              </a:p>
            </p:txBody>
          </p:sp>
        </mc:Fallback>
      </mc:AlternateContent>
    </p:spTree>
    <p:extLst>
      <p:ext uri="{BB962C8B-B14F-4D97-AF65-F5344CB8AC3E}">
        <p14:creationId xmlns:p14="http://schemas.microsoft.com/office/powerpoint/2010/main" val="24447800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950976"/>
                <a:ext cx="10515600" cy="5225987"/>
              </a:xfrm>
            </p:spPr>
            <p:txBody>
              <a:bodyPr>
                <a:normAutofit/>
              </a:bodyPr>
              <a:lstStyle/>
              <a:p>
                <a:pPr marL="0" indent="0">
                  <a:lnSpc>
                    <a:spcPct val="100000"/>
                  </a:lnSpc>
                  <a:buNone/>
                </a:pPr>
                <a:r>
                  <a:rPr lang="en-IN" dirty="0"/>
                  <a:t>First, a linear layer predicts </a:t>
                </a:r>
                <a:r>
                  <a:rPr lang="en-IN" dirty="0" err="1"/>
                  <a:t>unnormalized</a:t>
                </a:r>
                <a:r>
                  <a:rPr lang="en-IN" dirty="0"/>
                  <a:t> log probabilities:</a:t>
                </a:r>
              </a:p>
              <a:p>
                <a:pPr marL="0" indent="0">
                  <a:lnSpc>
                    <a:spcPct val="100000"/>
                  </a:lnSpc>
                  <a:buNone/>
                </a:pPr>
                <a:r>
                  <a:rPr lang="en-IN" i="1" dirty="0"/>
                  <a:t>            z </a:t>
                </a:r>
                <a:r>
                  <a:rPr lang="en-IN" dirty="0"/>
                  <a:t>= W</a:t>
                </a:r>
                <a:r>
                  <a:rPr lang="en-IN" baseline="30000" dirty="0"/>
                  <a:t>T </a:t>
                </a:r>
                <a:r>
                  <a:rPr lang="en-IN" i="1" dirty="0"/>
                  <a:t>h </a:t>
                </a:r>
                <a:r>
                  <a:rPr lang="en-IN" dirty="0"/>
                  <a:t>+ </a:t>
                </a:r>
                <a:r>
                  <a:rPr lang="en-IN" i="1" dirty="0"/>
                  <a:t>b,</a:t>
                </a:r>
              </a:p>
              <a:p>
                <a:pPr>
                  <a:lnSpc>
                    <a:spcPct val="100000"/>
                  </a:lnSpc>
                </a:pPr>
                <a:r>
                  <a:rPr lang="en-IN" dirty="0"/>
                  <a:t>where </a:t>
                </a:r>
                <a:r>
                  <a:rPr lang="en-IN" i="1" dirty="0" err="1"/>
                  <a:t>z</a:t>
                </a:r>
                <a:r>
                  <a:rPr lang="en-IN" i="1" baseline="-25000" dirty="0" err="1"/>
                  <a:t>i</a:t>
                </a:r>
                <a:r>
                  <a:rPr lang="en-IN" i="1" baseline="-25000" dirty="0"/>
                  <a:t> </a:t>
                </a:r>
                <a:r>
                  <a:rPr lang="en-IN" dirty="0"/>
                  <a:t>= log </a:t>
                </a:r>
                <a14:m>
                  <m:oMath xmlns:m="http://schemas.openxmlformats.org/officeDocument/2006/math">
                    <m:r>
                      <a:rPr lang="en-IN" i="1" dirty="0" smtClean="0"/>
                      <m:t>𝑃</m:t>
                    </m:r>
                    <m:r>
                      <a:rPr lang="en-IN" i="1" dirty="0" smtClean="0"/>
                      <m:t>˜</m:t>
                    </m:r>
                  </m:oMath>
                </a14:m>
                <a:r>
                  <a:rPr lang="en-IN" dirty="0"/>
                  <a:t>(</a:t>
                </a:r>
                <a:r>
                  <a:rPr lang="en-IN" i="1" dirty="0"/>
                  <a:t>y </a:t>
                </a:r>
                <a:r>
                  <a:rPr lang="en-IN" dirty="0"/>
                  <a:t>= </a:t>
                </a:r>
                <a:r>
                  <a:rPr lang="en-IN" i="1" dirty="0"/>
                  <a:t>i | x</a:t>
                </a:r>
                <a:r>
                  <a:rPr lang="en-IN" dirty="0"/>
                  <a:t>)</a:t>
                </a:r>
                <a:r>
                  <a:rPr lang="en-IN" i="1" dirty="0"/>
                  <a:t>. </a:t>
                </a:r>
                <a:r>
                  <a:rPr lang="en-IN" dirty="0"/>
                  <a:t>The softmax function can then </a:t>
                </a:r>
                <a:r>
                  <a:rPr lang="en-IN" dirty="0" err="1"/>
                  <a:t>exponentiate</a:t>
                </a:r>
                <a:r>
                  <a:rPr lang="en-IN" dirty="0"/>
                  <a:t> and normalize </a:t>
                </a:r>
                <a:r>
                  <a:rPr lang="en-IN" i="1" dirty="0"/>
                  <a:t>z </a:t>
                </a:r>
                <a:r>
                  <a:rPr lang="en-IN" dirty="0"/>
                  <a:t>to obtain the desired </a:t>
                </a:r>
                <a14:m>
                  <m:oMath xmlns:m="http://schemas.openxmlformats.org/officeDocument/2006/math">
                    <m:r>
                      <a:rPr lang="en-IN" i="1"/>
                      <m:t>ŷ</m:t>
                    </m:r>
                  </m:oMath>
                </a14:m>
                <a:r>
                  <a:rPr lang="en-IN" dirty="0"/>
                  <a:t>. </a:t>
                </a:r>
              </a:p>
              <a:p>
                <a:pPr>
                  <a:lnSpc>
                    <a:spcPct val="100000"/>
                  </a:lnSpc>
                </a:pPr>
                <a:r>
                  <a:rPr lang="en-IN" dirty="0"/>
                  <a:t>Formally, the softmax function is given by</a:t>
                </a:r>
              </a:p>
              <a:p>
                <a:pPr>
                  <a:lnSpc>
                    <a:spcPct val="100000"/>
                  </a:lnSpc>
                </a:pPr>
                <a:endParaRPr lang="en-IN" dirty="0"/>
              </a:p>
              <a:p>
                <a:pPr>
                  <a:lnSpc>
                    <a:spcPct val="100000"/>
                  </a:lnSpc>
                </a:pPr>
                <a:endParaRPr lang="en-IN" dirty="0"/>
              </a:p>
              <a:p>
                <a:pPr>
                  <a:lnSpc>
                    <a:spcPct val="100000"/>
                  </a:lnSpc>
                </a:pPr>
                <a:r>
                  <a:rPr lang="en-IN" dirty="0"/>
                  <a:t>T</a:t>
                </a:r>
                <a:r>
                  <a:rPr lang="pl-PL" dirty="0"/>
                  <a:t>o maximize log </a:t>
                </a:r>
                <a:r>
                  <a:rPr lang="pl-PL" i="1" dirty="0"/>
                  <a:t>P </a:t>
                </a:r>
                <a:r>
                  <a:rPr lang="pl-PL" dirty="0"/>
                  <a:t>(y = </a:t>
                </a:r>
                <a:r>
                  <a:rPr lang="pl-PL" i="1" dirty="0"/>
                  <a:t>i</a:t>
                </a:r>
                <a:r>
                  <a:rPr lang="pl-PL" dirty="0"/>
                  <a:t>; </a:t>
                </a:r>
                <a:r>
                  <a:rPr lang="pl-PL" i="1" dirty="0"/>
                  <a:t>z</a:t>
                </a:r>
                <a:r>
                  <a:rPr lang="pl-PL" dirty="0"/>
                  <a:t>) = log softmax (</a:t>
                </a:r>
                <a:r>
                  <a:rPr lang="pl-PL" i="1" dirty="0"/>
                  <a:t>z </a:t>
                </a:r>
                <a:r>
                  <a:rPr lang="pl-PL" dirty="0"/>
                  <a:t>)</a:t>
                </a:r>
                <a:r>
                  <a:rPr lang="pl-PL" i="1" baseline="-25000" dirty="0"/>
                  <a:t>i</a:t>
                </a:r>
                <a:endParaRPr lang="en-IN" baseline="-25000" dirty="0"/>
              </a:p>
              <a:p>
                <a:pPr marL="0" indent="0">
                  <a:lnSpc>
                    <a:spcPct val="100000"/>
                  </a:lnSpc>
                  <a:buNone/>
                </a:pPr>
                <a:r>
                  <a:rPr lang="en-IN" dirty="0"/>
                  <a:t>          </a:t>
                </a:r>
              </a:p>
              <a:p>
                <a:pPr>
                  <a:lnSpc>
                    <a:spcPct val="100000"/>
                  </a:lnSpc>
                </a:pPr>
                <a:endParaRPr lang="en-IN"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200" y="950976"/>
                <a:ext cx="10515600" cy="5225987"/>
              </a:xfrm>
              <a:blipFill>
                <a:blip r:embed="rId2"/>
                <a:stretch>
                  <a:fillRect l="-1217" t="-1167"/>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718F0903-86EB-573F-08F1-5438ABBB1978}"/>
              </a:ext>
            </a:extLst>
          </p:cNvPr>
          <p:cNvPicPr>
            <a:picLocks noChangeAspect="1"/>
          </p:cNvPicPr>
          <p:nvPr/>
        </p:nvPicPr>
        <p:blipFill>
          <a:blip r:embed="rId3"/>
          <a:stretch>
            <a:fillRect/>
          </a:stretch>
        </p:blipFill>
        <p:spPr>
          <a:xfrm>
            <a:off x="2711642" y="5271962"/>
            <a:ext cx="5763429" cy="905001"/>
          </a:xfrm>
          <a:prstGeom prst="rect">
            <a:avLst/>
          </a:prstGeom>
        </p:spPr>
      </p:pic>
      <p:pic>
        <p:nvPicPr>
          <p:cNvPr id="7" name="Picture 6">
            <a:extLst>
              <a:ext uri="{FF2B5EF4-FFF2-40B4-BE49-F238E27FC236}">
                <a16:creationId xmlns:a16="http://schemas.microsoft.com/office/drawing/2014/main" id="{64F966B6-E0C9-E9F1-4C49-545A01D005C4}"/>
              </a:ext>
            </a:extLst>
          </p:cNvPr>
          <p:cNvPicPr>
            <a:picLocks noChangeAspect="1"/>
          </p:cNvPicPr>
          <p:nvPr/>
        </p:nvPicPr>
        <p:blipFill>
          <a:blip r:embed="rId4"/>
          <a:stretch>
            <a:fillRect/>
          </a:stretch>
        </p:blipFill>
        <p:spPr>
          <a:xfrm>
            <a:off x="3382624" y="3563969"/>
            <a:ext cx="4115374" cy="981212"/>
          </a:xfrm>
          <a:prstGeom prst="rect">
            <a:avLst/>
          </a:prstGeom>
        </p:spPr>
      </p:pic>
    </p:spTree>
    <p:extLst>
      <p:ext uri="{BB962C8B-B14F-4D97-AF65-F5344CB8AC3E}">
        <p14:creationId xmlns:p14="http://schemas.microsoft.com/office/powerpoint/2010/main" val="10328628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TotalTime>
  <Words>2125</Words>
  <Application>Microsoft Office PowerPoint</Application>
  <PresentationFormat>Widescreen</PresentationFormat>
  <Paragraphs>215</Paragraphs>
  <Slides>35</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Aptos</vt:lpstr>
      <vt:lpstr>Aptos Display</vt:lpstr>
      <vt:lpstr>Arial</vt:lpstr>
      <vt:lpstr>Cambria Math</vt:lpstr>
      <vt:lpstr>Office Theme</vt:lpstr>
      <vt:lpstr>Gradient Descent</vt:lpstr>
      <vt:lpstr>What is Gradient Descent or Steepest Descent?</vt:lpstr>
      <vt:lpstr>Gradient Descent</vt:lpstr>
      <vt:lpstr>PowerPoint Presentation</vt:lpstr>
      <vt:lpstr>PowerPoint Presentation</vt:lpstr>
      <vt:lpstr>Gradient Descent</vt:lpstr>
      <vt:lpstr>Gradient Descent</vt:lpstr>
      <vt:lpstr>Gradient Descent</vt:lpstr>
      <vt:lpstr>Gradient Descent</vt:lpstr>
      <vt:lpstr>Gradient Descent</vt:lpstr>
      <vt:lpstr>Gradient Descent</vt:lpstr>
      <vt:lpstr>Gradient Descent</vt:lpstr>
      <vt:lpstr>Gradient Descent</vt:lpstr>
      <vt:lpstr>PowerPoint Presentation</vt:lpstr>
      <vt:lpstr>PowerPoint Presentation</vt:lpstr>
      <vt:lpstr>Learning Rate</vt:lpstr>
      <vt:lpstr>Large Learning rate</vt:lpstr>
      <vt:lpstr>Smaller learning rate</vt:lpstr>
      <vt:lpstr>Gradient Descent</vt:lpstr>
      <vt:lpstr>Gradient Descent</vt:lpstr>
      <vt:lpstr>Line Search</vt:lpstr>
      <vt:lpstr>Backtracking Line Search</vt:lpstr>
      <vt:lpstr>Backtracking Line Search</vt:lpstr>
      <vt:lpstr>Backtracking Line Search</vt:lpstr>
      <vt:lpstr>Backtracking Line Search</vt:lpstr>
      <vt:lpstr>Cost Functions</vt:lpstr>
      <vt:lpstr>PowerPoint Presentation</vt:lpstr>
      <vt:lpstr>PowerPoint Presentation</vt:lpstr>
      <vt:lpstr>Output Units</vt:lpstr>
      <vt:lpstr>Linear Units for Gaussian Output Distributions</vt:lpstr>
      <vt:lpstr>Sigmoid Units for Bernoulli Output Distributions</vt:lpstr>
      <vt:lpstr>PowerPoint Presentation</vt:lpstr>
      <vt:lpstr>Softmax Units for Multinoulli Output Distributions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Gradient Descent</dc:title>
  <dc:creator>Thamizharasi Nandakumar</dc:creator>
  <cp:lastModifiedBy>Thamizharasi Nandakumar</cp:lastModifiedBy>
  <cp:revision>8</cp:revision>
  <dcterms:created xsi:type="dcterms:W3CDTF">2025-07-15T05:38:01Z</dcterms:created>
  <dcterms:modified xsi:type="dcterms:W3CDTF">2025-07-15T09:36:51Z</dcterms:modified>
</cp:coreProperties>
</file>