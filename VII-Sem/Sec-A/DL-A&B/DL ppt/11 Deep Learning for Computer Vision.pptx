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8" d="100"/>
          <a:sy n="88" d="100"/>
        </p:scale>
        <p:origin x="45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2237C-B854-418C-B3AE-95B7A3428E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A72106-1795-454F-842B-F56BBA7826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15B9D9-D2CB-4841-8E68-FEC127E9D2B8}"/>
              </a:ext>
            </a:extLst>
          </p:cNvPr>
          <p:cNvSpPr>
            <a:spLocks noGrp="1"/>
          </p:cNvSpPr>
          <p:nvPr>
            <p:ph type="dt" sz="half" idx="10"/>
          </p:nvPr>
        </p:nvSpPr>
        <p:spPr/>
        <p:txBody>
          <a:bodyPr/>
          <a:lstStyle/>
          <a:p>
            <a:fld id="{39FB84C0-E3A2-4ACB-9FF0-4B77DC8293EF}" type="datetimeFigureOut">
              <a:rPr lang="en-IN" smtClean="0"/>
              <a:t>08-12-2023</a:t>
            </a:fld>
            <a:endParaRPr lang="en-IN"/>
          </a:p>
        </p:txBody>
      </p:sp>
      <p:sp>
        <p:nvSpPr>
          <p:cNvPr id="5" name="Footer Placeholder 4">
            <a:extLst>
              <a:ext uri="{FF2B5EF4-FFF2-40B4-BE49-F238E27FC236}">
                <a16:creationId xmlns:a16="http://schemas.microsoft.com/office/drawing/2014/main" id="{5A2D2627-4E92-4F44-A226-2FB192C0ED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2B5C4D-8211-4648-885A-A421DC1B4A3F}"/>
              </a:ext>
            </a:extLst>
          </p:cNvPr>
          <p:cNvSpPr>
            <a:spLocks noGrp="1"/>
          </p:cNvSpPr>
          <p:nvPr>
            <p:ph type="sldNum" sz="quarter" idx="12"/>
          </p:nvPr>
        </p:nvSpPr>
        <p:spPr/>
        <p:txBody>
          <a:bodyPr/>
          <a:lstStyle/>
          <a:p>
            <a:fld id="{491E64A1-658C-4137-8601-69EE1F48EA64}" type="slidenum">
              <a:rPr lang="en-IN" smtClean="0"/>
              <a:t>‹#›</a:t>
            </a:fld>
            <a:endParaRPr lang="en-IN"/>
          </a:p>
        </p:txBody>
      </p:sp>
    </p:spTree>
    <p:extLst>
      <p:ext uri="{BB962C8B-B14F-4D97-AF65-F5344CB8AC3E}">
        <p14:creationId xmlns:p14="http://schemas.microsoft.com/office/powerpoint/2010/main" val="255595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2C868-B599-4A14-8200-7A0054350B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F3F6D5-E279-4564-85A2-4BF6C95DF5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9DA44E-C9F2-4374-8562-34AFDAF20B85}"/>
              </a:ext>
            </a:extLst>
          </p:cNvPr>
          <p:cNvSpPr>
            <a:spLocks noGrp="1"/>
          </p:cNvSpPr>
          <p:nvPr>
            <p:ph type="dt" sz="half" idx="10"/>
          </p:nvPr>
        </p:nvSpPr>
        <p:spPr/>
        <p:txBody>
          <a:bodyPr/>
          <a:lstStyle/>
          <a:p>
            <a:fld id="{39FB84C0-E3A2-4ACB-9FF0-4B77DC8293EF}" type="datetimeFigureOut">
              <a:rPr lang="en-IN" smtClean="0"/>
              <a:t>08-12-2023</a:t>
            </a:fld>
            <a:endParaRPr lang="en-IN"/>
          </a:p>
        </p:txBody>
      </p:sp>
      <p:sp>
        <p:nvSpPr>
          <p:cNvPr id="5" name="Footer Placeholder 4">
            <a:extLst>
              <a:ext uri="{FF2B5EF4-FFF2-40B4-BE49-F238E27FC236}">
                <a16:creationId xmlns:a16="http://schemas.microsoft.com/office/drawing/2014/main" id="{4DD09EDC-0E19-4602-AC9A-EAD5AEAF96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AAFDF3-D43B-4DF8-9142-A30D1A07FD38}"/>
              </a:ext>
            </a:extLst>
          </p:cNvPr>
          <p:cNvSpPr>
            <a:spLocks noGrp="1"/>
          </p:cNvSpPr>
          <p:nvPr>
            <p:ph type="sldNum" sz="quarter" idx="12"/>
          </p:nvPr>
        </p:nvSpPr>
        <p:spPr/>
        <p:txBody>
          <a:bodyPr/>
          <a:lstStyle/>
          <a:p>
            <a:fld id="{491E64A1-658C-4137-8601-69EE1F48EA64}" type="slidenum">
              <a:rPr lang="en-IN" smtClean="0"/>
              <a:t>‹#›</a:t>
            </a:fld>
            <a:endParaRPr lang="en-IN"/>
          </a:p>
        </p:txBody>
      </p:sp>
    </p:spTree>
    <p:extLst>
      <p:ext uri="{BB962C8B-B14F-4D97-AF65-F5344CB8AC3E}">
        <p14:creationId xmlns:p14="http://schemas.microsoft.com/office/powerpoint/2010/main" val="1131149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FA50B-5F9A-40AA-98CE-5DE3075302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7EEEE6-2EBF-4914-8F80-9EAAFEBFD4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343C9-5077-49F3-967A-72F1330BF351}"/>
              </a:ext>
            </a:extLst>
          </p:cNvPr>
          <p:cNvSpPr>
            <a:spLocks noGrp="1"/>
          </p:cNvSpPr>
          <p:nvPr>
            <p:ph type="dt" sz="half" idx="10"/>
          </p:nvPr>
        </p:nvSpPr>
        <p:spPr/>
        <p:txBody>
          <a:bodyPr/>
          <a:lstStyle/>
          <a:p>
            <a:fld id="{39FB84C0-E3A2-4ACB-9FF0-4B77DC8293EF}" type="datetimeFigureOut">
              <a:rPr lang="en-IN" smtClean="0"/>
              <a:t>08-12-2023</a:t>
            </a:fld>
            <a:endParaRPr lang="en-IN"/>
          </a:p>
        </p:txBody>
      </p:sp>
      <p:sp>
        <p:nvSpPr>
          <p:cNvPr id="5" name="Footer Placeholder 4">
            <a:extLst>
              <a:ext uri="{FF2B5EF4-FFF2-40B4-BE49-F238E27FC236}">
                <a16:creationId xmlns:a16="http://schemas.microsoft.com/office/drawing/2014/main" id="{AE65E067-3D50-4CF1-8A82-60C0DA686C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A9DACA-7F06-4703-A9CA-36ECB9C26A91}"/>
              </a:ext>
            </a:extLst>
          </p:cNvPr>
          <p:cNvSpPr>
            <a:spLocks noGrp="1"/>
          </p:cNvSpPr>
          <p:nvPr>
            <p:ph type="sldNum" sz="quarter" idx="12"/>
          </p:nvPr>
        </p:nvSpPr>
        <p:spPr/>
        <p:txBody>
          <a:bodyPr/>
          <a:lstStyle/>
          <a:p>
            <a:fld id="{491E64A1-658C-4137-8601-69EE1F48EA64}" type="slidenum">
              <a:rPr lang="en-IN" smtClean="0"/>
              <a:t>‹#›</a:t>
            </a:fld>
            <a:endParaRPr lang="en-IN"/>
          </a:p>
        </p:txBody>
      </p:sp>
    </p:spTree>
    <p:extLst>
      <p:ext uri="{BB962C8B-B14F-4D97-AF65-F5344CB8AC3E}">
        <p14:creationId xmlns:p14="http://schemas.microsoft.com/office/powerpoint/2010/main" val="330708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30A49-A03C-4B9F-9C2A-295034283C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C7C1D1-7D78-434E-A2D2-AF793D00EF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285CCE-9AA3-4A9F-BD28-52070B8BF4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7976EEB-3935-472F-A8A5-977B965F37B4}"/>
              </a:ext>
            </a:extLst>
          </p:cNvPr>
          <p:cNvSpPr>
            <a:spLocks noGrp="1"/>
          </p:cNvSpPr>
          <p:nvPr>
            <p:ph type="dt" sz="half" idx="10"/>
          </p:nvPr>
        </p:nvSpPr>
        <p:spPr/>
        <p:txBody>
          <a:bodyPr/>
          <a:lstStyle/>
          <a:p>
            <a:fld id="{39FB84C0-E3A2-4ACB-9FF0-4B77DC8293EF}" type="datetimeFigureOut">
              <a:rPr lang="en-IN" smtClean="0"/>
              <a:t>08-12-2023</a:t>
            </a:fld>
            <a:endParaRPr lang="en-IN"/>
          </a:p>
        </p:txBody>
      </p:sp>
      <p:sp>
        <p:nvSpPr>
          <p:cNvPr id="6" name="Footer Placeholder 5">
            <a:extLst>
              <a:ext uri="{FF2B5EF4-FFF2-40B4-BE49-F238E27FC236}">
                <a16:creationId xmlns:a16="http://schemas.microsoft.com/office/drawing/2014/main" id="{FF1D28B2-D823-48F1-BD8E-6919B8F40C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C7D4A0-CEC1-4376-BDFD-BBF19C7AE727}"/>
              </a:ext>
            </a:extLst>
          </p:cNvPr>
          <p:cNvSpPr>
            <a:spLocks noGrp="1"/>
          </p:cNvSpPr>
          <p:nvPr>
            <p:ph type="sldNum" sz="quarter" idx="12"/>
          </p:nvPr>
        </p:nvSpPr>
        <p:spPr/>
        <p:txBody>
          <a:bodyPr/>
          <a:lstStyle/>
          <a:p>
            <a:fld id="{491E64A1-658C-4137-8601-69EE1F48EA64}" type="slidenum">
              <a:rPr lang="en-IN" smtClean="0"/>
              <a:t>‹#›</a:t>
            </a:fld>
            <a:endParaRPr lang="en-IN"/>
          </a:p>
        </p:txBody>
      </p:sp>
    </p:spTree>
    <p:extLst>
      <p:ext uri="{BB962C8B-B14F-4D97-AF65-F5344CB8AC3E}">
        <p14:creationId xmlns:p14="http://schemas.microsoft.com/office/powerpoint/2010/main" val="257746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28A5F-58BF-427A-9DAE-D9A0D92DC7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8C3398-B292-4ADD-8107-11EE695780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7BD899-39B7-4D9D-80BD-A6535AD7EB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DFD6353-8526-4D4A-8B03-555731982C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F83FBA-7F6C-4B14-A4AA-9C12579D77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984B724-A9F0-4B3B-B8B8-A65D0F935DC3}"/>
              </a:ext>
            </a:extLst>
          </p:cNvPr>
          <p:cNvSpPr>
            <a:spLocks noGrp="1"/>
          </p:cNvSpPr>
          <p:nvPr>
            <p:ph type="dt" sz="half" idx="10"/>
          </p:nvPr>
        </p:nvSpPr>
        <p:spPr/>
        <p:txBody>
          <a:bodyPr/>
          <a:lstStyle/>
          <a:p>
            <a:fld id="{39FB84C0-E3A2-4ACB-9FF0-4B77DC8293EF}" type="datetimeFigureOut">
              <a:rPr lang="en-IN" smtClean="0"/>
              <a:t>08-12-2023</a:t>
            </a:fld>
            <a:endParaRPr lang="en-IN"/>
          </a:p>
        </p:txBody>
      </p:sp>
      <p:sp>
        <p:nvSpPr>
          <p:cNvPr id="8" name="Footer Placeholder 7">
            <a:extLst>
              <a:ext uri="{FF2B5EF4-FFF2-40B4-BE49-F238E27FC236}">
                <a16:creationId xmlns:a16="http://schemas.microsoft.com/office/drawing/2014/main" id="{9386B77B-CB7F-4706-9A4E-B2AAB95E29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C1FAF51-1E45-48F3-8990-6055E8D01023}"/>
              </a:ext>
            </a:extLst>
          </p:cNvPr>
          <p:cNvSpPr>
            <a:spLocks noGrp="1"/>
          </p:cNvSpPr>
          <p:nvPr>
            <p:ph type="sldNum" sz="quarter" idx="12"/>
          </p:nvPr>
        </p:nvSpPr>
        <p:spPr/>
        <p:txBody>
          <a:bodyPr/>
          <a:lstStyle/>
          <a:p>
            <a:fld id="{491E64A1-658C-4137-8601-69EE1F48EA64}" type="slidenum">
              <a:rPr lang="en-IN" smtClean="0"/>
              <a:t>‹#›</a:t>
            </a:fld>
            <a:endParaRPr lang="en-IN"/>
          </a:p>
        </p:txBody>
      </p:sp>
    </p:spTree>
    <p:extLst>
      <p:ext uri="{BB962C8B-B14F-4D97-AF65-F5344CB8AC3E}">
        <p14:creationId xmlns:p14="http://schemas.microsoft.com/office/powerpoint/2010/main" val="1018794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3823F-FC93-4EC1-89B1-AFADB59C771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78AE9C2-477E-411A-A330-1A833A789FF7}"/>
              </a:ext>
            </a:extLst>
          </p:cNvPr>
          <p:cNvSpPr>
            <a:spLocks noGrp="1"/>
          </p:cNvSpPr>
          <p:nvPr>
            <p:ph type="dt" sz="half" idx="10"/>
          </p:nvPr>
        </p:nvSpPr>
        <p:spPr/>
        <p:txBody>
          <a:bodyPr/>
          <a:lstStyle/>
          <a:p>
            <a:fld id="{39FB84C0-E3A2-4ACB-9FF0-4B77DC8293EF}" type="datetimeFigureOut">
              <a:rPr lang="en-IN" smtClean="0"/>
              <a:t>08-12-2023</a:t>
            </a:fld>
            <a:endParaRPr lang="en-IN"/>
          </a:p>
        </p:txBody>
      </p:sp>
      <p:sp>
        <p:nvSpPr>
          <p:cNvPr id="4" name="Footer Placeholder 3">
            <a:extLst>
              <a:ext uri="{FF2B5EF4-FFF2-40B4-BE49-F238E27FC236}">
                <a16:creationId xmlns:a16="http://schemas.microsoft.com/office/drawing/2014/main" id="{394F8A2F-D8EA-4A29-B026-AE330FC035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FEC04A-88B0-4984-8E05-8DC68E883EDA}"/>
              </a:ext>
            </a:extLst>
          </p:cNvPr>
          <p:cNvSpPr>
            <a:spLocks noGrp="1"/>
          </p:cNvSpPr>
          <p:nvPr>
            <p:ph type="sldNum" sz="quarter" idx="12"/>
          </p:nvPr>
        </p:nvSpPr>
        <p:spPr/>
        <p:txBody>
          <a:bodyPr/>
          <a:lstStyle/>
          <a:p>
            <a:fld id="{491E64A1-658C-4137-8601-69EE1F48EA64}" type="slidenum">
              <a:rPr lang="en-IN" smtClean="0"/>
              <a:t>‹#›</a:t>
            </a:fld>
            <a:endParaRPr lang="en-IN"/>
          </a:p>
        </p:txBody>
      </p:sp>
    </p:spTree>
    <p:extLst>
      <p:ext uri="{BB962C8B-B14F-4D97-AF65-F5344CB8AC3E}">
        <p14:creationId xmlns:p14="http://schemas.microsoft.com/office/powerpoint/2010/main" val="3722143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D570E9-F8E8-4C7C-9AC6-8E62FDD18DA1}"/>
              </a:ext>
            </a:extLst>
          </p:cNvPr>
          <p:cNvSpPr>
            <a:spLocks noGrp="1"/>
          </p:cNvSpPr>
          <p:nvPr>
            <p:ph type="dt" sz="half" idx="10"/>
          </p:nvPr>
        </p:nvSpPr>
        <p:spPr/>
        <p:txBody>
          <a:bodyPr/>
          <a:lstStyle/>
          <a:p>
            <a:fld id="{39FB84C0-E3A2-4ACB-9FF0-4B77DC8293EF}" type="datetimeFigureOut">
              <a:rPr lang="en-IN" smtClean="0"/>
              <a:t>08-12-2023</a:t>
            </a:fld>
            <a:endParaRPr lang="en-IN"/>
          </a:p>
        </p:txBody>
      </p:sp>
      <p:sp>
        <p:nvSpPr>
          <p:cNvPr id="3" name="Footer Placeholder 2">
            <a:extLst>
              <a:ext uri="{FF2B5EF4-FFF2-40B4-BE49-F238E27FC236}">
                <a16:creationId xmlns:a16="http://schemas.microsoft.com/office/drawing/2014/main" id="{1AD34E89-1224-4CCF-BD26-F4BF4D3102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38695D-63EA-478B-AC99-54AB79DA1DE4}"/>
              </a:ext>
            </a:extLst>
          </p:cNvPr>
          <p:cNvSpPr>
            <a:spLocks noGrp="1"/>
          </p:cNvSpPr>
          <p:nvPr>
            <p:ph type="sldNum" sz="quarter" idx="12"/>
          </p:nvPr>
        </p:nvSpPr>
        <p:spPr/>
        <p:txBody>
          <a:bodyPr/>
          <a:lstStyle/>
          <a:p>
            <a:fld id="{491E64A1-658C-4137-8601-69EE1F48EA64}" type="slidenum">
              <a:rPr lang="en-IN" smtClean="0"/>
              <a:t>‹#›</a:t>
            </a:fld>
            <a:endParaRPr lang="en-IN"/>
          </a:p>
        </p:txBody>
      </p:sp>
    </p:spTree>
    <p:extLst>
      <p:ext uri="{BB962C8B-B14F-4D97-AF65-F5344CB8AC3E}">
        <p14:creationId xmlns:p14="http://schemas.microsoft.com/office/powerpoint/2010/main" val="390049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75556-5953-4D39-9C1F-ECC8AB91D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3EFCFE8-136D-463D-A7FB-CFF33A698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1862E8-648D-408A-8C0A-0D838FB738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91DD77-D823-4711-B650-1D1F9EB0131D}"/>
              </a:ext>
            </a:extLst>
          </p:cNvPr>
          <p:cNvSpPr>
            <a:spLocks noGrp="1"/>
          </p:cNvSpPr>
          <p:nvPr>
            <p:ph type="dt" sz="half" idx="10"/>
          </p:nvPr>
        </p:nvSpPr>
        <p:spPr/>
        <p:txBody>
          <a:bodyPr/>
          <a:lstStyle/>
          <a:p>
            <a:fld id="{39FB84C0-E3A2-4ACB-9FF0-4B77DC8293EF}" type="datetimeFigureOut">
              <a:rPr lang="en-IN" smtClean="0"/>
              <a:t>08-12-2023</a:t>
            </a:fld>
            <a:endParaRPr lang="en-IN"/>
          </a:p>
        </p:txBody>
      </p:sp>
      <p:sp>
        <p:nvSpPr>
          <p:cNvPr id="6" name="Footer Placeholder 5">
            <a:extLst>
              <a:ext uri="{FF2B5EF4-FFF2-40B4-BE49-F238E27FC236}">
                <a16:creationId xmlns:a16="http://schemas.microsoft.com/office/drawing/2014/main" id="{DE58FEED-AAAA-4D7E-84A5-7B67BFE234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494402-8E3C-4726-9F57-CFF0147C1943}"/>
              </a:ext>
            </a:extLst>
          </p:cNvPr>
          <p:cNvSpPr>
            <a:spLocks noGrp="1"/>
          </p:cNvSpPr>
          <p:nvPr>
            <p:ph type="sldNum" sz="quarter" idx="12"/>
          </p:nvPr>
        </p:nvSpPr>
        <p:spPr/>
        <p:txBody>
          <a:bodyPr/>
          <a:lstStyle/>
          <a:p>
            <a:fld id="{491E64A1-658C-4137-8601-69EE1F48EA64}" type="slidenum">
              <a:rPr lang="en-IN" smtClean="0"/>
              <a:t>‹#›</a:t>
            </a:fld>
            <a:endParaRPr lang="en-IN"/>
          </a:p>
        </p:txBody>
      </p:sp>
    </p:spTree>
    <p:extLst>
      <p:ext uri="{BB962C8B-B14F-4D97-AF65-F5344CB8AC3E}">
        <p14:creationId xmlns:p14="http://schemas.microsoft.com/office/powerpoint/2010/main" val="742331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60450-7219-4FD1-AB62-92B2B18484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8196E93-1478-4BC6-89E9-441F363FDC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142251-6427-40F2-917A-3533EBF135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09FBAB-FD86-4798-A822-A761980772CD}"/>
              </a:ext>
            </a:extLst>
          </p:cNvPr>
          <p:cNvSpPr>
            <a:spLocks noGrp="1"/>
          </p:cNvSpPr>
          <p:nvPr>
            <p:ph type="dt" sz="half" idx="10"/>
          </p:nvPr>
        </p:nvSpPr>
        <p:spPr/>
        <p:txBody>
          <a:bodyPr/>
          <a:lstStyle/>
          <a:p>
            <a:fld id="{39FB84C0-E3A2-4ACB-9FF0-4B77DC8293EF}" type="datetimeFigureOut">
              <a:rPr lang="en-IN" smtClean="0"/>
              <a:t>08-12-2023</a:t>
            </a:fld>
            <a:endParaRPr lang="en-IN"/>
          </a:p>
        </p:txBody>
      </p:sp>
      <p:sp>
        <p:nvSpPr>
          <p:cNvPr id="6" name="Footer Placeholder 5">
            <a:extLst>
              <a:ext uri="{FF2B5EF4-FFF2-40B4-BE49-F238E27FC236}">
                <a16:creationId xmlns:a16="http://schemas.microsoft.com/office/drawing/2014/main" id="{BFB79AB8-C15E-409C-B411-7404B6AB33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50B20-2FB8-430E-9A55-2CCA77F6EB93}"/>
              </a:ext>
            </a:extLst>
          </p:cNvPr>
          <p:cNvSpPr>
            <a:spLocks noGrp="1"/>
          </p:cNvSpPr>
          <p:nvPr>
            <p:ph type="sldNum" sz="quarter" idx="12"/>
          </p:nvPr>
        </p:nvSpPr>
        <p:spPr/>
        <p:txBody>
          <a:bodyPr/>
          <a:lstStyle/>
          <a:p>
            <a:fld id="{491E64A1-658C-4137-8601-69EE1F48EA64}" type="slidenum">
              <a:rPr lang="en-IN" smtClean="0"/>
              <a:t>‹#›</a:t>
            </a:fld>
            <a:endParaRPr lang="en-IN"/>
          </a:p>
        </p:txBody>
      </p:sp>
    </p:spTree>
    <p:extLst>
      <p:ext uri="{BB962C8B-B14F-4D97-AF65-F5344CB8AC3E}">
        <p14:creationId xmlns:p14="http://schemas.microsoft.com/office/powerpoint/2010/main" val="3248274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D8A55-1BD7-45C5-BA09-3B6D592658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082BF7-77C8-47CA-9B7B-09FC413DCE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54BA67-1CEF-4D75-92A2-D5EF1A7FB1A1}"/>
              </a:ext>
            </a:extLst>
          </p:cNvPr>
          <p:cNvSpPr>
            <a:spLocks noGrp="1"/>
          </p:cNvSpPr>
          <p:nvPr>
            <p:ph type="dt" sz="half" idx="10"/>
          </p:nvPr>
        </p:nvSpPr>
        <p:spPr/>
        <p:txBody>
          <a:bodyPr/>
          <a:lstStyle/>
          <a:p>
            <a:fld id="{39FB84C0-E3A2-4ACB-9FF0-4B77DC8293EF}" type="datetimeFigureOut">
              <a:rPr lang="en-IN" smtClean="0"/>
              <a:t>08-12-2023</a:t>
            </a:fld>
            <a:endParaRPr lang="en-IN"/>
          </a:p>
        </p:txBody>
      </p:sp>
      <p:sp>
        <p:nvSpPr>
          <p:cNvPr id="5" name="Footer Placeholder 4">
            <a:extLst>
              <a:ext uri="{FF2B5EF4-FFF2-40B4-BE49-F238E27FC236}">
                <a16:creationId xmlns:a16="http://schemas.microsoft.com/office/drawing/2014/main" id="{634A343A-F04E-4DA6-9FAA-019B2BF260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1AD24A-B89B-4B31-9BB7-1A8256BF2046}"/>
              </a:ext>
            </a:extLst>
          </p:cNvPr>
          <p:cNvSpPr>
            <a:spLocks noGrp="1"/>
          </p:cNvSpPr>
          <p:nvPr>
            <p:ph type="sldNum" sz="quarter" idx="12"/>
          </p:nvPr>
        </p:nvSpPr>
        <p:spPr/>
        <p:txBody>
          <a:bodyPr/>
          <a:lstStyle/>
          <a:p>
            <a:fld id="{491E64A1-658C-4137-8601-69EE1F48EA64}" type="slidenum">
              <a:rPr lang="en-IN" smtClean="0"/>
              <a:t>‹#›</a:t>
            </a:fld>
            <a:endParaRPr lang="en-IN"/>
          </a:p>
        </p:txBody>
      </p:sp>
    </p:spTree>
    <p:extLst>
      <p:ext uri="{BB962C8B-B14F-4D97-AF65-F5344CB8AC3E}">
        <p14:creationId xmlns:p14="http://schemas.microsoft.com/office/powerpoint/2010/main" val="1750225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2B12C5-4959-452A-B7F6-9151EA3904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CEAF30-BF6F-4C6C-8A3D-17F0848B6F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CFB266-A190-4077-8CE5-622310C457DE}"/>
              </a:ext>
            </a:extLst>
          </p:cNvPr>
          <p:cNvSpPr>
            <a:spLocks noGrp="1"/>
          </p:cNvSpPr>
          <p:nvPr>
            <p:ph type="dt" sz="half" idx="10"/>
          </p:nvPr>
        </p:nvSpPr>
        <p:spPr/>
        <p:txBody>
          <a:bodyPr/>
          <a:lstStyle/>
          <a:p>
            <a:fld id="{39FB84C0-E3A2-4ACB-9FF0-4B77DC8293EF}" type="datetimeFigureOut">
              <a:rPr lang="en-IN" smtClean="0"/>
              <a:t>08-12-2023</a:t>
            </a:fld>
            <a:endParaRPr lang="en-IN"/>
          </a:p>
        </p:txBody>
      </p:sp>
      <p:sp>
        <p:nvSpPr>
          <p:cNvPr id="5" name="Footer Placeholder 4">
            <a:extLst>
              <a:ext uri="{FF2B5EF4-FFF2-40B4-BE49-F238E27FC236}">
                <a16:creationId xmlns:a16="http://schemas.microsoft.com/office/drawing/2014/main" id="{C89E3339-7562-4FBA-8F6E-B17BCF9084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43F5EF-B27D-40B1-B4D0-13789D0252D2}"/>
              </a:ext>
            </a:extLst>
          </p:cNvPr>
          <p:cNvSpPr>
            <a:spLocks noGrp="1"/>
          </p:cNvSpPr>
          <p:nvPr>
            <p:ph type="sldNum" sz="quarter" idx="12"/>
          </p:nvPr>
        </p:nvSpPr>
        <p:spPr/>
        <p:txBody>
          <a:bodyPr/>
          <a:lstStyle/>
          <a:p>
            <a:fld id="{491E64A1-658C-4137-8601-69EE1F48EA64}" type="slidenum">
              <a:rPr lang="en-IN" smtClean="0"/>
              <a:t>‹#›</a:t>
            </a:fld>
            <a:endParaRPr lang="en-IN"/>
          </a:p>
        </p:txBody>
      </p:sp>
    </p:spTree>
    <p:extLst>
      <p:ext uri="{BB962C8B-B14F-4D97-AF65-F5344CB8AC3E}">
        <p14:creationId xmlns:p14="http://schemas.microsoft.com/office/powerpoint/2010/main" val="3988543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2B9BAD-7A68-4499-BEA0-93D7266E36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27FAF6-8E41-4CFE-8BE0-4763590967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70872B-3AF7-4DD6-B999-C4BF61578C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FB84C0-E3A2-4ACB-9FF0-4B77DC8293EF}" type="datetimeFigureOut">
              <a:rPr lang="en-IN" smtClean="0"/>
              <a:t>08-12-2023</a:t>
            </a:fld>
            <a:endParaRPr lang="en-IN"/>
          </a:p>
        </p:txBody>
      </p:sp>
      <p:sp>
        <p:nvSpPr>
          <p:cNvPr id="5" name="Footer Placeholder 4">
            <a:extLst>
              <a:ext uri="{FF2B5EF4-FFF2-40B4-BE49-F238E27FC236}">
                <a16:creationId xmlns:a16="http://schemas.microsoft.com/office/drawing/2014/main" id="{F33EF863-BB77-4E9D-846E-3054BFF61C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DF1703D-F5AE-4760-865D-8FFF53C705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1E64A1-658C-4137-8601-69EE1F48EA64}" type="slidenum">
              <a:rPr lang="en-IN" smtClean="0"/>
              <a:t>‹#›</a:t>
            </a:fld>
            <a:endParaRPr lang="en-IN"/>
          </a:p>
        </p:txBody>
      </p:sp>
    </p:spTree>
    <p:extLst>
      <p:ext uri="{BB962C8B-B14F-4D97-AF65-F5344CB8AC3E}">
        <p14:creationId xmlns:p14="http://schemas.microsoft.com/office/powerpoint/2010/main" val="3987574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FC2CC-C325-465B-B9CA-760E9C511E17}"/>
              </a:ext>
            </a:extLst>
          </p:cNvPr>
          <p:cNvSpPr>
            <a:spLocks noGrp="1"/>
          </p:cNvSpPr>
          <p:nvPr>
            <p:ph type="ctrTitle"/>
          </p:nvPr>
        </p:nvSpPr>
        <p:spPr/>
        <p:txBody>
          <a:bodyPr/>
          <a:lstStyle/>
          <a:p>
            <a:r>
              <a:rPr lang="en-IN" sz="4400" dirty="0">
                <a:effectLst/>
                <a:latin typeface="+mn-lt"/>
                <a:ea typeface="Times New Roman" panose="02020603050405020304" pitchFamily="18" charset="0"/>
                <a:cs typeface="Times New Roman" panose="02020603050405020304" pitchFamily="18" charset="0"/>
              </a:rPr>
              <a:t>Deep Learning for Computer Vision</a:t>
            </a:r>
            <a:r>
              <a:rPr lang="en-IN" sz="1800" dirty="0">
                <a:effectLst/>
                <a:latin typeface="Calibri" panose="020F0502020204030204" pitchFamily="34" charset="0"/>
                <a:ea typeface="Calibri" panose="020F0502020204030204" pitchFamily="34" charset="0"/>
                <a:cs typeface="Times New Roman" panose="02020603050405020304" pitchFamily="18" charset="0"/>
              </a:rPr>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34602231-1CDE-4DA7-87B0-C5A8F80D218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55899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3DB9B-9D0A-4EF3-AA09-4CFE06AB3E0B}"/>
              </a:ext>
            </a:extLst>
          </p:cNvPr>
          <p:cNvSpPr>
            <a:spLocks noGrp="1"/>
          </p:cNvSpPr>
          <p:nvPr>
            <p:ph type="title"/>
          </p:nvPr>
        </p:nvSpPr>
        <p:spPr/>
        <p:txBody>
          <a:bodyPr>
            <a:normAutofit/>
          </a:bodyPr>
          <a:lstStyle/>
          <a:p>
            <a:r>
              <a:rPr lang="en-IN" sz="4000" dirty="0">
                <a:solidFill>
                  <a:srgbClr val="00263E"/>
                </a:solidFill>
                <a:effectLst/>
                <a:latin typeface="+mn-lt"/>
                <a:ea typeface="Times New Roman" panose="02020603050405020304" pitchFamily="18" charset="0"/>
                <a:cs typeface="Times New Roman" panose="02020603050405020304" pitchFamily="18" charset="0"/>
              </a:rPr>
              <a:t>What is Computer Vision (CV)?</a:t>
            </a:r>
            <a:endParaRPr lang="en-IN" sz="4000" dirty="0">
              <a:latin typeface="+mn-lt"/>
            </a:endParaRPr>
          </a:p>
        </p:txBody>
      </p:sp>
      <p:sp>
        <p:nvSpPr>
          <p:cNvPr id="3" name="Content Placeholder 2">
            <a:extLst>
              <a:ext uri="{FF2B5EF4-FFF2-40B4-BE49-F238E27FC236}">
                <a16:creationId xmlns:a16="http://schemas.microsoft.com/office/drawing/2014/main" id="{AF67072A-F6D0-453A-A1EA-AC07C94EE8B4}"/>
              </a:ext>
            </a:extLst>
          </p:cNvPr>
          <p:cNvSpPr>
            <a:spLocks noGrp="1"/>
          </p:cNvSpPr>
          <p:nvPr>
            <p:ph idx="1"/>
          </p:nvPr>
        </p:nvSpPr>
        <p:spPr/>
        <p:txBody>
          <a:bodyPr>
            <a:normAutofit lnSpcReduction="10000"/>
          </a:bodyPr>
          <a:lstStyle/>
          <a:p>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Computer vision (CV) is the scientific field which defines how machines interpret the meaning of images and videos.</a:t>
            </a:r>
          </a:p>
          <a:p>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It is an area of machine learning dedicated to interpreting and understanding images and video. </a:t>
            </a:r>
          </a:p>
          <a:p>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It is used to help teach computers to “see” and to use visual information to perform visual tasks that humans can.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Computer vision algorithms analyse certain criteria in images and videos, and then apply interpretations to predictive or decision making tasks.</a:t>
            </a:r>
          </a:p>
          <a:p>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Computer vision models are designed to translate visual data based on features and contextual information identified during training. This enables models to interpret images and video and apply those interpretations to predictive or decision making tasks.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Image processing is not the same as computer vision. Image processing involves modifying or enhancing images to produce a new result. It can include optimizing brightness or contrast, increasing resolution, blurring sensitive information, or cropping. The difference between image processing and computer vision is that the former doesn’t necessarily require the identification of content.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77196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A18EB-3A57-4011-972F-A44605CAD5C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CBECB65-7A29-4E56-BF5D-9C90F057CF11}"/>
              </a:ext>
            </a:extLst>
          </p:cNvPr>
          <p:cNvSpPr>
            <a:spLocks noGrp="1"/>
          </p:cNvSpPr>
          <p:nvPr>
            <p:ph idx="1"/>
          </p:nvPr>
        </p:nvSpPr>
        <p:spPr/>
        <p:txBody>
          <a:bodyPr/>
          <a:lstStyle/>
          <a:p>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Convolutional Neural Networks: The Foundation of Modern Computer Vision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Modern computer vision algorithms are based on convolutional neural networks (CNNs), which provide a dramatic improvement in performance compared to traditional image processing algorithms.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One of the first CNN architectures was </a:t>
            </a:r>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AlexNet</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which won the ImageNet visual recognition challenge in 2012.</a:t>
            </a: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39390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D0DD2-6945-4AA4-81AE-E3A556390F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C5F54CD-4FD9-4CF4-92C0-A3ADE9D99080}"/>
              </a:ext>
            </a:extLst>
          </p:cNvPr>
          <p:cNvSpPr>
            <a:spLocks noGrp="1"/>
          </p:cNvSpPr>
          <p:nvPr>
            <p:ph idx="1"/>
          </p:nvPr>
        </p:nvSpPr>
        <p:spPr/>
        <p:txBody>
          <a:bodyPr/>
          <a:lstStyle/>
          <a:p>
            <a:pPr>
              <a:lnSpc>
                <a:spcPts val="1800"/>
              </a:lnSpc>
              <a:spcAft>
                <a:spcPts val="750"/>
              </a:spcAft>
            </a:pPr>
            <a:r>
              <a:rPr lang="en-IN" sz="1800" b="1"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How CNNs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800"/>
              </a:lnSpc>
              <a:spcAft>
                <a:spcPts val="750"/>
              </a:spcAft>
            </a:pP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When an image is processed by a CNN, each base </a:t>
            </a:r>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color</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used in the image (e.g. red, green, blue) is represented as a matrix of values. </a:t>
            </a:r>
          </a:p>
          <a:p>
            <a:pPr>
              <a:lnSpc>
                <a:spcPts val="1800"/>
              </a:lnSpc>
              <a:spcAft>
                <a:spcPts val="750"/>
              </a:spcAft>
            </a:pP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These values are evaluated and condensed into 3D tensors (in the case of </a:t>
            </a:r>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color</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images), which are collections of stacks of feature maps tied to a section of the image.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800"/>
              </a:lnSpc>
              <a:spcAft>
                <a:spcPts val="750"/>
              </a:spcAft>
            </a:pP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These tensors are created by passing the image through a series of convolutional and pooling layers, which are used to extract the most relevant data from an image segment and condense it into a smaller, representative matrix. </a:t>
            </a:r>
          </a:p>
          <a:p>
            <a:pPr>
              <a:lnSpc>
                <a:spcPts val="1800"/>
              </a:lnSpc>
              <a:spcAft>
                <a:spcPts val="750"/>
              </a:spcAft>
            </a:pP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This process is repeated numerous times (depending on the number of convolutional layers in the architecture). The final features extracted by the convolutional process are sent to a fully connected layer, which generates predictions.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58475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F36FD-F183-424C-BCDD-BA72C6AE74E5}"/>
              </a:ext>
            </a:extLst>
          </p:cNvPr>
          <p:cNvSpPr>
            <a:spLocks noGrp="1"/>
          </p:cNvSpPr>
          <p:nvPr>
            <p:ph type="title"/>
          </p:nvPr>
        </p:nvSpPr>
        <p:spPr/>
        <p:txBody>
          <a:bodyPr>
            <a:normAutofit/>
          </a:bodyPr>
          <a:lstStyle/>
          <a:p>
            <a:r>
              <a:rPr lang="en-IN" sz="4000" dirty="0">
                <a:solidFill>
                  <a:srgbClr val="00263E"/>
                </a:solidFill>
                <a:effectLst/>
                <a:latin typeface="+mn-lt"/>
                <a:ea typeface="Times New Roman" panose="02020603050405020304" pitchFamily="18" charset="0"/>
                <a:cs typeface="Times New Roman" panose="02020603050405020304" pitchFamily="18" charset="0"/>
              </a:rPr>
              <a:t>Deep Learning Architectures for Computer Vision</a:t>
            </a:r>
            <a:endParaRPr lang="en-IN" sz="4000" dirty="0">
              <a:latin typeface="+mn-lt"/>
            </a:endParaRPr>
          </a:p>
        </p:txBody>
      </p:sp>
      <p:sp>
        <p:nvSpPr>
          <p:cNvPr id="3" name="Content Placeholder 2">
            <a:extLst>
              <a:ext uri="{FF2B5EF4-FFF2-40B4-BE49-F238E27FC236}">
                <a16:creationId xmlns:a16="http://schemas.microsoft.com/office/drawing/2014/main" id="{1248C03B-C2C7-4C0D-8380-F82D10D5B346}"/>
              </a:ext>
            </a:extLst>
          </p:cNvPr>
          <p:cNvSpPr>
            <a:spLocks noGrp="1"/>
          </p:cNvSpPr>
          <p:nvPr>
            <p:ph idx="1"/>
          </p:nvPr>
        </p:nvSpPr>
        <p:spPr/>
        <p:txBody>
          <a:bodyPr/>
          <a:lstStyle/>
          <a:p>
            <a:pPr>
              <a:lnSpc>
                <a:spcPct val="107000"/>
              </a:lnSpc>
              <a:spcAft>
                <a:spcPts val="800"/>
              </a:spcAft>
            </a:pPr>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Alexnet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800"/>
              </a:lnSpc>
              <a:spcAft>
                <a:spcPts val="750"/>
              </a:spcAft>
            </a:pPr>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AlexNet</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is an architecture based on the earlier </a:t>
            </a:r>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LeNet</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architecture. It includes five convolutional layers and three fully connected layers. </a:t>
            </a:r>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AlexNet</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uses a dual pipeline structure to accommodate the use of two GPUs during training.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800"/>
              </a:lnSpc>
              <a:spcAft>
                <a:spcPts val="750"/>
              </a:spcAft>
            </a:pP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0BE28129-45B7-49F7-855B-A3D002CE08E2}"/>
              </a:ext>
            </a:extLst>
          </p:cNvPr>
          <p:cNvPicPr>
            <a:picLocks noChangeAspect="1"/>
          </p:cNvPicPr>
          <p:nvPr/>
        </p:nvPicPr>
        <p:blipFill>
          <a:blip r:embed="rId2"/>
          <a:stretch>
            <a:fillRect/>
          </a:stretch>
        </p:blipFill>
        <p:spPr>
          <a:xfrm>
            <a:off x="4271605" y="2923870"/>
            <a:ext cx="5639289" cy="4060288"/>
          </a:xfrm>
          <a:prstGeom prst="rect">
            <a:avLst/>
          </a:prstGeom>
        </p:spPr>
      </p:pic>
    </p:spTree>
    <p:extLst>
      <p:ext uri="{BB962C8B-B14F-4D97-AF65-F5344CB8AC3E}">
        <p14:creationId xmlns:p14="http://schemas.microsoft.com/office/powerpoint/2010/main" val="2028904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311A1-4A7C-4585-B69B-B2D3B8254E6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83E1AD-657D-4DE6-ACC2-880675C6DFF9}"/>
              </a:ext>
            </a:extLst>
          </p:cNvPr>
          <p:cNvSpPr>
            <a:spLocks noGrp="1"/>
          </p:cNvSpPr>
          <p:nvPr>
            <p:ph idx="1"/>
          </p:nvPr>
        </p:nvSpPr>
        <p:spPr/>
        <p:txBody>
          <a:bodyPr/>
          <a:lstStyle/>
          <a:p>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GoogleNet</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(2014)</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FBBEE0DF-92E4-405B-B4CD-B341293F2539}"/>
              </a:ext>
            </a:extLst>
          </p:cNvPr>
          <p:cNvPicPr>
            <a:picLocks noChangeAspect="1"/>
          </p:cNvPicPr>
          <p:nvPr/>
        </p:nvPicPr>
        <p:blipFill>
          <a:blip r:embed="rId2"/>
          <a:stretch>
            <a:fillRect/>
          </a:stretch>
        </p:blipFill>
        <p:spPr>
          <a:xfrm>
            <a:off x="3413577" y="1585326"/>
            <a:ext cx="5499069" cy="4591637"/>
          </a:xfrm>
          <a:prstGeom prst="rect">
            <a:avLst/>
          </a:prstGeom>
        </p:spPr>
      </p:pic>
    </p:spTree>
    <p:extLst>
      <p:ext uri="{BB962C8B-B14F-4D97-AF65-F5344CB8AC3E}">
        <p14:creationId xmlns:p14="http://schemas.microsoft.com/office/powerpoint/2010/main" val="1287105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77C81-707F-4A42-8E9B-5F7BD874E5F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9C5007-D243-4292-B0EA-D565D62E348D}"/>
              </a:ext>
            </a:extLst>
          </p:cNvPr>
          <p:cNvSpPr>
            <a:spLocks noGrp="1"/>
          </p:cNvSpPr>
          <p:nvPr>
            <p:ph idx="1"/>
          </p:nvPr>
        </p:nvSpPr>
        <p:spPr/>
        <p:txBody>
          <a:bodyPr/>
          <a:lstStyle/>
          <a:p>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VGGNet</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(2014)</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003D41C4-7FFA-4DA1-90D8-B8E9A7C25577}"/>
              </a:ext>
            </a:extLst>
          </p:cNvPr>
          <p:cNvPicPr>
            <a:picLocks noChangeAspect="1"/>
          </p:cNvPicPr>
          <p:nvPr/>
        </p:nvPicPr>
        <p:blipFill>
          <a:blip r:embed="rId2"/>
          <a:stretch>
            <a:fillRect/>
          </a:stretch>
        </p:blipFill>
        <p:spPr>
          <a:xfrm>
            <a:off x="3037761" y="2498899"/>
            <a:ext cx="5931922" cy="2883658"/>
          </a:xfrm>
          <a:prstGeom prst="rect">
            <a:avLst/>
          </a:prstGeom>
        </p:spPr>
      </p:pic>
    </p:spTree>
    <p:extLst>
      <p:ext uri="{BB962C8B-B14F-4D97-AF65-F5344CB8AC3E}">
        <p14:creationId xmlns:p14="http://schemas.microsoft.com/office/powerpoint/2010/main" val="3217996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F6F2-E30A-4556-B854-153C300700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26CFC68-0D5A-4C10-A8B4-776A2641BFB5}"/>
              </a:ext>
            </a:extLst>
          </p:cNvPr>
          <p:cNvSpPr>
            <a:spLocks noGrp="1"/>
          </p:cNvSpPr>
          <p:nvPr>
            <p:ph idx="1"/>
          </p:nvPr>
        </p:nvSpPr>
        <p:spPr/>
        <p:txBody>
          <a:bodyPr/>
          <a:lstStyle/>
          <a:p>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ResNet</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(2015)</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68BA9C7E-8B87-4D6E-91F8-781EB2E9A429}"/>
              </a:ext>
            </a:extLst>
          </p:cNvPr>
          <p:cNvPicPr>
            <a:picLocks noChangeAspect="1"/>
          </p:cNvPicPr>
          <p:nvPr/>
        </p:nvPicPr>
        <p:blipFill>
          <a:blip r:embed="rId2"/>
          <a:stretch>
            <a:fillRect/>
          </a:stretch>
        </p:blipFill>
        <p:spPr>
          <a:xfrm>
            <a:off x="3200149" y="1593907"/>
            <a:ext cx="5791702" cy="4755329"/>
          </a:xfrm>
          <a:prstGeom prst="rect">
            <a:avLst/>
          </a:prstGeom>
        </p:spPr>
      </p:pic>
    </p:spTree>
    <p:extLst>
      <p:ext uri="{BB962C8B-B14F-4D97-AF65-F5344CB8AC3E}">
        <p14:creationId xmlns:p14="http://schemas.microsoft.com/office/powerpoint/2010/main" val="878471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0E77F-F15B-4973-911B-47AB4F36BD22}"/>
              </a:ext>
            </a:extLst>
          </p:cNvPr>
          <p:cNvSpPr>
            <a:spLocks noGrp="1"/>
          </p:cNvSpPr>
          <p:nvPr>
            <p:ph type="title"/>
          </p:nvPr>
        </p:nvSpPr>
        <p:spPr/>
        <p:txBody>
          <a:bodyPr>
            <a:normAutofit/>
          </a:bodyPr>
          <a:lstStyle/>
          <a:p>
            <a:r>
              <a:rPr lang="en-IN" sz="4000" dirty="0">
                <a:solidFill>
                  <a:srgbClr val="00263E"/>
                </a:solidFill>
                <a:latin typeface="+mn-lt"/>
                <a:ea typeface="Times New Roman" panose="02020603050405020304" pitchFamily="18" charset="0"/>
                <a:cs typeface="Times New Roman" panose="02020603050405020304" pitchFamily="18" charset="0"/>
              </a:rPr>
              <a:t>F</a:t>
            </a:r>
            <a:r>
              <a:rPr lang="en-IN" sz="4000" dirty="0">
                <a:solidFill>
                  <a:srgbClr val="00263E"/>
                </a:solidFill>
                <a:effectLst/>
                <a:latin typeface="+mn-lt"/>
                <a:ea typeface="Times New Roman" panose="02020603050405020304" pitchFamily="18" charset="0"/>
                <a:cs typeface="Times New Roman" panose="02020603050405020304" pitchFamily="18" charset="0"/>
              </a:rPr>
              <a:t>ew ways deep learning is being used to improve computer vision.</a:t>
            </a:r>
            <a:endParaRPr lang="en-IN" sz="4000" dirty="0">
              <a:latin typeface="+mn-lt"/>
            </a:endParaRPr>
          </a:p>
        </p:txBody>
      </p:sp>
      <p:sp>
        <p:nvSpPr>
          <p:cNvPr id="3" name="Content Placeholder 2">
            <a:extLst>
              <a:ext uri="{FF2B5EF4-FFF2-40B4-BE49-F238E27FC236}">
                <a16:creationId xmlns:a16="http://schemas.microsoft.com/office/drawing/2014/main" id="{50A1AD9E-FC77-4734-98D7-9EB3EF464720}"/>
              </a:ext>
            </a:extLst>
          </p:cNvPr>
          <p:cNvSpPr>
            <a:spLocks noGrp="1"/>
          </p:cNvSpPr>
          <p:nvPr>
            <p:ph idx="1"/>
          </p:nvPr>
        </p:nvSpPr>
        <p:spPr/>
        <p:txBody>
          <a:bodyPr/>
          <a:lstStyle/>
          <a:p>
            <a:pPr marL="0" indent="0">
              <a:lnSpc>
                <a:spcPts val="1800"/>
              </a:lnSpc>
              <a:spcAft>
                <a:spcPts val="750"/>
              </a:spcAft>
              <a:buNone/>
            </a:pPr>
            <a:r>
              <a:rPr lang="en-IN" sz="1800" b="1"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Object detection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800"/>
              </a:lnSpc>
              <a:spcAft>
                <a:spcPts val="750"/>
              </a:spcAft>
              <a:buNone/>
            </a:pP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There are two common types of object detection performed via computer vision techniques: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100"/>
              </a:lnSpc>
              <a:spcAft>
                <a:spcPts val="800"/>
              </a:spcAft>
              <a:buSzPts val="1000"/>
              <a:buFont typeface="Symbol" panose="05050102010706020507" pitchFamily="18" charset="2"/>
              <a:buChar char=""/>
              <a:tabLst>
                <a:tab pos="457200" algn="l"/>
              </a:tabLst>
            </a:pPr>
            <a:r>
              <a:rPr lang="en-IN" sz="1800" b="1"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Two-step object detection</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 the first step requires a Region Proposal Network (RPN), providing a number of candidate regions that may contain important objects. The second step is passing region proposals to a neural classification architecture, commonly an RCNN-based hierarchical grouping algorithm, or region of interest (ROI) pooling in Fast RCNN. These approaches are quite accurate, but can very slow.</a:t>
            </a:r>
            <a:endParaRPr lang="en-IN" sz="1800" dirty="0">
              <a:solidFill>
                <a:srgbClr val="00263E"/>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100"/>
              </a:lnSpc>
              <a:spcAft>
                <a:spcPts val="800"/>
              </a:spcAft>
              <a:buSzPts val="1000"/>
              <a:buFont typeface="Symbol" panose="05050102010706020507" pitchFamily="18" charset="2"/>
              <a:buChar char=""/>
              <a:tabLst>
                <a:tab pos="457200" algn="l"/>
              </a:tabLst>
            </a:pPr>
            <a:r>
              <a:rPr lang="en-IN" sz="1800" b="1"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One-step object detection </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with the need for real time object detection, one-step object detection architectures have emerged, such as YOLO, SSD, and </a:t>
            </a:r>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RetinaNet</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These combine the detection and classification step, by regressing bounding box predictions. Every bounding box is represented with just a few coordinates, making it easier to combine the detection and classification step and speed up processing.</a:t>
            </a:r>
            <a:endParaRPr lang="en-IN" sz="1800" dirty="0">
              <a:solidFill>
                <a:srgbClr val="00263E"/>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74910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B7418-C48E-4123-89B5-4F46FC177A4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E5FEAF-506B-48F3-AA13-0FFAF161396F}"/>
              </a:ext>
            </a:extLst>
          </p:cNvPr>
          <p:cNvSpPr>
            <a:spLocks noGrp="1"/>
          </p:cNvSpPr>
          <p:nvPr>
            <p:ph idx="1"/>
          </p:nvPr>
        </p:nvSpPr>
        <p:spPr/>
        <p:txBody>
          <a:bodyPr/>
          <a:lstStyle/>
          <a:p>
            <a:pPr marL="0" indent="0">
              <a:lnSpc>
                <a:spcPts val="1800"/>
              </a:lnSpc>
              <a:spcAft>
                <a:spcPts val="750"/>
              </a:spcAft>
              <a:buNone/>
            </a:pPr>
            <a:r>
              <a:rPr lang="en-IN" sz="1800" b="1"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Localization and object detection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800"/>
              </a:lnSpc>
              <a:spcAft>
                <a:spcPts val="750"/>
              </a:spcAft>
            </a:pP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Image localization is used to determine where objects are located in an image. Once identified, objects are marked with a bounding box. Object detection extends on this and classifies the objects that are identified. This process is based on CNNs such as </a:t>
            </a:r>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AlexNet</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Fast RCNN, and Faster RCNN.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800"/>
              </a:lnSpc>
              <a:spcAft>
                <a:spcPts val="750"/>
              </a:spcAft>
            </a:pP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Localization and object detection can be used to identify multiple objects in complex scenes. This can then be applied to functionalities such as interpreting diagnostic images in medicine.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65332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BA3FF-DE9B-4A62-AE34-0FC3BE2B81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8812B7E-0BEF-43AC-83EF-EDE4AFCEE0EF}"/>
              </a:ext>
            </a:extLst>
          </p:cNvPr>
          <p:cNvSpPr>
            <a:spLocks noGrp="1"/>
          </p:cNvSpPr>
          <p:nvPr>
            <p:ph idx="1"/>
          </p:nvPr>
        </p:nvSpPr>
        <p:spPr/>
        <p:txBody>
          <a:bodyPr/>
          <a:lstStyle/>
          <a:p>
            <a:pPr marL="0" indent="0">
              <a:lnSpc>
                <a:spcPts val="1800"/>
              </a:lnSpc>
              <a:spcAft>
                <a:spcPts val="750"/>
              </a:spcAft>
              <a:buNone/>
            </a:pPr>
            <a:r>
              <a:rPr lang="en-IN" sz="1800" b="1"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Semantic segmentation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800"/>
              </a:lnSpc>
              <a:spcAft>
                <a:spcPts val="750"/>
              </a:spcAft>
            </a:pP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Semantic segmentation, also known as object segmentation, is similar to object detection except it is based on the specific pixels related to an object. This enables image objects to be more carefully defined and does not require bounding boxes. Semantic segmentation is often performed using fully convolutional networks (FCN) or U-Nets.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800"/>
              </a:lnSpc>
              <a:spcAft>
                <a:spcPts val="750"/>
              </a:spcAft>
            </a:pP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One popular use for semantic segmentation is for training autonomous vehicles. With this method, researchers can use images of streets or throughways with accurately defined boundaries for objects.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13677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373F3-EFA9-4921-8E4E-D9A8895955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2F80F8-95E9-40B1-9F46-B17F1065A65E}"/>
              </a:ext>
            </a:extLst>
          </p:cNvPr>
          <p:cNvSpPr>
            <a:spLocks noGrp="1"/>
          </p:cNvSpPr>
          <p:nvPr>
            <p:ph idx="1"/>
          </p:nvPr>
        </p:nvSpPr>
        <p:spPr/>
        <p:txBody>
          <a:bodyPr/>
          <a:lstStyle/>
          <a:p>
            <a:pPr marL="0" indent="0">
              <a:lnSpc>
                <a:spcPts val="1800"/>
              </a:lnSpc>
              <a:spcAft>
                <a:spcPts val="750"/>
              </a:spcAft>
              <a:buNone/>
            </a:pPr>
            <a:r>
              <a:rPr lang="en-IN" sz="1800" b="1"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Pose estimation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800"/>
              </a:lnSpc>
              <a:spcAft>
                <a:spcPts val="750"/>
              </a:spcAft>
            </a:pP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Pose estimation is a method that is used to determine where joints are in a picture of a person or an object and what the placement of those joints indicates. It can be used with both 2D and 3D images. The primary architecture used for pose estimation is </a:t>
            </a:r>
            <a:r>
              <a:rPr lang="en-IN" sz="1800" dirty="0" err="1">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PoseNet</a:t>
            </a: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 which is based on CNNs.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800"/>
              </a:lnSpc>
              <a:spcAft>
                <a:spcPts val="750"/>
              </a:spcAft>
            </a:pPr>
            <a:r>
              <a:rPr lang="en-IN" sz="1800" dirty="0">
                <a:solidFill>
                  <a:srgbClr val="00263E"/>
                </a:solidFill>
                <a:effectLst/>
                <a:latin typeface="Arial" panose="020B0604020202020204" pitchFamily="34" charset="0"/>
                <a:ea typeface="Times New Roman" panose="02020603050405020304" pitchFamily="18" charset="0"/>
                <a:cs typeface="Times New Roman" panose="02020603050405020304" pitchFamily="18" charset="0"/>
              </a:rPr>
              <a:t>Pose estimation is used to determine where parts of the body may show up in an image and can be used to generate realistic stances or motion of human figures. Often, this functionality is used for augmented reality, mirroring movements with robotics, or gait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71197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B33DD-5DBA-46A5-907E-CD622D7282E1}"/>
              </a:ext>
            </a:extLst>
          </p:cNvPr>
          <p:cNvSpPr>
            <a:spLocks noGrp="1"/>
          </p:cNvSpPr>
          <p:nvPr>
            <p:ph type="title"/>
          </p:nvPr>
        </p:nvSpPr>
        <p:spPr/>
        <p:txBody>
          <a:bodyPr/>
          <a:lstStyle/>
          <a:p>
            <a:r>
              <a:rPr lang="en-IN" sz="1800" dirty="0">
                <a:solidFill>
                  <a:srgbClr val="4A4A4A"/>
                </a:solidFill>
                <a:effectLst/>
                <a:latin typeface="Arial" panose="020B0604020202020204" pitchFamily="34" charset="0"/>
                <a:ea typeface="Times New Roman" panose="02020603050405020304" pitchFamily="18" charset="0"/>
              </a:rPr>
              <a:t>CNN Image Classification with </a:t>
            </a:r>
            <a:r>
              <a:rPr lang="en-IN" sz="1800" dirty="0" err="1">
                <a:solidFill>
                  <a:srgbClr val="4A4A4A"/>
                </a:solidFill>
                <a:effectLst/>
                <a:latin typeface="Arial" panose="020B0604020202020204" pitchFamily="34" charset="0"/>
                <a:ea typeface="Times New Roman" panose="02020603050405020304" pitchFamily="18" charset="0"/>
              </a:rPr>
              <a:t>Keras</a:t>
            </a:r>
            <a:r>
              <a:rPr lang="en-IN" sz="1800" dirty="0">
                <a:solidFill>
                  <a:srgbClr val="4A4A4A"/>
                </a:solidFill>
                <a:effectLst/>
                <a:latin typeface="Arial" panose="020B0604020202020204" pitchFamily="34" charset="0"/>
                <a:ea typeface="Times New Roman" panose="02020603050405020304" pitchFamily="18" charset="0"/>
              </a:rPr>
              <a:t> </a:t>
            </a:r>
            <a:endParaRPr lang="en-IN" dirty="0"/>
          </a:p>
        </p:txBody>
      </p:sp>
      <p:sp>
        <p:nvSpPr>
          <p:cNvPr id="3" name="Content Placeholder 2">
            <a:extLst>
              <a:ext uri="{FF2B5EF4-FFF2-40B4-BE49-F238E27FC236}">
                <a16:creationId xmlns:a16="http://schemas.microsoft.com/office/drawing/2014/main" id="{72BEBF1B-C6BF-47B1-8EE9-860F9405B2C2}"/>
              </a:ext>
            </a:extLst>
          </p:cNvPr>
          <p:cNvSpPr>
            <a:spLocks noGrp="1"/>
          </p:cNvSpPr>
          <p:nvPr>
            <p:ph idx="1"/>
          </p:nvPr>
        </p:nvSpPr>
        <p:spPr/>
        <p:txBody>
          <a:bodyPr>
            <a:normAutofit fontScale="85000" lnSpcReduction="20000"/>
          </a:bodyPr>
          <a:lstStyle/>
          <a:p>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Step 1: Choose a Dataset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Choose a dataset of your interest or you can also create your own image dataset for solving your own image classification problem. An easy place to choose a dataset is on kaggle.com.</a:t>
            </a:r>
          </a:p>
          <a:p>
            <a:r>
              <a:rPr lang="en-IN" sz="1800" dirty="0">
                <a:solidFill>
                  <a:srgbClr val="222222"/>
                </a:solidFill>
                <a:effectLst/>
                <a:latin typeface="Arial" panose="020B0604020202020204" pitchFamily="34" charset="0"/>
                <a:ea typeface="Times New Roman" panose="02020603050405020304" pitchFamily="18" charset="0"/>
              </a:rPr>
              <a:t>Libraries needed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from</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keras.models</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Sequential</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tensorflow</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as</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tf</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tensorflow_datasets</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as</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tfds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tf.enable_eager_execution</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from</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keras.layers.core</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Dense, Activation, Dropout, Flatten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from</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keras.layers.convolutional</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Convolution2D, MaxPooling2D</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from</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keras.optimizers</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SGD, RMSprop,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adam</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from</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keras.utils</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np_utils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from</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sklearn.tree</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DecisionTreeClassifier</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565F89"/>
                </a:solidFill>
                <a:effectLst/>
                <a:latin typeface="Consolas" panose="020B0609020204030204" pitchFamily="49" charset="0"/>
                <a:ea typeface="Times New Roman" panose="02020603050405020304" pitchFamily="18" charset="0"/>
                <a:cs typeface="Courier New" panose="02070309020205020404" pitchFamily="49" charset="0"/>
              </a:rPr>
              <a:t># Import Decision Tree Classifier</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from</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sklearn</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metricsfrom</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sklearn.utils</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shuffle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from</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sklearn.model_selection</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train_test_splitimport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matplotlib.image</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as</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mpimg</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matplotlib.pyplot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as</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plt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numpy</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as</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np</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os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cv2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randomfrom</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numpy</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from</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PIL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Image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theano</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38461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57D29-3D38-4D57-95CB-32F1B50F0DB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CD7DFCF-BEC3-4FC8-89C3-C73DED6E6AD0}"/>
              </a:ext>
            </a:extLst>
          </p:cNvPr>
          <p:cNvSpPr>
            <a:spLocks noGrp="1"/>
          </p:cNvSpPr>
          <p:nvPr>
            <p:ph idx="1"/>
          </p:nvPr>
        </p:nvSpPr>
        <p:spPr/>
        <p:txBody>
          <a:bodyPr>
            <a:normAutofit/>
          </a:bodyPr>
          <a:lstStyle/>
          <a:p>
            <a:r>
              <a:rPr lang="en-IN" sz="1800" dirty="0">
                <a:solidFill>
                  <a:srgbClr val="222222"/>
                </a:solidFill>
                <a:effectLst/>
                <a:latin typeface="Arial" panose="020B0604020202020204" pitchFamily="34" charset="0"/>
                <a:ea typeface="Times New Roman" panose="02020603050405020304" pitchFamily="18" charset="0"/>
              </a:rPr>
              <a:t>Step 2 : Prepare Dataset for Training</a:t>
            </a:r>
          </a:p>
          <a:p>
            <a:pPr algn="just">
              <a:lnSpc>
                <a:spcPts val="2475"/>
              </a:lnSpc>
              <a:spcAft>
                <a:spcPts val="800"/>
              </a:spcAft>
            </a:pPr>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Preparing our dataset for training will involve assigning paths and creating categories(labels), resizing our images.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ts val="2475"/>
              </a:lnSpc>
              <a:spcAft>
                <a:spcPts val="800"/>
              </a:spcAft>
            </a:pPr>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Resizing images into 200 X 200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path_test</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 </a:t>
            </a:r>
            <a:r>
              <a:rPr lang="en-IN" sz="1800" dirty="0">
                <a:solidFill>
                  <a:srgbClr val="9ECE6A"/>
                </a:solidFill>
                <a:effectLst/>
                <a:latin typeface="Consolas" panose="020B0609020204030204" pitchFamily="49" charset="0"/>
                <a:ea typeface="Times New Roman" panose="02020603050405020304" pitchFamily="18" charset="0"/>
                <a:cs typeface="Courier New" panose="02070309020205020404" pitchFamily="49" charset="0"/>
              </a:rPr>
              <a:t>"/content/drive/My Drive/semester 5 - ai ml/</a:t>
            </a:r>
            <a:r>
              <a:rPr lang="en-IN" sz="1800" dirty="0" err="1">
                <a:solidFill>
                  <a:srgbClr val="9ECE6A"/>
                </a:solidFill>
                <a:effectLst/>
                <a:latin typeface="Consolas" panose="020B0609020204030204" pitchFamily="49" charset="0"/>
                <a:ea typeface="Times New Roman" panose="02020603050405020304" pitchFamily="18" charset="0"/>
                <a:cs typeface="Courier New" panose="02070309020205020404" pitchFamily="49" charset="0"/>
              </a:rPr>
              <a:t>datasetHomeAssign</a:t>
            </a:r>
            <a:r>
              <a:rPr lang="en-IN" sz="1800" dirty="0">
                <a:solidFill>
                  <a:srgbClr val="9ECE6A"/>
                </a:solidFill>
                <a:effectLst/>
                <a:latin typeface="Consolas" panose="020B0609020204030204" pitchFamily="49" charset="0"/>
                <a:ea typeface="Times New Roman" panose="02020603050405020304" pitchFamily="18" charset="0"/>
                <a:cs typeface="Courier New" panose="02070309020205020404" pitchFamily="49" charset="0"/>
              </a:rPr>
              <a:t>/TRAIN"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CATEGORIES = [</a:t>
            </a:r>
            <a:r>
              <a:rPr lang="en-IN" sz="1800" dirty="0">
                <a:solidFill>
                  <a:srgbClr val="9ECE6A"/>
                </a:solidFill>
                <a:effectLst/>
                <a:latin typeface="Consolas" panose="020B0609020204030204" pitchFamily="49" charset="0"/>
                <a:ea typeface="Times New Roman" panose="02020603050405020304" pitchFamily="18" charset="0"/>
                <a:cs typeface="Courier New" panose="02070309020205020404" pitchFamily="49" charset="0"/>
              </a:rPr>
              <a:t>"EOSINOPHIL"</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ECE6A"/>
                </a:solidFill>
                <a:effectLst/>
                <a:latin typeface="Consolas" panose="020B0609020204030204" pitchFamily="49" charset="0"/>
                <a:ea typeface="Times New Roman" panose="02020603050405020304" pitchFamily="18" charset="0"/>
                <a:cs typeface="Courier New" panose="02070309020205020404" pitchFamily="49" charset="0"/>
              </a:rPr>
              <a:t>"LYMPHOCYTE"</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ECE6A"/>
                </a:solidFill>
                <a:effectLst/>
                <a:latin typeface="Consolas" panose="020B0609020204030204" pitchFamily="49" charset="0"/>
                <a:ea typeface="Times New Roman" panose="02020603050405020304" pitchFamily="18" charset="0"/>
                <a:cs typeface="Courier New" panose="02070309020205020404" pitchFamily="49" charset="0"/>
              </a:rPr>
              <a:t>"MONOCYTE"</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ECE6A"/>
                </a:solidFill>
                <a:effectLst/>
                <a:latin typeface="Consolas" panose="020B0609020204030204" pitchFamily="49" charset="0"/>
                <a:ea typeface="Times New Roman" panose="02020603050405020304" pitchFamily="18" charset="0"/>
                <a:cs typeface="Courier New" panose="02070309020205020404" pitchFamily="49" charset="0"/>
              </a:rPr>
              <a:t>"NEUTROPHIL"</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img_array.shape</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)IMG_SIZE =200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new_array</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 cv2.resize(</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img_array</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(IMG_SIZE, IMG_SIZE))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34421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D807C-C1E8-45EA-A447-5476FF813F5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92BBD6-303E-4311-9315-D57F57C387E2}"/>
              </a:ext>
            </a:extLst>
          </p:cNvPr>
          <p:cNvSpPr>
            <a:spLocks noGrp="1"/>
          </p:cNvSpPr>
          <p:nvPr>
            <p:ph idx="1"/>
          </p:nvPr>
        </p:nvSpPr>
        <p:spPr/>
        <p:txBody>
          <a:bodyPr>
            <a:normAutofit fontScale="85000" lnSpcReduction="10000"/>
          </a:bodyPr>
          <a:lstStyle/>
          <a:p>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Create Training Data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Training is an array that will contain image pixel values and the index at which the image in the CATEGORIES list.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training = []def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createTrainingData</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for</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category </a:t>
            </a:r>
            <a:r>
              <a:rPr lang="en-IN" sz="18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in</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CATEGORIES: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E0AF68"/>
                </a:solidFill>
                <a:effectLst/>
                <a:latin typeface="Consolas" panose="020B0609020204030204" pitchFamily="49" charset="0"/>
                <a:ea typeface="Times New Roman" panose="02020603050405020304" pitchFamily="18" charset="0"/>
                <a:cs typeface="Courier New" panose="02070309020205020404" pitchFamily="49" charset="0"/>
              </a:rPr>
              <a:t>path</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 </a:t>
            </a:r>
            <a:r>
              <a:rPr lang="en-IN" sz="1800" dirty="0" err="1">
                <a:solidFill>
                  <a:srgbClr val="E0AF68"/>
                </a:solidFill>
                <a:effectLst/>
                <a:latin typeface="Consolas" panose="020B0609020204030204" pitchFamily="49" charset="0"/>
                <a:ea typeface="Times New Roman" panose="02020603050405020304" pitchFamily="18" charset="0"/>
                <a:cs typeface="Courier New" panose="02070309020205020404" pitchFamily="49" charset="0"/>
              </a:rPr>
              <a:t>os</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E0AF68"/>
                </a:solidFill>
                <a:effectLst/>
                <a:latin typeface="Consolas" panose="020B0609020204030204" pitchFamily="49" charset="0"/>
                <a:ea typeface="Times New Roman" panose="02020603050405020304" pitchFamily="18" charset="0"/>
                <a:cs typeface="Courier New" panose="02070309020205020404" pitchFamily="49" charset="0"/>
              </a:rPr>
              <a:t>path</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.join</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path_test</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category)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class_num</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CATEGORIES.index</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(category)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for</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img</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in</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E0AF68"/>
                </a:solidFill>
                <a:effectLst/>
                <a:latin typeface="Consolas" panose="020B0609020204030204" pitchFamily="49" charset="0"/>
                <a:ea typeface="Times New Roman" panose="02020603050405020304" pitchFamily="18" charset="0"/>
                <a:cs typeface="Courier New" panose="02070309020205020404" pitchFamily="49" charset="0"/>
              </a:rPr>
              <a:t>os</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.listdir</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E0AF68"/>
                </a:solidFill>
                <a:effectLst/>
                <a:latin typeface="Consolas" panose="020B0609020204030204" pitchFamily="49" charset="0"/>
                <a:ea typeface="Times New Roman" panose="02020603050405020304" pitchFamily="18" charset="0"/>
                <a:cs typeface="Courier New" panose="02070309020205020404" pitchFamily="49" charset="0"/>
              </a:rPr>
              <a:t>path</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img_array</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 cv2.imread(</a:t>
            </a:r>
            <a:r>
              <a:rPr lang="en-IN" sz="1800" dirty="0" err="1">
                <a:solidFill>
                  <a:srgbClr val="E0AF68"/>
                </a:solidFill>
                <a:effectLst/>
                <a:latin typeface="Consolas" panose="020B0609020204030204" pitchFamily="49" charset="0"/>
                <a:ea typeface="Times New Roman" panose="02020603050405020304" pitchFamily="18" charset="0"/>
                <a:cs typeface="Courier New" panose="02070309020205020404" pitchFamily="49" charset="0"/>
              </a:rPr>
              <a:t>os</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E0AF68"/>
                </a:solidFill>
                <a:effectLst/>
                <a:latin typeface="Consolas" panose="020B0609020204030204" pitchFamily="49" charset="0"/>
                <a:ea typeface="Times New Roman" panose="02020603050405020304" pitchFamily="18" charset="0"/>
                <a:cs typeface="Courier New" panose="02070309020205020404" pitchFamily="49" charset="0"/>
              </a:rPr>
              <a:t>path</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.join</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E0AF68"/>
                </a:solidFill>
                <a:effectLst/>
                <a:latin typeface="Consolas" panose="020B0609020204030204" pitchFamily="49" charset="0"/>
                <a:ea typeface="Times New Roman" panose="02020603050405020304" pitchFamily="18" charset="0"/>
                <a:cs typeface="Courier New" panose="02070309020205020404" pitchFamily="49" charset="0"/>
              </a:rPr>
              <a:t>path</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,img</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new_array</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 cv2.resize(</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img_array</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(IMG_SIZE, IMG_SIZE))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training.append</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new_array</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class_num</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createTrainingData</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66628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5ED7A-A6A2-4A2A-B72A-041C2F1D885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2D193EB-AB70-4432-B81E-45A2DEAA020D}"/>
              </a:ext>
            </a:extLst>
          </p:cNvPr>
          <p:cNvSpPr>
            <a:spLocks noGrp="1"/>
          </p:cNvSpPr>
          <p:nvPr>
            <p:ph idx="1"/>
          </p:nvPr>
        </p:nvSpPr>
        <p:spPr/>
        <p:txBody>
          <a:bodyPr>
            <a:normAutofit/>
          </a:bodyPr>
          <a:lstStyle/>
          <a:p>
            <a:pPr>
              <a:lnSpc>
                <a:spcPct val="107000"/>
              </a:lnSpc>
              <a:spcAft>
                <a:spcPts val="800"/>
              </a:spcAft>
            </a:pPr>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Step 4: Shuffle the Dataset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E0AF68"/>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E0AF68"/>
                </a:solidFill>
                <a:effectLst/>
                <a:latin typeface="Consolas" panose="020B0609020204030204" pitchFamily="49" charset="0"/>
                <a:ea typeface="Times New Roman" panose="02020603050405020304" pitchFamily="18" charset="0"/>
                <a:cs typeface="Courier New" panose="02070309020205020404" pitchFamily="49" charset="0"/>
              </a:rPr>
              <a:t>random</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.shuffle</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(training)</a:t>
            </a:r>
          </a:p>
          <a:p>
            <a:pPr>
              <a:lnSpc>
                <a:spcPct val="107000"/>
              </a:lnSpc>
              <a:spcAft>
                <a:spcPts val="800"/>
              </a:spcAft>
            </a:pPr>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Step 5: Assigning Labels and Features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ts val="2475"/>
              </a:lnSpc>
              <a:spcAft>
                <a:spcPts val="800"/>
              </a:spcAft>
              <a:buNone/>
            </a:pPr>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This shape of both the lists will be used in Classification using the NEURAL NETWORKS.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X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y =[]for features, label in training:</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X.append</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(features)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y.append</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(label)</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X =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np.array</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(X).reshape(-1, IMG_SIZE, IMG_SIZE, 3)</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66100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5D720-ABC0-4F33-B982-C4C5D8865EF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2BC307-FB13-4AD5-8C41-9DF5535787A5}"/>
              </a:ext>
            </a:extLst>
          </p:cNvPr>
          <p:cNvSpPr>
            <a:spLocks noGrp="1"/>
          </p:cNvSpPr>
          <p:nvPr>
            <p:ph idx="1"/>
          </p:nvPr>
        </p:nvSpPr>
        <p:spPr/>
        <p:txBody>
          <a:bodyPr/>
          <a:lstStyle/>
          <a:p>
            <a:pPr>
              <a:lnSpc>
                <a:spcPct val="107000"/>
              </a:lnSpc>
              <a:spcAft>
                <a:spcPts val="800"/>
              </a:spcAft>
            </a:pPr>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Step 6: Normalising X and Converting Labels to Categorical Data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X =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X.astype</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400" dirty="0">
                <a:solidFill>
                  <a:srgbClr val="9ECE6A"/>
                </a:solidFill>
                <a:effectLst/>
                <a:latin typeface="Consolas" panose="020B0609020204030204" pitchFamily="49" charset="0"/>
                <a:ea typeface="Times New Roman" panose="02020603050405020304" pitchFamily="18" charset="0"/>
                <a:cs typeface="Courier New" panose="02070309020205020404" pitchFamily="49" charset="0"/>
              </a:rPr>
              <a:t>'float32'</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X /= </a:t>
            </a:r>
            <a:r>
              <a:rPr lang="en-IN" sz="1400" dirty="0">
                <a:solidFill>
                  <a:srgbClr val="FF9E64"/>
                </a:solidFill>
                <a:effectLst/>
                <a:latin typeface="Consolas" panose="020B0609020204030204" pitchFamily="49" charset="0"/>
                <a:ea typeface="Times New Roman" panose="02020603050405020304" pitchFamily="18" charset="0"/>
                <a:cs typeface="Courier New" panose="02070309020205020404" pitchFamily="49" charset="0"/>
              </a:rPr>
              <a:t>255</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from</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keras.utils</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b="1" dirty="0">
                <a:solidFill>
                  <a:srgbClr val="BB9AF7"/>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np_utils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Y = </a:t>
            </a:r>
            <a:r>
              <a:rPr lang="en-IN" sz="14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np_utils.to_categorical</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(y, </a:t>
            </a:r>
            <a:r>
              <a:rPr lang="en-IN" sz="1400" dirty="0">
                <a:solidFill>
                  <a:srgbClr val="FF9E64"/>
                </a:solidFill>
                <a:effectLst/>
                <a:latin typeface="Consolas" panose="020B0609020204030204" pitchFamily="49" charset="0"/>
                <a:ea typeface="Times New Roman" panose="02020603050405020304" pitchFamily="18" charset="0"/>
                <a:cs typeface="Courier New" panose="02070309020205020404" pitchFamily="49" charset="0"/>
              </a:rPr>
              <a:t>4</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E0AF68"/>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(Y[</a:t>
            </a:r>
            <a:r>
              <a:rPr lang="en-IN" sz="1400" dirty="0">
                <a:solidFill>
                  <a:srgbClr val="FF9E64"/>
                </a:solidFill>
                <a:effectLst/>
                <a:latin typeface="Consolas" panose="020B0609020204030204" pitchFamily="49" charset="0"/>
                <a:ea typeface="Times New Roman" panose="02020603050405020304" pitchFamily="18" charset="0"/>
                <a:cs typeface="Courier New" panose="02070309020205020404" pitchFamily="49" charset="0"/>
              </a:rPr>
              <a:t>100</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E0AF68"/>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IN" sz="14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(shape(Y))</a:t>
            </a:r>
          </a:p>
          <a:p>
            <a:pPr>
              <a:lnSpc>
                <a:spcPct val="107000"/>
              </a:lnSpc>
              <a:spcAft>
                <a:spcPts val="800"/>
              </a:spcAft>
            </a:pPr>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Step 7: Split X and Y for Use in CNN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X_train</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X_test</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y_train</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y_test</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train_test_split</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(X, y,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test_size</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 0.2, </a:t>
            </a:r>
            <a:r>
              <a:rPr lang="en-IN" sz="1800" dirty="0" err="1">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random_state</a:t>
            </a:r>
            <a:r>
              <a:rPr lang="en-IN" sz="1800" dirty="0">
                <a:solidFill>
                  <a:srgbClr val="9AA5CE"/>
                </a:solidFill>
                <a:effectLst/>
                <a:latin typeface="Consolas" panose="020B0609020204030204" pitchFamily="49" charset="0"/>
                <a:ea typeface="Times New Roman" panose="02020603050405020304" pitchFamily="18" charset="0"/>
                <a:cs typeface="Courier New" panose="02070309020205020404" pitchFamily="49" charset="0"/>
              </a:rPr>
              <a:t> = 4)</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5638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06D3E-893D-4F93-9745-5B2D7DE5240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197DDDE-B508-441B-8A88-074F0291B293}"/>
              </a:ext>
            </a:extLst>
          </p:cNvPr>
          <p:cNvSpPr>
            <a:spLocks noGrp="1"/>
          </p:cNvSpPr>
          <p:nvPr>
            <p:ph idx="1"/>
          </p:nvPr>
        </p:nvSpPr>
        <p:spPr/>
        <p:txBody>
          <a:bodyPr/>
          <a:lstStyle/>
          <a:p>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Step 8: Define, Compile and Train the CNN Model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Step 9: Accuracy and Score of Model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score = </a:t>
            </a:r>
            <a:r>
              <a:rPr lang="en-IN" sz="1400" dirty="0" err="1">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model.evaluate</a:t>
            </a:r>
            <a:r>
              <a:rPr lang="en-IN" sz="1400" dirty="0">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400" dirty="0" err="1">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X_test</a:t>
            </a:r>
            <a:r>
              <a:rPr lang="en-IN" sz="1400" dirty="0">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y_test</a:t>
            </a:r>
            <a:r>
              <a:rPr lang="en-IN" sz="1400" dirty="0">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 verbose = 0 )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print("Test Score: ", score[0])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print("Test accuracy: ", score[1])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694422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0DBC1-315C-4C08-B3A6-84C619517389}"/>
              </a:ext>
            </a:extLst>
          </p:cNvPr>
          <p:cNvSpPr>
            <a:spLocks noGrp="1"/>
          </p:cNvSpPr>
          <p:nvPr>
            <p:ph type="ctrTitle"/>
          </p:nvPr>
        </p:nvSpPr>
        <p:spPr/>
        <p:txBody>
          <a:bodyPr/>
          <a:lstStyle/>
          <a:p>
            <a:r>
              <a:rPr lang="en-US" dirty="0"/>
              <a:t>Neural Style Transfer</a:t>
            </a:r>
            <a:endParaRPr lang="en-IN" dirty="0"/>
          </a:p>
        </p:txBody>
      </p:sp>
      <p:sp>
        <p:nvSpPr>
          <p:cNvPr id="3" name="Subtitle 2">
            <a:extLst>
              <a:ext uri="{FF2B5EF4-FFF2-40B4-BE49-F238E27FC236}">
                <a16:creationId xmlns:a16="http://schemas.microsoft.com/office/drawing/2014/main" id="{D6EB4ED7-EF1E-45DF-90F3-26723510E85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734308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92500" lnSpcReduction="10000"/>
          </a:bodyPr>
          <a:lstStyle/>
          <a:p>
            <a:r>
              <a:rPr lang="en-IN" sz="2600" dirty="0"/>
              <a:t>I</a:t>
            </a:r>
            <a:r>
              <a:rPr lang="en-IN" sz="2600" dirty="0" smtClean="0"/>
              <a:t>t </a:t>
            </a:r>
            <a:r>
              <a:rPr lang="en-IN" sz="2600" dirty="0"/>
              <a:t>is an algorithm where we combine the style of one input image with the content of another input image to generate a new image with the style of the first and the content of the second image</a:t>
            </a:r>
            <a:r>
              <a:rPr lang="en-IN" sz="2600" dirty="0" smtClean="0"/>
              <a:t>.</a:t>
            </a:r>
          </a:p>
          <a:p>
            <a:r>
              <a:rPr lang="en-IN" sz="2600" dirty="0"/>
              <a:t>The content of an image consists of the objects, the shapes, and the overall structure and geometry of the given image. </a:t>
            </a:r>
          </a:p>
          <a:p>
            <a:r>
              <a:rPr lang="en-IN" sz="2600" dirty="0"/>
              <a:t>On the other hand, the style of an image has to do with the textures, the </a:t>
            </a:r>
            <a:r>
              <a:rPr lang="en-IN" sz="2600" dirty="0" err="1"/>
              <a:t>colors</a:t>
            </a:r>
            <a:r>
              <a:rPr lang="en-IN" sz="2600" dirty="0"/>
              <a:t>, and the patterns. The style of this image is unique and is related to the artistic </a:t>
            </a:r>
            <a:r>
              <a:rPr lang="en-IN" sz="2600" dirty="0" smtClean="0"/>
              <a:t>style.</a:t>
            </a:r>
          </a:p>
          <a:p>
            <a:r>
              <a:rPr lang="en-IN" sz="2600" dirty="0" smtClean="0"/>
              <a:t>In other </a:t>
            </a:r>
            <a:r>
              <a:rPr lang="en-IN" sz="2600" smtClean="0"/>
              <a:t>words, Neural </a:t>
            </a:r>
            <a:r>
              <a:rPr lang="en-IN" sz="2600" dirty="0"/>
              <a:t>style transfer is an optimization technique used to take two images, a </a:t>
            </a:r>
            <a:r>
              <a:rPr lang="en-IN" sz="2600" i="1" dirty="0"/>
              <a:t>content</a:t>
            </a:r>
            <a:r>
              <a:rPr lang="en-IN" sz="2600" dirty="0"/>
              <a:t> image and a </a:t>
            </a:r>
            <a:r>
              <a:rPr lang="en-IN" sz="2600" i="1" dirty="0"/>
              <a:t>style reference</a:t>
            </a:r>
            <a:r>
              <a:rPr lang="en-IN" sz="2600" dirty="0"/>
              <a:t> image (such as an artwork by a famous painter), and blend them so the output image looks like the content image, but “painted” in the style of the style reference image. </a:t>
            </a:r>
            <a:endParaRPr lang="en-IN" sz="2600" dirty="0" smtClean="0"/>
          </a:p>
          <a:p>
            <a:endParaRPr lang="en-IN" dirty="0" smtClean="0"/>
          </a:p>
        </p:txBody>
      </p:sp>
      <p:sp>
        <p:nvSpPr>
          <p:cNvPr id="17" name="AutoShape 30" descr="I_c"/>
          <p:cNvSpPr>
            <a:spLocks noChangeAspect="1" noChangeArrowheads="1"/>
          </p:cNvSpPr>
          <p:nvPr/>
        </p:nvSpPr>
        <p:spPr bwMode="auto">
          <a:xfrm>
            <a:off x="0" y="0"/>
            <a:ext cx="13335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Tree>
    <p:extLst>
      <p:ext uri="{BB962C8B-B14F-4D97-AF65-F5344CB8AC3E}">
        <p14:creationId xmlns:p14="http://schemas.microsoft.com/office/powerpoint/2010/main" val="2324709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b="1" dirty="0"/>
              <a:t>The algorithm can be divided into the following steps:</a:t>
            </a:r>
            <a:endParaRPr lang="en-IN" dirty="0"/>
          </a:p>
          <a:p>
            <a:pPr marL="0" indent="0">
              <a:buNone/>
            </a:pPr>
            <a:r>
              <a:rPr lang="en-IN" dirty="0" smtClean="0"/>
              <a:t>1. Choose </a:t>
            </a:r>
            <a:r>
              <a:rPr lang="en-IN" dirty="0"/>
              <a:t>the content </a:t>
            </a:r>
            <a:r>
              <a:rPr lang="en-IN" dirty="0" smtClean="0"/>
              <a:t>image and </a:t>
            </a:r>
            <a:r>
              <a:rPr lang="en-IN" dirty="0"/>
              <a:t>the style </a:t>
            </a:r>
            <a:r>
              <a:rPr lang="en-IN" dirty="0" smtClean="0"/>
              <a:t>image.</a:t>
            </a:r>
          </a:p>
          <a:p>
            <a:pPr marL="0" lvl="0" indent="0">
              <a:buNone/>
            </a:pPr>
            <a:r>
              <a:rPr lang="en-IN" dirty="0" smtClean="0"/>
              <a:t>2. Load </a:t>
            </a:r>
            <a:r>
              <a:rPr lang="en-IN" dirty="0"/>
              <a:t>a pre-trained convolutional neural </a:t>
            </a:r>
            <a:r>
              <a:rPr lang="en-IN" dirty="0" smtClean="0"/>
              <a:t>network(CNN</a:t>
            </a:r>
            <a:r>
              <a:rPr lang="en-IN" dirty="0"/>
              <a:t>) like VGG-19, </a:t>
            </a:r>
            <a:r>
              <a:rPr lang="en-IN" dirty="0" err="1"/>
              <a:t>GoogLeNet</a:t>
            </a:r>
            <a:r>
              <a:rPr lang="en-IN" dirty="0"/>
              <a:t>, or ResNet50. These networks are already trained on a huge number of images from various domains and are able to capture the important characteristics of an input image. So, they can also extract both the style and the content of the input images</a:t>
            </a:r>
            <a:r>
              <a:rPr lang="en-IN" dirty="0" smtClean="0"/>
              <a:t>.</a:t>
            </a:r>
          </a:p>
          <a:p>
            <a:pPr marL="0" lvl="0" indent="0">
              <a:buNone/>
            </a:pPr>
            <a:r>
              <a:rPr lang="en-IN" dirty="0" smtClean="0"/>
              <a:t>3. </a:t>
            </a:r>
            <a:r>
              <a:rPr lang="en-IN" dirty="0"/>
              <a:t>The next step is to define the loss functions that will guide the training pipeline into generating our desired image</a:t>
            </a:r>
          </a:p>
          <a:p>
            <a:endParaRPr lang="en-IN" dirty="0"/>
          </a:p>
        </p:txBody>
      </p:sp>
    </p:spTree>
    <p:extLst>
      <p:ext uri="{BB962C8B-B14F-4D97-AF65-F5344CB8AC3E}">
        <p14:creationId xmlns:p14="http://schemas.microsoft.com/office/powerpoint/2010/main" val="1577537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sz="2400" dirty="0"/>
              <a:t>T</a:t>
            </a:r>
            <a:r>
              <a:rPr lang="en-IN" sz="2400" dirty="0" smtClean="0"/>
              <a:t>wo </a:t>
            </a:r>
            <a:r>
              <a:rPr lang="en-IN" sz="2400" dirty="0"/>
              <a:t>loss </a:t>
            </a:r>
            <a:r>
              <a:rPr lang="en-IN" sz="2400" dirty="0" smtClean="0"/>
              <a:t>functions</a:t>
            </a:r>
          </a:p>
          <a:p>
            <a:r>
              <a:rPr lang="en-IN" sz="2400" dirty="0"/>
              <a:t>The content loss function measures the difference between the features of the generated image and the features of the content </a:t>
            </a:r>
            <a:r>
              <a:rPr lang="en-IN" sz="2400" dirty="0" smtClean="0"/>
              <a:t>image.</a:t>
            </a:r>
          </a:p>
          <a:p>
            <a:r>
              <a:rPr lang="en-IN" sz="2400" dirty="0"/>
              <a:t>To calculate the content cost, we apply the mean square difference between matrices generated by the content layer, when we pass the generated image and the original image. </a:t>
            </a:r>
            <a:endParaRPr lang="en-IN" sz="2400" dirty="0" smtClean="0"/>
          </a:p>
          <a:p>
            <a:r>
              <a:rPr lang="en-IN" sz="2400" dirty="0" smtClean="0"/>
              <a:t>Let</a:t>
            </a:r>
            <a:r>
              <a:rPr lang="en-IN" sz="2400" dirty="0"/>
              <a:t> </a:t>
            </a:r>
            <a:r>
              <a:rPr lang="en-IN" sz="2400" i="1" dirty="0"/>
              <a:t>p</a:t>
            </a:r>
            <a:r>
              <a:rPr lang="en-IN" sz="2400" dirty="0"/>
              <a:t> and </a:t>
            </a:r>
            <a:r>
              <a:rPr lang="en-IN" sz="2400" i="1" dirty="0"/>
              <a:t>x</a:t>
            </a:r>
            <a:r>
              <a:rPr lang="en-IN" sz="2400" dirty="0"/>
              <a:t> be the original image and the image that is generated, and P and F are their respective feature representation in layer </a:t>
            </a:r>
            <a:r>
              <a:rPr lang="en-IN" sz="2400" i="1" dirty="0"/>
              <a:t>l</a:t>
            </a:r>
            <a:r>
              <a:rPr lang="en-IN" sz="2400" dirty="0"/>
              <a:t>. We then define the squared-error loss between the two feature </a:t>
            </a:r>
            <a:r>
              <a:rPr lang="en-IN" sz="2400" dirty="0" smtClean="0"/>
              <a:t>representations</a:t>
            </a:r>
          </a:p>
          <a:p>
            <a:endParaRPr lang="en-IN" dirty="0" smtClean="0"/>
          </a:p>
        </p:txBody>
      </p:sp>
      <p:pic>
        <p:nvPicPr>
          <p:cNvPr id="4" name="Picture 3"/>
          <p:cNvPicPr>
            <a:picLocks noChangeAspect="1"/>
          </p:cNvPicPr>
          <p:nvPr/>
        </p:nvPicPr>
        <p:blipFill>
          <a:blip r:embed="rId2"/>
          <a:stretch>
            <a:fillRect/>
          </a:stretch>
        </p:blipFill>
        <p:spPr>
          <a:xfrm>
            <a:off x="3553097" y="5582830"/>
            <a:ext cx="3770811" cy="530587"/>
          </a:xfrm>
          <a:prstGeom prst="rect">
            <a:avLst/>
          </a:prstGeom>
        </p:spPr>
      </p:pic>
    </p:spTree>
    <p:extLst>
      <p:ext uri="{BB962C8B-B14F-4D97-AF65-F5344CB8AC3E}">
        <p14:creationId xmlns:p14="http://schemas.microsoft.com/office/powerpoint/2010/main" val="1429094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 style loss function measures the difference between the features of the generated image and the features of the style image </a:t>
            </a:r>
            <a:endParaRPr lang="en-IN" dirty="0" smtClean="0"/>
          </a:p>
          <a:p>
            <a:r>
              <a:rPr lang="en-IN" dirty="0" smtClean="0"/>
              <a:t>To </a:t>
            </a:r>
            <a:r>
              <a:rPr lang="en-IN" dirty="0"/>
              <a:t>calculate the style cost, we will first calculate the gram matrix.  </a:t>
            </a:r>
            <a:endParaRPr lang="en-IN" dirty="0" smtClean="0"/>
          </a:p>
          <a:p>
            <a:r>
              <a:rPr lang="en-IN" dirty="0" smtClean="0"/>
              <a:t>The </a:t>
            </a:r>
            <a:r>
              <a:rPr lang="en-IN" dirty="0"/>
              <a:t>gram matrices calculation involves calculating the inner product between the </a:t>
            </a:r>
            <a:r>
              <a:rPr lang="en-IN" dirty="0" err="1"/>
              <a:t>vectorized</a:t>
            </a:r>
            <a:r>
              <a:rPr lang="en-IN" dirty="0"/>
              <a:t> feature maps of a particular layer</a:t>
            </a:r>
            <a:r>
              <a:rPr lang="en-IN" dirty="0" smtClean="0"/>
              <a:t>.</a:t>
            </a:r>
          </a:p>
          <a:p>
            <a:r>
              <a:rPr lang="en-IN" dirty="0" smtClean="0"/>
              <a:t> </a:t>
            </a:r>
            <a:r>
              <a:rPr lang="en-IN" dirty="0"/>
              <a:t>Here </a:t>
            </a:r>
            <a:r>
              <a:rPr lang="en-IN" dirty="0" err="1"/>
              <a:t>G</a:t>
            </a:r>
            <a:r>
              <a:rPr lang="en-IN" baseline="-25000" dirty="0" err="1"/>
              <a:t>ij</a:t>
            </a:r>
            <a:r>
              <a:rPr lang="en-IN" dirty="0"/>
              <a:t> (l) represents the inner product between </a:t>
            </a:r>
            <a:r>
              <a:rPr lang="en-IN" dirty="0" err="1"/>
              <a:t>vectorized</a:t>
            </a:r>
            <a:r>
              <a:rPr lang="en-IN" dirty="0"/>
              <a:t> features </a:t>
            </a:r>
            <a:r>
              <a:rPr lang="en-IN" dirty="0" err="1"/>
              <a:t>i,j</a:t>
            </a:r>
            <a:r>
              <a:rPr lang="en-IN" dirty="0"/>
              <a:t> of layer l.</a:t>
            </a:r>
          </a:p>
          <a:p>
            <a:pPr marL="0" indent="0">
              <a:buNone/>
            </a:pPr>
            <a:endParaRPr lang="en-IN" dirty="0"/>
          </a:p>
          <a:p>
            <a:endParaRPr lang="en-IN" dirty="0"/>
          </a:p>
        </p:txBody>
      </p:sp>
      <p:pic>
        <p:nvPicPr>
          <p:cNvPr id="5" name="Picture 4"/>
          <p:cNvPicPr>
            <a:picLocks noChangeAspect="1"/>
          </p:cNvPicPr>
          <p:nvPr/>
        </p:nvPicPr>
        <p:blipFill>
          <a:blip r:embed="rId2"/>
          <a:stretch>
            <a:fillRect/>
          </a:stretch>
        </p:blipFill>
        <p:spPr>
          <a:xfrm>
            <a:off x="3927567" y="5358901"/>
            <a:ext cx="3378924" cy="441706"/>
          </a:xfrm>
          <a:prstGeom prst="rect">
            <a:avLst/>
          </a:prstGeom>
        </p:spPr>
      </p:pic>
    </p:spTree>
    <p:extLst>
      <p:ext uri="{BB962C8B-B14F-4D97-AF65-F5344CB8AC3E}">
        <p14:creationId xmlns:p14="http://schemas.microsoft.com/office/powerpoint/2010/main" val="3619152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IN" dirty="0"/>
              <a:t>Now to calculate the loss from a particular, we will find the mean square difference of gram matrices calculated from the feature vectors of the style image and the generated image. This then weighted to the layer weighing factor.</a:t>
            </a:r>
          </a:p>
          <a:p>
            <a:pPr fontAlgn="base"/>
            <a:r>
              <a:rPr lang="en-IN" dirty="0"/>
              <a:t>Let a and x be the original image and the generated image, and Al and </a:t>
            </a:r>
            <a:r>
              <a:rPr lang="en-IN" dirty="0" err="1"/>
              <a:t>Gl</a:t>
            </a:r>
            <a:r>
              <a:rPr lang="en-IN" dirty="0"/>
              <a:t> their respective style representation (gram matrices) in layer l. The contribution of layer l to the total loss is then:</a:t>
            </a:r>
          </a:p>
          <a:p>
            <a:endParaRPr lang="en-IN" dirty="0"/>
          </a:p>
        </p:txBody>
      </p:sp>
      <p:pic>
        <p:nvPicPr>
          <p:cNvPr id="4" name="Picture 3"/>
          <p:cNvPicPr>
            <a:picLocks noChangeAspect="1"/>
          </p:cNvPicPr>
          <p:nvPr/>
        </p:nvPicPr>
        <p:blipFill>
          <a:blip r:embed="rId2"/>
          <a:stretch>
            <a:fillRect/>
          </a:stretch>
        </p:blipFill>
        <p:spPr>
          <a:xfrm>
            <a:off x="4423954" y="5206772"/>
            <a:ext cx="3300549" cy="423111"/>
          </a:xfrm>
          <a:prstGeom prst="rect">
            <a:avLst/>
          </a:prstGeom>
        </p:spPr>
      </p:pic>
    </p:spTree>
    <p:extLst>
      <p:ext uri="{BB962C8B-B14F-4D97-AF65-F5344CB8AC3E}">
        <p14:creationId xmlns:p14="http://schemas.microsoft.com/office/powerpoint/2010/main" val="1801447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a:t>Therefore, total style loss will be</a:t>
            </a:r>
            <a:r>
              <a:rPr lang="en-IN" dirty="0" smtClean="0"/>
              <a:t>:</a:t>
            </a:r>
          </a:p>
          <a:p>
            <a:endParaRPr lang="en-IN" dirty="0" smtClean="0"/>
          </a:p>
          <a:p>
            <a:endParaRPr lang="en-IN" dirty="0"/>
          </a:p>
          <a:p>
            <a:pPr marL="0" indent="0" fontAlgn="base">
              <a:buNone/>
            </a:pPr>
            <a:r>
              <a:rPr lang="en-IN" b="1" dirty="0" smtClean="0"/>
              <a:t>Total </a:t>
            </a:r>
            <a:r>
              <a:rPr lang="en-IN" b="1" dirty="0"/>
              <a:t>Loss:</a:t>
            </a:r>
          </a:p>
          <a:p>
            <a:pPr fontAlgn="base"/>
            <a:r>
              <a:rPr lang="en-IN" dirty="0" smtClean="0"/>
              <a:t>Total </a:t>
            </a:r>
            <a:r>
              <a:rPr lang="en-IN" dirty="0"/>
              <a:t>loss is the linear combination of style and content </a:t>
            </a:r>
            <a:r>
              <a:rPr lang="en-IN" dirty="0" smtClean="0"/>
              <a:t>loss</a:t>
            </a:r>
          </a:p>
          <a:p>
            <a:pPr fontAlgn="base"/>
            <a:endParaRPr lang="en-IN" dirty="0"/>
          </a:p>
          <a:p>
            <a:pPr fontAlgn="base"/>
            <a:endParaRPr lang="en-IN" dirty="0" smtClean="0"/>
          </a:p>
          <a:p>
            <a:pPr fontAlgn="base"/>
            <a:r>
              <a:rPr lang="en-IN" dirty="0"/>
              <a:t>Where </a:t>
            </a:r>
            <a:r>
              <a:rPr lang="en-IN" i="1" dirty="0"/>
              <a:t>α</a:t>
            </a:r>
            <a:r>
              <a:rPr lang="en-IN" dirty="0"/>
              <a:t> and </a:t>
            </a:r>
            <a:r>
              <a:rPr lang="en-IN" i="1" dirty="0"/>
              <a:t>β</a:t>
            </a:r>
            <a:r>
              <a:rPr lang="en-IN" dirty="0"/>
              <a:t> are the weighting factors for content and style reconstruction, respectively.</a:t>
            </a:r>
          </a:p>
          <a:p>
            <a:endParaRPr lang="en-IN" dirty="0"/>
          </a:p>
        </p:txBody>
      </p:sp>
      <p:pic>
        <p:nvPicPr>
          <p:cNvPr id="4" name="Picture 3"/>
          <p:cNvPicPr>
            <a:picLocks noChangeAspect="1"/>
          </p:cNvPicPr>
          <p:nvPr/>
        </p:nvPicPr>
        <p:blipFill>
          <a:blip r:embed="rId2"/>
          <a:stretch>
            <a:fillRect/>
          </a:stretch>
        </p:blipFill>
        <p:spPr>
          <a:xfrm>
            <a:off x="3805646" y="2855593"/>
            <a:ext cx="3091543" cy="371571"/>
          </a:xfrm>
          <a:prstGeom prst="rect">
            <a:avLst/>
          </a:prstGeom>
        </p:spPr>
      </p:pic>
      <p:pic>
        <p:nvPicPr>
          <p:cNvPr id="5" name="Picture 4"/>
          <p:cNvPicPr>
            <a:picLocks noChangeAspect="1"/>
          </p:cNvPicPr>
          <p:nvPr/>
        </p:nvPicPr>
        <p:blipFill>
          <a:blip r:embed="rId3"/>
          <a:stretch>
            <a:fillRect/>
          </a:stretch>
        </p:blipFill>
        <p:spPr>
          <a:xfrm>
            <a:off x="3910149" y="4630626"/>
            <a:ext cx="4188821" cy="533557"/>
          </a:xfrm>
          <a:prstGeom prst="rect">
            <a:avLst/>
          </a:prstGeom>
        </p:spPr>
      </p:pic>
    </p:spTree>
    <p:extLst>
      <p:ext uri="{BB962C8B-B14F-4D97-AF65-F5344CB8AC3E}">
        <p14:creationId xmlns:p14="http://schemas.microsoft.com/office/powerpoint/2010/main" val="805350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smtClean="0"/>
              <a:t>4. </a:t>
            </a:r>
            <a:r>
              <a:rPr lang="en-IN" dirty="0"/>
              <a:t>The generated image is first initialized with the same pixels as the content image. During training, it is gradually optimized to match the style of reference images retaining only the content of image</a:t>
            </a:r>
          </a:p>
          <a:p>
            <a:pPr marL="0" lvl="0" indent="0">
              <a:buNone/>
            </a:pPr>
            <a:r>
              <a:rPr lang="en-IN" dirty="0" smtClean="0"/>
              <a:t>5. The </a:t>
            </a:r>
            <a:r>
              <a:rPr lang="en-IN" dirty="0"/>
              <a:t>total loss function is defined as the weighted sum of the content and the style loss function, and the whole procedure is optimized using an Adam optimizer</a:t>
            </a:r>
            <a:r>
              <a:rPr lang="en-IN" dirty="0" smtClean="0"/>
              <a:t>.</a:t>
            </a:r>
          </a:p>
          <a:p>
            <a:pPr marL="0" lvl="0" indent="0">
              <a:buNone/>
            </a:pPr>
            <a:r>
              <a:rPr lang="en-IN" dirty="0" smtClean="0"/>
              <a:t>6. </a:t>
            </a:r>
            <a:r>
              <a:rPr lang="en-IN" dirty="0"/>
              <a:t>Finally, the whole procedure is repeated for many epochs until we end up with the desired </a:t>
            </a:r>
            <a:r>
              <a:rPr lang="en-IN" dirty="0" smtClean="0"/>
              <a:t>output image</a:t>
            </a:r>
            <a:endParaRPr lang="en-IN" dirty="0"/>
          </a:p>
          <a:p>
            <a:endParaRPr lang="en-IN" dirty="0"/>
          </a:p>
        </p:txBody>
      </p:sp>
    </p:spTree>
    <p:extLst>
      <p:ext uri="{BB962C8B-B14F-4D97-AF65-F5344CB8AC3E}">
        <p14:creationId xmlns:p14="http://schemas.microsoft.com/office/powerpoint/2010/main" val="8811047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Many times as an extra step, the generated image is further processed to increase its visual quality using various visual filters.</a:t>
            </a:r>
          </a:p>
          <a:p>
            <a:endParaRPr lang="en-IN" dirty="0"/>
          </a:p>
        </p:txBody>
      </p:sp>
      <p:pic>
        <p:nvPicPr>
          <p:cNvPr id="4" name="Picture 3" descr="nst diagram"/>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3779520" y="2994114"/>
            <a:ext cx="4554583" cy="2884171"/>
          </a:xfrm>
          <a:prstGeom prst="rect">
            <a:avLst/>
          </a:prstGeom>
          <a:noFill/>
          <a:ln>
            <a:noFill/>
          </a:ln>
        </p:spPr>
      </p:pic>
    </p:spTree>
    <p:extLst>
      <p:ext uri="{BB962C8B-B14F-4D97-AF65-F5344CB8AC3E}">
        <p14:creationId xmlns:p14="http://schemas.microsoft.com/office/powerpoint/2010/main" val="34758410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1339</Words>
  <Application>Microsoft Office PowerPoint</Application>
  <PresentationFormat>Widescreen</PresentationFormat>
  <Paragraphs>130</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Calibri Light</vt:lpstr>
      <vt:lpstr>Consolas</vt:lpstr>
      <vt:lpstr>Courier New</vt:lpstr>
      <vt:lpstr>Symbol</vt:lpstr>
      <vt:lpstr>Times New Roman</vt:lpstr>
      <vt:lpstr>Office Theme</vt:lpstr>
      <vt:lpstr>Deep Learning for Computer Vision </vt:lpstr>
      <vt:lpstr>What is Computer Vision (CV)?</vt:lpstr>
      <vt:lpstr>PowerPoint Presentation</vt:lpstr>
      <vt:lpstr>PowerPoint Presentation</vt:lpstr>
      <vt:lpstr>Deep Learning Architectures for Computer Vision</vt:lpstr>
      <vt:lpstr>PowerPoint Presentation</vt:lpstr>
      <vt:lpstr>PowerPoint Presentation</vt:lpstr>
      <vt:lpstr>PowerPoint Presentation</vt:lpstr>
      <vt:lpstr>Few ways deep learning is being used to improve computer vision.</vt:lpstr>
      <vt:lpstr>PowerPoint Presentation</vt:lpstr>
      <vt:lpstr>PowerPoint Presentation</vt:lpstr>
      <vt:lpstr>PowerPoint Presentation</vt:lpstr>
      <vt:lpstr>CNN Image Classification with Keras </vt:lpstr>
      <vt:lpstr>PowerPoint Presentation</vt:lpstr>
      <vt:lpstr>PowerPoint Presentation</vt:lpstr>
      <vt:lpstr>PowerPoint Presentation</vt:lpstr>
      <vt:lpstr>PowerPoint Presentation</vt:lpstr>
      <vt:lpstr>PowerPoint Presentation</vt:lpstr>
      <vt:lpstr>Neural Style Transfer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for Computer Vision </dc:title>
  <dc:creator>S Mary  Saira Bhanu</dc:creator>
  <cp:lastModifiedBy>MSB</cp:lastModifiedBy>
  <cp:revision>14</cp:revision>
  <dcterms:created xsi:type="dcterms:W3CDTF">2023-12-07T04:58:56Z</dcterms:created>
  <dcterms:modified xsi:type="dcterms:W3CDTF">2023-12-08T17:17:18Z</dcterms:modified>
</cp:coreProperties>
</file>