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9"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06E67-FA14-4BAD-B8A3-D15C15ACFE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731371-0EE2-4959-A8BE-460385B708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06E592-39EA-4E60-AF97-BCDA886CEFF9}"/>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249ED142-3B52-4632-A82F-727DCCE35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EEEE96-3841-4FAD-8511-54CD89CB5E8F}"/>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5092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12E0-1A79-43AB-941E-4D2BFFE375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90C999-4F33-4BF3-994B-90C7547746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1D091B-43EA-40EA-B356-675D5FC5621C}"/>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01052405-3256-45E8-AFC0-B75374DC63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701B2C-D312-480E-9356-E07B1B254ACD}"/>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817397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3D19-D507-4BDE-9465-A50EE34688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A6B576-7365-4E4A-A8DD-F1F652692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1323CE-E213-4149-AF9A-74786CBB677D}"/>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12189286-D8FF-4161-8174-BEBC04A19D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FCCEE2-DC23-400F-A9C3-234EA468BC7A}"/>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034021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1DB26-48A0-43BE-B79B-3C3691BE71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C0EE73-EDDC-44D1-845C-0711CC73DD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15F62B-99AD-4F36-93F8-73B730C6EE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30BD933-0E5D-4404-97AB-DDCB68C816BC}"/>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6" name="Footer Placeholder 5">
            <a:extLst>
              <a:ext uri="{FF2B5EF4-FFF2-40B4-BE49-F238E27FC236}">
                <a16:creationId xmlns:a16="http://schemas.microsoft.com/office/drawing/2014/main" id="{DD6EAFFD-E690-4E37-B55C-276ED500F4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732384-C36D-49C4-97FD-FEF1D24D23AA}"/>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985871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2D61-4DC3-4569-9164-A621198E08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0A7DB5-2400-4576-965A-4C8378A0CB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103505-911D-4A7A-B7C5-18947BF306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1A304F-D024-46B6-9158-2A056E052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50F095-D09E-4B18-A22A-4CFD173B52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AC7EF2-AD4B-4D43-BA4E-CD19D8C4CF22}"/>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8" name="Footer Placeholder 7">
            <a:extLst>
              <a:ext uri="{FF2B5EF4-FFF2-40B4-BE49-F238E27FC236}">
                <a16:creationId xmlns:a16="http://schemas.microsoft.com/office/drawing/2014/main" id="{608B3E79-5A57-428C-854B-F5968146AE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EFE6A1-0598-42D7-A1CC-3F4145F550CA}"/>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2681555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448E-4216-4F82-AF98-C16BE21CD5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59045A-CB82-4E04-BCF0-C748E5DEF6BF}"/>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4" name="Footer Placeholder 3">
            <a:extLst>
              <a:ext uri="{FF2B5EF4-FFF2-40B4-BE49-F238E27FC236}">
                <a16:creationId xmlns:a16="http://schemas.microsoft.com/office/drawing/2014/main" id="{BB2058FA-95DB-4A84-923F-C313C5D1EF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01C711-D661-4EBB-8AA1-37C58B7E0726}"/>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770500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B69879-8ACA-4B8A-90F0-9BE5E8465FAE}"/>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3" name="Footer Placeholder 2">
            <a:extLst>
              <a:ext uri="{FF2B5EF4-FFF2-40B4-BE49-F238E27FC236}">
                <a16:creationId xmlns:a16="http://schemas.microsoft.com/office/drawing/2014/main" id="{9804F318-025C-4737-B4D4-E1F53F1E03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C8AD7C-CDDB-4003-BE13-314156DE4BEA}"/>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985367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69D0-8D3D-4546-9419-867F3FE427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893BC8-2F3F-42FD-BB82-919F0CBC7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A6D79B-862F-47B6-BA28-86C6F5ABAE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C8236E-D471-4825-B8A1-8992ED7793CD}"/>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6" name="Footer Placeholder 5">
            <a:extLst>
              <a:ext uri="{FF2B5EF4-FFF2-40B4-BE49-F238E27FC236}">
                <a16:creationId xmlns:a16="http://schemas.microsoft.com/office/drawing/2014/main" id="{6CE14D8B-3A04-4226-A534-36477EFFD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19B5FE-5C81-4C72-BF3A-0E84538053E4}"/>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2964311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56C0-917F-45E9-9AC3-A6D5D9213A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303840-3D46-445E-967E-518E8B931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F4961E-9CCD-4785-9FFD-856DFDD2D4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B1ADB7-D0A8-4801-A341-B00EF721158D}"/>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6" name="Footer Placeholder 5">
            <a:extLst>
              <a:ext uri="{FF2B5EF4-FFF2-40B4-BE49-F238E27FC236}">
                <a16:creationId xmlns:a16="http://schemas.microsoft.com/office/drawing/2014/main" id="{9DDE49B8-311B-4FBE-A354-70A2AA0CFC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C34113-8DA8-464E-A03C-CA683A4B73BC}"/>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99803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2D87-AA88-4B59-A214-0FA7A8BB9A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20BDA0-1CAC-4322-A6AF-0EC8A60567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FB7B19-FCDB-4AFA-AC27-F07B80234031}"/>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9ED55BD1-D6A5-4293-8CB6-49025BE2F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14C6C-D84D-4708-B1A9-E6A02E561A48}"/>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3343450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4E8239-AEA6-4C77-99D0-998D547D12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88760A-129E-4659-928F-B0D76993D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4B895F-2B3E-4226-875B-4DD4D1CBDA1F}"/>
              </a:ext>
            </a:extLst>
          </p:cNvPr>
          <p:cNvSpPr>
            <a:spLocks noGrp="1"/>
          </p:cNvSpPr>
          <p:nvPr>
            <p:ph type="dt" sz="half" idx="10"/>
          </p:nvPr>
        </p:nvSpPr>
        <p:spPr/>
        <p:txBody>
          <a:body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45DB7C65-9F04-4DAB-96B0-73FA24EB0E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622F8F-30E2-4B35-A7BD-12AC3B8A4EF7}"/>
              </a:ext>
            </a:extLst>
          </p:cNvPr>
          <p:cNvSpPr>
            <a:spLocks noGrp="1"/>
          </p:cNvSpPr>
          <p:nvPr>
            <p:ph type="sldNum" sz="quarter" idx="12"/>
          </p:nvPr>
        </p:nvSpPr>
        <p:spPr/>
        <p:txBody>
          <a:bodyPr/>
          <a:lstStyle/>
          <a:p>
            <a:fld id="{2D0CB120-2289-4B45-8313-EF9DC4603D6F}" type="slidenum">
              <a:rPr lang="en-IN" smtClean="0"/>
              <a:t>‹#›</a:t>
            </a:fld>
            <a:endParaRPr lang="en-IN"/>
          </a:p>
        </p:txBody>
      </p:sp>
    </p:spTree>
    <p:extLst>
      <p:ext uri="{BB962C8B-B14F-4D97-AF65-F5344CB8AC3E}">
        <p14:creationId xmlns:p14="http://schemas.microsoft.com/office/powerpoint/2010/main" val="216787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AC956B-8594-4BE6-B1F0-56938E1008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E8C6F7-C8CF-4753-BA83-8145C8FB06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5DBE6D-5D5C-4A27-94A7-1C3929C84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BD7F55-C840-4DB5-A6DC-11762ACB6712}" type="datetimeFigureOut">
              <a:rPr lang="en-IN" smtClean="0"/>
              <a:t>06-12-2023</a:t>
            </a:fld>
            <a:endParaRPr lang="en-IN"/>
          </a:p>
        </p:txBody>
      </p:sp>
      <p:sp>
        <p:nvSpPr>
          <p:cNvPr id="5" name="Footer Placeholder 4">
            <a:extLst>
              <a:ext uri="{FF2B5EF4-FFF2-40B4-BE49-F238E27FC236}">
                <a16:creationId xmlns:a16="http://schemas.microsoft.com/office/drawing/2014/main" id="{98531A78-581D-4DDC-9637-CCDF8959E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6F79E0-8932-4DBB-8656-9080E431E5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0CB120-2289-4B45-8313-EF9DC4603D6F}" type="slidenum">
              <a:rPr lang="en-IN" smtClean="0"/>
              <a:t>‹#›</a:t>
            </a:fld>
            <a:endParaRPr lang="en-IN"/>
          </a:p>
        </p:txBody>
      </p:sp>
    </p:spTree>
    <p:extLst>
      <p:ext uri="{BB962C8B-B14F-4D97-AF65-F5344CB8AC3E}">
        <p14:creationId xmlns:p14="http://schemas.microsoft.com/office/powerpoint/2010/main" val="2505420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19EC1-AF1C-4F9A-AC10-42CA614B5F09}"/>
              </a:ext>
            </a:extLst>
          </p:cNvPr>
          <p:cNvSpPr>
            <a:spLocks noGrp="1"/>
          </p:cNvSpPr>
          <p:nvPr>
            <p:ph type="ctrTitle"/>
          </p:nvPr>
        </p:nvSpPr>
        <p:spPr/>
        <p:txBody>
          <a:bodyPr/>
          <a:lstStyle/>
          <a:p>
            <a:r>
              <a:rPr lang="en-IN" sz="6000" b="1" kern="1800" spc="-20"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Transformers</a:t>
            </a:r>
            <a:endParaRPr lang="en-IN" dirty="0"/>
          </a:p>
        </p:txBody>
      </p:sp>
      <p:sp>
        <p:nvSpPr>
          <p:cNvPr id="3" name="Subtitle 2">
            <a:extLst>
              <a:ext uri="{FF2B5EF4-FFF2-40B4-BE49-F238E27FC236}">
                <a16:creationId xmlns:a16="http://schemas.microsoft.com/office/drawing/2014/main" id="{AAE088FC-8E33-4B89-95DE-80D5A39F5C9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0720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2419-6B8E-4F1A-90C3-DC0E41AC335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4621426-1709-4A30-923B-4065A5310CD6}"/>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1555" y="2839389"/>
            <a:ext cx="8888889" cy="2323809"/>
          </a:xfrm>
          <a:prstGeom prst="rect">
            <a:avLst/>
          </a:prstGeom>
          <a:noFill/>
          <a:ln>
            <a:noFill/>
          </a:ln>
        </p:spPr>
      </p:pic>
    </p:spTree>
    <p:extLst>
      <p:ext uri="{BB962C8B-B14F-4D97-AF65-F5344CB8AC3E}">
        <p14:creationId xmlns:p14="http://schemas.microsoft.com/office/powerpoint/2010/main" val="1057603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01290-E0AF-42CF-B270-3BDF977402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EEF637-5461-47BC-8620-296B21BD297A}"/>
              </a:ext>
            </a:extLst>
          </p:cNvPr>
          <p:cNvSpPr>
            <a:spLocks noGrp="1"/>
          </p:cNvSpPr>
          <p:nvPr>
            <p:ph idx="1"/>
          </p:nvPr>
        </p:nvSpPr>
        <p:spPr/>
        <p:txBody>
          <a:bodyPr/>
          <a:lstStyle/>
          <a:p>
            <a:pPr>
              <a:lnSpc>
                <a:spcPts val="2400"/>
              </a:lnSpc>
              <a:spcBef>
                <a:spcPts val="113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To solve the problem of parallelization, Transformers try to solve the problem by using encoders and decoders together with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attention models. </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Attention boosts the speed of how fast the model can translate from one sequence to another.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How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Transformer</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works. Transformer is a model that uses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attention </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to boost the speed. More specifically, it uses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self-attention.</a:t>
            </a: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Transformer consists of six encoders and six decoders.</a:t>
            </a: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Each encoder is very similar to each other. All encoders have the same architecture. Decoders share the same property, i.e. they are also very similar to each other. Each encoder consists of two layers: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Self-attention</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and a feed Forward Neural Network.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endPar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endParaRPr>
          </a:p>
          <a:p>
            <a:pPr>
              <a:lnSpc>
                <a:spcPts val="2400"/>
              </a:lnSpc>
              <a:spcBef>
                <a:spcPts val="2570"/>
              </a:spcBef>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82133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34221-8286-48B7-840D-7BACF99958A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A342696-3821-4A8E-93ED-AA1A793EEB7E}"/>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0495" y="1825625"/>
            <a:ext cx="8391009" cy="4351338"/>
          </a:xfrm>
          <a:prstGeom prst="rect">
            <a:avLst/>
          </a:prstGeom>
          <a:noFill/>
          <a:ln>
            <a:noFill/>
          </a:ln>
        </p:spPr>
      </p:pic>
    </p:spTree>
    <p:extLst>
      <p:ext uri="{BB962C8B-B14F-4D97-AF65-F5344CB8AC3E}">
        <p14:creationId xmlns:p14="http://schemas.microsoft.com/office/powerpoint/2010/main" val="204876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939AC-763F-4798-BF57-2840F69D44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112F6A-0217-4D42-A217-EF2B6B74836C}"/>
              </a:ext>
            </a:extLst>
          </p:cNvPr>
          <p:cNvSpPr>
            <a:spLocks noGrp="1"/>
          </p:cNvSpPr>
          <p:nvPr>
            <p:ph idx="1"/>
          </p:nvPr>
        </p:nvSpPr>
        <p:spPr/>
        <p:txBody>
          <a:bodyPr/>
          <a:lstStyle/>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encoder’s inputs first flow through a</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self-attention</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layer. It helps the encoder look at other words in the input sentence as it encodes a specific word. The decoder has both those layers, but between them is an attention layer that helps the decoder focus on relevant parts of the input sentence.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C914C3E-A8FF-4FF2-BDC4-6E89E7C259E9}"/>
              </a:ext>
            </a:extLst>
          </p:cNvPr>
          <p:cNvPicPr>
            <a:picLocks noChangeAspect="1"/>
          </p:cNvPicPr>
          <p:nvPr/>
        </p:nvPicPr>
        <p:blipFill>
          <a:blip r:embed="rId2"/>
          <a:stretch>
            <a:fillRect/>
          </a:stretch>
        </p:blipFill>
        <p:spPr>
          <a:xfrm>
            <a:off x="3997914" y="3260636"/>
            <a:ext cx="3877392" cy="2517866"/>
          </a:xfrm>
          <a:prstGeom prst="rect">
            <a:avLst/>
          </a:prstGeom>
        </p:spPr>
      </p:pic>
    </p:spTree>
    <p:extLst>
      <p:ext uri="{BB962C8B-B14F-4D97-AF65-F5344CB8AC3E}">
        <p14:creationId xmlns:p14="http://schemas.microsoft.com/office/powerpoint/2010/main" val="2194927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F67D-31A9-499A-A4F2-0CD2E10BD0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12500D-C7BB-44DA-98E1-9AA7440838F0}"/>
              </a:ext>
            </a:extLst>
          </p:cNvPr>
          <p:cNvSpPr>
            <a:spLocks noGrp="1"/>
          </p:cNvSpPr>
          <p:nvPr>
            <p:ph idx="1"/>
          </p:nvPr>
        </p:nvSpPr>
        <p:spPr/>
        <p:txBody>
          <a:bodyPr/>
          <a:lstStyle/>
          <a:p>
            <a:pPr marL="0" indent="0">
              <a:buNone/>
            </a:pPr>
            <a:r>
              <a:rPr lang="en-IN" sz="1800" b="1" kern="1800" spc="-20"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Self-Attention Example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To turn the input of a trained model into an output.</a:t>
            </a: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NLP application</a:t>
            </a:r>
          </a:p>
          <a:p>
            <a:pPr marL="342900" indent="-342900">
              <a:buAutoNum type="arabicPeriod"/>
            </a:pPr>
            <a:r>
              <a:rPr lang="en-IN" sz="1800" spc="-5" dirty="0">
                <a:solidFill>
                  <a:srgbClr val="242424"/>
                </a:solidFill>
                <a:latin typeface="Georgia" panose="02040502050405020303" pitchFamily="18" charset="0"/>
                <a:ea typeface="Times New Roman" panose="02020603050405020304" pitchFamily="18" charset="0"/>
                <a:cs typeface="Segoe UI" panose="020B0502040204020203" pitchFamily="34" charset="0"/>
              </a:rPr>
              <a:t>T</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urn each input word into a vector using an </a:t>
            </a:r>
            <a:r>
              <a:rPr lang="en-IN" sz="1800" spc="-5" dirty="0">
                <a:latin typeface="Georgia" panose="02040502050405020303" pitchFamily="18" charset="0"/>
                <a:ea typeface="Times New Roman" panose="02020603050405020304" pitchFamily="18" charset="0"/>
                <a:cs typeface="Segoe UI" panose="020B0502040204020203" pitchFamily="34" charset="0"/>
              </a:rPr>
              <a:t>embedding algorithm</a:t>
            </a:r>
            <a:r>
              <a:rPr lang="en-IN" sz="1800" spc="-5" dirty="0">
                <a:effectLst/>
                <a:latin typeface="Georgia" panose="02040502050405020303" pitchFamily="18" charset="0"/>
                <a:ea typeface="Times New Roman" panose="02020603050405020304" pitchFamily="18" charset="0"/>
                <a:cs typeface="Segoe UI" panose="020B0502040204020203" pitchFamily="34" charset="0"/>
              </a:rPr>
              <a:t>.</a:t>
            </a:r>
          </a:p>
          <a:p>
            <a:pPr marL="0" indent="0">
              <a:buNone/>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Each word is embedded into a vector of size 512.</a:t>
            </a:r>
          </a:p>
          <a:p>
            <a:pPr marL="0" indent="0">
              <a:buNone/>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a:t>
            </a:r>
          </a:p>
          <a:p>
            <a:pPr marL="0" indent="0">
              <a:buNone/>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The embedding only happens in the bottom-most encoder. </a:t>
            </a:r>
          </a:p>
          <a:p>
            <a:pPr marL="0" indent="0">
              <a:buNone/>
            </a:pPr>
            <a:r>
              <a:rPr lang="en-IN" sz="1800" spc="-5" dirty="0">
                <a:solidFill>
                  <a:srgbClr val="242424"/>
                </a:solidFill>
                <a:latin typeface="Georgia" panose="02040502050405020303" pitchFamily="18" charset="0"/>
                <a:ea typeface="Times New Roman" panose="02020603050405020304" pitchFamily="18" charset="0"/>
                <a:cs typeface="Segoe UI" panose="020B0502040204020203" pitchFamily="34" charset="0"/>
              </a:rPr>
              <a:t>      </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abstraction that is common to all the encoders is that they receive a list of vectors each of the  size 512.</a:t>
            </a:r>
          </a:p>
          <a:p>
            <a:pPr marL="0" indent="0">
              <a:buNone/>
            </a:pPr>
            <a:r>
              <a:rPr lang="en-IN" sz="1800" spc="-5" dirty="0">
                <a:solidFill>
                  <a:srgbClr val="242424"/>
                </a:solidFill>
                <a:latin typeface="Georgia" panose="02040502050405020303" pitchFamily="18" charset="0"/>
                <a:ea typeface="Calibri" panose="020F0502020204030204" pitchFamily="34" charset="0"/>
                <a:cs typeface="Segoe UI" panose="020B0502040204020203" pitchFamily="34" charset="0"/>
              </a:rPr>
              <a:t>2. </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After embedding the words in the input sequence, each of them flows through each of the two layers of the encoder.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9EB623E-DB92-44DE-8AF3-DB86CE45404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286500" y="3248293"/>
            <a:ext cx="5905500" cy="809625"/>
          </a:xfrm>
          <a:prstGeom prst="rect">
            <a:avLst/>
          </a:prstGeom>
          <a:noFill/>
          <a:ln>
            <a:noFill/>
          </a:ln>
        </p:spPr>
      </p:pic>
    </p:spTree>
    <p:extLst>
      <p:ext uri="{BB962C8B-B14F-4D97-AF65-F5344CB8AC3E}">
        <p14:creationId xmlns:p14="http://schemas.microsoft.com/office/powerpoint/2010/main" val="3590376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D24B-36A1-4882-A08A-EDA7598787BC}"/>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858B4EA-1CAA-42B4-9CE2-793B58C28C51}"/>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4088" y="1825625"/>
            <a:ext cx="6783823" cy="4351338"/>
          </a:xfrm>
          <a:prstGeom prst="rect">
            <a:avLst/>
          </a:prstGeom>
          <a:noFill/>
          <a:ln>
            <a:noFill/>
          </a:ln>
        </p:spPr>
      </p:pic>
    </p:spTree>
    <p:extLst>
      <p:ext uri="{BB962C8B-B14F-4D97-AF65-F5344CB8AC3E}">
        <p14:creationId xmlns:p14="http://schemas.microsoft.com/office/powerpoint/2010/main" val="3336622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1F52-7439-4083-86C4-435787C2B6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92123A-DE5B-4DF7-AD9C-43ABCB8A52E9}"/>
              </a:ext>
            </a:extLst>
          </p:cNvPr>
          <p:cNvSpPr>
            <a:spLocks noGrp="1"/>
          </p:cNvSpPr>
          <p:nvPr>
            <p:ph idx="1"/>
          </p:nvPr>
        </p:nvSpPr>
        <p:spPr/>
        <p:txBody>
          <a:bodyPr/>
          <a:lstStyle/>
          <a:p>
            <a:r>
              <a:rPr lang="en-US" dirty="0"/>
              <a:t>In Transformer,</a:t>
            </a:r>
          </a:p>
          <a:p>
            <a:pPr marL="0" indent="0">
              <a:buNone/>
            </a:pPr>
            <a:r>
              <a:rPr lang="en-US" dirty="0"/>
              <a:t>     T</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he word in each position flows through its own path in the encoder. There are dependencies between these paths in the self-attention layer. The feed-forward layer does not have those dependencies, however, and thus the various paths can be executed in parallel while flowing through the feed-forward layer.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98751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E8CF-EB97-45BF-91FA-C8133111CE0C}"/>
              </a:ext>
            </a:extLst>
          </p:cNvPr>
          <p:cNvSpPr>
            <a:spLocks noGrp="1"/>
          </p:cNvSpPr>
          <p:nvPr>
            <p:ph type="title"/>
          </p:nvPr>
        </p:nvSpPr>
        <p:spPr/>
        <p:txBody>
          <a:bodyPr/>
          <a:lstStyle/>
          <a:p>
            <a:r>
              <a:rPr lang="en-US" dirty="0"/>
              <a:t>Self Attention Layer</a:t>
            </a:r>
            <a:endParaRPr lang="en-IN" dirty="0"/>
          </a:p>
        </p:txBody>
      </p:sp>
      <p:pic>
        <p:nvPicPr>
          <p:cNvPr id="4" name="Content Placeholder 3">
            <a:extLst>
              <a:ext uri="{FF2B5EF4-FFF2-40B4-BE49-F238E27FC236}">
                <a16:creationId xmlns:a16="http://schemas.microsoft.com/office/drawing/2014/main" id="{ED51E3C2-21E1-4FBF-99BC-809F4223BA71}"/>
              </a:ext>
            </a:extLst>
          </p:cNvPr>
          <p:cNvPicPr>
            <a:picLocks noGrp="1" noChangeAspect="1"/>
          </p:cNvPicPr>
          <p:nvPr>
            <p:ph idx="1"/>
          </p:nvPr>
        </p:nvPicPr>
        <p:blipFill>
          <a:blip r:embed="rId2"/>
          <a:stretch>
            <a:fillRect/>
          </a:stretch>
        </p:blipFill>
        <p:spPr>
          <a:xfrm>
            <a:off x="3463043" y="1825625"/>
            <a:ext cx="5265914" cy="4351338"/>
          </a:xfrm>
          <a:prstGeom prst="rect">
            <a:avLst/>
          </a:prstGeom>
        </p:spPr>
      </p:pic>
    </p:spTree>
    <p:extLst>
      <p:ext uri="{BB962C8B-B14F-4D97-AF65-F5344CB8AC3E}">
        <p14:creationId xmlns:p14="http://schemas.microsoft.com/office/powerpoint/2010/main" val="2150129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48F3-893D-4DAE-9DE8-0E83DAB91D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822694-2E5E-441F-8082-41EF6AE60453}"/>
              </a:ext>
            </a:extLst>
          </p:cNvPr>
          <p:cNvSpPr>
            <a:spLocks noGrp="1"/>
          </p:cNvSpPr>
          <p:nvPr>
            <p:ph idx="1"/>
          </p:nvPr>
        </p:nvSpPr>
        <p:spPr/>
        <p:txBody>
          <a:bodyPr/>
          <a:lstStyle/>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first step</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in calculating self-attention is to create three vectors from each of the encoder’s input vectors (in this case, the embedding of each word). </a:t>
            </a: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 for each word, we create a Query vector, a Key vector, and a Value vector. </a:t>
            </a: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These vectors are created by multiplying the embedding by three matrices that we trained during the training process.</a:t>
            </a: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Their dimensionality is 64, while the embedding and encoder input/output vectors have dimensionality of 512. </a:t>
            </a:r>
            <a:endParaRPr lang="en-IN" dirty="0"/>
          </a:p>
        </p:txBody>
      </p:sp>
    </p:spTree>
    <p:extLst>
      <p:ext uri="{BB962C8B-B14F-4D97-AF65-F5344CB8AC3E}">
        <p14:creationId xmlns:p14="http://schemas.microsoft.com/office/powerpoint/2010/main" val="2151812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1D4E-CB24-46FC-9354-E84BC5F8D6D3}"/>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B4B661F-8B63-4EBD-A1ED-96AFFEE6A3CB}"/>
              </a:ext>
            </a:extLst>
          </p:cNvPr>
          <p:cNvPicPr>
            <a:picLocks noGrp="1" noChangeAspect="1"/>
          </p:cNvPicPr>
          <p:nvPr>
            <p:ph idx="1"/>
          </p:nvPr>
        </p:nvPicPr>
        <p:blipFill>
          <a:blip r:embed="rId2"/>
          <a:stretch>
            <a:fillRect/>
          </a:stretch>
        </p:blipFill>
        <p:spPr>
          <a:xfrm>
            <a:off x="3581182" y="1894943"/>
            <a:ext cx="5029636" cy="4212701"/>
          </a:xfrm>
          <a:prstGeom prst="rect">
            <a:avLst/>
          </a:prstGeom>
        </p:spPr>
      </p:pic>
    </p:spTree>
    <p:extLst>
      <p:ext uri="{BB962C8B-B14F-4D97-AF65-F5344CB8AC3E}">
        <p14:creationId xmlns:p14="http://schemas.microsoft.com/office/powerpoint/2010/main" val="2065583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E1C8-3554-4BC2-BC0D-48378CAD0E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EAEA2A-FD3A-40DE-92B4-A71FE429A6FE}"/>
              </a:ext>
            </a:extLst>
          </p:cNvPr>
          <p:cNvSpPr>
            <a:spLocks noGrp="1"/>
          </p:cNvSpPr>
          <p:nvPr>
            <p:ph idx="1"/>
          </p:nvPr>
        </p:nvSpPr>
        <p:spPr/>
        <p:txBody>
          <a:bodyPr/>
          <a:lstStyle/>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Multiplying x1 by the WQ weight matrix produces q1, the “query” vector associated with that word. We end up creating a “query”, a “key”, and a “value” projection of each word in the input sentence.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What are the “query”, “key”, and “value” vectors?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They’re abstractions that are useful for calculating and thinking about attention. Once you proceed with reading how attention is calculated below, you’ll know pretty much all you need to know about the role each of these vectors plays.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78423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3A542-CAEE-4001-ABAB-B73A9EF3CA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A4561E-7EC0-463E-8DBD-080DD076A134}"/>
              </a:ext>
            </a:extLst>
          </p:cNvPr>
          <p:cNvSpPr>
            <a:spLocks noGrp="1"/>
          </p:cNvSpPr>
          <p:nvPr>
            <p:ph idx="1"/>
          </p:nvPr>
        </p:nvSpPr>
        <p:spPr/>
        <p:txBody>
          <a:bodyPr/>
          <a:lstStyle/>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second step</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in calculating self-attention is to calculate a score. Say we’re calculating the self-attention for the first word in this example, “Thinking”. We need to score each word of the input sentence against this word. The score determines how much focus to place on other parts of the input sentence as we encode a word at a certain position.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score is calculated by taking the dot product of the query vector with the key vector of the respective word we’re scoring. So if we’re processing the self-attention for the word in position #1, the first score would be the dot product of q1 and k1. The second score would be the dot product of q1 and k2.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20716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F24D0-94F0-4A02-8B9A-2E8A44B09C8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98EDFC66-A062-48B2-9082-ACB432F99017}"/>
              </a:ext>
            </a:extLst>
          </p:cNvPr>
          <p:cNvPicPr>
            <a:picLocks noGrp="1" noChangeAspect="1"/>
          </p:cNvPicPr>
          <p:nvPr>
            <p:ph idx="1"/>
          </p:nvPr>
        </p:nvPicPr>
        <p:blipFill>
          <a:blip r:embed="rId2"/>
          <a:stretch>
            <a:fillRect/>
          </a:stretch>
        </p:blipFill>
        <p:spPr>
          <a:xfrm>
            <a:off x="3206245" y="2291218"/>
            <a:ext cx="5779509" cy="3420152"/>
          </a:xfrm>
          <a:prstGeom prst="rect">
            <a:avLst/>
          </a:prstGeom>
        </p:spPr>
      </p:pic>
    </p:spTree>
    <p:extLst>
      <p:ext uri="{BB962C8B-B14F-4D97-AF65-F5344CB8AC3E}">
        <p14:creationId xmlns:p14="http://schemas.microsoft.com/office/powerpoint/2010/main" val="266008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F8F2-7C62-4D22-895B-5ADC9C719F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9C1B2E-3C5B-4949-BA96-AB5DD4EAA3F2}"/>
              </a:ext>
            </a:extLst>
          </p:cNvPr>
          <p:cNvSpPr>
            <a:spLocks noGrp="1"/>
          </p:cNvSpPr>
          <p:nvPr>
            <p:ph idx="1"/>
          </p:nvPr>
        </p:nvSpPr>
        <p:spPr/>
        <p:txBody>
          <a:bodyPr/>
          <a:lstStyle/>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third and fourth steps</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are to divide the scores by 8 (the square root of the dimension of the key vectors used in the paper — 64. This leads to having more stable gradients. There could be other possible values here, but this is the default), then pass the result through a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softmax</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operation.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Softmax</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normalizes the scores so they’re all positive and add up to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1942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1EE15-EF4F-4B9A-AD22-8FABD943A6E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1DAFC8C-EE1C-40A2-86AC-D1BC22A62E83}"/>
              </a:ext>
            </a:extLst>
          </p:cNvPr>
          <p:cNvPicPr>
            <a:picLocks noGrp="1" noChangeAspect="1"/>
          </p:cNvPicPr>
          <p:nvPr>
            <p:ph idx="1"/>
          </p:nvPr>
        </p:nvPicPr>
        <p:blipFill>
          <a:blip r:embed="rId2"/>
          <a:stretch>
            <a:fillRect/>
          </a:stretch>
        </p:blipFill>
        <p:spPr>
          <a:xfrm>
            <a:off x="3157473" y="1901040"/>
            <a:ext cx="5877053" cy="4200508"/>
          </a:xfrm>
          <a:prstGeom prst="rect">
            <a:avLst/>
          </a:prstGeom>
        </p:spPr>
      </p:pic>
    </p:spTree>
    <p:extLst>
      <p:ext uri="{BB962C8B-B14F-4D97-AF65-F5344CB8AC3E}">
        <p14:creationId xmlns:p14="http://schemas.microsoft.com/office/powerpoint/2010/main" val="1702631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B4340-D74F-43EB-9849-F376D4AF18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76AB14-5D60-4C4B-B605-CBC5C49A5422}"/>
              </a:ext>
            </a:extLst>
          </p:cNvPr>
          <p:cNvSpPr>
            <a:spLocks noGrp="1"/>
          </p:cNvSpPr>
          <p:nvPr>
            <p:ph idx="1"/>
          </p:nvPr>
        </p:nvSpPr>
        <p:spPr/>
        <p:txBody>
          <a:bodyPr/>
          <a:lstStyle/>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This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softmax</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score determines how much how much each word will be expressed at this position. Clearly the word at this position will have the highest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softmax</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score, but sometimes it’s useful to attend to another word that is relevant to the current word.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fifth step</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is to multiply each value vector by the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softmax</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score (in preparation to sum them up). The intuition here is to keep intact the values of the word(s) we want to focus on, and drown-out irrelevant words (by multiplying them by tiny numbers like 0.001, for example).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sixth step</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is to sum up the weighted value vectors. This produces the output of the self-attention layer at this position (for the first word).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976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668F6-4807-4484-9EAB-8B6C01A4E62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39B335C-0A79-4ED6-BAB0-C99D8FED0EB1}"/>
              </a:ext>
            </a:extLst>
          </p:cNvPr>
          <p:cNvPicPr>
            <a:picLocks noGrp="1" noChangeAspect="1"/>
          </p:cNvPicPr>
          <p:nvPr>
            <p:ph idx="1"/>
          </p:nvPr>
        </p:nvPicPr>
        <p:blipFill>
          <a:blip r:embed="rId2"/>
          <a:stretch>
            <a:fillRect/>
          </a:stretch>
        </p:blipFill>
        <p:spPr>
          <a:xfrm>
            <a:off x="3825380" y="1825625"/>
            <a:ext cx="4199671" cy="4351338"/>
          </a:xfrm>
          <a:prstGeom prst="rect">
            <a:avLst/>
          </a:prstGeom>
        </p:spPr>
      </p:pic>
    </p:spTree>
    <p:extLst>
      <p:ext uri="{BB962C8B-B14F-4D97-AF65-F5344CB8AC3E}">
        <p14:creationId xmlns:p14="http://schemas.microsoft.com/office/powerpoint/2010/main" val="45993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116B1-897E-467A-B2F1-22420C1064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3D2354-C919-49DA-950A-D3816766E0F3}"/>
              </a:ext>
            </a:extLst>
          </p:cNvPr>
          <p:cNvSpPr>
            <a:spLocks noGrp="1"/>
          </p:cNvSpPr>
          <p:nvPr>
            <p:ph idx="1"/>
          </p:nvPr>
        </p:nvSpPr>
        <p:spPr/>
        <p:txBody>
          <a:bodyPr/>
          <a:lstStyle/>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From the Self Attention to FF network:</a:t>
            </a:r>
          </a:p>
          <a:p>
            <a:r>
              <a:rPr lang="en-IN" sz="1800" spc="-5" dirty="0">
                <a:solidFill>
                  <a:srgbClr val="242424"/>
                </a:solidFill>
                <a:latin typeface="Georgia" panose="02040502050405020303" pitchFamily="18" charset="0"/>
                <a:ea typeface="Times New Roman" panose="02020603050405020304" pitchFamily="18" charset="0"/>
                <a:cs typeface="Segoe UI" panose="020B0502040204020203" pitchFamily="34" charset="0"/>
              </a:rPr>
              <a:t> </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resulting vector is one we can send along to the feed-forward neural network. In the actual implementation, however, this calculation is done in matrix form for faster processing. </a:t>
            </a:r>
            <a:endParaRPr lang="en-IN" dirty="0"/>
          </a:p>
        </p:txBody>
      </p:sp>
    </p:spTree>
    <p:extLst>
      <p:ext uri="{BB962C8B-B14F-4D97-AF65-F5344CB8AC3E}">
        <p14:creationId xmlns:p14="http://schemas.microsoft.com/office/powerpoint/2010/main" val="799628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7A69-CEF9-469C-BD1D-A87D9021EF4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8FA619F-8F3C-422B-A27C-E3A6E4DA75F1}"/>
              </a:ext>
            </a:extLst>
          </p:cNvPr>
          <p:cNvPicPr>
            <a:picLocks noGrp="1" noChangeAspect="1"/>
          </p:cNvPicPr>
          <p:nvPr>
            <p:ph idx="1"/>
          </p:nvPr>
        </p:nvPicPr>
        <p:blipFill>
          <a:blip r:embed="rId2"/>
          <a:stretch>
            <a:fillRect/>
          </a:stretch>
        </p:blipFill>
        <p:spPr>
          <a:xfrm>
            <a:off x="3204594" y="1825625"/>
            <a:ext cx="5377344" cy="4351338"/>
          </a:xfrm>
          <a:prstGeom prst="rect">
            <a:avLst/>
          </a:prstGeom>
        </p:spPr>
      </p:pic>
    </p:spTree>
    <p:extLst>
      <p:ext uri="{BB962C8B-B14F-4D97-AF65-F5344CB8AC3E}">
        <p14:creationId xmlns:p14="http://schemas.microsoft.com/office/powerpoint/2010/main" val="1313823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DDD3-720F-4C9A-BA80-19A533493D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E6C0CE-9ED3-4781-B7E9-D1F9FFE57864}"/>
              </a:ext>
            </a:extLst>
          </p:cNvPr>
          <p:cNvSpPr>
            <a:spLocks noGrp="1"/>
          </p:cNvSpPr>
          <p:nvPr>
            <p:ph idx="1"/>
          </p:nvPr>
        </p:nvSpPr>
        <p:spPr/>
        <p:txBody>
          <a:bodyPr/>
          <a:lstStyle/>
          <a:p>
            <a:r>
              <a:rPr lang="en-IN" sz="1800" b="1" dirty="0" err="1">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Multihead</a:t>
            </a:r>
            <a:r>
              <a:rPr lang="en-IN" sz="1800" b="1"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 attention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The idea behind it is that whenever you are translating a word, you may pay different attention to each word based on the type of question that you are asking. </a:t>
            </a:r>
          </a:p>
          <a:p>
            <a:r>
              <a:rPr lang="en-IN" sz="1800" spc="-5" dirty="0">
                <a:solidFill>
                  <a:srgbClr val="242424"/>
                </a:solidFill>
                <a:latin typeface="Georgia" panose="02040502050405020303" pitchFamily="18" charset="0"/>
                <a:ea typeface="Times New Roman" panose="02020603050405020304" pitchFamily="18" charset="0"/>
                <a:cs typeface="Segoe UI" panose="020B0502040204020203" pitchFamily="34" charset="0"/>
              </a:rPr>
              <a:t>W</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henever you are translating “kicked” in the sentence “I kicked the ball”, you may ask “Who kicked”. Depending on the answer, the translation of the word to another language can change.</a:t>
            </a:r>
            <a:endParaRPr lang="en-IN" dirty="0"/>
          </a:p>
        </p:txBody>
      </p:sp>
      <p:pic>
        <p:nvPicPr>
          <p:cNvPr id="4" name="Picture 3">
            <a:extLst>
              <a:ext uri="{FF2B5EF4-FFF2-40B4-BE49-F238E27FC236}">
                <a16:creationId xmlns:a16="http://schemas.microsoft.com/office/drawing/2014/main" id="{EEDF9618-C19D-4448-9BC7-39DA9AF8DF03}"/>
              </a:ext>
            </a:extLst>
          </p:cNvPr>
          <p:cNvPicPr>
            <a:picLocks noChangeAspect="1"/>
          </p:cNvPicPr>
          <p:nvPr/>
        </p:nvPicPr>
        <p:blipFill>
          <a:blip r:embed="rId2"/>
          <a:stretch>
            <a:fillRect/>
          </a:stretch>
        </p:blipFill>
        <p:spPr>
          <a:xfrm>
            <a:off x="3090966" y="3800213"/>
            <a:ext cx="5456393" cy="2852257"/>
          </a:xfrm>
          <a:prstGeom prst="rect">
            <a:avLst/>
          </a:prstGeom>
        </p:spPr>
      </p:pic>
    </p:spTree>
    <p:extLst>
      <p:ext uri="{BB962C8B-B14F-4D97-AF65-F5344CB8AC3E}">
        <p14:creationId xmlns:p14="http://schemas.microsoft.com/office/powerpoint/2010/main" val="248497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4A28-CFB1-493C-8E3E-58F27BA3091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630F019B-1C71-40BC-9F53-5B39F6830E36}"/>
              </a:ext>
            </a:extLst>
          </p:cNvPr>
          <p:cNvPicPr>
            <a:picLocks noGrp="1" noChangeAspect="1"/>
          </p:cNvPicPr>
          <p:nvPr>
            <p:ph idx="1"/>
          </p:nvPr>
        </p:nvPicPr>
        <p:blipFill>
          <a:blip r:embed="rId2"/>
          <a:stretch>
            <a:fillRect/>
          </a:stretch>
        </p:blipFill>
        <p:spPr>
          <a:xfrm>
            <a:off x="4133470" y="1954634"/>
            <a:ext cx="3488832" cy="3567987"/>
          </a:xfrm>
          <a:prstGeom prst="rect">
            <a:avLst/>
          </a:prstGeom>
        </p:spPr>
      </p:pic>
    </p:spTree>
    <p:extLst>
      <p:ext uri="{BB962C8B-B14F-4D97-AF65-F5344CB8AC3E}">
        <p14:creationId xmlns:p14="http://schemas.microsoft.com/office/powerpoint/2010/main" val="908229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418BC-5604-40B7-8B21-383DD4A4588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63E414F-1572-4A3C-992E-31E3B79DEDCE}"/>
              </a:ext>
            </a:extLst>
          </p:cNvPr>
          <p:cNvPicPr>
            <a:picLocks noGrp="1" noChangeAspect="1"/>
          </p:cNvPicPr>
          <p:nvPr>
            <p:ph idx="1"/>
          </p:nvPr>
        </p:nvPicPr>
        <p:blipFill>
          <a:blip r:embed="rId2"/>
          <a:stretch>
            <a:fillRect/>
          </a:stretch>
        </p:blipFill>
        <p:spPr>
          <a:xfrm>
            <a:off x="3858937" y="1825625"/>
            <a:ext cx="3726302" cy="4351338"/>
          </a:xfrm>
          <a:prstGeom prst="rect">
            <a:avLst/>
          </a:prstGeom>
        </p:spPr>
      </p:pic>
    </p:spTree>
    <p:extLst>
      <p:ext uri="{BB962C8B-B14F-4D97-AF65-F5344CB8AC3E}">
        <p14:creationId xmlns:p14="http://schemas.microsoft.com/office/powerpoint/2010/main" val="2087797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99335-0C5E-423A-9AF4-141E3CCBAC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9D8E67-8DF7-45AF-961C-B72BA975E3C5}"/>
              </a:ext>
            </a:extLst>
          </p:cNvPr>
          <p:cNvSpPr>
            <a:spLocks noGrp="1"/>
          </p:cNvSpPr>
          <p:nvPr>
            <p:ph idx="1"/>
          </p:nvPr>
        </p:nvSpPr>
        <p:spPr/>
        <p:txBody>
          <a:bodyPr/>
          <a:lstStyle/>
          <a:p>
            <a:pPr>
              <a:lnSpc>
                <a:spcPts val="1800"/>
              </a:lnSpc>
              <a:spcBef>
                <a:spcPts val="2065"/>
              </a:spcBef>
              <a:spcAft>
                <a:spcPts val="800"/>
              </a:spcAft>
            </a:pPr>
            <a:r>
              <a:rPr lang="en-IN" sz="1800" b="1"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Positional Encoding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113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Another important step on the Transformer is to add positional encoding when encoding each word. Encoding the position of each word is relevant, since the position of each word is relevant to the translation.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94935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1025</Words>
  <Application>Microsoft Office PowerPoint</Application>
  <PresentationFormat>Widescreen</PresentationFormat>
  <Paragraphs>42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Georgia</vt:lpstr>
      <vt:lpstr>Helvetica</vt:lpstr>
      <vt:lpstr>Office Theme</vt:lpstr>
      <vt:lpstr>Transformers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Self Attention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dc:title>
  <dc:creator>S Mary  Saira Bhanu</dc:creator>
  <cp:lastModifiedBy>S Mary  Saira Bhanu</cp:lastModifiedBy>
  <cp:revision>8</cp:revision>
  <dcterms:created xsi:type="dcterms:W3CDTF">2023-12-06T06:35:48Z</dcterms:created>
  <dcterms:modified xsi:type="dcterms:W3CDTF">2023-12-06T07:14:39Z</dcterms:modified>
</cp:coreProperties>
</file>