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2" r:id="rId3"/>
    <p:sldId id="273" r:id="rId4"/>
    <p:sldId id="271" r:id="rId5"/>
    <p:sldId id="291" r:id="rId6"/>
    <p:sldId id="260" r:id="rId7"/>
    <p:sldId id="262" r:id="rId8"/>
    <p:sldId id="274" r:id="rId9"/>
    <p:sldId id="275" r:id="rId10"/>
    <p:sldId id="276" r:id="rId11"/>
    <p:sldId id="277" r:id="rId12"/>
    <p:sldId id="278" r:id="rId13"/>
    <p:sldId id="279" r:id="rId14"/>
    <p:sldId id="280" r:id="rId15"/>
    <p:sldId id="285" r:id="rId16"/>
    <p:sldId id="286" r:id="rId17"/>
    <p:sldId id="287" r:id="rId18"/>
    <p:sldId id="288" r:id="rId19"/>
    <p:sldId id="289" r:id="rId20"/>
    <p:sldId id="29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853" autoAdjust="0"/>
    <p:restoredTop sz="94660"/>
  </p:normalViewPr>
  <p:slideViewPr>
    <p:cSldViewPr snapToGrid="0">
      <p:cViewPr varScale="1">
        <p:scale>
          <a:sx n="111" d="100"/>
          <a:sy n="111" d="100"/>
        </p:scale>
        <p:origin x="3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53D675-6B09-4F64-88CE-5F0D022BBC2B}" type="datetimeFigureOut">
              <a:rPr lang="en-IN" smtClean="0"/>
              <a:t>26-08-2025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5319C-778A-4E0F-B3EF-06AC0BE01BA3}" type="slidenum">
              <a:rPr lang="en-IN" smtClean="0"/>
              <a:t>‹#›</a:t>
            </a:fld>
            <a:endParaRPr lang="en-IN"/>
          </a:p>
        </p:txBody>
      </p:sp>
    </p:spTree>
    <p:extLst>
      <p:ext uri="{BB962C8B-B14F-4D97-AF65-F5344CB8AC3E}">
        <p14:creationId xmlns:p14="http://schemas.microsoft.com/office/powerpoint/2010/main" val="1149268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4</a:t>
            </a:fld>
            <a:endParaRPr lang="en-US"/>
          </a:p>
        </p:txBody>
      </p:sp>
    </p:spTree>
    <p:extLst>
      <p:ext uri="{BB962C8B-B14F-4D97-AF65-F5344CB8AC3E}">
        <p14:creationId xmlns:p14="http://schemas.microsoft.com/office/powerpoint/2010/main" val="465445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8</a:t>
            </a:fld>
            <a:endParaRPr lang="en-US"/>
          </a:p>
        </p:txBody>
      </p:sp>
    </p:spTree>
    <p:extLst>
      <p:ext uri="{BB962C8B-B14F-4D97-AF65-F5344CB8AC3E}">
        <p14:creationId xmlns:p14="http://schemas.microsoft.com/office/powerpoint/2010/main" val="7818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9</a:t>
            </a:fld>
            <a:endParaRPr lang="en-US"/>
          </a:p>
        </p:txBody>
      </p:sp>
    </p:spTree>
    <p:extLst>
      <p:ext uri="{BB962C8B-B14F-4D97-AF65-F5344CB8AC3E}">
        <p14:creationId xmlns:p14="http://schemas.microsoft.com/office/powerpoint/2010/main" val="3685521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10</a:t>
            </a:fld>
            <a:endParaRPr lang="en-US"/>
          </a:p>
        </p:txBody>
      </p:sp>
    </p:spTree>
    <p:extLst>
      <p:ext uri="{BB962C8B-B14F-4D97-AF65-F5344CB8AC3E}">
        <p14:creationId xmlns:p14="http://schemas.microsoft.com/office/powerpoint/2010/main" val="2309977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11</a:t>
            </a:fld>
            <a:endParaRPr lang="en-US"/>
          </a:p>
        </p:txBody>
      </p:sp>
    </p:spTree>
    <p:extLst>
      <p:ext uri="{BB962C8B-B14F-4D97-AF65-F5344CB8AC3E}">
        <p14:creationId xmlns:p14="http://schemas.microsoft.com/office/powerpoint/2010/main" val="3278443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12</a:t>
            </a:fld>
            <a:endParaRPr lang="en-US"/>
          </a:p>
        </p:txBody>
      </p:sp>
    </p:spTree>
    <p:extLst>
      <p:ext uri="{BB962C8B-B14F-4D97-AF65-F5344CB8AC3E}">
        <p14:creationId xmlns:p14="http://schemas.microsoft.com/office/powerpoint/2010/main" val="3149298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13</a:t>
            </a:fld>
            <a:endParaRPr lang="en-US"/>
          </a:p>
        </p:txBody>
      </p:sp>
    </p:spTree>
    <p:extLst>
      <p:ext uri="{BB962C8B-B14F-4D97-AF65-F5344CB8AC3E}">
        <p14:creationId xmlns:p14="http://schemas.microsoft.com/office/powerpoint/2010/main" val="3366808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F67BD4D-13A7-44ED-BF04-327BA14DA82A}" type="slidenum">
              <a:rPr lang="en-US"/>
              <a:pPr/>
              <a:t>14</a:t>
            </a:fld>
            <a:endParaRPr lang="en-US"/>
          </a:p>
        </p:txBody>
      </p:sp>
    </p:spTree>
    <p:extLst>
      <p:ext uri="{BB962C8B-B14F-4D97-AF65-F5344CB8AC3E}">
        <p14:creationId xmlns:p14="http://schemas.microsoft.com/office/powerpoint/2010/main" val="1353226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5DF6F9A-2377-4AF6-9497-95207C00AB4E}"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664463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DF6F9A-2377-4AF6-9497-95207C00AB4E}"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3830339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DF6F9A-2377-4AF6-9497-95207C00AB4E}"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3153794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5DF6F9A-2377-4AF6-9497-95207C00AB4E}"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2083979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5DF6F9A-2377-4AF6-9497-95207C00AB4E}" type="datetimeFigureOut">
              <a:rPr lang="en-IN" smtClean="0"/>
              <a:t>26-08-2025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3178198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5DF6F9A-2377-4AF6-9497-95207C00AB4E}" type="datetimeFigureOut">
              <a:rPr lang="en-IN" smtClean="0"/>
              <a:t>26-08-2025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557990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F6F9A-2377-4AF6-9497-95207C00AB4E}" type="datetimeFigureOut">
              <a:rPr lang="en-IN" smtClean="0"/>
              <a:t>26-08-2025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835259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DF6F9A-2377-4AF6-9497-95207C00AB4E}"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2283156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DF6F9A-2377-4AF6-9497-95207C00AB4E}" type="datetimeFigureOut">
              <a:rPr lang="en-IN" smtClean="0"/>
              <a:t>26-08-2025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2680518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DF6F9A-2377-4AF6-9497-95207C00AB4E}"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1543610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DF6F9A-2377-4AF6-9497-95207C00AB4E}" type="datetimeFigureOut">
              <a:rPr lang="en-IN" smtClean="0"/>
              <a:t>26-08-2025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70E33D-83E9-4883-8EBB-8A592E10F67F}" type="slidenum">
              <a:rPr lang="en-IN" smtClean="0"/>
              <a:t>‹#›</a:t>
            </a:fld>
            <a:endParaRPr lang="en-IN"/>
          </a:p>
        </p:txBody>
      </p:sp>
    </p:spTree>
    <p:extLst>
      <p:ext uri="{BB962C8B-B14F-4D97-AF65-F5344CB8AC3E}">
        <p14:creationId xmlns:p14="http://schemas.microsoft.com/office/powerpoint/2010/main" val="142477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DF6F9A-2377-4AF6-9497-95207C00AB4E}" type="datetimeFigureOut">
              <a:rPr lang="en-IN" smtClean="0"/>
              <a:t>26-08-2025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70E33D-83E9-4883-8EBB-8A592E10F67F}" type="slidenum">
              <a:rPr lang="en-IN" smtClean="0"/>
              <a:t>‹#›</a:t>
            </a:fld>
            <a:endParaRPr lang="en-IN"/>
          </a:p>
        </p:txBody>
      </p:sp>
    </p:spTree>
    <p:extLst>
      <p:ext uri="{BB962C8B-B14F-4D97-AF65-F5344CB8AC3E}">
        <p14:creationId xmlns:p14="http://schemas.microsoft.com/office/powerpoint/2010/main" val="2481248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aclweb.org/aclwiki/index.php?title=POS_Tagging_(State_of_the_ar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LSTM</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864162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altLang="en-US"/>
              <a:t>Long Short Term Memory (LSTM)</a:t>
            </a:r>
          </a:p>
        </p:txBody>
      </p:sp>
      <p:sp>
        <p:nvSpPr>
          <p:cNvPr id="3" name="Content Placeholder 2"/>
          <p:cNvSpPr>
            <a:spLocks noGrp="1"/>
          </p:cNvSpPr>
          <p:nvPr>
            <p:ph idx="1"/>
          </p:nvPr>
        </p:nvSpPr>
        <p:spPr/>
        <p:txBody>
          <a:bodyPr/>
          <a:lstStyle/>
          <a:p>
            <a:r>
              <a:rPr lang="en-US" altLang="en-US" dirty="0" err="1">
                <a:cs typeface="Arial" panose="020B0604020202020204" pitchFamily="34" charset="0"/>
              </a:rPr>
              <a:t>Hochreiter</a:t>
            </a:r>
            <a:r>
              <a:rPr lang="en-US" altLang="en-US" dirty="0">
                <a:cs typeface="Arial" panose="020B0604020202020204" pitchFamily="34" charset="0"/>
              </a:rPr>
              <a:t> &amp; </a:t>
            </a:r>
            <a:r>
              <a:rPr lang="en-US" altLang="en-US" dirty="0" err="1">
                <a:cs typeface="Arial" panose="020B0604020202020204" pitchFamily="34" charset="0"/>
              </a:rPr>
              <a:t>Schmidhuber</a:t>
            </a:r>
            <a:r>
              <a:rPr lang="en-US" altLang="en-US" dirty="0">
                <a:cs typeface="Arial" panose="020B0604020202020204" pitchFamily="34" charset="0"/>
              </a:rPr>
              <a:t> (1997) solved the problem of getting an RNN to remember things for a long time (like hundreds of time steps). </a:t>
            </a:r>
          </a:p>
          <a:p>
            <a:r>
              <a:rPr lang="en-US" altLang="en-US" dirty="0">
                <a:cs typeface="Arial" panose="020B0604020202020204" pitchFamily="34" charset="0"/>
              </a:rPr>
              <a:t>They designed a memory cell using logistic and linear units with multiplicative interactions. </a:t>
            </a:r>
          </a:p>
          <a:p>
            <a:r>
              <a:rPr lang="en-US" altLang="en-US" dirty="0">
                <a:cs typeface="Arial" panose="020B0604020202020204" pitchFamily="34" charset="0"/>
              </a:rPr>
              <a:t>Information gets into the cell whenever its “write” gate is on.</a:t>
            </a:r>
          </a:p>
          <a:p>
            <a:r>
              <a:rPr lang="en-US" altLang="en-US" dirty="0">
                <a:cs typeface="Arial" panose="020B0604020202020204" pitchFamily="34" charset="0"/>
              </a:rPr>
              <a:t>The information stays in the cell so long as its “keep”/ “forget” gate is on.</a:t>
            </a:r>
          </a:p>
          <a:p>
            <a:r>
              <a:rPr lang="en-US" altLang="en-US" dirty="0">
                <a:cs typeface="Arial" panose="020B0604020202020204" pitchFamily="34" charset="0"/>
              </a:rPr>
              <a:t>Information can be read from the cell by turning on its “read” gate.</a:t>
            </a:r>
          </a:p>
          <a:p>
            <a:endParaRPr lang="en-US" altLang="en-US" dirty="0">
              <a:cs typeface="Arial" panose="020B0604020202020204" pitchFamily="34" charset="0"/>
            </a:endParaRPr>
          </a:p>
        </p:txBody>
      </p:sp>
    </p:spTree>
    <p:extLst>
      <p:ext uri="{BB962C8B-B14F-4D97-AF65-F5344CB8AC3E}">
        <p14:creationId xmlns:p14="http://schemas.microsoft.com/office/powerpoint/2010/main" val="1249224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LSTM</a:t>
            </a:r>
          </a:p>
        </p:txBody>
      </p:sp>
      <p:pic>
        <p:nvPicPr>
          <p:cNvPr id="5" name="Content Placeholder 4"/>
          <p:cNvPicPr>
            <a:picLocks noGrp="1" noChangeAspect="1"/>
          </p:cNvPicPr>
          <p:nvPr>
            <p:ph idx="1"/>
          </p:nvPr>
        </p:nvPicPr>
        <p:blipFill>
          <a:blip r:embed="rId2"/>
          <a:stretch>
            <a:fillRect/>
          </a:stretch>
        </p:blipFill>
        <p:spPr>
          <a:xfrm>
            <a:off x="3683726" y="2499361"/>
            <a:ext cx="5312228" cy="2786742"/>
          </a:xfrm>
          <a:prstGeom prst="rect">
            <a:avLst/>
          </a:prstGeom>
        </p:spPr>
      </p:pic>
    </p:spTree>
    <p:extLst>
      <p:ext uri="{BB962C8B-B14F-4D97-AF65-F5344CB8AC3E}">
        <p14:creationId xmlns:p14="http://schemas.microsoft.com/office/powerpoint/2010/main" val="535085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LSTM Network Architecture</a:t>
            </a:r>
          </a:p>
        </p:txBody>
      </p:sp>
      <p:pic>
        <p:nvPicPr>
          <p:cNvPr id="5" name="Content Placeholder 4" descr="A LSTM neural network."/>
          <p:cNvPicPr>
            <a:picLocks noGrp="1" noChangeAspect="1"/>
          </p:cNvPicPr>
          <p:nvPr>
            <p:ph idx="1"/>
          </p:nvPr>
        </p:nvPicPr>
        <p:blipFill>
          <a:blip r:embed="rId3" cstate="print"/>
          <a:stretch>
            <a:fillRect/>
          </a:stretch>
        </p:blipFill>
        <p:spPr>
          <a:xfrm>
            <a:off x="2251810" y="1771650"/>
            <a:ext cx="7772400" cy="2920306"/>
          </a:xfrm>
        </p:spPr>
      </p:pic>
      <p:sp>
        <p:nvSpPr>
          <p:cNvPr id="4" name="Slide Number Placeholder 3"/>
          <p:cNvSpPr>
            <a:spLocks noGrp="1"/>
          </p:cNvSpPr>
          <p:nvPr>
            <p:ph type="sldNum" sz="quarter" idx="11"/>
          </p:nvPr>
        </p:nvSpPr>
        <p:spPr/>
        <p:txBody>
          <a:bodyPr/>
          <a:lstStyle/>
          <a:p>
            <a:fld id="{1D553280-E9B5-4529-AC08-074397BE5D29}" type="slidenum">
              <a:rPr lang="en-US"/>
              <a:pPr/>
              <a:t>4</a:t>
            </a:fld>
            <a:endParaRPr lang="en-US">
              <a:latin typeface="+mn-lt"/>
            </a:endParaRPr>
          </a:p>
        </p:txBody>
      </p:sp>
      <p:pic>
        <p:nvPicPr>
          <p:cNvPr id="6" name="Picture 5"/>
          <p:cNvPicPr>
            <a:picLocks noChangeAspect="1"/>
          </p:cNvPicPr>
          <p:nvPr/>
        </p:nvPicPr>
        <p:blipFill>
          <a:blip r:embed="rId4" cstate="print"/>
          <a:stretch>
            <a:fillRect/>
          </a:stretch>
        </p:blipFill>
        <p:spPr>
          <a:xfrm>
            <a:off x="2486026" y="5076825"/>
            <a:ext cx="6727539" cy="1253996"/>
          </a:xfrm>
          <a:prstGeom prst="rect">
            <a:avLst/>
          </a:prstGeom>
        </p:spPr>
      </p:pic>
    </p:spTree>
    <p:extLst>
      <p:ext uri="{BB962C8B-B14F-4D97-AF65-F5344CB8AC3E}">
        <p14:creationId xmlns:p14="http://schemas.microsoft.com/office/powerpoint/2010/main" val="2115584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CD92-BC12-D6AB-78D1-39FF082B1AD0}"/>
              </a:ext>
            </a:extLst>
          </p:cNvPr>
          <p:cNvSpPr>
            <a:spLocks noGrp="1"/>
          </p:cNvSpPr>
          <p:nvPr>
            <p:ph type="title"/>
          </p:nvPr>
        </p:nvSpPr>
        <p:spPr/>
        <p:txBody>
          <a:bodyPr/>
          <a:lstStyle/>
          <a:p>
            <a:r>
              <a:rPr lang="en-US" dirty="0"/>
              <a:t>LSTM Network</a:t>
            </a:r>
            <a:endParaRPr lang="en-IN" dirty="0"/>
          </a:p>
        </p:txBody>
      </p:sp>
      <p:pic>
        <p:nvPicPr>
          <p:cNvPr id="9" name="Picture 8">
            <a:extLst>
              <a:ext uri="{FF2B5EF4-FFF2-40B4-BE49-F238E27FC236}">
                <a16:creationId xmlns:a16="http://schemas.microsoft.com/office/drawing/2014/main" id="{C58A8942-FFEA-B04E-41FB-CCB9C72E9362}"/>
              </a:ext>
            </a:extLst>
          </p:cNvPr>
          <p:cNvPicPr>
            <a:picLocks noChangeAspect="1"/>
          </p:cNvPicPr>
          <p:nvPr/>
        </p:nvPicPr>
        <p:blipFill>
          <a:blip r:embed="rId2"/>
          <a:stretch>
            <a:fillRect/>
          </a:stretch>
        </p:blipFill>
        <p:spPr>
          <a:xfrm>
            <a:off x="2130725" y="2076091"/>
            <a:ext cx="7620000" cy="3810000"/>
          </a:xfrm>
          <a:prstGeom prst="rect">
            <a:avLst/>
          </a:prstGeom>
        </p:spPr>
      </p:pic>
    </p:spTree>
    <p:extLst>
      <p:ext uri="{BB962C8B-B14F-4D97-AF65-F5344CB8AC3E}">
        <p14:creationId xmlns:p14="http://schemas.microsoft.com/office/powerpoint/2010/main" val="1613079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609600" y="25400"/>
            <a:ext cx="10972800" cy="1143000"/>
          </a:xfrm>
        </p:spPr>
        <p:txBody>
          <a:bodyPr>
            <a:normAutofit fontScale="90000"/>
          </a:bodyPr>
          <a:lstStyle/>
          <a:p>
            <a:r>
              <a:rPr lang="en-US" altLang="en-US"/>
              <a:t>Implementing a memory cell in a neural network</a:t>
            </a:r>
          </a:p>
        </p:txBody>
      </p:sp>
      <p:sp>
        <p:nvSpPr>
          <p:cNvPr id="3" name="Content Placeholder 2"/>
          <p:cNvSpPr>
            <a:spLocks noGrp="1"/>
          </p:cNvSpPr>
          <p:nvPr>
            <p:ph sz="half" idx="1"/>
          </p:nvPr>
        </p:nvSpPr>
        <p:spPr>
          <a:xfrm>
            <a:off x="609599" y="1261533"/>
            <a:ext cx="6072717" cy="5257800"/>
          </a:xfrm>
        </p:spPr>
        <p:txBody>
          <a:bodyPr rtlCol="0">
            <a:normAutofit/>
          </a:bodyPr>
          <a:lstStyle/>
          <a:p>
            <a:pPr marL="0" indent="0">
              <a:buNone/>
              <a:defRPr/>
            </a:pPr>
            <a:r>
              <a:rPr lang="en-US" dirty="0">
                <a:ea typeface="+mn-ea"/>
                <a:cs typeface="Arial"/>
              </a:rPr>
              <a:t>To preserve information for a long time in the activities of an RNN, we use a circuit that implements an analog memory cell.</a:t>
            </a:r>
          </a:p>
          <a:p>
            <a:pPr lvl="1">
              <a:buFont typeface="Arial"/>
              <a:buChar char="–"/>
              <a:defRPr/>
            </a:pPr>
            <a:r>
              <a:rPr lang="en-US" dirty="0">
                <a:ea typeface="+mn-ea"/>
                <a:cs typeface="Arial"/>
              </a:rPr>
              <a:t>A linear unit that has a self-link with a weight of 1 will maintain its state.</a:t>
            </a:r>
          </a:p>
          <a:p>
            <a:pPr lvl="1">
              <a:buFont typeface="Arial"/>
              <a:buChar char="–"/>
              <a:defRPr/>
            </a:pPr>
            <a:r>
              <a:rPr lang="en-US" dirty="0">
                <a:ea typeface="+mn-ea"/>
                <a:cs typeface="Arial"/>
              </a:rPr>
              <a:t>Information is stored in the cell by activating its write gate. </a:t>
            </a:r>
          </a:p>
          <a:p>
            <a:pPr lvl="1">
              <a:buFont typeface="Arial"/>
              <a:buChar char="–"/>
              <a:defRPr/>
            </a:pPr>
            <a:r>
              <a:rPr lang="en-US" dirty="0">
                <a:ea typeface="+mn-ea"/>
                <a:cs typeface="Arial"/>
              </a:rPr>
              <a:t>Information is retrieved by activating the read gate.</a:t>
            </a:r>
          </a:p>
          <a:p>
            <a:pPr lvl="1">
              <a:buFont typeface="Arial"/>
              <a:buChar char="–"/>
              <a:defRPr/>
            </a:pPr>
            <a:r>
              <a:rPr lang="en-US" dirty="0">
                <a:ea typeface="+mn-ea"/>
                <a:cs typeface="Arial"/>
              </a:rPr>
              <a:t>We can </a:t>
            </a:r>
            <a:r>
              <a:rPr lang="en-US" dirty="0" err="1">
                <a:ea typeface="+mn-ea"/>
                <a:cs typeface="Arial"/>
              </a:rPr>
              <a:t>backpropagate</a:t>
            </a:r>
            <a:r>
              <a:rPr lang="en-US" dirty="0">
                <a:ea typeface="+mn-ea"/>
                <a:cs typeface="Arial"/>
              </a:rPr>
              <a:t> through this circuit because logistics are have nice derivatives.</a:t>
            </a:r>
          </a:p>
          <a:p>
            <a:pPr lvl="1">
              <a:buFont typeface="Arial"/>
              <a:buChar char="–"/>
              <a:defRPr/>
            </a:pPr>
            <a:endParaRPr lang="en-US" dirty="0">
              <a:ea typeface="+mn-ea"/>
            </a:endParaRPr>
          </a:p>
        </p:txBody>
      </p:sp>
      <p:sp>
        <p:nvSpPr>
          <p:cNvPr id="5" name="Oval 4"/>
          <p:cNvSpPr>
            <a:spLocks noChangeArrowheads="1"/>
          </p:cNvSpPr>
          <p:nvPr/>
        </p:nvSpPr>
        <p:spPr bwMode="auto">
          <a:xfrm>
            <a:off x="8849784" y="2889251"/>
            <a:ext cx="1174749" cy="1107016"/>
          </a:xfrm>
          <a:prstGeom prst="ellipse">
            <a:avLst/>
          </a:prstGeom>
          <a:solidFill>
            <a:schemeClr val="bg2"/>
          </a:solidFill>
          <a:ln w="9525">
            <a:solidFill>
              <a:schemeClr val="tx1"/>
            </a:solidFill>
            <a:round/>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cxnSp>
        <p:nvCxnSpPr>
          <p:cNvPr id="7" name="Straight Arrow Connector 6"/>
          <p:cNvCxnSpPr>
            <a:cxnSpLocks noChangeShapeType="1"/>
            <a:endCxn id="5" idx="3"/>
          </p:cNvCxnSpPr>
          <p:nvPr/>
        </p:nvCxnSpPr>
        <p:spPr bwMode="auto">
          <a:xfrm flipV="1">
            <a:off x="8434918" y="3833285"/>
            <a:ext cx="588433" cy="1246716"/>
          </a:xfrm>
          <a:prstGeom prst="straightConnector1">
            <a:avLst/>
          </a:prstGeom>
          <a:noFill/>
          <a:ln w="25400">
            <a:solidFill>
              <a:srgbClr val="000000"/>
            </a:solidFill>
            <a:round/>
            <a:headEnd/>
            <a:tailEnd type="arrow" w="lg" len="lg"/>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8" name="Straight Arrow Connector 7"/>
          <p:cNvCxnSpPr>
            <a:cxnSpLocks noChangeShapeType="1"/>
            <a:stCxn id="5" idx="5"/>
          </p:cNvCxnSpPr>
          <p:nvPr/>
        </p:nvCxnSpPr>
        <p:spPr bwMode="auto">
          <a:xfrm>
            <a:off x="9853085" y="3833285"/>
            <a:ext cx="510116" cy="1246716"/>
          </a:xfrm>
          <a:prstGeom prst="straightConnector1">
            <a:avLst/>
          </a:prstGeom>
          <a:noFill/>
          <a:ln w="25400">
            <a:solidFill>
              <a:srgbClr val="000000"/>
            </a:solidFill>
            <a:round/>
            <a:headEnd/>
            <a:tailEnd type="arrow" w="lg" len="lg"/>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2" name="TextBox 11"/>
          <p:cNvSpPr txBox="1">
            <a:spLocks noChangeArrowheads="1"/>
          </p:cNvSpPr>
          <p:nvPr/>
        </p:nvSpPr>
        <p:spPr bwMode="auto">
          <a:xfrm>
            <a:off x="9853084" y="5080000"/>
            <a:ext cx="2023533" cy="913199"/>
          </a:xfrm>
          <a:prstGeom prst="rect">
            <a:avLst/>
          </a:prstGeom>
          <a:solidFill>
            <a:srgbClr val="EEECE1"/>
          </a:solidFill>
          <a:ln w="9525">
            <a:solidFill>
              <a:srgbClr val="000000"/>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667">
                <a:cs typeface="Arial" panose="020B0604020202020204" pitchFamily="34" charset="0"/>
              </a:rPr>
              <a:t>output to rest of RNN</a:t>
            </a:r>
          </a:p>
        </p:txBody>
      </p:sp>
      <p:sp>
        <p:nvSpPr>
          <p:cNvPr id="13" name="TextBox 12"/>
          <p:cNvSpPr txBox="1">
            <a:spLocks noChangeArrowheads="1"/>
          </p:cNvSpPr>
          <p:nvPr/>
        </p:nvSpPr>
        <p:spPr bwMode="auto">
          <a:xfrm>
            <a:off x="7188200" y="5103284"/>
            <a:ext cx="2023533" cy="913199"/>
          </a:xfrm>
          <a:prstGeom prst="rect">
            <a:avLst/>
          </a:prstGeom>
          <a:solidFill>
            <a:schemeClr val="bg2"/>
          </a:solidFill>
          <a:ln w="9525">
            <a:solidFill>
              <a:schemeClr val="tx1"/>
            </a:solidFill>
            <a:miter lim="800000"/>
            <a:headEnd/>
            <a:tailEnd/>
          </a:ln>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667">
                <a:cs typeface="Arial" panose="020B0604020202020204" pitchFamily="34" charset="0"/>
              </a:rPr>
              <a:t>input from rest of RNN</a:t>
            </a:r>
          </a:p>
        </p:txBody>
      </p:sp>
      <p:sp>
        <p:nvSpPr>
          <p:cNvPr id="14" name="Oval 13"/>
          <p:cNvSpPr>
            <a:spLocks noChangeArrowheads="1"/>
          </p:cNvSpPr>
          <p:nvPr/>
        </p:nvSpPr>
        <p:spPr bwMode="auto">
          <a:xfrm>
            <a:off x="10720918" y="3735917"/>
            <a:ext cx="1174749" cy="1107016"/>
          </a:xfrm>
          <a:prstGeom prst="ellipse">
            <a:avLst/>
          </a:prstGeom>
          <a:solidFill>
            <a:schemeClr val="bg2"/>
          </a:solidFill>
          <a:ln w="9525">
            <a:solidFill>
              <a:schemeClr val="tx1"/>
            </a:solidFill>
            <a:round/>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sp>
        <p:nvSpPr>
          <p:cNvPr id="15" name="Oval 14"/>
          <p:cNvSpPr>
            <a:spLocks noChangeArrowheads="1"/>
          </p:cNvSpPr>
          <p:nvPr/>
        </p:nvSpPr>
        <p:spPr bwMode="auto">
          <a:xfrm>
            <a:off x="6877051" y="3733801"/>
            <a:ext cx="1174749" cy="1107017"/>
          </a:xfrm>
          <a:prstGeom prst="ellipse">
            <a:avLst/>
          </a:prstGeom>
          <a:solidFill>
            <a:schemeClr val="bg2"/>
          </a:solidFill>
          <a:ln w="9525">
            <a:solidFill>
              <a:schemeClr val="tx1"/>
            </a:solidFill>
            <a:round/>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sp>
        <p:nvSpPr>
          <p:cNvPr id="19" name="TextBox 18"/>
          <p:cNvSpPr txBox="1">
            <a:spLocks noChangeArrowheads="1"/>
          </p:cNvSpPr>
          <p:nvPr/>
        </p:nvSpPr>
        <p:spPr bwMode="auto">
          <a:xfrm>
            <a:off x="10864851" y="3795185"/>
            <a:ext cx="1371600" cy="913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667">
                <a:cs typeface="Arial" panose="020B0604020202020204" pitchFamily="34" charset="0"/>
              </a:rPr>
              <a:t>read gate</a:t>
            </a:r>
          </a:p>
        </p:txBody>
      </p:sp>
      <p:sp>
        <p:nvSpPr>
          <p:cNvPr id="20" name="TextBox 19"/>
          <p:cNvSpPr txBox="1">
            <a:spLocks noChangeArrowheads="1"/>
          </p:cNvSpPr>
          <p:nvPr/>
        </p:nvSpPr>
        <p:spPr bwMode="auto">
          <a:xfrm>
            <a:off x="7020984" y="3767667"/>
            <a:ext cx="1166283" cy="913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667">
                <a:cs typeface="Arial" panose="020B0604020202020204" pitchFamily="34" charset="0"/>
              </a:rPr>
              <a:t>write gate</a:t>
            </a:r>
          </a:p>
        </p:txBody>
      </p:sp>
      <p:sp>
        <p:nvSpPr>
          <p:cNvPr id="21" name="Oval 20"/>
          <p:cNvSpPr>
            <a:spLocks noChangeArrowheads="1"/>
          </p:cNvSpPr>
          <p:nvPr/>
        </p:nvSpPr>
        <p:spPr bwMode="auto">
          <a:xfrm>
            <a:off x="8849784" y="988485"/>
            <a:ext cx="1174749" cy="1104900"/>
          </a:xfrm>
          <a:prstGeom prst="ellipse">
            <a:avLst/>
          </a:prstGeom>
          <a:solidFill>
            <a:schemeClr val="bg2"/>
          </a:solidFill>
          <a:ln w="9525">
            <a:solidFill>
              <a:schemeClr val="tx1"/>
            </a:solidFill>
            <a:round/>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sp>
        <p:nvSpPr>
          <p:cNvPr id="22" name="TextBox 21"/>
          <p:cNvSpPr txBox="1">
            <a:spLocks noChangeArrowheads="1"/>
          </p:cNvSpPr>
          <p:nvPr/>
        </p:nvSpPr>
        <p:spPr bwMode="auto">
          <a:xfrm>
            <a:off x="8966201" y="1022351"/>
            <a:ext cx="1581151" cy="913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667">
                <a:cs typeface="Arial" panose="020B0604020202020204" pitchFamily="34" charset="0"/>
              </a:rPr>
              <a:t>keep gate</a:t>
            </a:r>
          </a:p>
        </p:txBody>
      </p:sp>
      <p:cxnSp>
        <p:nvCxnSpPr>
          <p:cNvPr id="24" name="Curved Connector 23"/>
          <p:cNvCxnSpPr>
            <a:cxnSpLocks noChangeShapeType="1"/>
            <a:stCxn id="5" idx="2"/>
            <a:endCxn id="5" idx="6"/>
          </p:cNvCxnSpPr>
          <p:nvPr/>
        </p:nvCxnSpPr>
        <p:spPr bwMode="auto">
          <a:xfrm rot="10800000" flipH="1">
            <a:off x="8849784" y="3443818"/>
            <a:ext cx="1174749" cy="16933"/>
          </a:xfrm>
          <a:prstGeom prst="curvedConnector5">
            <a:avLst>
              <a:gd name="adj1" fmla="val -25963"/>
              <a:gd name="adj2" fmla="val 5066662"/>
              <a:gd name="adj3" fmla="val 125963"/>
            </a:avLst>
          </a:prstGeom>
          <a:noFill/>
          <a:ln w="25400">
            <a:solidFill>
              <a:srgbClr val="000000"/>
            </a:solidFill>
            <a:round/>
            <a:headEnd/>
            <a:tailEnd type="arrow" w="lg" len="lg"/>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9" name="Isosceles Triangle 28"/>
          <p:cNvSpPr>
            <a:spLocks noChangeArrowheads="1"/>
          </p:cNvSpPr>
          <p:nvPr/>
        </p:nvSpPr>
        <p:spPr bwMode="auto">
          <a:xfrm>
            <a:off x="9285818" y="2336801"/>
            <a:ext cx="315383" cy="277284"/>
          </a:xfrm>
          <a:prstGeom prst="triangle">
            <a:avLst>
              <a:gd name="adj" fmla="val 50000"/>
            </a:avLst>
          </a:prstGeom>
          <a:solidFill>
            <a:schemeClr val="tx1"/>
          </a:solidFill>
          <a:ln w="19050">
            <a:solidFill>
              <a:schemeClr val="tx1"/>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sp>
        <p:nvSpPr>
          <p:cNvPr id="30" name="Isosceles Triangle 29"/>
          <p:cNvSpPr>
            <a:spLocks noChangeArrowheads="1"/>
          </p:cNvSpPr>
          <p:nvPr/>
        </p:nvSpPr>
        <p:spPr bwMode="auto">
          <a:xfrm rot="4072946">
            <a:off x="10137776" y="4344460"/>
            <a:ext cx="283633" cy="268816"/>
          </a:xfrm>
          <a:prstGeom prst="triangle">
            <a:avLst>
              <a:gd name="adj" fmla="val 50000"/>
            </a:avLst>
          </a:prstGeom>
          <a:solidFill>
            <a:schemeClr val="tx1"/>
          </a:solidFill>
          <a:ln w="19050">
            <a:solidFill>
              <a:schemeClr val="tx1"/>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sp>
        <p:nvSpPr>
          <p:cNvPr id="31" name="Isosceles Triangle 30"/>
          <p:cNvSpPr>
            <a:spLocks noChangeArrowheads="1"/>
          </p:cNvSpPr>
          <p:nvPr/>
        </p:nvSpPr>
        <p:spPr bwMode="auto">
          <a:xfrm rot="17544066">
            <a:off x="8401050" y="4345518"/>
            <a:ext cx="328084" cy="281517"/>
          </a:xfrm>
          <a:prstGeom prst="triangle">
            <a:avLst>
              <a:gd name="adj" fmla="val 50000"/>
            </a:avLst>
          </a:prstGeom>
          <a:solidFill>
            <a:schemeClr val="tx1"/>
          </a:solidFill>
          <a:ln w="19050">
            <a:solidFill>
              <a:schemeClr val="tx1"/>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2400">
              <a:solidFill>
                <a:schemeClr val="lt1"/>
              </a:solidFill>
            </a:endParaRPr>
          </a:p>
        </p:txBody>
      </p:sp>
      <p:cxnSp>
        <p:nvCxnSpPr>
          <p:cNvPr id="33" name="Straight Connector 32"/>
          <p:cNvCxnSpPr>
            <a:cxnSpLocks noChangeShapeType="1"/>
            <a:stCxn id="30" idx="0"/>
            <a:endCxn id="14" idx="2"/>
          </p:cNvCxnSpPr>
          <p:nvPr/>
        </p:nvCxnSpPr>
        <p:spPr bwMode="auto">
          <a:xfrm flipV="1">
            <a:off x="10403418" y="4290485"/>
            <a:ext cx="317500" cy="137583"/>
          </a:xfrm>
          <a:prstGeom prst="line">
            <a:avLst/>
          </a:prstGeom>
          <a:noFill/>
          <a:ln w="25400">
            <a:solidFill>
              <a:srgbClr val="0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7" name="Straight Connector 36"/>
          <p:cNvCxnSpPr>
            <a:cxnSpLocks noChangeShapeType="1"/>
            <a:stCxn id="15" idx="6"/>
            <a:endCxn id="31" idx="0"/>
          </p:cNvCxnSpPr>
          <p:nvPr/>
        </p:nvCxnSpPr>
        <p:spPr bwMode="auto">
          <a:xfrm>
            <a:off x="8051800" y="4286252"/>
            <a:ext cx="383117" cy="146049"/>
          </a:xfrm>
          <a:prstGeom prst="line">
            <a:avLst/>
          </a:prstGeom>
          <a:noFill/>
          <a:ln w="25400">
            <a:solidFill>
              <a:srgbClr val="0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 name="Straight Connector 43"/>
          <p:cNvCxnSpPr>
            <a:cxnSpLocks noChangeShapeType="1"/>
            <a:stCxn id="29" idx="0"/>
            <a:endCxn id="21" idx="4"/>
          </p:cNvCxnSpPr>
          <p:nvPr/>
        </p:nvCxnSpPr>
        <p:spPr bwMode="auto">
          <a:xfrm flipH="1" flipV="1">
            <a:off x="9438218" y="2093384"/>
            <a:ext cx="4233" cy="243416"/>
          </a:xfrm>
          <a:prstGeom prst="line">
            <a:avLst/>
          </a:prstGeom>
          <a:noFill/>
          <a:ln w="25400">
            <a:solidFill>
              <a:srgbClr val="00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47" name="TextBox 46"/>
          <p:cNvSpPr txBox="1">
            <a:spLocks noChangeArrowheads="1"/>
          </p:cNvSpPr>
          <p:nvPr/>
        </p:nvSpPr>
        <p:spPr bwMode="auto">
          <a:xfrm>
            <a:off x="8917517" y="3151718"/>
            <a:ext cx="1244600"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defTabSz="457200" fontAlgn="base">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667">
                <a:cs typeface="Arial" panose="020B0604020202020204" pitchFamily="34" charset="0"/>
              </a:rPr>
              <a:t> 1.73</a:t>
            </a:r>
          </a:p>
        </p:txBody>
      </p:sp>
      <p:cxnSp>
        <p:nvCxnSpPr>
          <p:cNvPr id="48" name="Straight Arrow Connector 47"/>
          <p:cNvCxnSpPr>
            <a:cxnSpLocks noChangeShapeType="1"/>
            <a:endCxn id="21" idx="2"/>
          </p:cNvCxnSpPr>
          <p:nvPr/>
        </p:nvCxnSpPr>
        <p:spPr bwMode="auto">
          <a:xfrm>
            <a:off x="7698317" y="1540933"/>
            <a:ext cx="1151467" cy="0"/>
          </a:xfrm>
          <a:prstGeom prst="straightConnector1">
            <a:avLst/>
          </a:prstGeom>
          <a:noFill/>
          <a:ln w="25400">
            <a:solidFill>
              <a:srgbClr val="000000"/>
            </a:solidFill>
            <a:round/>
            <a:headEnd/>
            <a:tailEnd type="arrow" w="lg" len="lg"/>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1" name="Straight Arrow Connector 50"/>
          <p:cNvCxnSpPr>
            <a:cxnSpLocks noChangeShapeType="1"/>
            <a:endCxn id="15" idx="0"/>
          </p:cNvCxnSpPr>
          <p:nvPr/>
        </p:nvCxnSpPr>
        <p:spPr bwMode="auto">
          <a:xfrm>
            <a:off x="7465484" y="2614085"/>
            <a:ext cx="0" cy="1119716"/>
          </a:xfrm>
          <a:prstGeom prst="straightConnector1">
            <a:avLst/>
          </a:prstGeom>
          <a:noFill/>
          <a:ln w="25400">
            <a:solidFill>
              <a:srgbClr val="000000"/>
            </a:solidFill>
            <a:round/>
            <a:headEnd/>
            <a:tailEnd type="arrow" w="lg" len="lg"/>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Arrow Connector 54"/>
          <p:cNvCxnSpPr>
            <a:cxnSpLocks noChangeShapeType="1"/>
            <a:endCxn id="14" idx="0"/>
          </p:cNvCxnSpPr>
          <p:nvPr/>
        </p:nvCxnSpPr>
        <p:spPr bwMode="auto">
          <a:xfrm>
            <a:off x="11309351" y="2650067"/>
            <a:ext cx="0" cy="1085851"/>
          </a:xfrm>
          <a:prstGeom prst="straightConnector1">
            <a:avLst/>
          </a:prstGeom>
          <a:noFill/>
          <a:ln w="25400">
            <a:solidFill>
              <a:srgbClr val="000000"/>
            </a:solidFill>
            <a:round/>
            <a:headEnd/>
            <a:tailEnd type="arrow" w="lg" len="lg"/>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8407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1820091" y="1825624"/>
            <a:ext cx="8351520" cy="4819015"/>
          </a:xfrm>
          <a:prstGeom prst="rect">
            <a:avLst/>
          </a:prstGeom>
        </p:spPr>
      </p:pic>
    </p:spTree>
    <p:extLst>
      <p:ext uri="{BB962C8B-B14F-4D97-AF65-F5344CB8AC3E}">
        <p14:creationId xmlns:p14="http://schemas.microsoft.com/office/powerpoint/2010/main" val="37739400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Cell State </a:t>
            </a:r>
            <a:endParaRPr lang="en-US"/>
          </a:p>
        </p:txBody>
      </p:sp>
      <p:sp>
        <p:nvSpPr>
          <p:cNvPr id="3" name="Content Placeholder 2"/>
          <p:cNvSpPr>
            <a:spLocks noGrp="1"/>
          </p:cNvSpPr>
          <p:nvPr>
            <p:ph idx="1"/>
          </p:nvPr>
        </p:nvSpPr>
        <p:spPr>
          <a:xfrm>
            <a:off x="838199" y="1371600"/>
            <a:ext cx="10515599" cy="2617050"/>
          </a:xfrm>
        </p:spPr>
        <p:txBody>
          <a:bodyPr/>
          <a:lstStyle/>
          <a:p>
            <a:r>
              <a:rPr lang="en-US" dirty="0"/>
              <a:t>Maintains a vector </a:t>
            </a:r>
            <a:r>
              <a:rPr lang="en-US" i="1" dirty="0"/>
              <a:t>C</a:t>
            </a:r>
            <a:r>
              <a:rPr lang="en-US" i="1" baseline="-25000" dirty="0"/>
              <a:t>t</a:t>
            </a:r>
            <a:r>
              <a:rPr lang="en-US" i="1" dirty="0"/>
              <a:t> </a:t>
            </a:r>
            <a:r>
              <a:rPr lang="en-US" dirty="0"/>
              <a:t>that is the same dimensionality as the hidden state, </a:t>
            </a:r>
            <a:r>
              <a:rPr lang="en-US" i="1" dirty="0" err="1"/>
              <a:t>h</a:t>
            </a:r>
            <a:r>
              <a:rPr lang="en-US" i="1" baseline="-25000" dirty="0" err="1"/>
              <a:t>t</a:t>
            </a:r>
          </a:p>
          <a:p>
            <a:r>
              <a:rPr lang="en-US" dirty="0"/>
              <a:t>Information can be added or deleted from this state vector via the forget and input gates.</a:t>
            </a:r>
          </a:p>
        </p:txBody>
      </p:sp>
      <p:pic>
        <p:nvPicPr>
          <p:cNvPr id="5" name="Picture 4"/>
          <p:cNvPicPr>
            <a:picLocks noChangeAspect="1"/>
          </p:cNvPicPr>
          <p:nvPr/>
        </p:nvPicPr>
        <p:blipFill>
          <a:blip r:embed="rId3" cstate="print"/>
          <a:stretch>
            <a:fillRect/>
          </a:stretch>
        </p:blipFill>
        <p:spPr>
          <a:xfrm>
            <a:off x="2610200" y="4038600"/>
            <a:ext cx="6398449" cy="1975670"/>
          </a:xfrm>
          <a:prstGeom prst="rect">
            <a:avLst/>
          </a:prstGeom>
        </p:spPr>
      </p:pic>
    </p:spTree>
    <p:extLst>
      <p:ext uri="{BB962C8B-B14F-4D97-AF65-F5344CB8AC3E}">
        <p14:creationId xmlns:p14="http://schemas.microsoft.com/office/powerpoint/2010/main" val="47568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Cell State Example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Want to remember person &amp; number of a subject noun so that it can be checked to agree with the person &amp; number of verb when it is eventually encountered.</a:t>
            </a:r>
            <a:endParaRPr lang="en-US" dirty="0">
              <a:solidFill>
                <a:srgbClr val="000000"/>
              </a:solidFill>
              <a:latin typeface="Times New Roman" panose="02020603050405020304" pitchFamily="18" charset="0"/>
              <a:cs typeface="Times New Roman" panose="02020603050405020304" pitchFamily="18" charset="0"/>
            </a:endParaRPr>
          </a:p>
          <a:p>
            <a:r>
              <a:rPr lang="en-US" dirty="0">
                <a:solidFill>
                  <a:srgbClr val="000000"/>
                </a:solidFill>
                <a:latin typeface="Times New Roman" panose="02020603050405020304" pitchFamily="18" charset="0"/>
                <a:cs typeface="Times New Roman" panose="02020603050405020304" pitchFamily="18" charset="0"/>
              </a:rPr>
              <a:t>Forget gate will remove existing information of a prior subject when a new one is encountered.</a:t>
            </a:r>
          </a:p>
          <a:p>
            <a:r>
              <a:rPr lang="en-US" dirty="0">
                <a:solidFill>
                  <a:srgbClr val="000000"/>
                </a:solidFill>
                <a:latin typeface="Times New Roman" panose="02020603050405020304" pitchFamily="18" charset="0"/>
                <a:cs typeface="Times New Roman" panose="02020603050405020304" pitchFamily="18" charset="0"/>
              </a:rPr>
              <a:t>Input gate "adds" in the information for the new subject.</a:t>
            </a:r>
          </a:p>
        </p:txBody>
      </p:sp>
    </p:spTree>
    <p:extLst>
      <p:ext uri="{BB962C8B-B14F-4D97-AF65-F5344CB8AC3E}">
        <p14:creationId xmlns:p14="http://schemas.microsoft.com/office/powerpoint/2010/main" val="3069489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Forget Gate</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Forget gate computes a 0-1 value using a logistic sigmoid output function from the input, </a:t>
            </a:r>
            <a:r>
              <a:rPr lang="en-US" i="1" dirty="0" err="1">
                <a:latin typeface="Times New Roman" panose="02020603050405020304" pitchFamily="18" charset="0"/>
                <a:cs typeface="Times New Roman" panose="02020603050405020304" pitchFamily="18" charset="0"/>
              </a:rPr>
              <a:t>x</a:t>
            </a:r>
            <a:r>
              <a:rPr lang="en-US" i="1" baseline="-25000" dirty="0" err="1">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and the current hidden state, </a:t>
            </a:r>
            <a:r>
              <a:rPr lang="en-US" i="1" dirty="0">
                <a:latin typeface="Times New Roman" panose="02020603050405020304" pitchFamily="18" charset="0"/>
                <a:cs typeface="Times New Roman" panose="02020603050405020304" pitchFamily="18" charset="0"/>
              </a:rPr>
              <a:t>h</a:t>
            </a:r>
            <a:r>
              <a:rPr lang="en-US" i="1" baseline="-25000"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a:t>
            </a:r>
          </a:p>
          <a:p>
            <a:r>
              <a:rPr lang="en-US" dirty="0">
                <a:solidFill>
                  <a:srgbClr val="000000"/>
                </a:solidFill>
                <a:latin typeface="Times New Roman" panose="02020603050405020304" pitchFamily="18" charset="0"/>
                <a:cs typeface="Times New Roman" panose="02020603050405020304" pitchFamily="18" charset="0"/>
              </a:rPr>
              <a:t>Multiplicatively combined with cell state, "forgetting" information where the gate outputs something close to 0.</a:t>
            </a:r>
          </a:p>
        </p:txBody>
      </p:sp>
      <p:pic>
        <p:nvPicPr>
          <p:cNvPr id="5" name="Picture 4"/>
          <p:cNvPicPr>
            <a:picLocks noChangeAspect="1"/>
          </p:cNvPicPr>
          <p:nvPr/>
        </p:nvPicPr>
        <p:blipFill>
          <a:blip r:embed="rId3" cstate="print"/>
          <a:stretch>
            <a:fillRect/>
          </a:stretch>
        </p:blipFill>
        <p:spPr>
          <a:xfrm>
            <a:off x="2796484" y="3765791"/>
            <a:ext cx="7343611" cy="2268029"/>
          </a:xfrm>
          <a:prstGeom prst="rect">
            <a:avLst/>
          </a:prstGeom>
        </p:spPr>
      </p:pic>
    </p:spTree>
    <p:extLst>
      <p:ext uri="{BB962C8B-B14F-4D97-AF65-F5344CB8AC3E}">
        <p14:creationId xmlns:p14="http://schemas.microsoft.com/office/powerpoint/2010/main" val="2297563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Hyperbolic Tangent Units</a:t>
            </a:r>
            <a:endParaRPr lang="en-US" dirty="0">
              <a:solidFill>
                <a:srgbClr val="3333FF"/>
              </a:solidFill>
              <a:latin typeface="Times New Roman"/>
            </a:endParaRPr>
          </a:p>
        </p:txBody>
      </p:sp>
      <p:sp>
        <p:nvSpPr>
          <p:cNvPr id="3" name="Content Placeholder 2"/>
          <p:cNvSpPr>
            <a:spLocks noGrp="1"/>
          </p:cNvSpPr>
          <p:nvPr>
            <p:ph idx="1"/>
          </p:nvPr>
        </p:nvSpPr>
        <p:spPr/>
        <p:txBody>
          <a:bodyPr/>
          <a:lstStyle/>
          <a:p>
            <a:r>
              <a:rPr lang="en-US" dirty="0"/>
              <a:t>Tanh can be used as an alternative nonlinear function to the sigmoid logistic (0-1) output function.</a:t>
            </a:r>
            <a:endParaRPr lang="en-US" dirty="0">
              <a:solidFill>
                <a:srgbClr val="000000"/>
              </a:solidFill>
              <a:latin typeface="Times New Roman"/>
            </a:endParaRPr>
          </a:p>
          <a:p>
            <a:r>
              <a:rPr lang="en-US" dirty="0"/>
              <a:t>Used to produce </a:t>
            </a:r>
            <a:r>
              <a:rPr lang="en-US" dirty="0" err="1"/>
              <a:t>thresholded</a:t>
            </a:r>
            <a:r>
              <a:rPr lang="en-US" dirty="0"/>
              <a:t> output between –1 and 1.</a:t>
            </a:r>
          </a:p>
        </p:txBody>
      </p:sp>
      <p:pic>
        <p:nvPicPr>
          <p:cNvPr id="5" name="Picture 4" descr="TanhReal"/>
          <p:cNvPicPr>
            <a:picLocks noChangeAspect="1"/>
          </p:cNvPicPr>
          <p:nvPr/>
        </p:nvPicPr>
        <p:blipFill>
          <a:blip r:embed="rId3" cstate="print"/>
          <a:stretch>
            <a:fillRect/>
          </a:stretch>
        </p:blipFill>
        <p:spPr>
          <a:xfrm>
            <a:off x="3971925" y="4000500"/>
            <a:ext cx="3853878" cy="2495998"/>
          </a:xfrm>
          <a:prstGeom prst="rect">
            <a:avLst/>
          </a:prstGeom>
        </p:spPr>
      </p:pic>
    </p:spTree>
    <p:extLst>
      <p:ext uri="{BB962C8B-B14F-4D97-AF65-F5344CB8AC3E}">
        <p14:creationId xmlns:p14="http://schemas.microsoft.com/office/powerpoint/2010/main" val="3234868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Gate</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First, determine which entries in the cell state to update by computing 0-1 sigmoid output.</a:t>
            </a:r>
          </a:p>
          <a:p>
            <a:r>
              <a:rPr lang="en-US" dirty="0">
                <a:solidFill>
                  <a:srgbClr val="000000"/>
                </a:solidFill>
                <a:latin typeface="Times New Roman" panose="02020603050405020304" pitchFamily="18" charset="0"/>
                <a:cs typeface="Times New Roman" panose="02020603050405020304" pitchFamily="18" charset="0"/>
              </a:rPr>
              <a:t>Then determine what amount to add/subtract from these entries by computing a tanh output (valued –1 to 1) function of the input and hidden state.</a:t>
            </a:r>
          </a:p>
        </p:txBody>
      </p:sp>
      <p:pic>
        <p:nvPicPr>
          <p:cNvPr id="5" name="Picture 4"/>
          <p:cNvPicPr>
            <a:picLocks noChangeAspect="1"/>
          </p:cNvPicPr>
          <p:nvPr/>
        </p:nvPicPr>
        <p:blipFill>
          <a:blip r:embed="rId3" cstate="print"/>
          <a:stretch>
            <a:fillRect/>
          </a:stretch>
        </p:blipFill>
        <p:spPr>
          <a:xfrm>
            <a:off x="2648311" y="3952875"/>
            <a:ext cx="7140922" cy="2204784"/>
          </a:xfrm>
          <a:prstGeom prst="rect">
            <a:avLst/>
          </a:prstGeom>
        </p:spPr>
      </p:pic>
    </p:spTree>
    <p:extLst>
      <p:ext uri="{BB962C8B-B14F-4D97-AF65-F5344CB8AC3E}">
        <p14:creationId xmlns:p14="http://schemas.microsoft.com/office/powerpoint/2010/main" val="1684448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the Cell State/ current state</a:t>
            </a:r>
          </a:p>
        </p:txBody>
      </p:sp>
      <p:sp>
        <p:nvSpPr>
          <p:cNvPr id="3" name="Content Placeholder 2"/>
          <p:cNvSpPr>
            <a:spLocks noGrp="1"/>
          </p:cNvSpPr>
          <p:nvPr>
            <p:ph idx="1"/>
          </p:nvPr>
        </p:nvSpPr>
        <p:spPr/>
        <p:txBody>
          <a:bodyPr/>
          <a:lstStyle/>
          <a:p>
            <a:r>
              <a:rPr lang="en-US" dirty="0"/>
              <a:t>Cell state is updated by using component-wise vector multiply to "forget" and vector addition to "input" new information.</a:t>
            </a:r>
          </a:p>
        </p:txBody>
      </p:sp>
      <p:pic>
        <p:nvPicPr>
          <p:cNvPr id="5" name="Picture 4"/>
          <p:cNvPicPr>
            <a:picLocks noChangeAspect="1"/>
          </p:cNvPicPr>
          <p:nvPr/>
        </p:nvPicPr>
        <p:blipFill>
          <a:blip r:embed="rId3" cstate="print"/>
          <a:stretch>
            <a:fillRect/>
          </a:stretch>
        </p:blipFill>
        <p:spPr>
          <a:xfrm>
            <a:off x="3028951" y="3124200"/>
            <a:ext cx="7740611" cy="2389838"/>
          </a:xfrm>
          <a:prstGeom prst="rect">
            <a:avLst/>
          </a:prstGeom>
        </p:spPr>
      </p:pic>
    </p:spTree>
    <p:extLst>
      <p:ext uri="{BB962C8B-B14F-4D97-AF65-F5344CB8AC3E}">
        <p14:creationId xmlns:p14="http://schemas.microsoft.com/office/powerpoint/2010/main" val="1367982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Gate</a:t>
            </a:r>
          </a:p>
        </p:txBody>
      </p:sp>
      <p:sp>
        <p:nvSpPr>
          <p:cNvPr id="3" name="Content Placeholder 2"/>
          <p:cNvSpPr>
            <a:spLocks noGrp="1"/>
          </p:cNvSpPr>
          <p:nvPr>
            <p:ph idx="1"/>
          </p:nvPr>
        </p:nvSpPr>
        <p:spPr/>
        <p:txBody>
          <a:bodyPr/>
          <a:lstStyle/>
          <a:p>
            <a:r>
              <a:rPr lang="en-US" dirty="0"/>
              <a:t>Hidden state is updated based on a "filtered" version of the cell state, scaled to –1 to 1 using tanh.</a:t>
            </a:r>
          </a:p>
          <a:p>
            <a:r>
              <a:rPr lang="en-US" dirty="0"/>
              <a:t>Output gate computes a sigmoid function of the input and current hidden state to determine which elements of the cell state to "output".</a:t>
            </a:r>
          </a:p>
        </p:txBody>
      </p:sp>
      <p:sp>
        <p:nvSpPr>
          <p:cNvPr id="4" name="Slide Number Placeholder 3"/>
          <p:cNvSpPr>
            <a:spLocks noGrp="1"/>
          </p:cNvSpPr>
          <p:nvPr>
            <p:ph type="sldNum" sz="quarter" idx="12"/>
          </p:nvPr>
        </p:nvSpPr>
        <p:spPr/>
        <p:txBody>
          <a:bodyPr/>
          <a:lstStyle/>
          <a:p>
            <a:fld id="{1D553280-E9B5-4529-AC08-074397BE5D29}" type="slidenum">
              <a:rPr lang="en-US"/>
              <a:pPr/>
              <a:t>14</a:t>
            </a:fld>
            <a:endParaRPr lang="en-US">
              <a:latin typeface="+mn-lt"/>
            </a:endParaRPr>
          </a:p>
        </p:txBody>
      </p:sp>
      <p:pic>
        <p:nvPicPr>
          <p:cNvPr id="5" name="Picture 4"/>
          <p:cNvPicPr>
            <a:picLocks noChangeAspect="1"/>
          </p:cNvPicPr>
          <p:nvPr/>
        </p:nvPicPr>
        <p:blipFill>
          <a:blip r:embed="rId3" cstate="print"/>
          <a:stretch>
            <a:fillRect/>
          </a:stretch>
        </p:blipFill>
        <p:spPr>
          <a:xfrm>
            <a:off x="2743201" y="4191001"/>
            <a:ext cx="6898489" cy="2129645"/>
          </a:xfrm>
          <a:prstGeom prst="rect">
            <a:avLst/>
          </a:prstGeom>
        </p:spPr>
      </p:pic>
    </p:spTree>
    <p:extLst>
      <p:ext uri="{BB962C8B-B14F-4D97-AF65-F5344CB8AC3E}">
        <p14:creationId xmlns:p14="http://schemas.microsoft.com/office/powerpoint/2010/main" val="1492674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LSTM Application Architectures</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34850" y="1641061"/>
            <a:ext cx="9201150" cy="3052859"/>
          </a:xfrm>
        </p:spPr>
      </p:pic>
      <p:sp>
        <p:nvSpPr>
          <p:cNvPr id="4" name="Slide Number Placeholder 3"/>
          <p:cNvSpPr>
            <a:spLocks noGrp="1"/>
          </p:cNvSpPr>
          <p:nvPr>
            <p:ph type="sldNum" sz="quarter" idx="12"/>
          </p:nvPr>
        </p:nvSpPr>
        <p:spPr/>
        <p:txBody>
          <a:bodyPr/>
          <a:lstStyle/>
          <a:p>
            <a:fld id="{1D553280-E9B5-4529-AC08-074397BE5D29}" type="slidenum">
              <a:rPr lang="en-US" smtClean="0"/>
              <a:pPr/>
              <a:t>15</a:t>
            </a:fld>
            <a:endParaRPr lang="en-US">
              <a:latin typeface="+mn-lt"/>
            </a:endParaRPr>
          </a:p>
        </p:txBody>
      </p:sp>
      <p:sp>
        <p:nvSpPr>
          <p:cNvPr id="6" name="TextBox 5"/>
          <p:cNvSpPr txBox="1"/>
          <p:nvPr/>
        </p:nvSpPr>
        <p:spPr>
          <a:xfrm>
            <a:off x="1196200" y="4693920"/>
            <a:ext cx="1845377" cy="369332"/>
          </a:xfrm>
          <a:prstGeom prst="rect">
            <a:avLst/>
          </a:prstGeom>
          <a:noFill/>
        </p:spPr>
        <p:txBody>
          <a:bodyPr wrap="none" rtlCol="0">
            <a:spAutoFit/>
          </a:bodyPr>
          <a:lstStyle/>
          <a:p>
            <a:r>
              <a:rPr lang="en-US" dirty="0"/>
              <a:t>Image Captioning</a:t>
            </a:r>
          </a:p>
        </p:txBody>
      </p:sp>
      <p:sp>
        <p:nvSpPr>
          <p:cNvPr id="7" name="TextBox 6"/>
          <p:cNvSpPr txBox="1"/>
          <p:nvPr/>
        </p:nvSpPr>
        <p:spPr>
          <a:xfrm>
            <a:off x="2992978" y="4610221"/>
            <a:ext cx="2644122" cy="646331"/>
          </a:xfrm>
          <a:prstGeom prst="rect">
            <a:avLst/>
          </a:prstGeom>
          <a:noFill/>
        </p:spPr>
        <p:txBody>
          <a:bodyPr wrap="none" rtlCol="0">
            <a:spAutoFit/>
          </a:bodyPr>
          <a:lstStyle/>
          <a:p>
            <a:r>
              <a:rPr lang="en-US" dirty="0"/>
              <a:t>Video Activity Recognition</a:t>
            </a:r>
          </a:p>
          <a:p>
            <a:r>
              <a:rPr lang="en-US" dirty="0"/>
              <a:t>Text Classification</a:t>
            </a:r>
          </a:p>
        </p:txBody>
      </p:sp>
      <p:sp>
        <p:nvSpPr>
          <p:cNvPr id="8" name="TextBox 7"/>
          <p:cNvSpPr txBox="1"/>
          <p:nvPr/>
        </p:nvSpPr>
        <p:spPr>
          <a:xfrm>
            <a:off x="5835425" y="4625616"/>
            <a:ext cx="2089546" cy="646331"/>
          </a:xfrm>
          <a:prstGeom prst="rect">
            <a:avLst/>
          </a:prstGeom>
          <a:noFill/>
        </p:spPr>
        <p:txBody>
          <a:bodyPr wrap="none" rtlCol="0">
            <a:spAutoFit/>
          </a:bodyPr>
          <a:lstStyle/>
          <a:p>
            <a:r>
              <a:rPr lang="en-US" dirty="0"/>
              <a:t>Video Captioning</a:t>
            </a:r>
          </a:p>
          <a:p>
            <a:r>
              <a:rPr lang="en-US" dirty="0"/>
              <a:t>Machine Translation</a:t>
            </a:r>
          </a:p>
        </p:txBody>
      </p:sp>
      <p:sp>
        <p:nvSpPr>
          <p:cNvPr id="9" name="TextBox 8"/>
          <p:cNvSpPr txBox="1"/>
          <p:nvPr/>
        </p:nvSpPr>
        <p:spPr>
          <a:xfrm>
            <a:off x="8704037" y="4693920"/>
            <a:ext cx="2050561" cy="646331"/>
          </a:xfrm>
          <a:prstGeom prst="rect">
            <a:avLst/>
          </a:prstGeom>
          <a:noFill/>
        </p:spPr>
        <p:txBody>
          <a:bodyPr wrap="none" rtlCol="0">
            <a:spAutoFit/>
          </a:bodyPr>
          <a:lstStyle/>
          <a:p>
            <a:r>
              <a:rPr lang="en-US" dirty="0"/>
              <a:t>POS Tagging</a:t>
            </a:r>
          </a:p>
          <a:p>
            <a:r>
              <a:rPr lang="en-US" dirty="0"/>
              <a:t>Language Modeling</a:t>
            </a:r>
          </a:p>
        </p:txBody>
      </p:sp>
    </p:spTree>
    <p:extLst>
      <p:ext uri="{BB962C8B-B14F-4D97-AF65-F5344CB8AC3E}">
        <p14:creationId xmlns:p14="http://schemas.microsoft.com/office/powerpoint/2010/main" val="3509925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Successful Applications of LSTMs</a:t>
            </a:r>
          </a:p>
        </p:txBody>
      </p:sp>
      <p:sp>
        <p:nvSpPr>
          <p:cNvPr id="3" name="Content Placeholder 2"/>
          <p:cNvSpPr>
            <a:spLocks noGrp="1"/>
          </p:cNvSpPr>
          <p:nvPr>
            <p:ph idx="1"/>
          </p:nvPr>
        </p:nvSpPr>
        <p:spPr/>
        <p:txBody>
          <a:bodyPr>
            <a:normAutofit lnSpcReduction="10000"/>
          </a:bodyPr>
          <a:lstStyle/>
          <a:p>
            <a:r>
              <a:rPr lang="en-US" dirty="0"/>
              <a:t>Speech recognition: Language and acoustic modeling</a:t>
            </a:r>
          </a:p>
          <a:p>
            <a:r>
              <a:rPr lang="en-US" dirty="0"/>
              <a:t>Sequence labeling</a:t>
            </a:r>
          </a:p>
          <a:p>
            <a:pPr lvl="1"/>
            <a:r>
              <a:rPr lang="en-US" dirty="0"/>
              <a:t>POS Tagging </a:t>
            </a:r>
            <a:r>
              <a:rPr lang="en-US" sz="1600" dirty="0">
                <a:hlinkClick r:id="rId2"/>
              </a:rPr>
              <a:t>https://www.aclweb.org/aclwiki/index.php?title=POS_Tagging_(State_of_the_art)</a:t>
            </a:r>
            <a:endParaRPr lang="en-US" dirty="0"/>
          </a:p>
          <a:p>
            <a:pPr lvl="1"/>
            <a:r>
              <a:rPr lang="en-US" dirty="0"/>
              <a:t>NER</a:t>
            </a:r>
          </a:p>
          <a:p>
            <a:pPr lvl="1"/>
            <a:r>
              <a:rPr lang="en-US" dirty="0"/>
              <a:t>Phrase Chunking </a:t>
            </a:r>
          </a:p>
          <a:p>
            <a:r>
              <a:rPr lang="en-US" dirty="0"/>
              <a:t>Neural syntactic and semantic parsing</a:t>
            </a:r>
          </a:p>
          <a:p>
            <a:r>
              <a:rPr lang="en-US" dirty="0"/>
              <a:t>Image captioning: CNN output vector to sequence</a:t>
            </a:r>
            <a:endParaRPr lang="en-US" sz="2400" dirty="0"/>
          </a:p>
          <a:p>
            <a:r>
              <a:rPr lang="en-US" dirty="0"/>
              <a:t>Sequence to Sequence</a:t>
            </a:r>
          </a:p>
          <a:p>
            <a:pPr lvl="1"/>
            <a:r>
              <a:rPr lang="en-US" dirty="0"/>
              <a:t>Machine Translation </a:t>
            </a:r>
            <a:r>
              <a:rPr lang="en-US" sz="2000" dirty="0">
                <a:solidFill>
                  <a:srgbClr val="006600"/>
                </a:solidFill>
              </a:rPr>
              <a:t>(</a:t>
            </a:r>
            <a:r>
              <a:rPr lang="en-US" sz="2000" dirty="0" err="1">
                <a:solidFill>
                  <a:srgbClr val="006600"/>
                </a:solidFill>
              </a:rPr>
              <a:t>Sustkever</a:t>
            </a:r>
            <a:r>
              <a:rPr lang="en-US" sz="2000" dirty="0">
                <a:solidFill>
                  <a:srgbClr val="006600"/>
                </a:solidFill>
              </a:rPr>
              <a:t>, </a:t>
            </a:r>
            <a:r>
              <a:rPr lang="en-US" sz="2000" dirty="0" err="1">
                <a:solidFill>
                  <a:srgbClr val="006600"/>
                </a:solidFill>
              </a:rPr>
              <a:t>Vinyals</a:t>
            </a:r>
            <a:r>
              <a:rPr lang="en-US" sz="2000" dirty="0">
                <a:solidFill>
                  <a:srgbClr val="006600"/>
                </a:solidFill>
              </a:rPr>
              <a:t>, &amp; Le, 2014)</a:t>
            </a:r>
          </a:p>
          <a:p>
            <a:pPr lvl="1"/>
            <a:r>
              <a:rPr lang="en-US" dirty="0"/>
              <a:t>Video Captioning (input sequence </a:t>
            </a:r>
            <a:r>
              <a:rPr lang="en-US"/>
              <a:t>of CNN </a:t>
            </a:r>
            <a:r>
              <a:rPr lang="en-US" dirty="0"/>
              <a:t>frame outputs)</a:t>
            </a:r>
            <a:endParaRPr lang="en-US" dirty="0">
              <a:solidFill>
                <a:srgbClr val="006600"/>
              </a:solidFill>
            </a:endParaRPr>
          </a:p>
        </p:txBody>
      </p:sp>
      <p:sp>
        <p:nvSpPr>
          <p:cNvPr id="4" name="Slide Number Placeholder 3"/>
          <p:cNvSpPr>
            <a:spLocks noGrp="1"/>
          </p:cNvSpPr>
          <p:nvPr>
            <p:ph type="sldNum" sz="quarter" idx="12"/>
          </p:nvPr>
        </p:nvSpPr>
        <p:spPr/>
        <p:txBody>
          <a:bodyPr/>
          <a:lstStyle/>
          <a:p>
            <a:fld id="{1D553280-E9B5-4529-AC08-074397BE5D29}" type="slidenum">
              <a:rPr lang="en-US" smtClean="0"/>
              <a:pPr/>
              <a:t>16</a:t>
            </a:fld>
            <a:endParaRPr lang="en-US">
              <a:latin typeface="+mn-lt"/>
            </a:endParaRPr>
          </a:p>
        </p:txBody>
      </p:sp>
    </p:spTree>
    <p:extLst>
      <p:ext uri="{BB962C8B-B14F-4D97-AF65-F5344CB8AC3E}">
        <p14:creationId xmlns:p14="http://schemas.microsoft.com/office/powerpoint/2010/main" val="3627860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8333106" y="4645378"/>
            <a:ext cx="449248" cy="315242"/>
            <a:chOff x="3547904" y="4645378"/>
            <a:chExt cx="449248" cy="315242"/>
          </a:xfrm>
        </p:grpSpPr>
        <p:cxnSp>
          <p:nvCxnSpPr>
            <p:cNvPr id="41" name="Straight Arrow Connector 40"/>
            <p:cNvCxnSpPr>
              <a:cxnSpLocks/>
            </p:cNvCxnSpPr>
            <p:nvPr/>
          </p:nvCxnSpPr>
          <p:spPr bwMode="auto">
            <a:xfrm>
              <a:off x="3717117" y="4778290"/>
              <a:ext cx="280035"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42" name="Straight Connector 41"/>
            <p:cNvCxnSpPr/>
            <p:nvPr/>
          </p:nvCxnSpPr>
          <p:spPr bwMode="auto">
            <a:xfrm>
              <a:off x="3547904" y="4645378"/>
              <a:ext cx="161509" cy="121189"/>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flipV="1">
              <a:off x="3563144" y="4766567"/>
              <a:ext cx="153973" cy="194053"/>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grpSp>
        <p:nvGrpSpPr>
          <p:cNvPr id="36" name="Group 35"/>
          <p:cNvGrpSpPr/>
          <p:nvPr/>
        </p:nvGrpSpPr>
        <p:grpSpPr>
          <a:xfrm>
            <a:off x="6744854" y="4635672"/>
            <a:ext cx="449248" cy="315242"/>
            <a:chOff x="3547904" y="4645378"/>
            <a:chExt cx="449248" cy="315242"/>
          </a:xfrm>
        </p:grpSpPr>
        <p:cxnSp>
          <p:nvCxnSpPr>
            <p:cNvPr id="37" name="Straight Arrow Connector 36"/>
            <p:cNvCxnSpPr>
              <a:cxnSpLocks/>
            </p:cNvCxnSpPr>
            <p:nvPr/>
          </p:nvCxnSpPr>
          <p:spPr bwMode="auto">
            <a:xfrm>
              <a:off x="3717117" y="4778290"/>
              <a:ext cx="280035"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38" name="Straight Connector 37"/>
            <p:cNvCxnSpPr/>
            <p:nvPr/>
          </p:nvCxnSpPr>
          <p:spPr bwMode="auto">
            <a:xfrm>
              <a:off x="3547904" y="4645378"/>
              <a:ext cx="161509" cy="121189"/>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flipV="1">
              <a:off x="3563144" y="4766567"/>
              <a:ext cx="153973" cy="194053"/>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sp>
        <p:nvSpPr>
          <p:cNvPr id="2" name="Title 1"/>
          <p:cNvSpPr>
            <a:spLocks noGrp="1"/>
          </p:cNvSpPr>
          <p:nvPr>
            <p:ph type="title"/>
          </p:nvPr>
        </p:nvSpPr>
        <p:spPr/>
        <p:txBody>
          <a:bodyPr/>
          <a:lstStyle/>
          <a:p>
            <a:r>
              <a:rPr lang="en-US" dirty="0"/>
              <a:t>Bi-directional LSTM (Bi-LSTM)</a:t>
            </a:r>
          </a:p>
        </p:txBody>
      </p:sp>
      <p:sp>
        <p:nvSpPr>
          <p:cNvPr id="3" name="Content Placeholder 2"/>
          <p:cNvSpPr>
            <a:spLocks noGrp="1"/>
          </p:cNvSpPr>
          <p:nvPr>
            <p:ph idx="1"/>
          </p:nvPr>
        </p:nvSpPr>
        <p:spPr/>
        <p:txBody>
          <a:bodyPr/>
          <a:lstStyle/>
          <a:p>
            <a:r>
              <a:rPr lang="en-US" dirty="0"/>
              <a:t>Separate LSTMs process sequence forward and backward and hidden layers at each time step are concatenated to form the cell output.</a:t>
            </a:r>
          </a:p>
        </p:txBody>
      </p:sp>
      <p:sp>
        <p:nvSpPr>
          <p:cNvPr id="4" name="Slide Number Placeholder 3"/>
          <p:cNvSpPr>
            <a:spLocks noGrp="1"/>
          </p:cNvSpPr>
          <p:nvPr>
            <p:ph type="sldNum" sz="quarter" idx="12"/>
          </p:nvPr>
        </p:nvSpPr>
        <p:spPr/>
        <p:txBody>
          <a:bodyPr/>
          <a:lstStyle/>
          <a:p>
            <a:fld id="{1D553280-E9B5-4529-AC08-074397BE5D29}" type="slidenum">
              <a:rPr lang="en-US" smtClean="0"/>
              <a:pPr/>
              <a:t>17</a:t>
            </a:fld>
            <a:endParaRPr lang="en-US">
              <a:latin typeface="+mn-lt"/>
            </a:endParaRPr>
          </a:p>
        </p:txBody>
      </p:sp>
      <p:pic>
        <p:nvPicPr>
          <p:cNvPr id="5" name="Content Placeholder 4" descr="A LSTM neural network."/>
          <p:cNvPicPr>
            <a:picLocks noChangeAspect="1"/>
          </p:cNvPicPr>
          <p:nvPr/>
        </p:nvPicPr>
        <p:blipFill>
          <a:blip r:embed="rId2" cstate="print"/>
          <a:stretch>
            <a:fillRect/>
          </a:stretch>
        </p:blipFill>
        <p:spPr bwMode="auto">
          <a:xfrm>
            <a:off x="3661300" y="4857917"/>
            <a:ext cx="4869401" cy="1829568"/>
          </a:xfrm>
          <a:prstGeom prst="rect">
            <a:avLst/>
          </a:prstGeom>
          <a:noFill/>
          <a:ln w="9525">
            <a:noFill/>
            <a:miter lim="800000"/>
            <a:headEnd/>
            <a:tailEnd/>
          </a:ln>
          <a:effectLst/>
        </p:spPr>
      </p:pic>
      <p:pic>
        <p:nvPicPr>
          <p:cNvPr id="6" name="Content Placeholder 4" descr="A LSTM neural network."/>
          <p:cNvPicPr>
            <a:picLocks noChangeAspect="1"/>
          </p:cNvPicPr>
          <p:nvPr/>
        </p:nvPicPr>
        <p:blipFill>
          <a:blip r:embed="rId3" cstate="print"/>
          <a:stretch>
            <a:fillRect/>
          </a:stretch>
        </p:blipFill>
        <p:spPr bwMode="auto">
          <a:xfrm rot="10800000">
            <a:off x="4651474" y="2920369"/>
            <a:ext cx="4944862" cy="1857921"/>
          </a:xfrm>
          <a:prstGeom prst="rect">
            <a:avLst/>
          </a:prstGeom>
          <a:noFill/>
          <a:ln w="9525">
            <a:noFill/>
            <a:miter lim="800000"/>
            <a:headEnd/>
            <a:tailEnd/>
          </a:ln>
          <a:effectLst/>
        </p:spPr>
      </p:pic>
      <p:grpSp>
        <p:nvGrpSpPr>
          <p:cNvPr id="35" name="Group 34"/>
          <p:cNvGrpSpPr/>
          <p:nvPr/>
        </p:nvGrpSpPr>
        <p:grpSpPr>
          <a:xfrm>
            <a:off x="5071904" y="4645378"/>
            <a:ext cx="449248" cy="315242"/>
            <a:chOff x="3547904" y="4645378"/>
            <a:chExt cx="449248" cy="315242"/>
          </a:xfrm>
        </p:grpSpPr>
        <p:cxnSp>
          <p:nvCxnSpPr>
            <p:cNvPr id="27" name="Straight Arrow Connector 26"/>
            <p:cNvCxnSpPr>
              <a:cxnSpLocks/>
            </p:cNvCxnSpPr>
            <p:nvPr/>
          </p:nvCxnSpPr>
          <p:spPr bwMode="auto">
            <a:xfrm>
              <a:off x="3717117" y="4778290"/>
              <a:ext cx="280035"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32" name="Straight Connector 31"/>
            <p:cNvCxnSpPr/>
            <p:nvPr/>
          </p:nvCxnSpPr>
          <p:spPr bwMode="auto">
            <a:xfrm>
              <a:off x="3547904" y="4645378"/>
              <a:ext cx="161509" cy="121189"/>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4" name="Straight Connector 33"/>
            <p:cNvCxnSpPr/>
            <p:nvPr/>
          </p:nvCxnSpPr>
          <p:spPr bwMode="auto">
            <a:xfrm flipV="1">
              <a:off x="3563144" y="4766567"/>
              <a:ext cx="153973" cy="194053"/>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3867726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58520-A2F2-4432-820C-DE6DF2B1D833}"/>
              </a:ext>
            </a:extLst>
          </p:cNvPr>
          <p:cNvSpPr>
            <a:spLocks noGrp="1"/>
          </p:cNvSpPr>
          <p:nvPr>
            <p:ph type="title"/>
          </p:nvPr>
        </p:nvSpPr>
        <p:spPr/>
        <p:txBody>
          <a:bodyPr/>
          <a:lstStyle/>
          <a:p>
            <a:r>
              <a:rPr lang="en-IN" sz="1800" b="1" dirty="0">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The problem with LSTMs/RNNs</a:t>
            </a:r>
            <a:endParaRPr lang="en-IN" dirty="0"/>
          </a:p>
        </p:txBody>
      </p:sp>
      <p:sp>
        <p:nvSpPr>
          <p:cNvPr id="3" name="Content Placeholder 2">
            <a:extLst>
              <a:ext uri="{FF2B5EF4-FFF2-40B4-BE49-F238E27FC236}">
                <a16:creationId xmlns:a16="http://schemas.microsoft.com/office/drawing/2014/main" id="{9A203F56-5B9D-412C-8257-18DA9455F1A7}"/>
              </a:ext>
            </a:extLst>
          </p:cNvPr>
          <p:cNvSpPr>
            <a:spLocks noGrp="1"/>
          </p:cNvSpPr>
          <p:nvPr>
            <p:ph idx="1"/>
          </p:nvPr>
        </p:nvSpPr>
        <p:spPr>
          <a:xfrm>
            <a:off x="838200" y="1506448"/>
            <a:ext cx="10515600" cy="4351338"/>
          </a:xfrm>
        </p:spPr>
        <p:txBody>
          <a:bodyPr>
            <a:normAutofit/>
          </a:bodyPr>
          <a:lstStyle/>
          <a:p>
            <a:pPr>
              <a:lnSpc>
                <a:spcPct val="150000"/>
              </a:lnSpc>
              <a:spcBef>
                <a:spcPts val="0"/>
              </a:spcBef>
            </a:pPr>
            <a:r>
              <a:rPr lang="en-IN" sz="1800" spc="-5" dirty="0">
                <a:solidFill>
                  <a:srgbClr val="242424"/>
                </a:solidFill>
                <a:ea typeface="Times New Roman" panose="02020603050405020304" pitchFamily="18" charset="0"/>
                <a:cs typeface="Segoe UI" panose="020B0502040204020203" pitchFamily="34" charset="0"/>
              </a:rPr>
              <a:t>W</a:t>
            </a:r>
            <a:r>
              <a:rPr lang="en-IN" sz="1800" spc="-5" dirty="0">
                <a:solidFill>
                  <a:srgbClr val="242424"/>
                </a:solidFill>
                <a:effectLst/>
                <a:ea typeface="Times New Roman" panose="02020603050405020304" pitchFamily="18" charset="0"/>
                <a:cs typeface="Segoe UI" panose="020B0502040204020203" pitchFamily="34" charset="0"/>
              </a:rPr>
              <a:t>hen sentences are too long LSTMs still don’t do too well. </a:t>
            </a:r>
          </a:p>
          <a:p>
            <a:pPr>
              <a:lnSpc>
                <a:spcPct val="150000"/>
              </a:lnSpc>
              <a:spcBef>
                <a:spcPts val="0"/>
              </a:spcBef>
            </a:pPr>
            <a:r>
              <a:rPr lang="en-IN" sz="1800" spc="-5" dirty="0">
                <a:solidFill>
                  <a:srgbClr val="242424"/>
                </a:solidFill>
                <a:effectLst/>
                <a:ea typeface="Times New Roman" panose="02020603050405020304" pitchFamily="18" charset="0"/>
                <a:cs typeface="Segoe UI" panose="020B0502040204020203" pitchFamily="34" charset="0"/>
              </a:rPr>
              <a:t>The reason for that is that the probability of keeping the context from a word that is far away from the current word being processed decreases exponentially with the distance from it.</a:t>
            </a:r>
          </a:p>
          <a:p>
            <a:pPr>
              <a:lnSpc>
                <a:spcPct val="150000"/>
              </a:lnSpc>
              <a:spcBef>
                <a:spcPts val="0"/>
              </a:spcBef>
            </a:pPr>
            <a:r>
              <a:rPr lang="en-IN" sz="1800" spc="-5" dirty="0">
                <a:solidFill>
                  <a:srgbClr val="242424"/>
                </a:solidFill>
                <a:ea typeface="Times New Roman" panose="02020603050405020304" pitchFamily="18" charset="0"/>
                <a:cs typeface="Segoe UI" panose="020B0502040204020203" pitchFamily="34" charset="0"/>
              </a:rPr>
              <a:t>W</a:t>
            </a:r>
            <a:r>
              <a:rPr lang="en-IN" sz="1800" spc="-5" dirty="0">
                <a:solidFill>
                  <a:srgbClr val="242424"/>
                </a:solidFill>
                <a:effectLst/>
                <a:ea typeface="Times New Roman" panose="02020603050405020304" pitchFamily="18" charset="0"/>
                <a:cs typeface="Segoe UI" panose="020B0502040204020203" pitchFamily="34" charset="0"/>
              </a:rPr>
              <a:t>hen sentences are long, the model often forgets the content of distant positions in the sequence. Another problem with RNNs, and LSTMs, is that it’s hard to parallelize the work for processing sentences, since you are have to process word by word. Not only that but there is no model of long and short range dependencies. </a:t>
            </a:r>
          </a:p>
          <a:p>
            <a:pPr>
              <a:lnSpc>
                <a:spcPct val="150000"/>
              </a:lnSpc>
              <a:spcBef>
                <a:spcPts val="0"/>
              </a:spcBef>
            </a:pPr>
            <a:r>
              <a:rPr lang="en-IN" sz="1800" spc="-5" dirty="0">
                <a:solidFill>
                  <a:srgbClr val="242424"/>
                </a:solidFill>
                <a:effectLst/>
                <a:ea typeface="Times New Roman" panose="02020603050405020304" pitchFamily="18" charset="0"/>
                <a:cs typeface="Segoe UI" panose="020B0502040204020203" pitchFamily="34" charset="0"/>
              </a:rPr>
              <a:t>Three Problems</a:t>
            </a:r>
          </a:p>
          <a:p>
            <a:pPr lvl="1">
              <a:lnSpc>
                <a:spcPct val="150000"/>
              </a:lnSpc>
              <a:spcBef>
                <a:spcPts val="0"/>
              </a:spcBef>
            </a:pPr>
            <a:r>
              <a:rPr lang="en-IN" sz="1800" spc="-5" dirty="0">
                <a:solidFill>
                  <a:srgbClr val="242424"/>
                </a:solidFill>
                <a:ea typeface="Times New Roman" panose="02020603050405020304" pitchFamily="18" charset="0"/>
                <a:cs typeface="Segoe UI" panose="020B0502040204020203" pitchFamily="34" charset="0"/>
              </a:rPr>
              <a:t>   </a:t>
            </a:r>
            <a:r>
              <a:rPr lang="en-IN" sz="1800" spc="-5" dirty="0">
                <a:solidFill>
                  <a:srgbClr val="242424"/>
                </a:solidFill>
                <a:effectLst/>
                <a:ea typeface="Times New Roman" panose="02020603050405020304" pitchFamily="18" charset="0"/>
                <a:cs typeface="Segoe UI" panose="020B0502040204020203" pitchFamily="34" charset="0"/>
              </a:rPr>
              <a:t>Sequential computation inhibits parallelization</a:t>
            </a:r>
            <a:endParaRPr lang="en-IN" sz="1800" dirty="0">
              <a:effectLst/>
              <a:ea typeface="Calibri" panose="020F0502020204030204" pitchFamily="34" charset="0"/>
              <a:cs typeface="Times New Roman" panose="02020603050405020304" pitchFamily="18" charset="0"/>
            </a:endParaRPr>
          </a:p>
          <a:p>
            <a:pPr marL="800100" lvl="1" indent="-342900">
              <a:lnSpc>
                <a:spcPct val="150000"/>
              </a:lnSpc>
              <a:spcBef>
                <a:spcPts val="0"/>
              </a:spcBef>
              <a:buSzPts val="1000"/>
              <a:buFont typeface="Symbol" panose="05050102010706020507" pitchFamily="18" charset="2"/>
              <a:buChar char=""/>
              <a:tabLst>
                <a:tab pos="457200" algn="l"/>
              </a:tabLst>
            </a:pPr>
            <a:r>
              <a:rPr lang="en-IN" sz="1800" spc="-5" dirty="0">
                <a:solidFill>
                  <a:srgbClr val="242424"/>
                </a:solidFill>
                <a:effectLst/>
                <a:ea typeface="Times New Roman" panose="02020603050405020304" pitchFamily="18" charset="0"/>
                <a:cs typeface="Segoe UI" panose="020B0502040204020203" pitchFamily="34" charset="0"/>
              </a:rPr>
              <a:t>No explicit </a:t>
            </a:r>
            <a:r>
              <a:rPr lang="en-IN" sz="1800" spc="-5" dirty="0" err="1">
                <a:solidFill>
                  <a:srgbClr val="242424"/>
                </a:solidFill>
                <a:effectLst/>
                <a:ea typeface="Times New Roman" panose="02020603050405020304" pitchFamily="18" charset="0"/>
                <a:cs typeface="Segoe UI" panose="020B0502040204020203" pitchFamily="34" charset="0"/>
              </a:rPr>
              <a:t>modeling</a:t>
            </a:r>
            <a:r>
              <a:rPr lang="en-IN" sz="1800" spc="-5" dirty="0">
                <a:solidFill>
                  <a:srgbClr val="242424"/>
                </a:solidFill>
                <a:effectLst/>
                <a:ea typeface="Times New Roman" panose="02020603050405020304" pitchFamily="18" charset="0"/>
                <a:cs typeface="Segoe UI" panose="020B0502040204020203" pitchFamily="34" charset="0"/>
              </a:rPr>
              <a:t> of long and short range dependencies</a:t>
            </a:r>
            <a:endParaRPr lang="en-IN" sz="1800" dirty="0">
              <a:effectLst/>
              <a:ea typeface="Calibri" panose="020F0502020204030204" pitchFamily="34" charset="0"/>
              <a:cs typeface="Times New Roman" panose="02020603050405020304" pitchFamily="18" charset="0"/>
            </a:endParaRPr>
          </a:p>
          <a:p>
            <a:pPr marL="800100" lvl="1" indent="-342900">
              <a:lnSpc>
                <a:spcPct val="150000"/>
              </a:lnSpc>
              <a:spcBef>
                <a:spcPts val="0"/>
              </a:spcBef>
              <a:buSzPts val="1000"/>
              <a:buFont typeface="Symbol" panose="05050102010706020507" pitchFamily="18" charset="2"/>
              <a:buChar char=""/>
              <a:tabLst>
                <a:tab pos="457200" algn="l"/>
              </a:tabLst>
            </a:pPr>
            <a:r>
              <a:rPr lang="en-IN" sz="1800" spc="-5" dirty="0">
                <a:solidFill>
                  <a:srgbClr val="242424"/>
                </a:solidFill>
                <a:effectLst/>
                <a:ea typeface="Times New Roman" panose="02020603050405020304" pitchFamily="18" charset="0"/>
                <a:cs typeface="Segoe UI" panose="020B0502040204020203" pitchFamily="34" charset="0"/>
              </a:rPr>
              <a:t>“Distance” between positions is linear</a:t>
            </a:r>
            <a:endParaRPr lang="en-IN" sz="1800" dirty="0">
              <a:effectLst/>
              <a:ea typeface="Calibri" panose="020F0502020204030204" pitchFamily="34" charset="0"/>
              <a:cs typeface="Times New Roman" panose="02020603050405020304" pitchFamily="18" charset="0"/>
            </a:endParaRPr>
          </a:p>
          <a:p>
            <a:pPr lvl="1">
              <a:lnSpc>
                <a:spcPct val="150000"/>
              </a:lnSpc>
              <a:spcBef>
                <a:spcPts val="0"/>
              </a:spcBef>
            </a:pPr>
            <a:endParaRPr lang="en-IN" sz="18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91455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40D6-790D-440F-A86D-B607EEEE6F92}"/>
              </a:ext>
            </a:extLst>
          </p:cNvPr>
          <p:cNvSpPr>
            <a:spLocks noGrp="1"/>
          </p:cNvSpPr>
          <p:nvPr>
            <p:ph type="title"/>
          </p:nvPr>
        </p:nvSpPr>
        <p:spPr/>
        <p:txBody>
          <a:bodyPr/>
          <a:lstStyle/>
          <a:p>
            <a:r>
              <a:rPr lang="en-IN" sz="4400" b="1" kern="1800" spc="-20" dirty="0">
                <a:solidFill>
                  <a:srgbClr val="242424"/>
                </a:solidFill>
                <a:effectLst/>
                <a:latin typeface="Helvetica" panose="020B0604020202020204" pitchFamily="34" charset="0"/>
                <a:ea typeface="Times New Roman" panose="02020603050405020304" pitchFamily="18" charset="0"/>
                <a:cs typeface="Times New Roman" panose="02020603050405020304" pitchFamily="18" charset="0"/>
              </a:rPr>
              <a:t>Attention</a:t>
            </a:r>
            <a:br>
              <a:rPr lang="en-IN" sz="44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892C81F-2458-43D7-9C5B-64B210F41742}"/>
              </a:ext>
            </a:extLst>
          </p:cNvPr>
          <p:cNvSpPr>
            <a:spLocks noGrp="1"/>
          </p:cNvSpPr>
          <p:nvPr>
            <p:ph idx="1"/>
          </p:nvPr>
        </p:nvSpPr>
        <p:spPr/>
        <p:txBody>
          <a:bodyPr>
            <a:normAutofit fontScale="92500" lnSpcReduction="20000"/>
          </a:bodyPr>
          <a:lstStyle/>
          <a:p>
            <a:pPr>
              <a:lnSpc>
                <a:spcPct val="150000"/>
              </a:lnSpc>
              <a:spcBef>
                <a:spcPts val="0"/>
              </a:spcBef>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To solve some of these problems, researchers created a technique for paying attention to specific words.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0"/>
              </a:spcBef>
            </a:pP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Human nature</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When translating a sentence, I pay special attention to the word I’m presently translating. When I’m transcribing an audio recording, I listen carefully to the segment I’m actively writing down. And if you ask me to describe the room I’m sitting in, I’ll glance around at the objects I’m describing as I do so.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0"/>
              </a:spcBef>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Neural networks can achieve this same </a:t>
            </a:r>
            <a:r>
              <a:rPr lang="en-IN" sz="1800" spc="-5" dirty="0" err="1">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behavior</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using </a:t>
            </a:r>
            <a:r>
              <a:rPr lang="en-IN" sz="1800" b="1" i="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attention</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focusing on part of a subset of the information they are given. For example, an RNN can attend over the output of another RNN. At every time step, it focuses on different positions in the other RNN.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0"/>
              </a:spcBef>
            </a:pP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To solve these problems, </a:t>
            </a:r>
            <a:r>
              <a:rPr lang="en-IN" sz="1800" b="1"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Attention</a:t>
            </a:r>
            <a:r>
              <a:rPr lang="en-IN" sz="1800" spc="-5" dirty="0">
                <a:solidFill>
                  <a:srgbClr val="242424"/>
                </a:solidFill>
                <a:effectLst/>
                <a:latin typeface="Georgia" panose="02040502050405020303" pitchFamily="18" charset="0"/>
                <a:ea typeface="Times New Roman" panose="02020603050405020304" pitchFamily="18" charset="0"/>
                <a:cs typeface="Segoe UI" panose="020B0502040204020203" pitchFamily="34" charset="0"/>
              </a:rPr>
              <a:t> is a technique that is used in a neural network. For RNNs, instead of only encoding the whole sentence in a hidden state, each word has a corresponding hidden state that is passed all the way to the decoding stage. Then, the hidden states are used at each step of the RNN to decode. </a:t>
            </a:r>
            <a:endParaRPr lang="en-IN" dirty="0"/>
          </a:p>
        </p:txBody>
      </p:sp>
    </p:spTree>
    <p:extLst>
      <p:ext uri="{BB962C8B-B14F-4D97-AF65-F5344CB8AC3E}">
        <p14:creationId xmlns:p14="http://schemas.microsoft.com/office/powerpoint/2010/main" val="2198940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8152417-A499-4C1B-9973-DF4A85EA42CC}"/>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0220" y="4391777"/>
            <a:ext cx="8888889" cy="1325563"/>
          </a:xfrm>
          <a:prstGeom prst="rect">
            <a:avLst/>
          </a:prstGeom>
          <a:noFill/>
          <a:ln>
            <a:noFill/>
          </a:ln>
        </p:spPr>
      </p:pic>
      <p:sp>
        <p:nvSpPr>
          <p:cNvPr id="6" name="TextBox 5">
            <a:extLst>
              <a:ext uri="{FF2B5EF4-FFF2-40B4-BE49-F238E27FC236}">
                <a16:creationId xmlns:a16="http://schemas.microsoft.com/office/drawing/2014/main" id="{293AF245-768A-4490-980E-87D13F603993}"/>
              </a:ext>
            </a:extLst>
          </p:cNvPr>
          <p:cNvSpPr txBox="1"/>
          <p:nvPr/>
        </p:nvSpPr>
        <p:spPr>
          <a:xfrm>
            <a:off x="1040235" y="1854864"/>
            <a:ext cx="10313565" cy="1921360"/>
          </a:xfrm>
          <a:prstGeom prst="rect">
            <a:avLst/>
          </a:prstGeom>
          <a:noFill/>
        </p:spPr>
        <p:txBody>
          <a:bodyPr wrap="square">
            <a:spAutoFit/>
          </a:bodyPr>
          <a:lstStyle/>
          <a:p>
            <a:pPr>
              <a:lnSpc>
                <a:spcPts val="2400"/>
              </a:lnSpc>
              <a:spcBef>
                <a:spcPts val="2570"/>
              </a:spcBef>
              <a:spcAft>
                <a:spcPts val="800"/>
              </a:spcAft>
            </a:pPr>
            <a:r>
              <a:rPr lang="en-IN" sz="1800" spc="-5" dirty="0">
                <a:solidFill>
                  <a:srgbClr val="242424"/>
                </a:solidFill>
                <a:effectLst/>
                <a:latin typeface="Georgia" panose="02040502050405020303" pitchFamily="18" charset="0"/>
                <a:ea typeface="Times New Roman" panose="02020603050405020304" pitchFamily="18" charset="0"/>
                <a:cs typeface="Times New Roman" panose="02020603050405020304" pitchFamily="18" charset="0"/>
              </a:rPr>
              <a:t>Q is a matrix that contains the query (vector representation of one word in the sequence), K are all the keys (vector representations of all the words in the sequence) and V are the values, which are again the vector representations of all the words in the sequence. For the encoder and decoder, multi-head attention modules, V consists of the same word sequence than Q. However, for the attention module that is taking into account the encoder and the decoder sequences, V is different from the sequence represented by Q.</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59695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1102</Words>
  <Application>Microsoft Office PowerPoint</Application>
  <PresentationFormat>Widescreen</PresentationFormat>
  <Paragraphs>91</Paragraphs>
  <Slides>20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Georgia</vt:lpstr>
      <vt:lpstr>Helvetica</vt:lpstr>
      <vt:lpstr>Symbol</vt:lpstr>
      <vt:lpstr>Times New Roman</vt:lpstr>
      <vt:lpstr>Office Theme</vt:lpstr>
      <vt:lpstr>LSTM</vt:lpstr>
      <vt:lpstr>Long Short Term Memory (LSTM)</vt:lpstr>
      <vt:lpstr>Basic LSTM</vt:lpstr>
      <vt:lpstr>LSTM Network Architecture</vt:lpstr>
      <vt:lpstr>LSTM Network</vt:lpstr>
      <vt:lpstr>Implementing a memory cell in a neural network</vt:lpstr>
      <vt:lpstr>PowerPoint Presentation</vt:lpstr>
      <vt:lpstr>Cell State </vt:lpstr>
      <vt:lpstr>Cell State Example</vt:lpstr>
      <vt:lpstr>Forget Gate</vt:lpstr>
      <vt:lpstr>Hyperbolic Tangent Units</vt:lpstr>
      <vt:lpstr>Input Gate</vt:lpstr>
      <vt:lpstr>Updating the Cell State/ current state</vt:lpstr>
      <vt:lpstr>Output Gate</vt:lpstr>
      <vt:lpstr>Summary of LSTM Application Architectures</vt:lpstr>
      <vt:lpstr>Successful Applications of LSTMs</vt:lpstr>
      <vt:lpstr>Bi-directional LSTM (Bi-LSTM)</vt:lpstr>
      <vt:lpstr>The problem with LSTMs/RNNs</vt:lpstr>
      <vt:lpstr>Attention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LSTM</dc:title>
  <dc:creator>MSB</dc:creator>
  <cp:lastModifiedBy>Thamizharasi Nandakumar</cp:lastModifiedBy>
  <cp:revision>20</cp:revision>
  <dcterms:created xsi:type="dcterms:W3CDTF">2023-12-04T14:34:22Z</dcterms:created>
  <dcterms:modified xsi:type="dcterms:W3CDTF">2025-08-26T10:38:53Z</dcterms:modified>
</cp:coreProperties>
</file>