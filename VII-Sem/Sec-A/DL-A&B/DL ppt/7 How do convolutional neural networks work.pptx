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1" r:id="rId6"/>
    <p:sldId id="262" r:id="rId7"/>
    <p:sldId id="260" r:id="rId8"/>
    <p:sldId id="264" r:id="rId9"/>
    <p:sldId id="282"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11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nni Ranadeesh" userId="03c1ed1ded996da4" providerId="LiveId" clId="{2C501C05-080F-4D28-AD34-ED15DDF3BB06}"/>
    <pc:docChg chg="modSld">
      <pc:chgData name="Bunni Ranadeesh" userId="03c1ed1ded996da4" providerId="LiveId" clId="{2C501C05-080F-4D28-AD34-ED15DDF3BB06}" dt="2025-08-20T09:46:04.871" v="18" actId="13926"/>
      <pc:docMkLst>
        <pc:docMk/>
      </pc:docMkLst>
      <pc:sldChg chg="modSp mod">
        <pc:chgData name="Bunni Ranadeesh" userId="03c1ed1ded996da4" providerId="LiveId" clId="{2C501C05-080F-4D28-AD34-ED15DDF3BB06}" dt="2025-08-20T02:05:17.385" v="2" actId="13926"/>
        <pc:sldMkLst>
          <pc:docMk/>
          <pc:sldMk cId="1054016315" sldId="264"/>
        </pc:sldMkLst>
        <pc:spChg chg="mod">
          <ac:chgData name="Bunni Ranadeesh" userId="03c1ed1ded996da4" providerId="LiveId" clId="{2C501C05-080F-4D28-AD34-ED15DDF3BB06}" dt="2025-08-20T02:05:17.385" v="2" actId="13926"/>
          <ac:spMkLst>
            <pc:docMk/>
            <pc:sldMk cId="1054016315" sldId="264"/>
            <ac:spMk id="3" creationId="{00000000-0000-0000-0000-000000000000}"/>
          </ac:spMkLst>
        </pc:spChg>
      </pc:sldChg>
      <pc:sldChg chg="modSp mod">
        <pc:chgData name="Bunni Ranadeesh" userId="03c1ed1ded996da4" providerId="LiveId" clId="{2C501C05-080F-4D28-AD34-ED15DDF3BB06}" dt="2025-08-20T02:09:05.494" v="4" actId="13926"/>
        <pc:sldMkLst>
          <pc:docMk/>
          <pc:sldMk cId="3909720904" sldId="265"/>
        </pc:sldMkLst>
        <pc:spChg chg="mod">
          <ac:chgData name="Bunni Ranadeesh" userId="03c1ed1ded996da4" providerId="LiveId" clId="{2C501C05-080F-4D28-AD34-ED15DDF3BB06}" dt="2025-08-20T02:09:05.494" v="4" actId="13926"/>
          <ac:spMkLst>
            <pc:docMk/>
            <pc:sldMk cId="3909720904" sldId="265"/>
            <ac:spMk id="3" creationId="{00000000-0000-0000-0000-000000000000}"/>
          </ac:spMkLst>
        </pc:spChg>
      </pc:sldChg>
      <pc:sldChg chg="modSp mod">
        <pc:chgData name="Bunni Ranadeesh" userId="03c1ed1ded996da4" providerId="LiveId" clId="{2C501C05-080F-4D28-AD34-ED15DDF3BB06}" dt="2025-08-20T02:14:49.238" v="8" actId="207"/>
        <pc:sldMkLst>
          <pc:docMk/>
          <pc:sldMk cId="3018063378" sldId="267"/>
        </pc:sldMkLst>
        <pc:spChg chg="mod">
          <ac:chgData name="Bunni Ranadeesh" userId="03c1ed1ded996da4" providerId="LiveId" clId="{2C501C05-080F-4D28-AD34-ED15DDF3BB06}" dt="2025-08-20T02:14:49.238" v="8" actId="207"/>
          <ac:spMkLst>
            <pc:docMk/>
            <pc:sldMk cId="3018063378" sldId="267"/>
            <ac:spMk id="3" creationId="{00000000-0000-0000-0000-000000000000}"/>
          </ac:spMkLst>
        </pc:spChg>
      </pc:sldChg>
      <pc:sldChg chg="modSp mod">
        <pc:chgData name="Bunni Ranadeesh" userId="03c1ed1ded996da4" providerId="LiveId" clId="{2C501C05-080F-4D28-AD34-ED15DDF3BB06}" dt="2025-08-20T02:15:25.707" v="9" actId="13926"/>
        <pc:sldMkLst>
          <pc:docMk/>
          <pc:sldMk cId="2943031640" sldId="268"/>
        </pc:sldMkLst>
        <pc:spChg chg="mod">
          <ac:chgData name="Bunni Ranadeesh" userId="03c1ed1ded996da4" providerId="LiveId" clId="{2C501C05-080F-4D28-AD34-ED15DDF3BB06}" dt="2025-08-20T02:15:25.707" v="9" actId="13926"/>
          <ac:spMkLst>
            <pc:docMk/>
            <pc:sldMk cId="2943031640" sldId="268"/>
            <ac:spMk id="3" creationId="{00000000-0000-0000-0000-000000000000}"/>
          </ac:spMkLst>
        </pc:spChg>
      </pc:sldChg>
      <pc:sldChg chg="modSp mod">
        <pc:chgData name="Bunni Ranadeesh" userId="03c1ed1ded996da4" providerId="LiveId" clId="{2C501C05-080F-4D28-AD34-ED15DDF3BB06}" dt="2025-08-20T09:46:04.871" v="18" actId="13926"/>
        <pc:sldMkLst>
          <pc:docMk/>
          <pc:sldMk cId="653244686" sldId="274"/>
        </pc:sldMkLst>
        <pc:spChg chg="mod">
          <ac:chgData name="Bunni Ranadeesh" userId="03c1ed1ded996da4" providerId="LiveId" clId="{2C501C05-080F-4D28-AD34-ED15DDF3BB06}" dt="2025-08-20T09:46:04.871" v="18" actId="13926"/>
          <ac:spMkLst>
            <pc:docMk/>
            <pc:sldMk cId="653244686" sldId="274"/>
            <ac:spMk id="3" creationId="{00000000-0000-0000-0000-000000000000}"/>
          </ac:spMkLst>
        </pc:spChg>
      </pc:sldChg>
      <pc:sldChg chg="modSp mod">
        <pc:chgData name="Bunni Ranadeesh" userId="03c1ed1ded996da4" providerId="LiveId" clId="{2C501C05-080F-4D28-AD34-ED15DDF3BB06}" dt="2025-08-20T03:01:34.146" v="10" actId="13926"/>
        <pc:sldMkLst>
          <pc:docMk/>
          <pc:sldMk cId="3855950280" sldId="275"/>
        </pc:sldMkLst>
        <pc:spChg chg="mod">
          <ac:chgData name="Bunni Ranadeesh" userId="03c1ed1ded996da4" providerId="LiveId" clId="{2C501C05-080F-4D28-AD34-ED15DDF3BB06}" dt="2025-08-20T03:01:34.146" v="10" actId="13926"/>
          <ac:spMkLst>
            <pc:docMk/>
            <pc:sldMk cId="3855950280" sldId="275"/>
            <ac:spMk id="3" creationId="{00000000-0000-0000-0000-000000000000}"/>
          </ac:spMkLst>
        </pc:spChg>
      </pc:sldChg>
      <pc:sldChg chg="modSp mod">
        <pc:chgData name="Bunni Ranadeesh" userId="03c1ed1ded996da4" providerId="LiveId" clId="{2C501C05-080F-4D28-AD34-ED15DDF3BB06}" dt="2025-08-20T03:05:38.635" v="12" actId="13926"/>
        <pc:sldMkLst>
          <pc:docMk/>
          <pc:sldMk cId="1018877908" sldId="276"/>
        </pc:sldMkLst>
        <pc:spChg chg="mod">
          <ac:chgData name="Bunni Ranadeesh" userId="03c1ed1ded996da4" providerId="LiveId" clId="{2C501C05-080F-4D28-AD34-ED15DDF3BB06}" dt="2025-08-20T03:05:38.635" v="12" actId="13926"/>
          <ac:spMkLst>
            <pc:docMk/>
            <pc:sldMk cId="1018877908" sldId="276"/>
            <ac:spMk id="3" creationId="{00000000-0000-0000-0000-000000000000}"/>
          </ac:spMkLst>
        </pc:spChg>
      </pc:sldChg>
      <pc:sldChg chg="modSp mod">
        <pc:chgData name="Bunni Ranadeesh" userId="03c1ed1ded996da4" providerId="LiveId" clId="{2C501C05-080F-4D28-AD34-ED15DDF3BB06}" dt="2025-08-20T03:07:46.899" v="14" actId="13926"/>
        <pc:sldMkLst>
          <pc:docMk/>
          <pc:sldMk cId="3352498530" sldId="277"/>
        </pc:sldMkLst>
        <pc:spChg chg="mod">
          <ac:chgData name="Bunni Ranadeesh" userId="03c1ed1ded996da4" providerId="LiveId" clId="{2C501C05-080F-4D28-AD34-ED15DDF3BB06}" dt="2025-08-20T03:07:46.899" v="14" actId="13926"/>
          <ac:spMkLst>
            <pc:docMk/>
            <pc:sldMk cId="3352498530" sldId="277"/>
            <ac:spMk id="3" creationId="{00000000-0000-0000-0000-000000000000}"/>
          </ac:spMkLst>
        </pc:spChg>
      </pc:sldChg>
      <pc:sldChg chg="modSp mod">
        <pc:chgData name="Bunni Ranadeesh" userId="03c1ed1ded996da4" providerId="LiveId" clId="{2C501C05-080F-4D28-AD34-ED15DDF3BB06}" dt="2025-08-20T08:07:53.088" v="16" actId="13926"/>
        <pc:sldMkLst>
          <pc:docMk/>
          <pc:sldMk cId="1155135419" sldId="278"/>
        </pc:sldMkLst>
        <pc:spChg chg="mod">
          <ac:chgData name="Bunni Ranadeesh" userId="03c1ed1ded996da4" providerId="LiveId" clId="{2C501C05-080F-4D28-AD34-ED15DDF3BB06}" dt="2025-08-20T08:07:53.088" v="16" actId="13926"/>
          <ac:spMkLst>
            <pc:docMk/>
            <pc:sldMk cId="1155135419" sldId="278"/>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29A392D-C2E2-4B4A-9626-0FD1A947F134}"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1868135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9A392D-C2E2-4B4A-9626-0FD1A947F134}"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2879646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9A392D-C2E2-4B4A-9626-0FD1A947F134}"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1013222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29A392D-C2E2-4B4A-9626-0FD1A947F134}"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2489396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29A392D-C2E2-4B4A-9626-0FD1A947F134}" type="datetimeFigureOut">
              <a:rPr lang="en-IN" smtClean="0"/>
              <a:t>20-08-2025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4197022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29A392D-C2E2-4B4A-9626-0FD1A947F134}" type="datetimeFigureOut">
              <a:rPr lang="en-IN" smtClean="0"/>
              <a:t>20-08-2025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3185106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A392D-C2E2-4B4A-9626-0FD1A947F134}" type="datetimeFigureOut">
              <a:rPr lang="en-IN" smtClean="0"/>
              <a:t>20-08-2025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1633092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29A392D-C2E2-4B4A-9626-0FD1A947F134}"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4104639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29A392D-C2E2-4B4A-9626-0FD1A947F134}"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3931442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9A392D-C2E2-4B4A-9626-0FD1A947F134}"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931939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9A392D-C2E2-4B4A-9626-0FD1A947F134}"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693E05-2D36-4F0E-9EF0-8CAB5F29C3CA}" type="slidenum">
              <a:rPr lang="en-IN" smtClean="0"/>
              <a:t>‹#›</a:t>
            </a:fld>
            <a:endParaRPr lang="en-IN"/>
          </a:p>
        </p:txBody>
      </p:sp>
    </p:spTree>
    <p:extLst>
      <p:ext uri="{BB962C8B-B14F-4D97-AF65-F5344CB8AC3E}">
        <p14:creationId xmlns:p14="http://schemas.microsoft.com/office/powerpoint/2010/main" val="3591181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9A392D-C2E2-4B4A-9626-0FD1A947F134}" type="datetimeFigureOut">
              <a:rPr lang="en-IN" smtClean="0"/>
              <a:t>20-08-2025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693E05-2D36-4F0E-9EF0-8CAB5F29C3CA}" type="slidenum">
              <a:rPr lang="en-IN" smtClean="0"/>
              <a:t>‹#›</a:t>
            </a:fld>
            <a:endParaRPr lang="en-IN"/>
          </a:p>
        </p:txBody>
      </p:sp>
    </p:spTree>
    <p:extLst>
      <p:ext uri="{BB962C8B-B14F-4D97-AF65-F5344CB8AC3E}">
        <p14:creationId xmlns:p14="http://schemas.microsoft.com/office/powerpoint/2010/main" val="625416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dirty="0"/>
              <a:t>How do convolutional neural networks work?</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71479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4619"/>
            <a:ext cx="10515600" cy="5452344"/>
          </a:xfrm>
        </p:spPr>
        <p:txBody>
          <a:bodyPr>
            <a:normAutofit fontScale="92500" lnSpcReduction="20000"/>
          </a:bodyPr>
          <a:lstStyle/>
          <a:p>
            <a:pPr marL="0" indent="0" fontAlgn="base">
              <a:buNone/>
            </a:pPr>
            <a:r>
              <a:rPr lang="en-IN" dirty="0"/>
              <a:t>Convolutional neural networks are distinguished from other neural networks by their superior performance with image, speech, or audio signal inputs. They have three main types of layers, which are:</a:t>
            </a:r>
          </a:p>
          <a:p>
            <a:pPr lvl="1" fontAlgn="base"/>
            <a:r>
              <a:rPr lang="en-IN" dirty="0"/>
              <a:t>Convolutional layer</a:t>
            </a:r>
          </a:p>
          <a:p>
            <a:pPr lvl="1" fontAlgn="base"/>
            <a:r>
              <a:rPr lang="en-IN" dirty="0"/>
              <a:t>Pooling layer</a:t>
            </a:r>
          </a:p>
          <a:p>
            <a:pPr lvl="1" fontAlgn="base"/>
            <a:r>
              <a:rPr lang="en-IN" dirty="0"/>
              <a:t>Fully-connected (FC) layer</a:t>
            </a:r>
          </a:p>
          <a:p>
            <a:r>
              <a:rPr lang="en-IN" dirty="0"/>
              <a:t>The convolutional layer is the first layer while the FC layer is the last.</a:t>
            </a:r>
          </a:p>
          <a:p>
            <a:r>
              <a:rPr lang="en-IN" dirty="0"/>
              <a:t>From the convolutional layer to the FC layer, the complexity of the CNN increases. </a:t>
            </a:r>
          </a:p>
          <a:p>
            <a:r>
              <a:rPr lang="en-IN" dirty="0"/>
              <a:t>It is this increasing complexity that allows the CNN to successively identify larger portions and more complex features of an image until it finally identifies the object in its entirety.</a:t>
            </a:r>
          </a:p>
          <a:p>
            <a:r>
              <a:rPr lang="en-IN" dirty="0"/>
              <a:t>i.e. Earlier layers focus on simple features, such as </a:t>
            </a:r>
            <a:r>
              <a:rPr lang="en-IN" dirty="0" err="1"/>
              <a:t>colors</a:t>
            </a:r>
            <a:r>
              <a:rPr lang="en-IN" dirty="0"/>
              <a:t> and edges. As the image data progresses through the layers of the CNN, it starts to recognize larger elements or shapes of the object until it finally identifies the intended object.</a:t>
            </a:r>
          </a:p>
          <a:p>
            <a:endParaRPr lang="en-IN" dirty="0"/>
          </a:p>
          <a:p>
            <a:endParaRPr lang="en-IN" dirty="0"/>
          </a:p>
        </p:txBody>
      </p:sp>
    </p:spTree>
    <p:extLst>
      <p:ext uri="{BB962C8B-B14F-4D97-AF65-F5344CB8AC3E}">
        <p14:creationId xmlns:p14="http://schemas.microsoft.com/office/powerpoint/2010/main" val="1382949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Convolutional layer. </a:t>
            </a:r>
            <a:endParaRPr lang="en-IN" dirty="0"/>
          </a:p>
        </p:txBody>
      </p:sp>
      <p:sp>
        <p:nvSpPr>
          <p:cNvPr id="3" name="Content Placeholder 2"/>
          <p:cNvSpPr>
            <a:spLocks noGrp="1"/>
          </p:cNvSpPr>
          <p:nvPr>
            <p:ph idx="1"/>
          </p:nvPr>
        </p:nvSpPr>
        <p:spPr/>
        <p:txBody>
          <a:bodyPr>
            <a:normAutofit/>
          </a:bodyPr>
          <a:lstStyle/>
          <a:p>
            <a:r>
              <a:rPr lang="en-IN" dirty="0"/>
              <a:t>The convolutional layer is the core building block of a CNN  and the majority of computations happen in the convolutional layer.</a:t>
            </a:r>
          </a:p>
          <a:p>
            <a:r>
              <a:rPr lang="en-IN" dirty="0"/>
              <a:t>A second convolutional layer can follow the initial convolutional layer. </a:t>
            </a:r>
          </a:p>
          <a:p>
            <a:r>
              <a:rPr lang="en-IN" dirty="0"/>
              <a:t>It requires a few components, which are input data, a kernel/filter, and a feature map.</a:t>
            </a:r>
          </a:p>
          <a:p>
            <a:r>
              <a:rPr lang="en-IN" dirty="0"/>
              <a:t>The process of convolution involves a kernel or filter inside this layer moving across the receptive fields of the image, checking if a feature is present in the image.</a:t>
            </a:r>
          </a:p>
        </p:txBody>
      </p:sp>
    </p:spTree>
    <p:extLst>
      <p:ext uri="{BB962C8B-B14F-4D97-AF65-F5344CB8AC3E}">
        <p14:creationId xmlns:p14="http://schemas.microsoft.com/office/powerpoint/2010/main" val="1621193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5170"/>
            <a:ext cx="10515600" cy="5141793"/>
          </a:xfrm>
        </p:spPr>
        <p:txBody>
          <a:bodyPr/>
          <a:lstStyle/>
          <a:p>
            <a:r>
              <a:rPr lang="en-IN" dirty="0"/>
              <a:t>Over multiple iterations, the kernel sweeps over the entire image. </a:t>
            </a:r>
          </a:p>
          <a:p>
            <a:r>
              <a:rPr lang="en-IN" dirty="0"/>
              <a:t>After each iteration a dot product is calculated between the input pixels and the filter. </a:t>
            </a:r>
          </a:p>
          <a:p>
            <a:r>
              <a:rPr lang="en-IN" dirty="0"/>
              <a:t>The final output from the series of dots is known as a feature map or convolved feature. </a:t>
            </a:r>
          </a:p>
          <a:p>
            <a:r>
              <a:rPr lang="en-IN" dirty="0"/>
              <a:t>Ultimately, the image is converted into numerical values in this layer, which allows the CNN to interpret the image and extract relevant patterns from it.</a:t>
            </a:r>
          </a:p>
          <a:p>
            <a:endParaRPr lang="en-IN" dirty="0"/>
          </a:p>
        </p:txBody>
      </p:sp>
    </p:spTree>
    <p:extLst>
      <p:ext uri="{BB962C8B-B14F-4D97-AF65-F5344CB8AC3E}">
        <p14:creationId xmlns:p14="http://schemas.microsoft.com/office/powerpoint/2010/main" val="4028220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4015"/>
            <a:ext cx="10515600" cy="5322948"/>
          </a:xfrm>
        </p:spPr>
        <p:txBody>
          <a:bodyPr>
            <a:normAutofit/>
          </a:bodyPr>
          <a:lstStyle/>
          <a:p>
            <a:pPr marL="0" indent="0">
              <a:buNone/>
            </a:pPr>
            <a:r>
              <a:rPr lang="en-IN" dirty="0"/>
              <a:t>Example:</a:t>
            </a:r>
          </a:p>
          <a:p>
            <a:pPr fontAlgn="base"/>
            <a:r>
              <a:rPr lang="en-IN" dirty="0"/>
              <a:t>Assume the input is a </a:t>
            </a:r>
            <a:r>
              <a:rPr lang="en-IN" dirty="0" err="1"/>
              <a:t>color</a:t>
            </a:r>
            <a:r>
              <a:rPr lang="en-IN" dirty="0"/>
              <a:t> image, which is made up of a matrix of pixels in 3D.</a:t>
            </a:r>
          </a:p>
          <a:p>
            <a:pPr fontAlgn="base"/>
            <a:r>
              <a:rPr lang="en-IN" dirty="0"/>
              <a:t> This means that the input will have three dimensions—a height, width, and depth—which correspond to RGB in an image. </a:t>
            </a:r>
          </a:p>
          <a:p>
            <a:pPr fontAlgn="base"/>
            <a:r>
              <a:rPr lang="en-IN" dirty="0"/>
              <a:t>We also have a feature detector, also known as a kernel or a filter, which will move across the receptive fields of the image, checking if the feature is present. This process is known as a convolution.</a:t>
            </a:r>
          </a:p>
          <a:p>
            <a:pPr fontAlgn="base"/>
            <a:r>
              <a:rPr lang="en-IN" dirty="0"/>
              <a:t>The feature detector is a two-dimensional (2-D) array of weights, which represents part of the image.</a:t>
            </a:r>
          </a:p>
          <a:p>
            <a:pPr marL="0" indent="0">
              <a:buNone/>
            </a:pPr>
            <a:endParaRPr lang="en-IN" dirty="0"/>
          </a:p>
        </p:txBody>
      </p:sp>
    </p:spTree>
    <p:extLst>
      <p:ext uri="{BB962C8B-B14F-4D97-AF65-F5344CB8AC3E}">
        <p14:creationId xmlns:p14="http://schemas.microsoft.com/office/powerpoint/2010/main" val="2583341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7751"/>
            <a:ext cx="10515600" cy="5409212"/>
          </a:xfrm>
        </p:spPr>
        <p:txBody>
          <a:bodyPr/>
          <a:lstStyle/>
          <a:p>
            <a:pPr fontAlgn="base"/>
            <a:r>
              <a:rPr lang="en-IN" dirty="0"/>
              <a:t>While they can vary in size, the filter size is typically a 3x3 matrix; this also determines the size of the receptive field. </a:t>
            </a:r>
          </a:p>
          <a:p>
            <a:pPr fontAlgn="base"/>
            <a:r>
              <a:rPr lang="en-IN" dirty="0"/>
              <a:t>The filter is then applied to an area of the image, and a dot product is calculated between the input pixels and the filter. </a:t>
            </a:r>
          </a:p>
          <a:p>
            <a:pPr fontAlgn="base"/>
            <a:r>
              <a:rPr lang="en-IN" dirty="0"/>
              <a:t>This dot product is then fed into an output array. </a:t>
            </a:r>
          </a:p>
          <a:p>
            <a:pPr fontAlgn="base"/>
            <a:r>
              <a:rPr lang="en-IN" dirty="0"/>
              <a:t>Afterwards, the filter shifts by a stride, repeating the process until the kernel has swept across the entire image. The final output from the series of dot products from the input and the filter is known as a feature map, activation map, or a convolved feature.</a:t>
            </a:r>
          </a:p>
          <a:p>
            <a:endParaRPr lang="en-IN" dirty="0"/>
          </a:p>
        </p:txBody>
      </p:sp>
    </p:spTree>
    <p:extLst>
      <p:ext uri="{BB962C8B-B14F-4D97-AF65-F5344CB8AC3E}">
        <p14:creationId xmlns:p14="http://schemas.microsoft.com/office/powerpoint/2010/main" val="1336525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74785"/>
            <a:ext cx="10515600" cy="5202178"/>
          </a:xfrm>
        </p:spPr>
        <p:txBody>
          <a:bodyPr>
            <a:normAutofit/>
          </a:bodyPr>
          <a:lstStyle/>
          <a:p>
            <a:r>
              <a:rPr lang="en-IN" dirty="0"/>
              <a:t>The weights in the feature detector remain fixed as it moves across the image, which is also known as parameter sharing. </a:t>
            </a:r>
          </a:p>
          <a:p>
            <a:r>
              <a:rPr lang="en-IN" dirty="0"/>
              <a:t>Some parameters, like the weight values, adjust during training through the process of backpropagation and gradient descent. </a:t>
            </a:r>
          </a:p>
          <a:p>
            <a:r>
              <a:rPr lang="en-IN" dirty="0"/>
              <a:t>However, there are three hyper parameters which affect the volume size of the output that need to be set before the training of the neural network begins.</a:t>
            </a:r>
          </a:p>
          <a:p>
            <a:pPr lvl="1"/>
            <a:r>
              <a:rPr lang="en-IN" b="1" dirty="0"/>
              <a:t>Number of filters </a:t>
            </a:r>
          </a:p>
          <a:p>
            <a:pPr lvl="1"/>
            <a:r>
              <a:rPr lang="en-IN" b="1" dirty="0"/>
              <a:t>Stride</a:t>
            </a:r>
          </a:p>
          <a:p>
            <a:pPr lvl="1"/>
            <a:r>
              <a:rPr lang="en-IN" b="1" dirty="0"/>
              <a:t>Zero-padding</a:t>
            </a:r>
            <a:r>
              <a:rPr lang="en-IN" dirty="0"/>
              <a:t> </a:t>
            </a:r>
          </a:p>
        </p:txBody>
      </p:sp>
    </p:spTree>
    <p:extLst>
      <p:ext uri="{BB962C8B-B14F-4D97-AF65-F5344CB8AC3E}">
        <p14:creationId xmlns:p14="http://schemas.microsoft.com/office/powerpoint/2010/main" val="588859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7313"/>
            <a:ext cx="10515600" cy="5029650"/>
          </a:xfrm>
        </p:spPr>
        <p:txBody>
          <a:bodyPr>
            <a:normAutofit/>
          </a:bodyPr>
          <a:lstStyle/>
          <a:p>
            <a:pPr marL="514350" indent="-514350" fontAlgn="base">
              <a:buAutoNum type="arabicPeriod"/>
            </a:pPr>
            <a:r>
              <a:rPr lang="en-IN" dirty="0"/>
              <a:t>The</a:t>
            </a:r>
            <a:r>
              <a:rPr lang="en-IN" b="1" dirty="0"/>
              <a:t> number of filters </a:t>
            </a:r>
            <a:r>
              <a:rPr lang="en-IN" dirty="0"/>
              <a:t>affects the </a:t>
            </a:r>
            <a:r>
              <a:rPr lang="en-IN" dirty="0">
                <a:highlight>
                  <a:srgbClr val="FFFF00"/>
                </a:highlight>
              </a:rPr>
              <a:t>depth of the output</a:t>
            </a:r>
            <a:r>
              <a:rPr lang="en-IN" dirty="0"/>
              <a:t>. For example, three distinct filters would yield three different feature maps, creating a depth of three. </a:t>
            </a:r>
          </a:p>
          <a:p>
            <a:pPr marL="514350" indent="-514350" fontAlgn="base">
              <a:buAutoNum type="arabicPeriod"/>
            </a:pPr>
            <a:endParaRPr lang="en-IN" b="1" dirty="0"/>
          </a:p>
          <a:p>
            <a:pPr marL="514350" indent="-514350" fontAlgn="base">
              <a:buAutoNum type="arabicPeriod"/>
            </a:pPr>
            <a:r>
              <a:rPr lang="en-IN" b="1" dirty="0"/>
              <a:t>Stride</a:t>
            </a:r>
            <a:r>
              <a:rPr lang="en-IN" dirty="0"/>
              <a:t> is the distance, or </a:t>
            </a:r>
            <a:r>
              <a:rPr lang="en-IN" dirty="0">
                <a:highlight>
                  <a:srgbClr val="FFFF00"/>
                </a:highlight>
              </a:rPr>
              <a:t>number of pixels, that the kernel moves over the input matrix</a:t>
            </a:r>
            <a:r>
              <a:rPr lang="en-IN" dirty="0"/>
              <a:t>. While stride values of two or greater is rare, a larger stride yields a smaller output.</a:t>
            </a:r>
          </a:p>
          <a:p>
            <a:pPr marL="514350" indent="-514350" fontAlgn="base">
              <a:buAutoNum type="arabicPeriod"/>
            </a:pPr>
            <a:endParaRPr lang="en-IN" b="1" dirty="0"/>
          </a:p>
          <a:p>
            <a:pPr marL="514350" indent="-514350" fontAlgn="base">
              <a:buAutoNum type="arabicPeriod"/>
            </a:pPr>
            <a:r>
              <a:rPr lang="en-IN" b="1" dirty="0"/>
              <a:t>Zero-padding</a:t>
            </a:r>
            <a:r>
              <a:rPr lang="en-IN" dirty="0"/>
              <a:t> is usually used when the </a:t>
            </a:r>
            <a:r>
              <a:rPr lang="en-IN" dirty="0">
                <a:highlight>
                  <a:srgbClr val="FFFF00"/>
                </a:highlight>
              </a:rPr>
              <a:t>filters do not fit the input image</a:t>
            </a:r>
            <a:r>
              <a:rPr lang="en-IN" dirty="0"/>
              <a:t>. This sets all elements that fall outside of the input matrix to zero, producing a larger or equally sized output. </a:t>
            </a:r>
          </a:p>
        </p:txBody>
      </p:sp>
    </p:spTree>
    <p:extLst>
      <p:ext uri="{BB962C8B-B14F-4D97-AF65-F5344CB8AC3E}">
        <p14:creationId xmlns:p14="http://schemas.microsoft.com/office/powerpoint/2010/main" val="1054016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7366"/>
            <a:ext cx="10515600" cy="5469597"/>
          </a:xfrm>
        </p:spPr>
        <p:txBody>
          <a:bodyPr>
            <a:normAutofit/>
          </a:bodyPr>
          <a:lstStyle/>
          <a:p>
            <a:pPr lvl="0">
              <a:lnSpc>
                <a:spcPct val="100000"/>
              </a:lnSpc>
            </a:pPr>
            <a:r>
              <a:rPr lang="en-IN" b="1" dirty="0"/>
              <a:t>Input:</a:t>
            </a:r>
            <a:r>
              <a:rPr lang="en-IN" dirty="0"/>
              <a:t> n X n</a:t>
            </a:r>
          </a:p>
          <a:p>
            <a:pPr lvl="0">
              <a:lnSpc>
                <a:spcPct val="100000"/>
              </a:lnSpc>
            </a:pPr>
            <a:r>
              <a:rPr lang="en-IN" b="1" dirty="0"/>
              <a:t>Padding:</a:t>
            </a:r>
            <a:r>
              <a:rPr lang="en-IN" dirty="0"/>
              <a:t> p</a:t>
            </a:r>
          </a:p>
          <a:p>
            <a:pPr lvl="0">
              <a:lnSpc>
                <a:spcPct val="100000"/>
              </a:lnSpc>
            </a:pPr>
            <a:r>
              <a:rPr lang="en-IN" b="1" dirty="0"/>
              <a:t>Filter size:</a:t>
            </a:r>
            <a:r>
              <a:rPr lang="en-IN" dirty="0"/>
              <a:t> f X f</a:t>
            </a:r>
          </a:p>
          <a:p>
            <a:pPr lvl="0">
              <a:lnSpc>
                <a:spcPct val="100000"/>
              </a:lnSpc>
            </a:pPr>
            <a:r>
              <a:rPr lang="en-IN" b="1" dirty="0"/>
              <a:t>Output:</a:t>
            </a:r>
            <a:r>
              <a:rPr lang="en-IN" dirty="0"/>
              <a:t> (n+2p-f+1) X (n+2p-f+1)</a:t>
            </a:r>
          </a:p>
          <a:p>
            <a:pPr marL="0" indent="0" fontAlgn="base">
              <a:lnSpc>
                <a:spcPct val="100000"/>
              </a:lnSpc>
              <a:buNone/>
            </a:pPr>
            <a:r>
              <a:rPr lang="en-IN" dirty="0"/>
              <a:t>There are three types of padding:</a:t>
            </a:r>
          </a:p>
          <a:p>
            <a:pPr lvl="1" fontAlgn="base">
              <a:lnSpc>
                <a:spcPct val="100000"/>
              </a:lnSpc>
            </a:pPr>
            <a:r>
              <a:rPr lang="en-IN" b="1" dirty="0"/>
              <a:t>Valid padding:</a:t>
            </a:r>
            <a:r>
              <a:rPr lang="en-IN" dirty="0"/>
              <a:t> This is also known as no padding. In this case, the last convolution is dropped if dimensions do not align - (n-f+1) X (n-f+1)</a:t>
            </a:r>
          </a:p>
          <a:p>
            <a:pPr lvl="1" fontAlgn="base">
              <a:lnSpc>
                <a:spcPct val="100000"/>
              </a:lnSpc>
            </a:pPr>
            <a:r>
              <a:rPr lang="en-IN" b="1" dirty="0"/>
              <a:t>Same padding:</a:t>
            </a:r>
            <a:r>
              <a:rPr lang="en-IN" dirty="0"/>
              <a:t> This padding ensures that the output layer has the same size as the input layer - n+2p-f+1 = n; so p = (f-1)/2</a:t>
            </a:r>
            <a:br>
              <a:rPr lang="en-IN" dirty="0"/>
            </a:br>
            <a:r>
              <a:rPr lang="en-IN" b="1" dirty="0"/>
              <a:t>Full padding: </a:t>
            </a:r>
            <a:r>
              <a:rPr lang="en-IN" dirty="0"/>
              <a:t>This type of padding increases the size of the output by adding zeros to the border of the input.</a:t>
            </a:r>
          </a:p>
          <a:p>
            <a:pPr lvl="0"/>
            <a:endParaRPr lang="en-IN" dirty="0"/>
          </a:p>
          <a:p>
            <a:endParaRPr lang="en-IN" dirty="0"/>
          </a:p>
        </p:txBody>
      </p:sp>
    </p:spTree>
    <p:extLst>
      <p:ext uri="{BB962C8B-B14F-4D97-AF65-F5344CB8AC3E}">
        <p14:creationId xmlns:p14="http://schemas.microsoft.com/office/powerpoint/2010/main" val="2564985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9125"/>
            <a:ext cx="10515600" cy="5417838"/>
          </a:xfrm>
        </p:spPr>
        <p:txBody>
          <a:bodyPr>
            <a:normAutofit/>
          </a:bodyPr>
          <a:lstStyle/>
          <a:p>
            <a:r>
              <a:rPr lang="en-IN" dirty="0"/>
              <a:t>After each convolution operation, a CNN applies a Rectified Linear Unit (</a:t>
            </a:r>
            <a:r>
              <a:rPr lang="en-IN" dirty="0" err="1"/>
              <a:t>ReLU</a:t>
            </a:r>
            <a:r>
              <a:rPr lang="en-IN" dirty="0"/>
              <a:t>) transformation to the feature map, introducing nonlinearity to the model.</a:t>
            </a:r>
          </a:p>
          <a:p>
            <a:pPr marL="0" indent="0">
              <a:buNone/>
            </a:pPr>
            <a:r>
              <a:rPr lang="en-IN" dirty="0"/>
              <a:t>Additional convolutional layer: another convolution layer can follow the initial convolution layer</a:t>
            </a:r>
          </a:p>
          <a:p>
            <a:pPr marL="0" indent="0">
              <a:buNone/>
            </a:pPr>
            <a:r>
              <a:rPr lang="en-IN" dirty="0"/>
              <a:t>When this happens, the structure of the CNN can become hierarchical as the later layers can see the pixels within the receptive fields of prior layers.  </a:t>
            </a:r>
          </a:p>
          <a:p>
            <a:pPr marL="0" indent="0">
              <a:buNone/>
            </a:pPr>
            <a:r>
              <a:rPr lang="en-IN" dirty="0"/>
              <a:t>Ultimately, </a:t>
            </a:r>
            <a:r>
              <a:rPr lang="en-IN" dirty="0">
                <a:highlight>
                  <a:srgbClr val="FFFF00"/>
                </a:highlight>
              </a:rPr>
              <a:t>the convolutional layer converts the image into numerical values,</a:t>
            </a:r>
            <a:r>
              <a:rPr lang="en-IN" dirty="0"/>
              <a:t> allowing the neural network to interpret </a:t>
            </a:r>
            <a:r>
              <a:rPr lang="en-IN" dirty="0">
                <a:highlight>
                  <a:srgbClr val="FFFF00"/>
                </a:highlight>
              </a:rPr>
              <a:t>and extract relevant patterns.</a:t>
            </a:r>
          </a:p>
          <a:p>
            <a:pPr marL="0" indent="0">
              <a:buNone/>
            </a:pPr>
            <a:endParaRPr lang="en-IN" dirty="0"/>
          </a:p>
        </p:txBody>
      </p:sp>
    </p:spTree>
    <p:extLst>
      <p:ext uri="{BB962C8B-B14F-4D97-AF65-F5344CB8AC3E}">
        <p14:creationId xmlns:p14="http://schemas.microsoft.com/office/powerpoint/2010/main" val="3909720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eature map"/>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34274" y="1368425"/>
            <a:ext cx="7723452" cy="4351338"/>
          </a:xfrm>
          <a:prstGeom prst="rect">
            <a:avLst/>
          </a:prstGeom>
          <a:noFill/>
          <a:ln>
            <a:noFill/>
          </a:ln>
        </p:spPr>
      </p:pic>
    </p:spTree>
    <p:extLst>
      <p:ext uri="{BB962C8B-B14F-4D97-AF65-F5344CB8AC3E}">
        <p14:creationId xmlns:p14="http://schemas.microsoft.com/office/powerpoint/2010/main" val="1659136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Pooling layer</a:t>
            </a:r>
          </a:p>
        </p:txBody>
      </p:sp>
      <p:sp>
        <p:nvSpPr>
          <p:cNvPr id="3" name="Content Placeholder 2"/>
          <p:cNvSpPr>
            <a:spLocks noGrp="1"/>
          </p:cNvSpPr>
          <p:nvPr>
            <p:ph idx="1"/>
          </p:nvPr>
        </p:nvSpPr>
        <p:spPr/>
        <p:txBody>
          <a:bodyPr>
            <a:normAutofit/>
          </a:bodyPr>
          <a:lstStyle/>
          <a:p>
            <a:r>
              <a:rPr lang="en-IN" dirty="0"/>
              <a:t>Pooling layers, also known as </a:t>
            </a:r>
            <a:r>
              <a:rPr lang="en-IN" dirty="0" err="1">
                <a:highlight>
                  <a:srgbClr val="FFFF00"/>
                </a:highlight>
              </a:rPr>
              <a:t>downsampling</a:t>
            </a:r>
            <a:r>
              <a:rPr lang="en-IN" dirty="0"/>
              <a:t>, </a:t>
            </a:r>
            <a:r>
              <a:rPr lang="en-IN" dirty="0">
                <a:highlight>
                  <a:srgbClr val="FFFF00"/>
                </a:highlight>
              </a:rPr>
              <a:t>conducts dimensionality reduction</a:t>
            </a:r>
            <a:r>
              <a:rPr lang="en-IN" dirty="0"/>
              <a:t>, reducing the number of parameters in the input. </a:t>
            </a:r>
          </a:p>
          <a:p>
            <a:r>
              <a:rPr lang="en-IN" dirty="0"/>
              <a:t>Similar to the convolutional layer, the pooling operation sweeps a filter across the entire input, but the difference is that this filter does not have any weights. </a:t>
            </a:r>
          </a:p>
          <a:p>
            <a:r>
              <a:rPr lang="en-IN" dirty="0"/>
              <a:t>Instead, the </a:t>
            </a:r>
            <a:r>
              <a:rPr lang="en-IN" dirty="0">
                <a:highlight>
                  <a:srgbClr val="FFFF00"/>
                </a:highlight>
              </a:rPr>
              <a:t>kernel applies an aggregation function </a:t>
            </a:r>
            <a:r>
              <a:rPr lang="en-IN" dirty="0"/>
              <a:t>to the values within the receptive field, populating the output array. </a:t>
            </a:r>
          </a:p>
          <a:p>
            <a:r>
              <a:rPr lang="en-IN" dirty="0"/>
              <a:t>While a </a:t>
            </a:r>
            <a:r>
              <a:rPr lang="en-IN" dirty="0">
                <a:solidFill>
                  <a:srgbClr val="FF0000"/>
                </a:solidFill>
              </a:rPr>
              <a:t>lot of information is lost in the pooling layer</a:t>
            </a:r>
            <a:r>
              <a:rPr lang="en-IN" dirty="0"/>
              <a:t>, it also has a number of benefits to the CNN. They help to reduce complexity, improve efficiency, and limit risk of overfitting. </a:t>
            </a:r>
          </a:p>
          <a:p>
            <a:endParaRPr lang="en-IN" dirty="0"/>
          </a:p>
        </p:txBody>
      </p:sp>
    </p:spTree>
    <p:extLst>
      <p:ext uri="{BB962C8B-B14F-4D97-AF65-F5344CB8AC3E}">
        <p14:creationId xmlns:p14="http://schemas.microsoft.com/office/powerpoint/2010/main" val="3018063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pooling</a:t>
            </a:r>
          </a:p>
        </p:txBody>
      </p:sp>
      <p:sp>
        <p:nvSpPr>
          <p:cNvPr id="3" name="Content Placeholder 2"/>
          <p:cNvSpPr>
            <a:spLocks noGrp="1"/>
          </p:cNvSpPr>
          <p:nvPr>
            <p:ph idx="1"/>
          </p:nvPr>
        </p:nvSpPr>
        <p:spPr/>
        <p:txBody>
          <a:bodyPr/>
          <a:lstStyle/>
          <a:p>
            <a:pPr marL="0" indent="0" fontAlgn="base">
              <a:buNone/>
            </a:pPr>
            <a:r>
              <a:rPr lang="en-IN" dirty="0"/>
              <a:t>There are two main types of pooling:</a:t>
            </a:r>
          </a:p>
          <a:p>
            <a:pPr lvl="0" fontAlgn="base"/>
            <a:r>
              <a:rPr lang="en-IN" b="1" dirty="0"/>
              <a:t>Max pooling:</a:t>
            </a:r>
            <a:r>
              <a:rPr lang="en-IN" dirty="0"/>
              <a:t> As the filter moves across the input, it selects the pixel with the maximum value to send to the output array. As an aside, this approach tends to be used more often compared to average pooling.</a:t>
            </a:r>
          </a:p>
          <a:p>
            <a:pPr lvl="0" fontAlgn="base"/>
            <a:r>
              <a:rPr lang="en-IN" b="1" dirty="0"/>
              <a:t>Average pooling:</a:t>
            </a:r>
            <a:r>
              <a:rPr lang="en-IN" dirty="0"/>
              <a:t> As the filter moves across the input, it calculates the </a:t>
            </a:r>
            <a:r>
              <a:rPr lang="en-IN" dirty="0">
                <a:highlight>
                  <a:srgbClr val="FFFF00"/>
                </a:highlight>
              </a:rPr>
              <a:t>average value within the receptive field </a:t>
            </a:r>
            <a:r>
              <a:rPr lang="en-IN" dirty="0"/>
              <a:t>to send to the output array.</a:t>
            </a:r>
          </a:p>
          <a:p>
            <a:endParaRPr lang="en-IN" dirty="0"/>
          </a:p>
        </p:txBody>
      </p:sp>
    </p:spTree>
    <p:extLst>
      <p:ext uri="{BB962C8B-B14F-4D97-AF65-F5344CB8AC3E}">
        <p14:creationId xmlns:p14="http://schemas.microsoft.com/office/powerpoint/2010/main" val="2943031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42244" y="1825625"/>
            <a:ext cx="5907511" cy="4351338"/>
          </a:xfrm>
          <a:prstGeom prst="rect">
            <a:avLst/>
          </a:prstGeom>
          <a:noFill/>
          <a:ln>
            <a:noFill/>
          </a:ln>
        </p:spPr>
      </p:pic>
    </p:spTree>
    <p:extLst>
      <p:ext uri="{BB962C8B-B14F-4D97-AF65-F5344CB8AC3E}">
        <p14:creationId xmlns:p14="http://schemas.microsoft.com/office/powerpoint/2010/main" val="3505932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Fully-connected layer</a:t>
            </a:r>
          </a:p>
        </p:txBody>
      </p:sp>
      <p:sp>
        <p:nvSpPr>
          <p:cNvPr id="3" name="Content Placeholder 2"/>
          <p:cNvSpPr>
            <a:spLocks noGrp="1"/>
          </p:cNvSpPr>
          <p:nvPr>
            <p:ph idx="1"/>
          </p:nvPr>
        </p:nvSpPr>
        <p:spPr/>
        <p:txBody>
          <a:bodyPr>
            <a:normAutofit/>
          </a:bodyPr>
          <a:lstStyle/>
          <a:p>
            <a:pPr fontAlgn="base"/>
            <a:r>
              <a:rPr lang="en-IN" dirty="0"/>
              <a:t>In the fully-connected layer, each node in the output layer connects directly to a node in the previous layer.</a:t>
            </a:r>
          </a:p>
          <a:p>
            <a:pPr fontAlgn="base"/>
            <a:r>
              <a:rPr lang="en-IN" dirty="0"/>
              <a:t>Whereas in partially connected layers, the pixel values of the input image are not directly connected to the output layer. </a:t>
            </a:r>
          </a:p>
          <a:p>
            <a:pPr fontAlgn="base"/>
            <a:r>
              <a:rPr lang="en-IN" dirty="0"/>
              <a:t>This layer performs the task of classification based on the features extracted through the previous layers and their different filters.</a:t>
            </a:r>
          </a:p>
          <a:p>
            <a:pPr fontAlgn="base"/>
            <a:r>
              <a:rPr lang="en-IN" dirty="0"/>
              <a:t>While convolutional and pooling layers tend to use </a:t>
            </a:r>
            <a:r>
              <a:rPr lang="en-IN" dirty="0" err="1"/>
              <a:t>ReLu</a:t>
            </a:r>
            <a:r>
              <a:rPr lang="en-IN" dirty="0"/>
              <a:t> functions, FC layers usually leverage a </a:t>
            </a:r>
            <a:r>
              <a:rPr lang="en-IN" dirty="0" err="1"/>
              <a:t>softmax</a:t>
            </a:r>
            <a:r>
              <a:rPr lang="en-IN" dirty="0"/>
              <a:t> activation function to classify inputs appropriately, producing a probability from 0 to 1.</a:t>
            </a:r>
          </a:p>
          <a:p>
            <a:pPr fontAlgn="base"/>
            <a:endParaRPr lang="en-IN" dirty="0"/>
          </a:p>
          <a:p>
            <a:pPr fontAlgn="base"/>
            <a:endParaRPr lang="en-IN" dirty="0"/>
          </a:p>
          <a:p>
            <a:endParaRPr lang="en-IN" dirty="0"/>
          </a:p>
        </p:txBody>
      </p:sp>
    </p:spTree>
    <p:extLst>
      <p:ext uri="{BB962C8B-B14F-4D97-AF65-F5344CB8AC3E}">
        <p14:creationId xmlns:p14="http://schemas.microsoft.com/office/powerpoint/2010/main" val="2232042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3235" y="1825625"/>
            <a:ext cx="7465530" cy="4351338"/>
          </a:xfrm>
          <a:prstGeom prst="rect">
            <a:avLst/>
          </a:prstGeom>
          <a:noFill/>
          <a:ln>
            <a:noFill/>
          </a:ln>
        </p:spPr>
      </p:pic>
    </p:spTree>
    <p:extLst>
      <p:ext uri="{BB962C8B-B14F-4D97-AF65-F5344CB8AC3E}">
        <p14:creationId xmlns:p14="http://schemas.microsoft.com/office/powerpoint/2010/main" val="3891363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Once the input image is converted into a suitable form for the Multi-Level Perceptron, then the image is flatten into a column vector. The flattened output is fed to a feed-forward neural network and backpropagation is applied to every iteration of training. </a:t>
            </a:r>
          </a:p>
          <a:p>
            <a:r>
              <a:rPr lang="en-IN" dirty="0"/>
              <a:t>Over a series of epochs, the model is able to distinguish between dominating and certain low-level features in images and classify them using the </a:t>
            </a:r>
            <a:r>
              <a:rPr lang="en-IN" b="1" dirty="0" err="1"/>
              <a:t>Softmax</a:t>
            </a:r>
            <a:r>
              <a:rPr lang="en-IN" b="1" dirty="0"/>
              <a:t> Classification</a:t>
            </a:r>
            <a:r>
              <a:rPr lang="en-IN" dirty="0"/>
              <a:t> technique.</a:t>
            </a:r>
          </a:p>
          <a:p>
            <a:endParaRPr lang="en-IN" dirty="0"/>
          </a:p>
        </p:txBody>
      </p:sp>
    </p:spTree>
    <p:extLst>
      <p:ext uri="{BB962C8B-B14F-4D97-AF65-F5344CB8AC3E}">
        <p14:creationId xmlns:p14="http://schemas.microsoft.com/office/powerpoint/2010/main" val="830641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a:t>Various CNN Architectures</a:t>
            </a:r>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14299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LeNet</a:t>
            </a:r>
          </a:p>
        </p:txBody>
      </p:sp>
      <p:sp>
        <p:nvSpPr>
          <p:cNvPr id="3" name="Content Placeholder 2"/>
          <p:cNvSpPr>
            <a:spLocks noGrp="1"/>
          </p:cNvSpPr>
          <p:nvPr>
            <p:ph idx="1"/>
          </p:nvPr>
        </p:nvSpPr>
        <p:spPr/>
        <p:txBody>
          <a:bodyPr/>
          <a:lstStyle/>
          <a:p>
            <a:r>
              <a:rPr lang="en-IN" dirty="0"/>
              <a:t>LeNet is a pioneering CNN designed for </a:t>
            </a:r>
            <a:r>
              <a:rPr lang="en-IN" dirty="0">
                <a:highlight>
                  <a:srgbClr val="FFFF00"/>
                </a:highlight>
              </a:rPr>
              <a:t>recognizing handwritten characters</a:t>
            </a:r>
            <a:r>
              <a:rPr lang="en-IN" dirty="0"/>
              <a:t>. It was proposed by Yann </a:t>
            </a:r>
            <a:r>
              <a:rPr lang="en-IN" dirty="0" err="1"/>
              <a:t>LeCun</a:t>
            </a:r>
            <a:r>
              <a:rPr lang="en-IN" dirty="0"/>
              <a:t>, Leon </a:t>
            </a:r>
            <a:r>
              <a:rPr lang="en-IN" dirty="0" err="1"/>
              <a:t>Bottou</a:t>
            </a:r>
            <a:r>
              <a:rPr lang="en-IN" dirty="0"/>
              <a:t>, </a:t>
            </a:r>
            <a:r>
              <a:rPr lang="en-IN" dirty="0" err="1"/>
              <a:t>Yoshua</a:t>
            </a:r>
            <a:r>
              <a:rPr lang="en-IN" dirty="0"/>
              <a:t> </a:t>
            </a:r>
            <a:r>
              <a:rPr lang="en-IN" dirty="0" err="1"/>
              <a:t>Bengio</a:t>
            </a:r>
            <a:r>
              <a:rPr lang="en-IN" dirty="0"/>
              <a:t>, and Patrick </a:t>
            </a:r>
            <a:r>
              <a:rPr lang="en-IN" dirty="0" err="1"/>
              <a:t>Haffner</a:t>
            </a:r>
            <a:r>
              <a:rPr lang="en-IN" dirty="0"/>
              <a:t> in the late 1990s. </a:t>
            </a:r>
          </a:p>
          <a:p>
            <a:r>
              <a:rPr lang="en-IN" dirty="0"/>
              <a:t>LeNet consists of a series of convolutional and pooling layers, as well as a fully connected layer and </a:t>
            </a:r>
            <a:r>
              <a:rPr lang="en-IN" dirty="0" err="1"/>
              <a:t>softmax</a:t>
            </a:r>
            <a:r>
              <a:rPr lang="en-IN" dirty="0"/>
              <a:t> classifier. </a:t>
            </a:r>
          </a:p>
          <a:p>
            <a:r>
              <a:rPr lang="en-IN" dirty="0"/>
              <a:t>It was among the first successful applications of deep learning for computer vision. It has been </a:t>
            </a:r>
            <a:r>
              <a:rPr lang="en-IN" dirty="0">
                <a:highlight>
                  <a:srgbClr val="FFFF00"/>
                </a:highlight>
              </a:rPr>
              <a:t>used by banks to identify numbers written on cheques</a:t>
            </a:r>
            <a:r>
              <a:rPr lang="en-IN" dirty="0"/>
              <a:t> in grayscale input images.</a:t>
            </a:r>
          </a:p>
          <a:p>
            <a:endParaRPr lang="en-IN" dirty="0"/>
          </a:p>
        </p:txBody>
      </p:sp>
    </p:spTree>
    <p:extLst>
      <p:ext uri="{BB962C8B-B14F-4D97-AF65-F5344CB8AC3E}">
        <p14:creationId xmlns:p14="http://schemas.microsoft.com/office/powerpoint/2010/main" val="653244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AlexNet</a:t>
            </a:r>
          </a:p>
        </p:txBody>
      </p:sp>
      <p:sp>
        <p:nvSpPr>
          <p:cNvPr id="3" name="Content Placeholder 2"/>
          <p:cNvSpPr>
            <a:spLocks noGrp="1"/>
          </p:cNvSpPr>
          <p:nvPr>
            <p:ph idx="1"/>
          </p:nvPr>
        </p:nvSpPr>
        <p:spPr/>
        <p:txBody>
          <a:bodyPr>
            <a:normAutofit fontScale="92500" lnSpcReduction="20000"/>
          </a:bodyPr>
          <a:lstStyle/>
          <a:p>
            <a:r>
              <a:rPr lang="en-IN" dirty="0"/>
              <a:t>AlexNet won the ImageNet Large Scale Visual Recognition Challenge (ILSVRC) in 2012, with a significant margin of error reduction compared to the previous state-of-the-art model – down to 15% from 26%. It was designed by Alex </a:t>
            </a:r>
            <a:r>
              <a:rPr lang="en-IN" dirty="0" err="1"/>
              <a:t>Krizhevsky</a:t>
            </a:r>
            <a:r>
              <a:rPr lang="en-IN" dirty="0"/>
              <a:t>, Ilya </a:t>
            </a:r>
            <a:r>
              <a:rPr lang="en-IN" dirty="0" err="1"/>
              <a:t>Sutskever</a:t>
            </a:r>
            <a:r>
              <a:rPr lang="en-IN" dirty="0"/>
              <a:t>, and Geoffrey Hinton at the University of Toronto.</a:t>
            </a:r>
          </a:p>
          <a:p>
            <a:r>
              <a:rPr lang="en-IN" dirty="0"/>
              <a:t>AlexNet consists of </a:t>
            </a:r>
            <a:r>
              <a:rPr lang="en-IN" dirty="0">
                <a:highlight>
                  <a:srgbClr val="FFFF00"/>
                </a:highlight>
              </a:rPr>
              <a:t>five convolutional layers with max pooling, and three FC layers, with </a:t>
            </a:r>
            <a:r>
              <a:rPr lang="en-IN" dirty="0" err="1">
                <a:highlight>
                  <a:srgbClr val="FFFF00"/>
                </a:highlight>
              </a:rPr>
              <a:t>ReLU</a:t>
            </a:r>
            <a:r>
              <a:rPr lang="en-IN" dirty="0">
                <a:highlight>
                  <a:srgbClr val="FFFF00"/>
                </a:highlight>
              </a:rPr>
              <a:t> activation functions </a:t>
            </a:r>
            <a:r>
              <a:rPr lang="en-IN" dirty="0"/>
              <a:t>used throughout. In addition to 3×3 filters, it also has 5×5 and 11×11 convolutional filters.</a:t>
            </a:r>
          </a:p>
          <a:p>
            <a:r>
              <a:rPr lang="en-IN" dirty="0"/>
              <a:t>The network uses a dropout technique to reduce overfitting, and employs data augmentation methods to increase the effective size of the training set. </a:t>
            </a:r>
            <a:r>
              <a:rPr lang="en-IN" dirty="0" err="1"/>
              <a:t>AlexNet’s</a:t>
            </a:r>
            <a:r>
              <a:rPr lang="en-IN" dirty="0"/>
              <a:t> success demonstrated the power of deep learning methods in computer vision and led to a surge of interest in the field. It also popularized the use of GPUs for accelerating the training of deep neural networks.</a:t>
            </a:r>
          </a:p>
          <a:p>
            <a:endParaRPr lang="en-IN" dirty="0"/>
          </a:p>
        </p:txBody>
      </p:sp>
    </p:spTree>
    <p:extLst>
      <p:ext uri="{BB962C8B-B14F-4D97-AF65-F5344CB8AC3E}">
        <p14:creationId xmlns:p14="http://schemas.microsoft.com/office/powerpoint/2010/main" val="3855950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VGGNet</a:t>
            </a:r>
          </a:p>
        </p:txBody>
      </p:sp>
      <p:sp>
        <p:nvSpPr>
          <p:cNvPr id="3" name="Content Placeholder 2"/>
          <p:cNvSpPr>
            <a:spLocks noGrp="1"/>
          </p:cNvSpPr>
          <p:nvPr>
            <p:ph idx="1"/>
          </p:nvPr>
        </p:nvSpPr>
        <p:spPr/>
        <p:txBody>
          <a:bodyPr>
            <a:normAutofit fontScale="77500" lnSpcReduction="20000"/>
          </a:bodyPr>
          <a:lstStyle/>
          <a:p>
            <a:r>
              <a:rPr lang="en-IN" dirty="0"/>
              <a:t>VGG (Visual Geometry Group) is a research group within the Department of Engineering Science at the University of Oxford. The VGG group is well-known for its work in computer vision, particularly in the area of convolutional neural networks (CNNs).</a:t>
            </a:r>
          </a:p>
          <a:p>
            <a:r>
              <a:rPr lang="en-IN" dirty="0"/>
              <a:t>One of the most famous contributions from the VGG group is the VGG model, also known as VGGNet. The VGG model is a deep neural network that achieved state-of-the-art performance on the ImageNet Large Scale Visual Recognition Challenge in 2014, and has been widely used as a benchmark for </a:t>
            </a:r>
            <a:r>
              <a:rPr lang="en-IN" dirty="0">
                <a:highlight>
                  <a:srgbClr val="FFFF00"/>
                </a:highlight>
              </a:rPr>
              <a:t>image classification and object detection tasks.</a:t>
            </a:r>
          </a:p>
          <a:p>
            <a:r>
              <a:rPr lang="en-IN" dirty="0"/>
              <a:t>The VGG model is characterized by its </a:t>
            </a:r>
            <a:r>
              <a:rPr lang="en-IN" dirty="0">
                <a:highlight>
                  <a:srgbClr val="FFFF00"/>
                </a:highlight>
              </a:rPr>
              <a:t>use of small convolutional filters (3×3) and deep architecture (up to 19 layers)</a:t>
            </a:r>
            <a:r>
              <a:rPr lang="en-IN" dirty="0"/>
              <a:t>, which enables it to learn increasingly complex features from input images. The VGG model also uses max pooling layers to reduce the spatial resolution of the feature maps and increase the receptive field, which can improve its ability to recognize objects of varying scales and orientations.</a:t>
            </a:r>
          </a:p>
          <a:p>
            <a:r>
              <a:rPr lang="en-IN" dirty="0"/>
              <a:t>The VGG model has inspired many subsequent research efforts in deep learning, including the development of even deeper neural networks and the use of residual connections to improve gradient flow and training stability. </a:t>
            </a:r>
          </a:p>
          <a:p>
            <a:endParaRPr lang="en-IN" dirty="0"/>
          </a:p>
        </p:txBody>
      </p:sp>
    </p:spTree>
    <p:extLst>
      <p:ext uri="{BB962C8B-B14F-4D97-AF65-F5344CB8AC3E}">
        <p14:creationId xmlns:p14="http://schemas.microsoft.com/office/powerpoint/2010/main" val="1018877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GoogLeNet</a:t>
            </a:r>
          </a:p>
        </p:txBody>
      </p:sp>
      <p:sp>
        <p:nvSpPr>
          <p:cNvPr id="3" name="Content Placeholder 2"/>
          <p:cNvSpPr>
            <a:spLocks noGrp="1"/>
          </p:cNvSpPr>
          <p:nvPr>
            <p:ph idx="1"/>
          </p:nvPr>
        </p:nvSpPr>
        <p:spPr/>
        <p:txBody>
          <a:bodyPr>
            <a:normAutofit fontScale="85000" lnSpcReduction="20000"/>
          </a:bodyPr>
          <a:lstStyle/>
          <a:p>
            <a:r>
              <a:rPr lang="en-IN" dirty="0"/>
              <a:t>GoogLeNet is a deep convolutional neural network developed by researchers at Google. It was introduced in 2014 and won the ILSVRC (ImageNet Large-Scale Visual Recognition Challenge) that year, with a </a:t>
            </a:r>
            <a:r>
              <a:rPr lang="en-IN" dirty="0">
                <a:highlight>
                  <a:srgbClr val="FFFF00"/>
                </a:highlight>
              </a:rPr>
              <a:t>top-five error rate of 6.67%.</a:t>
            </a:r>
          </a:p>
          <a:p>
            <a:r>
              <a:rPr lang="en-IN" dirty="0"/>
              <a:t>GoogLeNet is notable for its use of the Inception module, which consists of </a:t>
            </a:r>
            <a:r>
              <a:rPr lang="en-IN" dirty="0">
                <a:highlight>
                  <a:srgbClr val="FFFF00"/>
                </a:highlight>
              </a:rPr>
              <a:t>multiple parallel convolutional layers with different filter sizes</a:t>
            </a:r>
            <a:r>
              <a:rPr lang="en-IN" dirty="0"/>
              <a:t>, followed by a pooling layer, and concatenation of the outputs. This design allows the network to learn features at multiple scales and resolutions, while keeping the computational cost manageable. The network also includes auxiliary classifiers at intermediate layers, which encourage the network to learn more discriminative features and prevent overfitting.</a:t>
            </a:r>
          </a:p>
          <a:p>
            <a:r>
              <a:rPr lang="en-IN" dirty="0"/>
              <a:t>GoogLeNet builds upon the ideas of previous convolutional neural networks, including LeNet, which was one of the first successful applications of deep learning in computer vision. However, GoogLeNet is much deeper and more complex than LeNet.</a:t>
            </a:r>
          </a:p>
          <a:p>
            <a:endParaRPr lang="en-IN" dirty="0"/>
          </a:p>
        </p:txBody>
      </p:sp>
    </p:spTree>
    <p:extLst>
      <p:ext uri="{BB962C8B-B14F-4D97-AF65-F5344CB8AC3E}">
        <p14:creationId xmlns:p14="http://schemas.microsoft.com/office/powerpoint/2010/main" val="3352498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ResNet</a:t>
            </a:r>
          </a:p>
        </p:txBody>
      </p:sp>
      <p:sp>
        <p:nvSpPr>
          <p:cNvPr id="3" name="Content Placeholder 2"/>
          <p:cNvSpPr>
            <a:spLocks noGrp="1"/>
          </p:cNvSpPr>
          <p:nvPr>
            <p:ph idx="1"/>
          </p:nvPr>
        </p:nvSpPr>
        <p:spPr/>
        <p:txBody>
          <a:bodyPr>
            <a:normAutofit fontScale="85000" lnSpcReduction="20000"/>
          </a:bodyPr>
          <a:lstStyle/>
          <a:p>
            <a:r>
              <a:rPr lang="en-IN" dirty="0"/>
              <a:t>ResNet (short for “Residual Neural Network”) is a family of deep convolutional neural networks designed to </a:t>
            </a:r>
            <a:r>
              <a:rPr lang="en-IN" dirty="0">
                <a:highlight>
                  <a:srgbClr val="FFFF00"/>
                </a:highlight>
              </a:rPr>
              <a:t>overcome the problem of vanishing gradients </a:t>
            </a:r>
            <a:r>
              <a:rPr lang="en-IN" dirty="0"/>
              <a:t>that are common in very deep networks. The idea behind ResNet is to </a:t>
            </a:r>
            <a:r>
              <a:rPr lang="en-IN" dirty="0">
                <a:highlight>
                  <a:srgbClr val="FFFF00"/>
                </a:highlight>
              </a:rPr>
              <a:t>use “residual blocks” that allow for the direct propagation of gradients </a:t>
            </a:r>
            <a:r>
              <a:rPr lang="en-IN" dirty="0"/>
              <a:t>through the network, enabling the training of very deep networks.</a:t>
            </a:r>
          </a:p>
          <a:p>
            <a:r>
              <a:rPr lang="en-IN" dirty="0"/>
              <a:t>A residual block consists of two or more convolutional layers followed by an activation function, combined with a shortcut connection that bypasses the convolutional layers and adds the original input directly to the output of the convolutional layers after the activation function. </a:t>
            </a:r>
          </a:p>
          <a:p>
            <a:r>
              <a:rPr lang="en-IN" dirty="0"/>
              <a:t>This allows the network to learn residual functions that represent the difference between the convolutional layers’ input and output, rather than trying to learn the entire mapping directly. The use of residual blocks enables the training of very deep networks, with hundreds or thousands of layers, significantly alleviating the issue of vanishing gradients.</a:t>
            </a:r>
            <a:r>
              <a:rPr lang="en-IN" i="1" dirty="0"/>
              <a:t> </a:t>
            </a:r>
            <a:endParaRPr lang="en-IN" dirty="0"/>
          </a:p>
          <a:p>
            <a:endParaRPr lang="en-IN" dirty="0"/>
          </a:p>
        </p:txBody>
      </p:sp>
    </p:spTree>
    <p:extLst>
      <p:ext uri="{BB962C8B-B14F-4D97-AF65-F5344CB8AC3E}">
        <p14:creationId xmlns:p14="http://schemas.microsoft.com/office/powerpoint/2010/main" val="1155135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R-CNN</a:t>
            </a:r>
          </a:p>
        </p:txBody>
      </p:sp>
      <p:sp>
        <p:nvSpPr>
          <p:cNvPr id="3" name="Content Placeholder 2"/>
          <p:cNvSpPr>
            <a:spLocks noGrp="1"/>
          </p:cNvSpPr>
          <p:nvPr>
            <p:ph idx="1"/>
          </p:nvPr>
        </p:nvSpPr>
        <p:spPr/>
        <p:txBody>
          <a:bodyPr>
            <a:normAutofit fontScale="85000" lnSpcReduction="20000"/>
          </a:bodyPr>
          <a:lstStyle/>
          <a:p>
            <a:r>
              <a:rPr lang="en-IN" dirty="0"/>
              <a:t>R-CNN (Region-based Convolutional Neural Network) was introduced in 2013, and is a two-stage approach to object detection.</a:t>
            </a:r>
          </a:p>
          <a:p>
            <a:r>
              <a:rPr lang="en-IN" dirty="0"/>
              <a:t> First, the input image is segmented into regions of interest (ROIs) using selective search, a computationally expensive algorithm that generates region proposals based on image texture, </a:t>
            </a:r>
            <a:r>
              <a:rPr lang="en-IN" dirty="0" err="1"/>
              <a:t>color</a:t>
            </a:r>
            <a:r>
              <a:rPr lang="en-IN" dirty="0"/>
              <a:t>, and other features. Then, each ROI is passed through a CNN that produces a fixed-length feature vector. The CNN used in R-CNN is usually a </a:t>
            </a:r>
            <a:r>
              <a:rPr lang="en-IN" dirty="0" err="1"/>
              <a:t>pretrained</a:t>
            </a:r>
            <a:r>
              <a:rPr lang="en-IN" dirty="0"/>
              <a:t> network, such as AlexNet or VGG.</a:t>
            </a:r>
          </a:p>
          <a:p>
            <a:r>
              <a:rPr lang="en-IN" dirty="0"/>
              <a:t>These feature vectors are used to classify the object contained in the ROI and predict its bounding box coordinates. While R-CNN achieved cutting-edge results at the time, it was very slow to train and test, due to the need to process thousands of region proposals for each image.</a:t>
            </a:r>
          </a:p>
          <a:p>
            <a:r>
              <a:rPr lang="en-IN" dirty="0"/>
              <a:t>R-CNN is part of a series of object detection models, alongside Fast R-CNN and Faster R-CNN, which were developed by researchers at UC Berkeley and Microsoft Research, and represent a significant improvement over earlier methods for object detection.</a:t>
            </a:r>
          </a:p>
          <a:p>
            <a:endParaRPr lang="en-IN" dirty="0"/>
          </a:p>
        </p:txBody>
      </p:sp>
    </p:spTree>
    <p:extLst>
      <p:ext uri="{BB962C8B-B14F-4D97-AF65-F5344CB8AC3E}">
        <p14:creationId xmlns:p14="http://schemas.microsoft.com/office/powerpoint/2010/main" val="3163080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Fast R-CNN</a:t>
            </a:r>
          </a:p>
        </p:txBody>
      </p:sp>
      <p:sp>
        <p:nvSpPr>
          <p:cNvPr id="3" name="Content Placeholder 2"/>
          <p:cNvSpPr>
            <a:spLocks noGrp="1"/>
          </p:cNvSpPr>
          <p:nvPr>
            <p:ph idx="1"/>
          </p:nvPr>
        </p:nvSpPr>
        <p:spPr/>
        <p:txBody>
          <a:bodyPr/>
          <a:lstStyle/>
          <a:p>
            <a:r>
              <a:rPr lang="en-IN" dirty="0"/>
              <a:t>Fast R-CNN, introduced in 2015, improved on R-CNN by eliminating the need for a separate feature extraction step for each region proposal. Instead, the entire image is passed through the CNN, producing a feature map that is shared by all the region proposals. Each ROI is then pooled into a feature map with a fixed size through an operation called “Region of Interest (ROI) Pooling”, and passed through a sequence of FC layers to produce the final bounding box and classification predictions. </a:t>
            </a:r>
          </a:p>
          <a:p>
            <a:r>
              <a:rPr lang="en-IN" dirty="0"/>
              <a:t>This approach is much faster and more accurate than R-CNN, and also allows for end-to-end training of the entire model. </a:t>
            </a:r>
          </a:p>
          <a:p>
            <a:endParaRPr lang="en-IN" dirty="0"/>
          </a:p>
        </p:txBody>
      </p:sp>
    </p:spTree>
    <p:extLst>
      <p:ext uri="{BB962C8B-B14F-4D97-AF65-F5344CB8AC3E}">
        <p14:creationId xmlns:p14="http://schemas.microsoft.com/office/powerpoint/2010/main" val="1127485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Faster R-CNN</a:t>
            </a:r>
          </a:p>
        </p:txBody>
      </p:sp>
      <p:sp>
        <p:nvSpPr>
          <p:cNvPr id="3" name="Content Placeholder 2"/>
          <p:cNvSpPr>
            <a:spLocks noGrp="1"/>
          </p:cNvSpPr>
          <p:nvPr>
            <p:ph idx="1"/>
          </p:nvPr>
        </p:nvSpPr>
        <p:spPr/>
        <p:txBody>
          <a:bodyPr>
            <a:normAutofit lnSpcReduction="10000"/>
          </a:bodyPr>
          <a:lstStyle/>
          <a:p>
            <a:r>
              <a:rPr lang="en-IN" dirty="0"/>
              <a:t>Faster R-CNN, introduced in 2015, further improved on Fast R-CNN by replacing selective search with an RPN (Region Proposal Network), which is a small convolutional network that generates region proposals directly from the feature map produced by the CNN. The RPN shares the same convolutional layers as the object detection network, making the entire model more efficient and easier to train. </a:t>
            </a:r>
          </a:p>
          <a:p>
            <a:r>
              <a:rPr lang="en-IN" dirty="0"/>
              <a:t>The RPN predicts </a:t>
            </a:r>
            <a:r>
              <a:rPr lang="en-IN" dirty="0" err="1"/>
              <a:t>objectness</a:t>
            </a:r>
            <a:r>
              <a:rPr lang="en-IN" dirty="0"/>
              <a:t> scores and bounding box coordinates for each anchor point in the feature map, and these proposals are then refined and classified by the object detection network. This approach is even faster and more accurate than Fast R-CNN, and has become the de facto standard for object detection in many applications.</a:t>
            </a:r>
          </a:p>
          <a:p>
            <a:endParaRPr lang="en-IN" dirty="0"/>
          </a:p>
        </p:txBody>
      </p:sp>
    </p:spTree>
    <p:extLst>
      <p:ext uri="{BB962C8B-B14F-4D97-AF65-F5344CB8AC3E}">
        <p14:creationId xmlns:p14="http://schemas.microsoft.com/office/powerpoint/2010/main" val="3066261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Random or Unsupervised Features</a:t>
            </a:r>
            <a:endParaRPr lang="en-IN" dirty="0"/>
          </a:p>
        </p:txBody>
      </p:sp>
      <p:sp>
        <p:nvSpPr>
          <p:cNvPr id="3" name="Content Placeholder 2"/>
          <p:cNvSpPr>
            <a:spLocks noGrp="1"/>
          </p:cNvSpPr>
          <p:nvPr>
            <p:ph idx="1"/>
          </p:nvPr>
        </p:nvSpPr>
        <p:spPr/>
        <p:txBody>
          <a:bodyPr>
            <a:normAutofit/>
          </a:bodyPr>
          <a:lstStyle/>
          <a:p>
            <a:r>
              <a:rPr lang="en-IN" dirty="0"/>
              <a:t>The most expensive part of convolutional network training is learning the features. </a:t>
            </a:r>
          </a:p>
          <a:p>
            <a:r>
              <a:rPr lang="en-IN" dirty="0"/>
              <a:t>The output layer is usually relatively inexpensive due to the small number of features provided as input to this layer after passing through several layers of pooling. </a:t>
            </a:r>
          </a:p>
          <a:p>
            <a:r>
              <a:rPr lang="en-IN" dirty="0"/>
              <a:t>When performing supervised training with gradient descent, every gradient step requires a complete run of forward propagation and backward propagation through the entire network. </a:t>
            </a:r>
          </a:p>
          <a:p>
            <a:r>
              <a:rPr lang="en-IN" dirty="0"/>
              <a:t>One way to reduce the cost of convolutional network training is to use features that are not trained in a supervised fashion.</a:t>
            </a:r>
          </a:p>
        </p:txBody>
      </p:sp>
    </p:spTree>
    <p:extLst>
      <p:ext uri="{BB962C8B-B14F-4D97-AF65-F5344CB8AC3E}">
        <p14:creationId xmlns:p14="http://schemas.microsoft.com/office/powerpoint/2010/main" val="2381458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3245"/>
            <a:ext cx="10515600" cy="5443718"/>
          </a:xfrm>
        </p:spPr>
        <p:txBody>
          <a:bodyPr>
            <a:normAutofit fontScale="85000" lnSpcReduction="20000"/>
          </a:bodyPr>
          <a:lstStyle/>
          <a:p>
            <a:r>
              <a:rPr lang="en-IN" dirty="0"/>
              <a:t>There are three basic strategies for obtaining convolution kernels without supervised training.</a:t>
            </a:r>
          </a:p>
          <a:p>
            <a:pPr lvl="1"/>
            <a:r>
              <a:rPr lang="en-IN" dirty="0"/>
              <a:t>To simply initialize them randomly.</a:t>
            </a:r>
          </a:p>
          <a:p>
            <a:pPr lvl="1"/>
            <a:r>
              <a:rPr lang="en-IN" dirty="0"/>
              <a:t>To design them by hand, for example by setting each kernel to detect edges at a certain orientation or scale.</a:t>
            </a:r>
          </a:p>
          <a:p>
            <a:pPr lvl="1"/>
            <a:r>
              <a:rPr lang="en-IN" dirty="0"/>
              <a:t>Learning the kernels with an unsupervised criterion, for example, Coates </a:t>
            </a:r>
            <a:r>
              <a:rPr lang="en-IN" i="1" dirty="0"/>
              <a:t>et al. </a:t>
            </a:r>
            <a:r>
              <a:rPr lang="en-IN" dirty="0"/>
              <a:t>(2011) apply </a:t>
            </a:r>
            <a:r>
              <a:rPr lang="en-IN" i="1" dirty="0"/>
              <a:t>k</a:t>
            </a:r>
            <a:r>
              <a:rPr lang="en-IN" dirty="0"/>
              <a:t>-means clustering to small image patches, then use each learned centroid as a convolution kernel.</a:t>
            </a:r>
          </a:p>
          <a:p>
            <a:r>
              <a:rPr lang="en-IN" dirty="0"/>
              <a:t>Learning the features with an unsupervised criterion allows them to be determined separately from the classifier layer at the top of the architecture. </a:t>
            </a:r>
          </a:p>
          <a:p>
            <a:r>
              <a:rPr lang="en-IN" dirty="0"/>
              <a:t>One can then extract the features for the entire training set just once, essentially constructing a new training set for the last layer.</a:t>
            </a:r>
          </a:p>
          <a:p>
            <a:r>
              <a:rPr lang="en-IN" dirty="0"/>
              <a:t> Learning the last layer is then typically a convex optimization problem, assuming the last layer is something like logistic regression or an SVM.</a:t>
            </a:r>
          </a:p>
          <a:p>
            <a:r>
              <a:rPr lang="en-IN" dirty="0"/>
              <a:t>Today, most convolutional networks are trained in a purely supervised fashion, using full forward and back-propagation through the entire network on each training iteration.</a:t>
            </a:r>
          </a:p>
        </p:txBody>
      </p:sp>
    </p:spTree>
    <p:extLst>
      <p:ext uri="{BB962C8B-B14F-4D97-AF65-F5344CB8AC3E}">
        <p14:creationId xmlns:p14="http://schemas.microsoft.com/office/powerpoint/2010/main" val="4292374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2810</Words>
  <Application>Microsoft Office PowerPoint</Application>
  <PresentationFormat>Widescreen</PresentationFormat>
  <Paragraphs>112</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 Theme</vt:lpstr>
      <vt:lpstr>How do convolutional neural networks work?</vt:lpstr>
      <vt:lpstr>PowerPoint Presentation</vt:lpstr>
      <vt:lpstr>Convolutional layer.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Pooling layer</vt:lpstr>
      <vt:lpstr>Types of pooling</vt:lpstr>
      <vt:lpstr>PowerPoint Presentation</vt:lpstr>
      <vt:lpstr>Fully-connected layer</vt:lpstr>
      <vt:lpstr>PowerPoint Presentation</vt:lpstr>
      <vt:lpstr>PowerPoint Presentation</vt:lpstr>
      <vt:lpstr>Various CNN Architectures</vt:lpstr>
      <vt:lpstr>LeNet</vt:lpstr>
      <vt:lpstr>AlexNet</vt:lpstr>
      <vt:lpstr>VGGNet</vt:lpstr>
      <vt:lpstr>GoogLeNet</vt:lpstr>
      <vt:lpstr>ResNet</vt:lpstr>
      <vt:lpstr>R-CNN</vt:lpstr>
      <vt:lpstr>Fast R-CNN</vt:lpstr>
      <vt:lpstr>Faster R-CNN</vt:lpstr>
      <vt:lpstr>Random or Unsupervised Features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 convolutional neural networks work?</dc:title>
  <dc:creator>MSB</dc:creator>
  <cp:lastModifiedBy>Bunni Ranadeesh</cp:lastModifiedBy>
  <cp:revision>28</cp:revision>
  <dcterms:created xsi:type="dcterms:W3CDTF">2023-11-30T15:33:01Z</dcterms:created>
  <dcterms:modified xsi:type="dcterms:W3CDTF">2025-08-20T09:49:01Z</dcterms:modified>
</cp:coreProperties>
</file>